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7002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5D6E"/>
        </a:solidFill>
        <a:effectLst/>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FFFFFF">
              <a:alpha val="10000"/>
            </a:srgbClr>
          </a:solidFill>
          <a:ln w="12700">
            <a:solidFill>
              <a:srgbClr val="FFFFFF">
                <a:alpha val="10000"/>
              </a:srgbClr>
            </a:solidFill>
            <a:prstDash val="solid"/>
          </a:ln>
        </p:spPr>
        <p:txBody>
          <a:bodyPr/>
          <a:lstStyle/>
          <a:p>
            <a:endParaRPr lang="en-US"/>
          </a:p>
        </p:txBody>
      </p:sp>
      <p:sp>
        <p:nvSpPr>
          <p:cNvPr id="3" name="Shape 1"/>
          <p:cNvSpPr/>
          <p:nvPr/>
        </p:nvSpPr>
        <p:spPr>
          <a:xfrm>
            <a:off x="-731520" y="3474720"/>
            <a:ext cx="2743200" cy="2743200"/>
          </a:xfrm>
          <a:prstGeom prst="ellipse">
            <a:avLst/>
          </a:prstGeom>
          <a:solidFill>
            <a:srgbClr val="000000">
              <a:alpha val="15000"/>
            </a:srgbClr>
          </a:solidFill>
          <a:ln w="12700">
            <a:solidFill>
              <a:srgbClr val="000000">
                <a:alpha val="15000"/>
              </a:srgbClr>
            </a:solidFill>
            <a:prstDash val="solid"/>
          </a:ln>
        </p:spPr>
        <p:txBody>
          <a:bodyPr/>
          <a:lstStyle/>
          <a:p>
            <a:endParaRPr lang="en-US"/>
          </a:p>
        </p:txBody>
      </p:sp>
      <p:sp>
        <p:nvSpPr>
          <p:cNvPr id="4" name="Shape 2"/>
          <p:cNvSpPr/>
          <p:nvPr/>
        </p:nvSpPr>
        <p:spPr>
          <a:xfrm>
            <a:off x="0" y="4389120"/>
            <a:ext cx="9144000" cy="754380"/>
          </a:xfrm>
          <a:prstGeom prst="rect">
            <a:avLst/>
          </a:prstGeom>
          <a:solidFill>
            <a:srgbClr val="1C2E35"/>
          </a:solidFill>
          <a:ln w="12700">
            <a:solidFill>
              <a:srgbClr val="1C2E35"/>
            </a:solidFill>
            <a:prstDash val="solid"/>
          </a:ln>
        </p:spPr>
        <p:txBody>
          <a:bodyPr/>
          <a:lstStyle/>
          <a:p>
            <a:endParaRPr lang="en-US"/>
          </a:p>
        </p:txBody>
      </p:sp>
      <p:sp>
        <p:nvSpPr>
          <p:cNvPr id="5" name="Text 3"/>
          <p:cNvSpPr/>
          <p:nvPr/>
        </p:nvSpPr>
        <p:spPr>
          <a:xfrm>
            <a:off x="502920" y="502920"/>
            <a:ext cx="7772400" cy="228600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CAE Demo &amp;</a:t>
            </a:r>
            <a:endParaRPr lang="en-US" sz="5200" dirty="0"/>
          </a:p>
          <a:p>
            <a:pPr marL="0" indent="0">
              <a:buNone/>
            </a:pPr>
            <a:r>
              <a:rPr lang="en-US" sz="5200" b="1" dirty="0">
                <a:solidFill>
                  <a:srgbClr val="FFFFFF"/>
                </a:solidFill>
                <a:latin typeface="Calibri" pitchFamily="34" charset="0"/>
                <a:ea typeface="Calibri" pitchFamily="34" charset="-122"/>
                <a:cs typeface="Calibri" pitchFamily="34" charset="-120"/>
              </a:rPr>
              <a:t>Closing Playbook</a:t>
            </a:r>
            <a:endParaRPr lang="en-US" sz="5200" dirty="0"/>
          </a:p>
        </p:txBody>
      </p:sp>
      <p:sp>
        <p:nvSpPr>
          <p:cNvPr id="6" name="Text 4"/>
          <p:cNvSpPr/>
          <p:nvPr/>
        </p:nvSpPr>
        <p:spPr>
          <a:xfrm>
            <a:off x="502920" y="2834640"/>
            <a:ext cx="7772400" cy="822960"/>
          </a:xfrm>
          <a:prstGeom prst="rect">
            <a:avLst/>
          </a:prstGeom>
          <a:noFill/>
          <a:ln/>
        </p:spPr>
        <p:txBody>
          <a:bodyPr wrap="square" lIns="0" tIns="0" rIns="0" bIns="0" rtlCol="0" anchor="ctr"/>
          <a:lstStyle/>
          <a:p>
            <a:pPr marL="0" indent="0">
              <a:buNone/>
            </a:pPr>
            <a:r>
              <a:rPr lang="en-US" sz="1700" dirty="0">
                <a:solidFill>
                  <a:srgbClr val="B3D4DF"/>
                </a:solidFill>
                <a:latin typeface="Calibri" pitchFamily="34" charset="0"/>
                <a:ea typeface="Calibri" pitchFamily="34" charset="-122"/>
                <a:cs typeface="Calibri" pitchFamily="34" charset="-120"/>
              </a:rPr>
              <a:t>Running Effective Upsell &amp; Cross-Sell Demos</a:t>
            </a:r>
            <a:endParaRPr lang="en-US" sz="1700" dirty="0"/>
          </a:p>
          <a:p>
            <a:pPr marL="0" indent="0">
              <a:buNone/>
            </a:pPr>
            <a:r>
              <a:rPr lang="en-US" sz="1700" dirty="0">
                <a:solidFill>
                  <a:srgbClr val="B3D4DF"/>
                </a:solidFill>
                <a:latin typeface="Calibri" pitchFamily="34" charset="0"/>
                <a:ea typeface="Calibri" pitchFamily="34" charset="-122"/>
                <a:cs typeface="Calibri" pitchFamily="34" charset="-120"/>
              </a:rPr>
              <a:t>for Salon &amp; Med Spa Owners</a:t>
            </a:r>
            <a:endParaRPr lang="en-US" sz="1700" dirty="0"/>
          </a:p>
        </p:txBody>
      </p:sp>
      <p:sp>
        <p:nvSpPr>
          <p:cNvPr id="7" name="Shape 5"/>
          <p:cNvSpPr/>
          <p:nvPr/>
        </p:nvSpPr>
        <p:spPr>
          <a:xfrm>
            <a:off x="502920" y="4462272"/>
            <a:ext cx="2377440" cy="384048"/>
          </a:xfrm>
          <a:prstGeom prst="rect">
            <a:avLst/>
          </a:prstGeom>
          <a:solidFill>
            <a:srgbClr val="02C39A"/>
          </a:solidFill>
          <a:ln w="12700">
            <a:solidFill>
              <a:srgbClr val="02C39A"/>
            </a:solidFill>
            <a:prstDash val="solid"/>
          </a:ln>
        </p:spPr>
        <p:txBody>
          <a:bodyPr/>
          <a:lstStyle/>
          <a:p>
            <a:endParaRPr lang="en-US"/>
          </a:p>
        </p:txBody>
      </p:sp>
      <p:sp>
        <p:nvSpPr>
          <p:cNvPr id="8" name="Text 6"/>
          <p:cNvSpPr/>
          <p:nvPr/>
        </p:nvSpPr>
        <p:spPr>
          <a:xfrm>
            <a:off x="502920" y="4462272"/>
            <a:ext cx="2377440" cy="384048"/>
          </a:xfrm>
          <a:prstGeom prst="rect">
            <a:avLst/>
          </a:prstGeom>
          <a:noFill/>
          <a:ln/>
        </p:spPr>
        <p:txBody>
          <a:bodyPr wrap="square" lIns="0" tIns="0" rIns="0" bIns="0" rtlCol="0" anchor="ctr"/>
          <a:lstStyle/>
          <a:p>
            <a:pPr marL="0" indent="0" algn="ctr">
              <a:buNone/>
            </a:pPr>
            <a:r>
              <a:rPr lang="en-US" sz="1100" b="1" dirty="0">
                <a:solidFill>
                  <a:srgbClr val="1C2E35"/>
                </a:solidFill>
                <a:latin typeface="Calibri" pitchFamily="34" charset="0"/>
                <a:ea typeface="Calibri" pitchFamily="34" charset="-122"/>
                <a:cs typeface="Calibri" pitchFamily="34" charset="-120"/>
              </a:rPr>
              <a:t>Customer Account Executive</a:t>
            </a:r>
            <a:endParaRPr lang="en-US" sz="1100" dirty="0"/>
          </a:p>
        </p:txBody>
      </p:sp>
      <p:sp>
        <p:nvSpPr>
          <p:cNvPr id="9" name="Text 7"/>
          <p:cNvSpPr/>
          <p:nvPr/>
        </p:nvSpPr>
        <p:spPr>
          <a:xfrm>
            <a:off x="6400800" y="4498848"/>
            <a:ext cx="2468880" cy="320040"/>
          </a:xfrm>
          <a:prstGeom prst="rect">
            <a:avLst/>
          </a:prstGeom>
          <a:noFill/>
          <a:ln/>
        </p:spPr>
        <p:txBody>
          <a:bodyPr wrap="square" lIns="0" tIns="0" rIns="0" bIns="0" rtlCol="0" anchor="ctr"/>
          <a:lstStyle/>
          <a:p>
            <a:pPr marL="0" indent="0" algn="r">
              <a:buNone/>
            </a:pPr>
            <a:r>
              <a:rPr lang="en-US" sz="1100" dirty="0">
                <a:solidFill>
                  <a:srgbClr val="7AAAB8"/>
                </a:solidFill>
                <a:latin typeface="Calibri" pitchFamily="34" charset="0"/>
                <a:ea typeface="Calibri" pitchFamily="34" charset="-122"/>
                <a:cs typeface="Calibri" pitchFamily="34" charset="-120"/>
              </a:rPr>
              <a:t>Meevo  ·  Powered by Millennium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D6E"/>
          </a:solidFill>
          <a:ln w="12700">
            <a:solidFill>
              <a:srgbClr val="2E5D6E"/>
            </a:solidFill>
            <a:prstDash val="solid"/>
          </a:ln>
        </p:spPr>
        <p:txBody>
          <a:bodyPr/>
          <a:lstStyle/>
          <a:p>
            <a:endParaRPr lang="en-US"/>
          </a:p>
        </p:txBody>
      </p:sp>
      <p:sp>
        <p:nvSpPr>
          <p:cNvPr id="3" name="Text 1"/>
          <p:cNvSpPr/>
          <p:nvPr/>
        </p:nvSpPr>
        <p:spPr>
          <a:xfrm>
            <a:off x="365760" y="0"/>
            <a:ext cx="841248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Expansion Mindset</a:t>
            </a:r>
            <a:endParaRPr lang="en-US" sz="2800" dirty="0"/>
          </a:p>
        </p:txBody>
      </p:sp>
      <p:sp>
        <p:nvSpPr>
          <p:cNvPr id="4" name="Shape 2"/>
          <p:cNvSpPr/>
          <p:nvPr/>
        </p:nvSpPr>
        <p:spPr>
          <a:xfrm>
            <a:off x="320040" y="1051560"/>
            <a:ext cx="8503920" cy="1143000"/>
          </a:xfrm>
          <a:prstGeom prst="rect">
            <a:avLst/>
          </a:prstGeom>
          <a:solidFill>
            <a:srgbClr val="2E5D6E"/>
          </a:solidFill>
          <a:ln w="12700">
            <a:solidFill>
              <a:srgbClr val="2E5D6E"/>
            </a:solidFill>
            <a:prstDash val="solid"/>
          </a:ln>
          <a:effectLst>
            <a:outerShdw blurRad="101600" dist="38100" dir="8100000" algn="bl" rotWithShape="0">
              <a:srgbClr val="000000">
                <a:alpha val="10000"/>
              </a:srgbClr>
            </a:outerShdw>
          </a:effectLst>
        </p:spPr>
        <p:txBody>
          <a:bodyPr/>
          <a:lstStyle/>
          <a:p>
            <a:endParaRPr lang="en-US"/>
          </a:p>
        </p:txBody>
      </p:sp>
      <p:sp>
        <p:nvSpPr>
          <p:cNvPr id="5" name="Text 3"/>
          <p:cNvSpPr/>
          <p:nvPr/>
        </p:nvSpPr>
        <p:spPr>
          <a:xfrm>
            <a:off x="502920" y="1097280"/>
            <a:ext cx="3840480" cy="502920"/>
          </a:xfrm>
          <a:prstGeom prst="rect">
            <a:avLst/>
          </a:prstGeom>
          <a:noFill/>
          <a:ln/>
        </p:spPr>
        <p:txBody>
          <a:bodyPr wrap="square" lIns="0" tIns="0" rIns="0" bIns="0" rtlCol="0" anchor="ctr"/>
          <a:lstStyle/>
          <a:p>
            <a:pPr marL="0" indent="0">
              <a:buNone/>
            </a:pPr>
            <a:r>
              <a:rPr lang="en-US" sz="2200" b="1" dirty="0">
                <a:solidFill>
                  <a:srgbClr val="02C39A"/>
                </a:solidFill>
                <a:latin typeface="Calibri" pitchFamily="34" charset="0"/>
                <a:ea typeface="Calibri" pitchFamily="34" charset="-122"/>
                <a:cs typeface="Calibri" pitchFamily="34" charset="-120"/>
              </a:rPr>
              <a:t>This Is NOT a Feature Demo.</a:t>
            </a:r>
            <a:endParaRPr lang="en-US" sz="2200" dirty="0"/>
          </a:p>
        </p:txBody>
      </p:sp>
      <p:sp>
        <p:nvSpPr>
          <p:cNvPr id="6" name="Text 4"/>
          <p:cNvSpPr/>
          <p:nvPr/>
        </p:nvSpPr>
        <p:spPr>
          <a:xfrm>
            <a:off x="502920" y="1572768"/>
            <a:ext cx="8046720" cy="502920"/>
          </a:xfrm>
          <a:prstGeom prst="rect">
            <a:avLst/>
          </a:prstGeom>
          <a:noFill/>
          <a:ln/>
        </p:spPr>
        <p:txBody>
          <a:bodyPr wrap="square" lIns="0" tIns="0" rIns="0" bIns="0" rtlCol="0" anchor="ctr"/>
          <a:lstStyle/>
          <a:p>
            <a:pPr marL="0" indent="0">
              <a:buNone/>
            </a:pPr>
            <a:r>
              <a:rPr lang="en-US" sz="1400" dirty="0">
                <a:solidFill>
                  <a:srgbClr val="B3D4DF"/>
                </a:solidFill>
                <a:latin typeface="Calibri" pitchFamily="34" charset="0"/>
                <a:ea typeface="Calibri" pitchFamily="34" charset="-122"/>
                <a:cs typeface="Calibri" pitchFamily="34" charset="-120"/>
              </a:rPr>
              <a:t>An expansion demo is a business case conversation, not a product tour.</a:t>
            </a:r>
            <a:endParaRPr lang="en-US" sz="1400" dirty="0"/>
          </a:p>
          <a:p>
            <a:pPr marL="0" indent="0">
              <a:buNone/>
            </a:pPr>
            <a:r>
              <a:rPr lang="en-US" sz="1400" dirty="0">
                <a:solidFill>
                  <a:srgbClr val="B3D4DF"/>
                </a:solidFill>
                <a:latin typeface="Calibri" pitchFamily="34" charset="0"/>
                <a:ea typeface="Calibri" pitchFamily="34" charset="-122"/>
                <a:cs typeface="Calibri" pitchFamily="34" charset="-120"/>
              </a:rPr>
              <a:t>You are not showing tools — you are positioning growth.</a:t>
            </a:r>
            <a:endParaRPr lang="en-US" sz="1400" dirty="0"/>
          </a:p>
        </p:txBody>
      </p:sp>
      <p:sp>
        <p:nvSpPr>
          <p:cNvPr id="7" name="Shape 5"/>
          <p:cNvSpPr/>
          <p:nvPr/>
        </p:nvSpPr>
        <p:spPr>
          <a:xfrm>
            <a:off x="320040" y="2331720"/>
            <a:ext cx="2606040" cy="25146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8" name="Shape 6"/>
          <p:cNvSpPr/>
          <p:nvPr/>
        </p:nvSpPr>
        <p:spPr>
          <a:xfrm>
            <a:off x="320040" y="2331720"/>
            <a:ext cx="2606040" cy="420624"/>
          </a:xfrm>
          <a:prstGeom prst="rect">
            <a:avLst/>
          </a:prstGeom>
          <a:solidFill>
            <a:srgbClr val="E05A4E"/>
          </a:solidFill>
          <a:ln w="12700">
            <a:solidFill>
              <a:srgbClr val="E05A4E"/>
            </a:solidFill>
            <a:prstDash val="solid"/>
          </a:ln>
        </p:spPr>
        <p:txBody>
          <a:bodyPr/>
          <a:lstStyle/>
          <a:p>
            <a:endParaRPr lang="en-US"/>
          </a:p>
        </p:txBody>
      </p:sp>
      <p:sp>
        <p:nvSpPr>
          <p:cNvPr id="9" name="Text 7"/>
          <p:cNvSpPr/>
          <p:nvPr/>
        </p:nvSpPr>
        <p:spPr>
          <a:xfrm>
            <a:off x="429768" y="2331720"/>
            <a:ext cx="2423160" cy="42062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Don't Lead With</a:t>
            </a:r>
            <a:endParaRPr lang="en-US" sz="1250" dirty="0"/>
          </a:p>
        </p:txBody>
      </p:sp>
      <p:sp>
        <p:nvSpPr>
          <p:cNvPr id="10" name="Text 8"/>
          <p:cNvSpPr/>
          <p:nvPr/>
        </p:nvSpPr>
        <p:spPr>
          <a:xfrm>
            <a:off x="429768" y="2834640"/>
            <a:ext cx="2423160" cy="1920240"/>
          </a:xfrm>
          <a:prstGeom prst="rect">
            <a:avLst/>
          </a:prstGeom>
          <a:noFill/>
          <a:ln/>
        </p:spPr>
        <p:txBody>
          <a:bodyPr wrap="square" rtlCol="0" anchor="t"/>
          <a:lstStyle/>
          <a:p>
            <a:pPr marL="342900" indent="-342900">
              <a:spcAft>
                <a:spcPts val="500"/>
              </a:spcAft>
              <a:buSzPct val="100000"/>
              <a:buChar char="•"/>
            </a:pPr>
            <a:r>
              <a:rPr lang="en-US" sz="1250" dirty="0">
                <a:solidFill>
                  <a:srgbClr val="363636"/>
                </a:solidFill>
                <a:latin typeface="Calibri" pitchFamily="34" charset="0"/>
                <a:ea typeface="Calibri" pitchFamily="34" charset="-122"/>
                <a:cs typeface="Calibri" pitchFamily="34" charset="-120"/>
              </a:rPr>
              <a:t>Feature walkthroughs</a:t>
            </a:r>
            <a:endParaRPr lang="en-US" sz="1250" dirty="0"/>
          </a:p>
          <a:p>
            <a:pPr marL="342900" indent="-342900">
              <a:spcAft>
                <a:spcPts val="500"/>
              </a:spcAft>
              <a:buSzPct val="100000"/>
              <a:buChar char="•"/>
            </a:pPr>
            <a:r>
              <a:rPr lang="en-US" sz="1250" dirty="0">
                <a:solidFill>
                  <a:srgbClr val="363636"/>
                </a:solidFill>
                <a:latin typeface="Calibri" pitchFamily="34" charset="0"/>
                <a:ea typeface="Calibri" pitchFamily="34" charset="-122"/>
                <a:cs typeface="Calibri" pitchFamily="34" charset="-120"/>
              </a:rPr>
              <a:t>Technical specs</a:t>
            </a:r>
            <a:endParaRPr lang="en-US" sz="1250" dirty="0"/>
          </a:p>
          <a:p>
            <a:pPr marL="342900" indent="-342900">
              <a:spcAft>
                <a:spcPts val="500"/>
              </a:spcAft>
              <a:buSzPct val="100000"/>
              <a:buChar char="•"/>
            </a:pPr>
            <a:r>
              <a:rPr lang="en-US" sz="1250" dirty="0">
                <a:solidFill>
                  <a:srgbClr val="363636"/>
                </a:solidFill>
                <a:latin typeface="Calibri" pitchFamily="34" charset="0"/>
                <a:ea typeface="Calibri" pitchFamily="34" charset="-122"/>
                <a:cs typeface="Calibri" pitchFamily="34" charset="-120"/>
              </a:rPr>
              <a:t>"This button does X"</a:t>
            </a:r>
            <a:endParaRPr lang="en-US" sz="1250" dirty="0"/>
          </a:p>
          <a:p>
            <a:pPr marL="342900" indent="-342900">
              <a:spcAft>
                <a:spcPts val="500"/>
              </a:spcAft>
              <a:buSzPct val="100000"/>
              <a:buChar char="•"/>
            </a:pPr>
            <a:r>
              <a:rPr lang="en-US" sz="1250" dirty="0">
                <a:solidFill>
                  <a:srgbClr val="363636"/>
                </a:solidFill>
                <a:latin typeface="Calibri" pitchFamily="34" charset="0"/>
                <a:ea typeface="Calibri" pitchFamily="34" charset="-122"/>
                <a:cs typeface="Calibri" pitchFamily="34" charset="-120"/>
              </a:rPr>
              <a:t>"Tool enhancements"</a:t>
            </a:r>
            <a:endParaRPr lang="en-US" sz="1250" dirty="0"/>
          </a:p>
          <a:p>
            <a:pPr marL="342900" indent="-342900">
              <a:spcAft>
                <a:spcPts val="500"/>
              </a:spcAft>
              <a:buSzPct val="100000"/>
              <a:buChar char="•"/>
            </a:pPr>
            <a:r>
              <a:rPr lang="en-US" sz="1250" dirty="0">
                <a:solidFill>
                  <a:srgbClr val="363636"/>
                </a:solidFill>
                <a:latin typeface="Calibri" pitchFamily="34" charset="0"/>
                <a:ea typeface="Calibri" pitchFamily="34" charset="-122"/>
                <a:cs typeface="Calibri" pitchFamily="34" charset="-120"/>
              </a:rPr>
              <a:t>Feature comparisons</a:t>
            </a:r>
            <a:endParaRPr lang="en-US" sz="1250" dirty="0"/>
          </a:p>
        </p:txBody>
      </p:sp>
      <p:sp>
        <p:nvSpPr>
          <p:cNvPr id="11" name="Shape 9"/>
          <p:cNvSpPr/>
          <p:nvPr/>
        </p:nvSpPr>
        <p:spPr>
          <a:xfrm>
            <a:off x="3131820" y="2331720"/>
            <a:ext cx="2606040" cy="25146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2" name="Shape 10"/>
          <p:cNvSpPr/>
          <p:nvPr/>
        </p:nvSpPr>
        <p:spPr>
          <a:xfrm>
            <a:off x="3131820" y="2331720"/>
            <a:ext cx="2606040" cy="420624"/>
          </a:xfrm>
          <a:prstGeom prst="rect">
            <a:avLst/>
          </a:prstGeom>
          <a:solidFill>
            <a:srgbClr val="02C39A"/>
          </a:solidFill>
          <a:ln w="12700">
            <a:solidFill>
              <a:srgbClr val="02C39A"/>
            </a:solidFill>
            <a:prstDash val="solid"/>
          </a:ln>
        </p:spPr>
        <p:txBody>
          <a:bodyPr/>
          <a:lstStyle/>
          <a:p>
            <a:endParaRPr lang="en-US"/>
          </a:p>
        </p:txBody>
      </p:sp>
      <p:sp>
        <p:nvSpPr>
          <p:cNvPr id="13" name="Text 11"/>
          <p:cNvSpPr/>
          <p:nvPr/>
        </p:nvSpPr>
        <p:spPr>
          <a:xfrm>
            <a:off x="3241548" y="2331720"/>
            <a:ext cx="2423160" cy="420624"/>
          </a:xfrm>
          <a:prstGeom prst="rect">
            <a:avLst/>
          </a:prstGeom>
          <a:noFill/>
          <a:ln/>
        </p:spPr>
        <p:txBody>
          <a:bodyPr wrap="square" lIns="0" tIns="0" rIns="0" bIns="0" rtlCol="0" anchor="ctr"/>
          <a:lstStyle/>
          <a:p>
            <a:pPr marL="0" indent="0">
              <a:buNone/>
            </a:pPr>
            <a:r>
              <a:rPr lang="en-US" sz="1250" b="1" dirty="0">
                <a:solidFill>
                  <a:srgbClr val="1C2E35"/>
                </a:solidFill>
                <a:latin typeface="Calibri" pitchFamily="34" charset="0"/>
                <a:ea typeface="Calibri" pitchFamily="34" charset="-122"/>
                <a:cs typeface="Calibri" pitchFamily="34" charset="-120"/>
              </a:rPr>
              <a:t>✓  Always Lead With</a:t>
            </a:r>
            <a:endParaRPr lang="en-US" sz="1250" dirty="0"/>
          </a:p>
        </p:txBody>
      </p:sp>
      <p:sp>
        <p:nvSpPr>
          <p:cNvPr id="14" name="Text 12"/>
          <p:cNvSpPr/>
          <p:nvPr/>
        </p:nvSpPr>
        <p:spPr>
          <a:xfrm>
            <a:off x="3241548" y="2834640"/>
            <a:ext cx="2423160" cy="1920240"/>
          </a:xfrm>
          <a:prstGeom prst="rect">
            <a:avLst/>
          </a:prstGeom>
          <a:noFill/>
          <a:ln/>
        </p:spPr>
        <p:txBody>
          <a:bodyPr wrap="square" rtlCol="0" anchor="t"/>
          <a:lstStyle/>
          <a:p>
            <a:pPr marL="342900" indent="-342900">
              <a:spcAft>
                <a:spcPts val="500"/>
              </a:spcAft>
              <a:buSzPct val="100000"/>
              <a:buChar char="•"/>
            </a:pPr>
            <a:r>
              <a:rPr lang="en-US" sz="1250" dirty="0">
                <a:solidFill>
                  <a:srgbClr val="363636"/>
                </a:solidFill>
                <a:latin typeface="Calibri" pitchFamily="34" charset="0"/>
                <a:ea typeface="Calibri" pitchFamily="34" charset="-122"/>
                <a:cs typeface="Calibri" pitchFamily="34" charset="-120"/>
              </a:rPr>
              <a:t>Business outcomes</a:t>
            </a:r>
            <a:endParaRPr lang="en-US" sz="1250" dirty="0"/>
          </a:p>
          <a:p>
            <a:pPr marL="342900" indent="-342900">
              <a:spcAft>
                <a:spcPts val="500"/>
              </a:spcAft>
              <a:buSzPct val="100000"/>
              <a:buChar char="•"/>
            </a:pPr>
            <a:r>
              <a:rPr lang="en-US" sz="1250" dirty="0">
                <a:solidFill>
                  <a:srgbClr val="363636"/>
                </a:solidFill>
                <a:latin typeface="Calibri" pitchFamily="34" charset="0"/>
                <a:ea typeface="Calibri" pitchFamily="34" charset="-122"/>
                <a:cs typeface="Calibri" pitchFamily="34" charset="-120"/>
              </a:rPr>
              <a:t>Revenue impact</a:t>
            </a:r>
            <a:endParaRPr lang="en-US" sz="1250" dirty="0"/>
          </a:p>
          <a:p>
            <a:pPr marL="342900" indent="-342900">
              <a:spcAft>
                <a:spcPts val="500"/>
              </a:spcAft>
              <a:buSzPct val="100000"/>
              <a:buChar char="•"/>
            </a:pPr>
            <a:r>
              <a:rPr lang="en-US" sz="1250" dirty="0">
                <a:solidFill>
                  <a:srgbClr val="363636"/>
                </a:solidFill>
                <a:latin typeface="Calibri" pitchFamily="34" charset="0"/>
                <a:ea typeface="Calibri" pitchFamily="34" charset="-122"/>
                <a:cs typeface="Calibri" pitchFamily="34" charset="-120"/>
              </a:rPr>
              <a:t>Time/cost savings</a:t>
            </a:r>
            <a:endParaRPr lang="en-US" sz="1250" dirty="0"/>
          </a:p>
          <a:p>
            <a:pPr marL="342900" indent="-342900">
              <a:spcAft>
                <a:spcPts val="500"/>
              </a:spcAft>
              <a:buSzPct val="100000"/>
              <a:buChar char="•"/>
            </a:pPr>
            <a:r>
              <a:rPr lang="en-US" sz="1250" dirty="0">
                <a:solidFill>
                  <a:srgbClr val="363636"/>
                </a:solidFill>
                <a:latin typeface="Calibri" pitchFamily="34" charset="0"/>
                <a:ea typeface="Calibri" pitchFamily="34" charset="-122"/>
                <a:cs typeface="Calibri" pitchFamily="34" charset="-120"/>
              </a:rPr>
              <a:t>Risk mitigation</a:t>
            </a:r>
            <a:endParaRPr lang="en-US" sz="1250" dirty="0"/>
          </a:p>
          <a:p>
            <a:pPr marL="342900" indent="-342900">
              <a:spcAft>
                <a:spcPts val="500"/>
              </a:spcAft>
              <a:buSzPct val="100000"/>
              <a:buChar char="•"/>
            </a:pPr>
            <a:r>
              <a:rPr lang="en-US" sz="1250" dirty="0">
                <a:solidFill>
                  <a:srgbClr val="363636"/>
                </a:solidFill>
                <a:latin typeface="Calibri" pitchFamily="34" charset="0"/>
                <a:ea typeface="Calibri" pitchFamily="34" charset="-122"/>
                <a:cs typeface="Calibri" pitchFamily="34" charset="-120"/>
              </a:rPr>
              <a:t>Visibility &amp; control</a:t>
            </a:r>
            <a:endParaRPr lang="en-US" sz="1250" dirty="0"/>
          </a:p>
        </p:txBody>
      </p:sp>
      <p:sp>
        <p:nvSpPr>
          <p:cNvPr id="15" name="Shape 13"/>
          <p:cNvSpPr/>
          <p:nvPr/>
        </p:nvSpPr>
        <p:spPr>
          <a:xfrm>
            <a:off x="5943600" y="2331720"/>
            <a:ext cx="2606040" cy="25146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6" name="Shape 14"/>
          <p:cNvSpPr/>
          <p:nvPr/>
        </p:nvSpPr>
        <p:spPr>
          <a:xfrm>
            <a:off x="5943600" y="2331720"/>
            <a:ext cx="2606040" cy="420624"/>
          </a:xfrm>
          <a:prstGeom prst="rect">
            <a:avLst/>
          </a:prstGeom>
          <a:solidFill>
            <a:srgbClr val="F59E0B"/>
          </a:solidFill>
          <a:ln w="12700">
            <a:solidFill>
              <a:srgbClr val="F59E0B"/>
            </a:solidFill>
            <a:prstDash val="solid"/>
          </a:ln>
        </p:spPr>
        <p:txBody>
          <a:bodyPr/>
          <a:lstStyle/>
          <a:p>
            <a:endParaRPr lang="en-US"/>
          </a:p>
        </p:txBody>
      </p:sp>
      <p:sp>
        <p:nvSpPr>
          <p:cNvPr id="17" name="Text 15"/>
          <p:cNvSpPr/>
          <p:nvPr/>
        </p:nvSpPr>
        <p:spPr>
          <a:xfrm>
            <a:off x="6053328" y="2331720"/>
            <a:ext cx="2423160" cy="420624"/>
          </a:xfrm>
          <a:prstGeom prst="rect">
            <a:avLst/>
          </a:prstGeom>
          <a:noFill/>
          <a:ln/>
        </p:spPr>
        <p:txBody>
          <a:bodyPr wrap="square" lIns="0" tIns="0" rIns="0" bIns="0" rtlCol="0" anchor="ctr"/>
          <a:lstStyle/>
          <a:p>
            <a:pPr marL="0" indent="0">
              <a:buNone/>
            </a:pPr>
            <a:r>
              <a:rPr lang="en-US" sz="1250" b="1" dirty="0">
                <a:solidFill>
                  <a:srgbClr val="1C2E35"/>
                </a:solidFill>
                <a:latin typeface="Calibri" pitchFamily="34" charset="0"/>
                <a:ea typeface="Calibri" pitchFamily="34" charset="-122"/>
                <a:cs typeface="Calibri" pitchFamily="34" charset="-120"/>
              </a:rPr>
              <a:t>📌  Your Close Must Connect To</a:t>
            </a:r>
            <a:endParaRPr lang="en-US" sz="1250" dirty="0"/>
          </a:p>
        </p:txBody>
      </p:sp>
      <p:sp>
        <p:nvSpPr>
          <p:cNvPr id="18" name="Text 16"/>
          <p:cNvSpPr/>
          <p:nvPr/>
        </p:nvSpPr>
        <p:spPr>
          <a:xfrm>
            <a:off x="6053328" y="2834640"/>
            <a:ext cx="2423160" cy="1920240"/>
          </a:xfrm>
          <a:prstGeom prst="rect">
            <a:avLst/>
          </a:prstGeom>
          <a:noFill/>
          <a:ln/>
        </p:spPr>
        <p:txBody>
          <a:bodyPr wrap="square" rtlCol="0" anchor="t"/>
          <a:lstStyle/>
          <a:p>
            <a:pPr marL="342900" indent="-342900">
              <a:spcAft>
                <a:spcPts val="500"/>
              </a:spcAft>
              <a:buSzPct val="100000"/>
              <a:buChar char="•"/>
            </a:pPr>
            <a:r>
              <a:rPr lang="en-US" sz="1250" dirty="0">
                <a:solidFill>
                  <a:srgbClr val="363636"/>
                </a:solidFill>
                <a:latin typeface="Calibri" pitchFamily="34" charset="0"/>
                <a:ea typeface="Calibri" pitchFamily="34" charset="-122"/>
                <a:cs typeface="Calibri" pitchFamily="34" charset="-120"/>
              </a:rPr>
              <a:t>Growth</a:t>
            </a:r>
            <a:endParaRPr lang="en-US" sz="1250" dirty="0"/>
          </a:p>
          <a:p>
            <a:pPr marL="342900" indent="-342900">
              <a:spcAft>
                <a:spcPts val="500"/>
              </a:spcAft>
              <a:buSzPct val="100000"/>
              <a:buChar char="•"/>
            </a:pPr>
            <a:r>
              <a:rPr lang="en-US" sz="1250" dirty="0">
                <a:solidFill>
                  <a:srgbClr val="363636"/>
                </a:solidFill>
                <a:latin typeface="Calibri" pitchFamily="34" charset="0"/>
                <a:ea typeface="Calibri" pitchFamily="34" charset="-122"/>
                <a:cs typeface="Calibri" pitchFamily="34" charset="-120"/>
              </a:rPr>
              <a:t>Protection</a:t>
            </a:r>
            <a:endParaRPr lang="en-US" sz="1250" dirty="0"/>
          </a:p>
          <a:p>
            <a:pPr marL="342900" indent="-342900">
              <a:spcAft>
                <a:spcPts val="500"/>
              </a:spcAft>
              <a:buSzPct val="100000"/>
              <a:buChar char="•"/>
            </a:pPr>
            <a:r>
              <a:rPr lang="en-US" sz="1250" dirty="0">
                <a:solidFill>
                  <a:srgbClr val="363636"/>
                </a:solidFill>
                <a:latin typeface="Calibri" pitchFamily="34" charset="0"/>
                <a:ea typeface="Calibri" pitchFamily="34" charset="-122"/>
                <a:cs typeface="Calibri" pitchFamily="34" charset="-120"/>
              </a:rPr>
              <a:t>Simplification</a:t>
            </a:r>
            <a:endParaRPr lang="en-US" sz="1250" dirty="0"/>
          </a:p>
          <a:p>
            <a:pPr marL="342900" indent="-342900">
              <a:spcAft>
                <a:spcPts val="500"/>
              </a:spcAft>
              <a:buSzPct val="100000"/>
              <a:buChar char="•"/>
            </a:pPr>
            <a:r>
              <a:rPr lang="en-US" sz="1250" dirty="0">
                <a:solidFill>
                  <a:srgbClr val="363636"/>
                </a:solidFill>
                <a:latin typeface="Calibri" pitchFamily="34" charset="0"/>
                <a:ea typeface="Calibri" pitchFamily="34" charset="-122"/>
                <a:cs typeface="Calibri" pitchFamily="34" charset="-120"/>
              </a:rPr>
              <a:t>(Owners think in these)</a:t>
            </a:r>
            <a:endParaRPr lang="en-US" sz="1250" dirty="0"/>
          </a:p>
          <a:p>
            <a:pPr marL="342900" indent="-342900">
              <a:spcAft>
                <a:spcPts val="500"/>
              </a:spcAft>
              <a:buSzPct val="100000"/>
              <a:buChar char="•"/>
            </a:pPr>
            <a:r>
              <a:rPr lang="en-US" sz="1250" dirty="0">
                <a:solidFill>
                  <a:srgbClr val="363636"/>
                </a:solidFill>
                <a:latin typeface="Calibri" pitchFamily="34" charset="0"/>
                <a:ea typeface="Calibri" pitchFamily="34" charset="-122"/>
                <a:cs typeface="Calibri" pitchFamily="34" charset="-120"/>
              </a:rPr>
              <a:t>(Not features or specs)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D6E"/>
          </a:solidFill>
          <a:ln w="12700">
            <a:solidFill>
              <a:srgbClr val="2E5D6E"/>
            </a:solidFill>
            <a:prstDash val="solid"/>
          </a:ln>
        </p:spPr>
        <p:txBody>
          <a:bodyPr/>
          <a:lstStyle/>
          <a:p>
            <a:endParaRPr lang="en-US"/>
          </a:p>
        </p:txBody>
      </p:sp>
      <p:sp>
        <p:nvSpPr>
          <p:cNvPr id="3" name="Text 1"/>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4 Expansion Drivers — Identify Before Every Demo</a:t>
            </a:r>
            <a:endParaRPr lang="en-US" sz="2600" dirty="0"/>
          </a:p>
        </p:txBody>
      </p:sp>
      <p:sp>
        <p:nvSpPr>
          <p:cNvPr id="4" name="Text 2"/>
          <p:cNvSpPr/>
          <p:nvPr/>
        </p:nvSpPr>
        <p:spPr>
          <a:xfrm>
            <a:off x="365760" y="1005840"/>
            <a:ext cx="8412480" cy="347472"/>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Before the demo, identify which driver applies to THIS client:</a:t>
            </a:r>
            <a:endParaRPr lang="en-US" sz="1400" dirty="0"/>
          </a:p>
        </p:txBody>
      </p:sp>
      <p:sp>
        <p:nvSpPr>
          <p:cNvPr id="5" name="Shape 3"/>
          <p:cNvSpPr/>
          <p:nvPr/>
        </p:nvSpPr>
        <p:spPr>
          <a:xfrm>
            <a:off x="320040" y="1463040"/>
            <a:ext cx="1965960" cy="33375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320040" y="1463040"/>
            <a:ext cx="1965960" cy="868680"/>
          </a:xfrm>
          <a:prstGeom prst="rect">
            <a:avLst/>
          </a:prstGeom>
          <a:solidFill>
            <a:srgbClr val="02C39A"/>
          </a:solidFill>
          <a:ln w="12700">
            <a:solidFill>
              <a:srgbClr val="02C39A"/>
            </a:solidFill>
            <a:prstDash val="solid"/>
          </a:ln>
        </p:spPr>
        <p:txBody>
          <a:bodyPr/>
          <a:lstStyle/>
          <a:p>
            <a:endParaRPr lang="en-US"/>
          </a:p>
        </p:txBody>
      </p:sp>
      <p:sp>
        <p:nvSpPr>
          <p:cNvPr id="7" name="Text 5"/>
          <p:cNvSpPr/>
          <p:nvPr/>
        </p:nvSpPr>
        <p:spPr>
          <a:xfrm>
            <a:off x="429768" y="1508760"/>
            <a:ext cx="411480" cy="384048"/>
          </a:xfrm>
          <a:prstGeom prst="rect">
            <a:avLst/>
          </a:prstGeom>
          <a:noFill/>
          <a:ln/>
        </p:spPr>
        <p:txBody>
          <a:bodyPr wrap="square" lIns="0" tIns="0" rIns="0" bIns="0" rtlCol="0" anchor="ctr"/>
          <a:lstStyle/>
          <a:p>
            <a:pPr marL="0" indent="0">
              <a:buNone/>
            </a:pPr>
            <a:r>
              <a:rPr lang="en-US" sz="2800" b="1" dirty="0">
                <a:solidFill>
                  <a:srgbClr val="1C2E35"/>
                </a:solidFill>
                <a:latin typeface="Calibri" pitchFamily="34" charset="0"/>
                <a:ea typeface="Calibri" pitchFamily="34" charset="-122"/>
                <a:cs typeface="Calibri" pitchFamily="34" charset="-120"/>
              </a:rPr>
              <a:t>1</a:t>
            </a:r>
            <a:endParaRPr lang="en-US" sz="2800" dirty="0"/>
          </a:p>
        </p:txBody>
      </p:sp>
      <p:sp>
        <p:nvSpPr>
          <p:cNvPr id="8" name="Text 6"/>
          <p:cNvSpPr/>
          <p:nvPr/>
        </p:nvSpPr>
        <p:spPr>
          <a:xfrm>
            <a:off x="429768" y="1901952"/>
            <a:ext cx="1783080" cy="384048"/>
          </a:xfrm>
          <a:prstGeom prst="rect">
            <a:avLst/>
          </a:prstGeom>
          <a:noFill/>
          <a:ln/>
        </p:spPr>
        <p:txBody>
          <a:bodyPr wrap="square" lIns="0" tIns="0" rIns="0" bIns="0" rtlCol="0" anchor="ctr"/>
          <a:lstStyle/>
          <a:p>
            <a:pPr marL="0" indent="0">
              <a:buNone/>
            </a:pPr>
            <a:r>
              <a:rPr lang="en-US" sz="1300" b="1" dirty="0">
                <a:solidFill>
                  <a:srgbClr val="1C2E35"/>
                </a:solidFill>
                <a:latin typeface="Calibri" pitchFamily="34" charset="0"/>
                <a:ea typeface="Calibri" pitchFamily="34" charset="-122"/>
                <a:cs typeface="Calibri" pitchFamily="34" charset="-120"/>
              </a:rPr>
              <a:t>Revenue Growth</a:t>
            </a:r>
            <a:endParaRPr lang="en-US" sz="1300" dirty="0"/>
          </a:p>
        </p:txBody>
      </p:sp>
      <p:sp>
        <p:nvSpPr>
          <p:cNvPr id="9" name="Text 7"/>
          <p:cNvSpPr/>
          <p:nvPr/>
        </p:nvSpPr>
        <p:spPr>
          <a:xfrm>
            <a:off x="429768" y="2423160"/>
            <a:ext cx="1783080" cy="2286000"/>
          </a:xfrm>
          <a:prstGeom prst="rect">
            <a:avLst/>
          </a:prstGeom>
          <a:noFill/>
          <a:ln/>
        </p:spPr>
        <p:txBody>
          <a:bodyPr wrap="square" rtlCol="0" anchor="t"/>
          <a:lstStyle/>
          <a:p>
            <a:pPr marL="342900" indent="-342900">
              <a:spcAft>
                <a:spcPts val="600"/>
              </a:spcAft>
              <a:buSzPct val="100000"/>
              <a:buChar char="•"/>
            </a:pPr>
            <a:r>
              <a:rPr lang="en-US" sz="1250" dirty="0">
                <a:solidFill>
                  <a:srgbClr val="363636"/>
                </a:solidFill>
                <a:latin typeface="Calibri" pitchFamily="34" charset="0"/>
                <a:ea typeface="Calibri" pitchFamily="34" charset="-122"/>
                <a:cs typeface="Calibri" pitchFamily="34" charset="-120"/>
              </a:rPr>
              <a:t>Membership penetration</a:t>
            </a:r>
            <a:endParaRPr lang="en-US" sz="1250" dirty="0"/>
          </a:p>
          <a:p>
            <a:pPr marL="342900" indent="-342900">
              <a:spcAft>
                <a:spcPts val="600"/>
              </a:spcAft>
              <a:buSzPct val="100000"/>
              <a:buChar char="•"/>
            </a:pPr>
            <a:r>
              <a:rPr lang="en-US" sz="1250" dirty="0">
                <a:solidFill>
                  <a:srgbClr val="363636"/>
                </a:solidFill>
                <a:latin typeface="Calibri" pitchFamily="34" charset="0"/>
                <a:ea typeface="Calibri" pitchFamily="34" charset="-122"/>
                <a:cs typeface="Calibri" pitchFamily="34" charset="-120"/>
              </a:rPr>
              <a:t>Package sales</a:t>
            </a:r>
            <a:endParaRPr lang="en-US" sz="1250" dirty="0"/>
          </a:p>
          <a:p>
            <a:pPr marL="342900" indent="-342900">
              <a:spcAft>
                <a:spcPts val="600"/>
              </a:spcAft>
              <a:buSzPct val="100000"/>
              <a:buChar char="•"/>
            </a:pPr>
            <a:r>
              <a:rPr lang="en-US" sz="1250" dirty="0">
                <a:solidFill>
                  <a:srgbClr val="363636"/>
                </a:solidFill>
                <a:latin typeface="Calibri" pitchFamily="34" charset="0"/>
                <a:ea typeface="Calibri" pitchFamily="34" charset="-122"/>
                <a:cs typeface="Calibri" pitchFamily="34" charset="-120"/>
              </a:rPr>
              <a:t>Retail attachment</a:t>
            </a:r>
            <a:endParaRPr lang="en-US" sz="1250" dirty="0"/>
          </a:p>
          <a:p>
            <a:pPr marL="342900" indent="-342900">
              <a:spcAft>
                <a:spcPts val="600"/>
              </a:spcAft>
              <a:buSzPct val="100000"/>
              <a:buChar char="•"/>
            </a:pPr>
            <a:r>
              <a:rPr lang="en-US" sz="1250" dirty="0">
                <a:solidFill>
                  <a:srgbClr val="363636"/>
                </a:solidFill>
                <a:latin typeface="Calibri" pitchFamily="34" charset="0"/>
                <a:ea typeface="Calibri" pitchFamily="34" charset="-122"/>
                <a:cs typeface="Calibri" pitchFamily="34" charset="-120"/>
              </a:rPr>
              <a:t>Rebooking rates</a:t>
            </a:r>
            <a:endParaRPr lang="en-US" sz="1250" dirty="0"/>
          </a:p>
        </p:txBody>
      </p:sp>
      <p:sp>
        <p:nvSpPr>
          <p:cNvPr id="10" name="Shape 8"/>
          <p:cNvSpPr/>
          <p:nvPr/>
        </p:nvSpPr>
        <p:spPr>
          <a:xfrm>
            <a:off x="2514600" y="1463040"/>
            <a:ext cx="1965960" cy="33375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1" name="Shape 9"/>
          <p:cNvSpPr/>
          <p:nvPr/>
        </p:nvSpPr>
        <p:spPr>
          <a:xfrm>
            <a:off x="2514600" y="1463040"/>
            <a:ext cx="1965960" cy="868680"/>
          </a:xfrm>
          <a:prstGeom prst="rect">
            <a:avLst/>
          </a:prstGeom>
          <a:solidFill>
            <a:srgbClr val="3A7A8F"/>
          </a:solidFill>
          <a:ln w="12700">
            <a:solidFill>
              <a:srgbClr val="3A7A8F"/>
            </a:solidFill>
            <a:prstDash val="solid"/>
          </a:ln>
        </p:spPr>
        <p:txBody>
          <a:bodyPr/>
          <a:lstStyle/>
          <a:p>
            <a:endParaRPr lang="en-US"/>
          </a:p>
        </p:txBody>
      </p:sp>
      <p:sp>
        <p:nvSpPr>
          <p:cNvPr id="12" name="Text 10"/>
          <p:cNvSpPr/>
          <p:nvPr/>
        </p:nvSpPr>
        <p:spPr>
          <a:xfrm>
            <a:off x="2624328" y="1508760"/>
            <a:ext cx="411480" cy="384048"/>
          </a:xfrm>
          <a:prstGeom prst="rect">
            <a:avLst/>
          </a:prstGeom>
          <a:noFill/>
          <a:ln/>
        </p:spPr>
        <p:txBody>
          <a:bodyPr wrap="square" lIns="0" tIns="0" rIns="0" bIns="0" rtlCol="0" anchor="ctr"/>
          <a:lstStyle/>
          <a:p>
            <a:pPr marL="0" indent="0">
              <a:buNone/>
            </a:pPr>
            <a:r>
              <a:rPr lang="en-US" sz="2800" b="1" dirty="0">
                <a:solidFill>
                  <a:srgbClr val="1C2E35"/>
                </a:solidFill>
                <a:latin typeface="Calibri" pitchFamily="34" charset="0"/>
                <a:ea typeface="Calibri" pitchFamily="34" charset="-122"/>
                <a:cs typeface="Calibri" pitchFamily="34" charset="-120"/>
              </a:rPr>
              <a:t>2</a:t>
            </a:r>
            <a:endParaRPr lang="en-US" sz="2800" dirty="0"/>
          </a:p>
        </p:txBody>
      </p:sp>
      <p:sp>
        <p:nvSpPr>
          <p:cNvPr id="13" name="Text 11"/>
          <p:cNvSpPr/>
          <p:nvPr/>
        </p:nvSpPr>
        <p:spPr>
          <a:xfrm>
            <a:off x="2624328" y="1901952"/>
            <a:ext cx="178308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Operational Efficiency</a:t>
            </a:r>
            <a:endParaRPr lang="en-US" sz="1300" dirty="0"/>
          </a:p>
        </p:txBody>
      </p:sp>
      <p:sp>
        <p:nvSpPr>
          <p:cNvPr id="14" name="Text 12"/>
          <p:cNvSpPr/>
          <p:nvPr/>
        </p:nvSpPr>
        <p:spPr>
          <a:xfrm>
            <a:off x="2624328" y="2423160"/>
            <a:ext cx="1783080" cy="2286000"/>
          </a:xfrm>
          <a:prstGeom prst="rect">
            <a:avLst/>
          </a:prstGeom>
          <a:noFill/>
          <a:ln/>
        </p:spPr>
        <p:txBody>
          <a:bodyPr wrap="square" rtlCol="0" anchor="t"/>
          <a:lstStyle/>
          <a:p>
            <a:pPr marL="342900" indent="-342900">
              <a:spcAft>
                <a:spcPts val="600"/>
              </a:spcAft>
              <a:buSzPct val="100000"/>
              <a:buChar char="•"/>
            </a:pPr>
            <a:r>
              <a:rPr lang="en-US" sz="1250" dirty="0">
                <a:solidFill>
                  <a:srgbClr val="363636"/>
                </a:solidFill>
                <a:latin typeface="Calibri" pitchFamily="34" charset="0"/>
                <a:ea typeface="Calibri" pitchFamily="34" charset="-122"/>
                <a:cs typeface="Calibri" pitchFamily="34" charset="-120"/>
              </a:rPr>
              <a:t>Reporting visibility</a:t>
            </a:r>
            <a:endParaRPr lang="en-US" sz="1250" dirty="0"/>
          </a:p>
          <a:p>
            <a:pPr marL="342900" indent="-342900">
              <a:spcAft>
                <a:spcPts val="600"/>
              </a:spcAft>
              <a:buSzPct val="100000"/>
              <a:buChar char="•"/>
            </a:pPr>
            <a:r>
              <a:rPr lang="en-US" sz="1250" dirty="0">
                <a:solidFill>
                  <a:srgbClr val="363636"/>
                </a:solidFill>
                <a:latin typeface="Calibri" pitchFamily="34" charset="0"/>
                <a:ea typeface="Calibri" pitchFamily="34" charset="-122"/>
                <a:cs typeface="Calibri" pitchFamily="34" charset="-120"/>
              </a:rPr>
              <a:t>Provider productivity</a:t>
            </a:r>
            <a:endParaRPr lang="en-US" sz="1250" dirty="0"/>
          </a:p>
          <a:p>
            <a:pPr marL="342900" indent="-342900">
              <a:spcAft>
                <a:spcPts val="600"/>
              </a:spcAft>
              <a:buSzPct val="100000"/>
              <a:buChar char="•"/>
            </a:pPr>
            <a:r>
              <a:rPr lang="en-US" sz="1250" dirty="0">
                <a:solidFill>
                  <a:srgbClr val="363636"/>
                </a:solidFill>
                <a:latin typeface="Calibri" pitchFamily="34" charset="0"/>
                <a:ea typeface="Calibri" pitchFamily="34" charset="-122"/>
                <a:cs typeface="Calibri" pitchFamily="34" charset="-120"/>
              </a:rPr>
              <a:t>Automation</a:t>
            </a:r>
            <a:endParaRPr lang="en-US" sz="1250" dirty="0"/>
          </a:p>
          <a:p>
            <a:pPr marL="342900" indent="-342900">
              <a:spcAft>
                <a:spcPts val="600"/>
              </a:spcAft>
              <a:buSzPct val="100000"/>
              <a:buChar char="•"/>
            </a:pPr>
            <a:r>
              <a:rPr lang="en-US" sz="1250" dirty="0">
                <a:solidFill>
                  <a:srgbClr val="363636"/>
                </a:solidFill>
                <a:latin typeface="Calibri" pitchFamily="34" charset="0"/>
                <a:ea typeface="Calibri" pitchFamily="34" charset="-122"/>
                <a:cs typeface="Calibri" pitchFamily="34" charset="-120"/>
              </a:rPr>
              <a:t>Reduced manual tasks</a:t>
            </a:r>
            <a:endParaRPr lang="en-US" sz="1250" dirty="0"/>
          </a:p>
        </p:txBody>
      </p:sp>
      <p:sp>
        <p:nvSpPr>
          <p:cNvPr id="15" name="Shape 13"/>
          <p:cNvSpPr/>
          <p:nvPr/>
        </p:nvSpPr>
        <p:spPr>
          <a:xfrm>
            <a:off x="4709160" y="1463040"/>
            <a:ext cx="1965960" cy="33375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6" name="Shape 14"/>
          <p:cNvSpPr/>
          <p:nvPr/>
        </p:nvSpPr>
        <p:spPr>
          <a:xfrm>
            <a:off x="4709160" y="1463040"/>
            <a:ext cx="1965960" cy="868680"/>
          </a:xfrm>
          <a:prstGeom prst="rect">
            <a:avLst/>
          </a:prstGeom>
          <a:solidFill>
            <a:srgbClr val="2E5D6E"/>
          </a:solidFill>
          <a:ln w="12700">
            <a:solidFill>
              <a:srgbClr val="2E5D6E"/>
            </a:solidFill>
            <a:prstDash val="solid"/>
          </a:ln>
        </p:spPr>
        <p:txBody>
          <a:bodyPr/>
          <a:lstStyle/>
          <a:p>
            <a:endParaRPr lang="en-US"/>
          </a:p>
        </p:txBody>
      </p:sp>
      <p:sp>
        <p:nvSpPr>
          <p:cNvPr id="17" name="Text 15"/>
          <p:cNvSpPr/>
          <p:nvPr/>
        </p:nvSpPr>
        <p:spPr>
          <a:xfrm>
            <a:off x="4818888" y="1508760"/>
            <a:ext cx="411480" cy="38404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18" name="Text 16"/>
          <p:cNvSpPr/>
          <p:nvPr/>
        </p:nvSpPr>
        <p:spPr>
          <a:xfrm>
            <a:off x="4818888" y="1901952"/>
            <a:ext cx="178308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Client Retention</a:t>
            </a:r>
            <a:endParaRPr lang="en-US" sz="1300" dirty="0"/>
          </a:p>
        </p:txBody>
      </p:sp>
      <p:sp>
        <p:nvSpPr>
          <p:cNvPr id="19" name="Text 17"/>
          <p:cNvSpPr/>
          <p:nvPr/>
        </p:nvSpPr>
        <p:spPr>
          <a:xfrm>
            <a:off x="4818888" y="2423160"/>
            <a:ext cx="1783080" cy="2286000"/>
          </a:xfrm>
          <a:prstGeom prst="rect">
            <a:avLst/>
          </a:prstGeom>
          <a:noFill/>
          <a:ln/>
        </p:spPr>
        <p:txBody>
          <a:bodyPr wrap="square" rtlCol="0" anchor="t"/>
          <a:lstStyle/>
          <a:p>
            <a:pPr marL="342900" indent="-342900">
              <a:spcAft>
                <a:spcPts val="600"/>
              </a:spcAft>
              <a:buSzPct val="100000"/>
              <a:buChar char="•"/>
            </a:pPr>
            <a:r>
              <a:rPr lang="en-US" sz="1250" dirty="0">
                <a:solidFill>
                  <a:srgbClr val="363636"/>
                </a:solidFill>
                <a:latin typeface="Calibri" pitchFamily="34" charset="0"/>
                <a:ea typeface="Calibri" pitchFamily="34" charset="-122"/>
                <a:cs typeface="Calibri" pitchFamily="34" charset="-120"/>
              </a:rPr>
              <a:t>Marketing automation</a:t>
            </a:r>
            <a:endParaRPr lang="en-US" sz="1250" dirty="0"/>
          </a:p>
          <a:p>
            <a:pPr marL="342900" indent="-342900">
              <a:spcAft>
                <a:spcPts val="600"/>
              </a:spcAft>
              <a:buSzPct val="100000"/>
              <a:buChar char="•"/>
            </a:pPr>
            <a:r>
              <a:rPr lang="en-US" sz="1250" dirty="0">
                <a:solidFill>
                  <a:srgbClr val="363636"/>
                </a:solidFill>
                <a:latin typeface="Calibri" pitchFamily="34" charset="0"/>
                <a:ea typeface="Calibri" pitchFamily="34" charset="-122"/>
                <a:cs typeface="Calibri" pitchFamily="34" charset="-120"/>
              </a:rPr>
              <a:t>Follow-up workflows</a:t>
            </a:r>
            <a:endParaRPr lang="en-US" sz="1250" dirty="0"/>
          </a:p>
          <a:p>
            <a:pPr marL="342900" indent="-342900">
              <a:spcAft>
                <a:spcPts val="600"/>
              </a:spcAft>
              <a:buSzPct val="100000"/>
              <a:buChar char="•"/>
            </a:pPr>
            <a:r>
              <a:rPr lang="en-US" sz="1250" dirty="0">
                <a:solidFill>
                  <a:srgbClr val="363636"/>
                </a:solidFill>
                <a:latin typeface="Calibri" pitchFamily="34" charset="0"/>
                <a:ea typeface="Calibri" pitchFamily="34" charset="-122"/>
                <a:cs typeface="Calibri" pitchFamily="34" charset="-120"/>
              </a:rPr>
              <a:t>Loyalty programs</a:t>
            </a:r>
            <a:endParaRPr lang="en-US" sz="1250" dirty="0"/>
          </a:p>
        </p:txBody>
      </p:sp>
      <p:sp>
        <p:nvSpPr>
          <p:cNvPr id="20" name="Shape 18"/>
          <p:cNvSpPr/>
          <p:nvPr/>
        </p:nvSpPr>
        <p:spPr>
          <a:xfrm>
            <a:off x="6903720" y="1463040"/>
            <a:ext cx="1965960" cy="33375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1" name="Shape 19"/>
          <p:cNvSpPr/>
          <p:nvPr/>
        </p:nvSpPr>
        <p:spPr>
          <a:xfrm>
            <a:off x="6903720" y="1463040"/>
            <a:ext cx="1965960" cy="868680"/>
          </a:xfrm>
          <a:prstGeom prst="rect">
            <a:avLst/>
          </a:prstGeom>
          <a:solidFill>
            <a:srgbClr val="1C2E35"/>
          </a:solidFill>
          <a:ln w="12700">
            <a:solidFill>
              <a:srgbClr val="1C2E35"/>
            </a:solidFill>
            <a:prstDash val="solid"/>
          </a:ln>
        </p:spPr>
        <p:txBody>
          <a:bodyPr/>
          <a:lstStyle/>
          <a:p>
            <a:endParaRPr lang="en-US"/>
          </a:p>
        </p:txBody>
      </p:sp>
      <p:sp>
        <p:nvSpPr>
          <p:cNvPr id="22" name="Text 20"/>
          <p:cNvSpPr/>
          <p:nvPr/>
        </p:nvSpPr>
        <p:spPr>
          <a:xfrm>
            <a:off x="7013448" y="1508760"/>
            <a:ext cx="411480" cy="38404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23" name="Text 21"/>
          <p:cNvSpPr/>
          <p:nvPr/>
        </p:nvSpPr>
        <p:spPr>
          <a:xfrm>
            <a:off x="7013448" y="1901952"/>
            <a:ext cx="178308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Risk &amp; Compliance</a:t>
            </a:r>
            <a:endParaRPr lang="en-US" sz="1300" dirty="0"/>
          </a:p>
        </p:txBody>
      </p:sp>
      <p:sp>
        <p:nvSpPr>
          <p:cNvPr id="24" name="Text 22"/>
          <p:cNvSpPr/>
          <p:nvPr/>
        </p:nvSpPr>
        <p:spPr>
          <a:xfrm>
            <a:off x="7013448" y="2423160"/>
            <a:ext cx="1783080" cy="2286000"/>
          </a:xfrm>
          <a:prstGeom prst="rect">
            <a:avLst/>
          </a:prstGeom>
          <a:noFill/>
          <a:ln/>
        </p:spPr>
        <p:txBody>
          <a:bodyPr wrap="square" rtlCol="0" anchor="t"/>
          <a:lstStyle/>
          <a:p>
            <a:pPr marL="342900" indent="-342900">
              <a:spcAft>
                <a:spcPts val="600"/>
              </a:spcAft>
              <a:buSzPct val="100000"/>
              <a:buChar char="•"/>
            </a:pPr>
            <a:r>
              <a:rPr lang="en-US" sz="1250" dirty="0">
                <a:solidFill>
                  <a:srgbClr val="363636"/>
                </a:solidFill>
                <a:latin typeface="Calibri" pitchFamily="34" charset="0"/>
                <a:ea typeface="Calibri" pitchFamily="34" charset="-122"/>
                <a:cs typeface="Calibri" pitchFamily="34" charset="-120"/>
              </a:rPr>
              <a:t>Charting improvements</a:t>
            </a:r>
            <a:endParaRPr lang="en-US" sz="1250" dirty="0"/>
          </a:p>
          <a:p>
            <a:pPr marL="342900" indent="-342900">
              <a:spcAft>
                <a:spcPts val="600"/>
              </a:spcAft>
              <a:buSzPct val="100000"/>
              <a:buChar char="•"/>
            </a:pPr>
            <a:r>
              <a:rPr lang="en-US" sz="1250" dirty="0">
                <a:solidFill>
                  <a:srgbClr val="363636"/>
                </a:solidFill>
                <a:latin typeface="Calibri" pitchFamily="34" charset="0"/>
                <a:ea typeface="Calibri" pitchFamily="34" charset="-122"/>
                <a:cs typeface="Calibri" pitchFamily="34" charset="-120"/>
              </a:rPr>
              <a:t>Documentation standards</a:t>
            </a:r>
            <a:endParaRPr lang="en-US" sz="1250" dirty="0"/>
          </a:p>
          <a:p>
            <a:pPr marL="342900" indent="-342900">
              <a:spcAft>
                <a:spcPts val="600"/>
              </a:spcAft>
              <a:buSzPct val="100000"/>
              <a:buChar char="•"/>
            </a:pPr>
            <a:r>
              <a:rPr lang="en-US" sz="1250" dirty="0">
                <a:solidFill>
                  <a:srgbClr val="363636"/>
                </a:solidFill>
                <a:latin typeface="Calibri" pitchFamily="34" charset="0"/>
                <a:ea typeface="Calibri" pitchFamily="34" charset="-122"/>
                <a:cs typeface="Calibri" pitchFamily="34" charset="-120"/>
              </a:rPr>
              <a:t>Audit readiness</a:t>
            </a:r>
            <a:endParaRPr lang="en-US" sz="1250" dirty="0"/>
          </a:p>
          <a:p>
            <a:pPr marL="342900" indent="-342900">
              <a:spcAft>
                <a:spcPts val="600"/>
              </a:spcAft>
              <a:buSzPct val="100000"/>
              <a:buChar char="•"/>
            </a:pPr>
            <a:r>
              <a:rPr lang="en-US" sz="1250" i="1" dirty="0">
                <a:solidFill>
                  <a:srgbClr val="64748B"/>
                </a:solidFill>
                <a:latin typeface="Calibri" pitchFamily="34" charset="0"/>
                <a:ea typeface="Calibri" pitchFamily="34" charset="-122"/>
                <a:cs typeface="Calibri" pitchFamily="34" charset="-120"/>
              </a:rPr>
              <a:t>(Med Spa focus)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D6E"/>
          </a:solidFill>
          <a:ln w="12700">
            <a:solidFill>
              <a:srgbClr val="2E5D6E"/>
            </a:solidFill>
            <a:prstDash val="solid"/>
          </a:ln>
        </p:spPr>
        <p:txBody>
          <a:bodyPr/>
          <a:lstStyle/>
          <a:p>
            <a:endParaRPr lang="en-US"/>
          </a:p>
        </p:txBody>
      </p:sp>
      <p:sp>
        <p:nvSpPr>
          <p:cNvPr id="3" name="Text 1"/>
          <p:cNvSpPr/>
          <p:nvPr/>
        </p:nvSpPr>
        <p:spPr>
          <a:xfrm>
            <a:off x="365760" y="0"/>
            <a:ext cx="841248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Pre-Demo Preparation Framework</a:t>
            </a:r>
            <a:endParaRPr lang="en-US" sz="2800" dirty="0"/>
          </a:p>
        </p:txBody>
      </p:sp>
      <p:sp>
        <p:nvSpPr>
          <p:cNvPr id="4" name="Shape 2"/>
          <p:cNvSpPr/>
          <p:nvPr/>
        </p:nvSpPr>
        <p:spPr>
          <a:xfrm>
            <a:off x="320040" y="1051560"/>
            <a:ext cx="4114800" cy="37490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320040" y="1051560"/>
            <a:ext cx="4114800" cy="420624"/>
          </a:xfrm>
          <a:prstGeom prst="rect">
            <a:avLst/>
          </a:prstGeom>
          <a:solidFill>
            <a:srgbClr val="3A7A8F"/>
          </a:solidFill>
          <a:ln w="12700">
            <a:solidFill>
              <a:srgbClr val="3A7A8F"/>
            </a:solidFill>
            <a:prstDash val="solid"/>
          </a:ln>
        </p:spPr>
        <p:txBody>
          <a:bodyPr/>
          <a:lstStyle/>
          <a:p>
            <a:endParaRPr lang="en-US"/>
          </a:p>
        </p:txBody>
      </p:sp>
      <p:sp>
        <p:nvSpPr>
          <p:cNvPr id="6" name="Text 4"/>
          <p:cNvSpPr/>
          <p:nvPr/>
        </p:nvSpPr>
        <p:spPr>
          <a:xfrm>
            <a:off x="475488" y="1051560"/>
            <a:ext cx="3840480" cy="42062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Before the Call — Review:</a:t>
            </a:r>
            <a:endParaRPr lang="en-US" sz="1400" dirty="0"/>
          </a:p>
        </p:txBody>
      </p:sp>
      <p:sp>
        <p:nvSpPr>
          <p:cNvPr id="7" name="Shape 5"/>
          <p:cNvSpPr/>
          <p:nvPr/>
        </p:nvSpPr>
        <p:spPr>
          <a:xfrm>
            <a:off x="475488" y="1673352"/>
            <a:ext cx="256032" cy="256032"/>
          </a:xfrm>
          <a:prstGeom prst="rect">
            <a:avLst/>
          </a:prstGeom>
          <a:solidFill>
            <a:srgbClr val="EEF4F7"/>
          </a:solidFill>
          <a:ln w="12700">
            <a:solidFill>
              <a:srgbClr val="3A7A8F"/>
            </a:solidFill>
            <a:prstDash val="solid"/>
          </a:ln>
        </p:spPr>
        <p:txBody>
          <a:bodyPr/>
          <a:lstStyle/>
          <a:p>
            <a:endParaRPr lang="en-US"/>
          </a:p>
        </p:txBody>
      </p:sp>
      <p:sp>
        <p:nvSpPr>
          <p:cNvPr id="8" name="Text 6"/>
          <p:cNvSpPr/>
          <p:nvPr/>
        </p:nvSpPr>
        <p:spPr>
          <a:xfrm>
            <a:off x="841248" y="1600200"/>
            <a:ext cx="3429000" cy="384048"/>
          </a:xfrm>
          <a:prstGeom prst="rect">
            <a:avLst/>
          </a:prstGeom>
          <a:noFill/>
          <a:ln/>
        </p:spPr>
        <p:txBody>
          <a:bodyPr wrap="square" lIns="0" tIns="0" rIns="0" bIns="0" rtlCol="0" anchor="ctr"/>
          <a:lstStyle/>
          <a:p>
            <a:pPr marL="0" indent="0">
              <a:buNone/>
            </a:pPr>
            <a:r>
              <a:rPr lang="en-US" sz="1350" dirty="0">
                <a:solidFill>
                  <a:srgbClr val="363636"/>
                </a:solidFill>
                <a:latin typeface="Calibri" pitchFamily="34" charset="0"/>
                <a:ea typeface="Calibri" pitchFamily="34" charset="-122"/>
                <a:cs typeface="Calibri" pitchFamily="34" charset="-120"/>
              </a:rPr>
              <a:t>Account health</a:t>
            </a:r>
            <a:endParaRPr lang="en-US" sz="1350" dirty="0"/>
          </a:p>
        </p:txBody>
      </p:sp>
      <p:sp>
        <p:nvSpPr>
          <p:cNvPr id="9" name="Shape 7"/>
          <p:cNvSpPr/>
          <p:nvPr/>
        </p:nvSpPr>
        <p:spPr>
          <a:xfrm>
            <a:off x="475488" y="2176272"/>
            <a:ext cx="256032" cy="256032"/>
          </a:xfrm>
          <a:prstGeom prst="rect">
            <a:avLst/>
          </a:prstGeom>
          <a:solidFill>
            <a:srgbClr val="EEF4F7"/>
          </a:solidFill>
          <a:ln w="12700">
            <a:solidFill>
              <a:srgbClr val="3A7A8F"/>
            </a:solidFill>
            <a:prstDash val="solid"/>
          </a:ln>
        </p:spPr>
        <p:txBody>
          <a:bodyPr/>
          <a:lstStyle/>
          <a:p>
            <a:endParaRPr lang="en-US"/>
          </a:p>
        </p:txBody>
      </p:sp>
      <p:sp>
        <p:nvSpPr>
          <p:cNvPr id="10" name="Text 8"/>
          <p:cNvSpPr/>
          <p:nvPr/>
        </p:nvSpPr>
        <p:spPr>
          <a:xfrm>
            <a:off x="841248" y="2103120"/>
            <a:ext cx="3429000" cy="384048"/>
          </a:xfrm>
          <a:prstGeom prst="rect">
            <a:avLst/>
          </a:prstGeom>
          <a:noFill/>
          <a:ln/>
        </p:spPr>
        <p:txBody>
          <a:bodyPr wrap="square" lIns="0" tIns="0" rIns="0" bIns="0" rtlCol="0" anchor="ctr"/>
          <a:lstStyle/>
          <a:p>
            <a:pPr marL="0" indent="0">
              <a:buNone/>
            </a:pPr>
            <a:r>
              <a:rPr lang="en-US" sz="1350" dirty="0">
                <a:solidFill>
                  <a:srgbClr val="363636"/>
                </a:solidFill>
                <a:latin typeface="Calibri" pitchFamily="34" charset="0"/>
                <a:ea typeface="Calibri" pitchFamily="34" charset="-122"/>
                <a:cs typeface="Calibri" pitchFamily="34" charset="-120"/>
              </a:rPr>
              <a:t>Adoption metrics</a:t>
            </a:r>
            <a:endParaRPr lang="en-US" sz="1350" dirty="0"/>
          </a:p>
        </p:txBody>
      </p:sp>
      <p:sp>
        <p:nvSpPr>
          <p:cNvPr id="11" name="Shape 9"/>
          <p:cNvSpPr/>
          <p:nvPr/>
        </p:nvSpPr>
        <p:spPr>
          <a:xfrm>
            <a:off x="475488" y="2679192"/>
            <a:ext cx="256032" cy="256032"/>
          </a:xfrm>
          <a:prstGeom prst="rect">
            <a:avLst/>
          </a:prstGeom>
          <a:solidFill>
            <a:srgbClr val="EEF4F7"/>
          </a:solidFill>
          <a:ln w="12700">
            <a:solidFill>
              <a:srgbClr val="3A7A8F"/>
            </a:solidFill>
            <a:prstDash val="solid"/>
          </a:ln>
        </p:spPr>
        <p:txBody>
          <a:bodyPr/>
          <a:lstStyle/>
          <a:p>
            <a:endParaRPr lang="en-US"/>
          </a:p>
        </p:txBody>
      </p:sp>
      <p:sp>
        <p:nvSpPr>
          <p:cNvPr id="12" name="Text 10"/>
          <p:cNvSpPr/>
          <p:nvPr/>
        </p:nvSpPr>
        <p:spPr>
          <a:xfrm>
            <a:off x="841248" y="2606040"/>
            <a:ext cx="3429000" cy="384048"/>
          </a:xfrm>
          <a:prstGeom prst="rect">
            <a:avLst/>
          </a:prstGeom>
          <a:noFill/>
          <a:ln/>
        </p:spPr>
        <p:txBody>
          <a:bodyPr wrap="square" lIns="0" tIns="0" rIns="0" bIns="0" rtlCol="0" anchor="ctr"/>
          <a:lstStyle/>
          <a:p>
            <a:pPr marL="0" indent="0">
              <a:buNone/>
            </a:pPr>
            <a:r>
              <a:rPr lang="en-US" sz="1350" dirty="0">
                <a:solidFill>
                  <a:srgbClr val="363636"/>
                </a:solidFill>
                <a:latin typeface="Calibri" pitchFamily="34" charset="0"/>
                <a:ea typeface="Calibri" pitchFamily="34" charset="-122"/>
                <a:cs typeface="Calibri" pitchFamily="34" charset="-120"/>
              </a:rPr>
              <a:t>Usage gaps</a:t>
            </a:r>
            <a:endParaRPr lang="en-US" sz="1350" dirty="0"/>
          </a:p>
        </p:txBody>
      </p:sp>
      <p:sp>
        <p:nvSpPr>
          <p:cNvPr id="13" name="Shape 11"/>
          <p:cNvSpPr/>
          <p:nvPr/>
        </p:nvSpPr>
        <p:spPr>
          <a:xfrm>
            <a:off x="475488" y="3182112"/>
            <a:ext cx="256032" cy="256032"/>
          </a:xfrm>
          <a:prstGeom prst="rect">
            <a:avLst/>
          </a:prstGeom>
          <a:solidFill>
            <a:srgbClr val="EEF4F7"/>
          </a:solidFill>
          <a:ln w="12700">
            <a:solidFill>
              <a:srgbClr val="3A7A8F"/>
            </a:solidFill>
            <a:prstDash val="solid"/>
          </a:ln>
        </p:spPr>
        <p:txBody>
          <a:bodyPr/>
          <a:lstStyle/>
          <a:p>
            <a:endParaRPr lang="en-US"/>
          </a:p>
        </p:txBody>
      </p:sp>
      <p:sp>
        <p:nvSpPr>
          <p:cNvPr id="14" name="Text 12"/>
          <p:cNvSpPr/>
          <p:nvPr/>
        </p:nvSpPr>
        <p:spPr>
          <a:xfrm>
            <a:off x="841248" y="3108960"/>
            <a:ext cx="3429000" cy="384048"/>
          </a:xfrm>
          <a:prstGeom prst="rect">
            <a:avLst/>
          </a:prstGeom>
          <a:noFill/>
          <a:ln/>
        </p:spPr>
        <p:txBody>
          <a:bodyPr wrap="square" lIns="0" tIns="0" rIns="0" bIns="0" rtlCol="0" anchor="ctr"/>
          <a:lstStyle/>
          <a:p>
            <a:pPr marL="0" indent="0">
              <a:buNone/>
            </a:pPr>
            <a:r>
              <a:rPr lang="en-US" sz="1350" dirty="0">
                <a:solidFill>
                  <a:srgbClr val="363636"/>
                </a:solidFill>
                <a:latin typeface="Calibri" pitchFamily="34" charset="0"/>
                <a:ea typeface="Calibri" pitchFamily="34" charset="-122"/>
                <a:cs typeface="Calibri" pitchFamily="34" charset="-120"/>
              </a:rPr>
              <a:t>Locations (if multi-site)</a:t>
            </a:r>
            <a:endParaRPr lang="en-US" sz="1350" dirty="0"/>
          </a:p>
        </p:txBody>
      </p:sp>
      <p:sp>
        <p:nvSpPr>
          <p:cNvPr id="15" name="Shape 13"/>
          <p:cNvSpPr/>
          <p:nvPr/>
        </p:nvSpPr>
        <p:spPr>
          <a:xfrm>
            <a:off x="475488" y="3685032"/>
            <a:ext cx="256032" cy="256032"/>
          </a:xfrm>
          <a:prstGeom prst="rect">
            <a:avLst/>
          </a:prstGeom>
          <a:solidFill>
            <a:srgbClr val="EEF4F7"/>
          </a:solidFill>
          <a:ln w="12700">
            <a:solidFill>
              <a:srgbClr val="3A7A8F"/>
            </a:solidFill>
            <a:prstDash val="solid"/>
          </a:ln>
        </p:spPr>
        <p:txBody>
          <a:bodyPr/>
          <a:lstStyle/>
          <a:p>
            <a:endParaRPr lang="en-US"/>
          </a:p>
        </p:txBody>
      </p:sp>
      <p:sp>
        <p:nvSpPr>
          <p:cNvPr id="16" name="Text 14"/>
          <p:cNvSpPr/>
          <p:nvPr/>
        </p:nvSpPr>
        <p:spPr>
          <a:xfrm>
            <a:off x="841248" y="3611880"/>
            <a:ext cx="3429000" cy="384048"/>
          </a:xfrm>
          <a:prstGeom prst="rect">
            <a:avLst/>
          </a:prstGeom>
          <a:noFill/>
          <a:ln/>
        </p:spPr>
        <p:txBody>
          <a:bodyPr wrap="square" lIns="0" tIns="0" rIns="0" bIns="0" rtlCol="0" anchor="ctr"/>
          <a:lstStyle/>
          <a:p>
            <a:pPr marL="0" indent="0">
              <a:buNone/>
            </a:pPr>
            <a:r>
              <a:rPr lang="en-US" sz="1350" dirty="0">
                <a:solidFill>
                  <a:srgbClr val="363636"/>
                </a:solidFill>
                <a:latin typeface="Calibri" pitchFamily="34" charset="0"/>
                <a:ea typeface="Calibri" pitchFamily="34" charset="-122"/>
                <a:cs typeface="Calibri" pitchFamily="34" charset="-120"/>
              </a:rPr>
              <a:t>Renewal timing</a:t>
            </a:r>
            <a:endParaRPr lang="en-US" sz="1350" dirty="0"/>
          </a:p>
        </p:txBody>
      </p:sp>
      <p:sp>
        <p:nvSpPr>
          <p:cNvPr id="17" name="Shape 15"/>
          <p:cNvSpPr/>
          <p:nvPr/>
        </p:nvSpPr>
        <p:spPr>
          <a:xfrm>
            <a:off x="475488" y="4187952"/>
            <a:ext cx="256032" cy="256032"/>
          </a:xfrm>
          <a:prstGeom prst="rect">
            <a:avLst/>
          </a:prstGeom>
          <a:solidFill>
            <a:srgbClr val="EEF4F7"/>
          </a:solidFill>
          <a:ln w="12700">
            <a:solidFill>
              <a:srgbClr val="3A7A8F"/>
            </a:solidFill>
            <a:prstDash val="solid"/>
          </a:ln>
        </p:spPr>
        <p:txBody>
          <a:bodyPr/>
          <a:lstStyle/>
          <a:p>
            <a:endParaRPr lang="en-US"/>
          </a:p>
        </p:txBody>
      </p:sp>
      <p:sp>
        <p:nvSpPr>
          <p:cNvPr id="18" name="Text 16"/>
          <p:cNvSpPr/>
          <p:nvPr/>
        </p:nvSpPr>
        <p:spPr>
          <a:xfrm>
            <a:off x="841248" y="4114800"/>
            <a:ext cx="3429000" cy="384048"/>
          </a:xfrm>
          <a:prstGeom prst="rect">
            <a:avLst/>
          </a:prstGeom>
          <a:noFill/>
          <a:ln/>
        </p:spPr>
        <p:txBody>
          <a:bodyPr wrap="square" lIns="0" tIns="0" rIns="0" bIns="0" rtlCol="0" anchor="ctr"/>
          <a:lstStyle/>
          <a:p>
            <a:pPr marL="0" indent="0">
              <a:buNone/>
            </a:pPr>
            <a:r>
              <a:rPr lang="en-US" sz="1350" dirty="0">
                <a:solidFill>
                  <a:srgbClr val="363636"/>
                </a:solidFill>
                <a:latin typeface="Calibri" pitchFamily="34" charset="0"/>
                <a:ea typeface="Calibri" pitchFamily="34" charset="-122"/>
                <a:cs typeface="Calibri" pitchFamily="34" charset="-120"/>
              </a:rPr>
              <a:t>Estimated revenue impact potential</a:t>
            </a:r>
            <a:endParaRPr lang="en-US" sz="1350" dirty="0"/>
          </a:p>
        </p:txBody>
      </p:sp>
      <p:sp>
        <p:nvSpPr>
          <p:cNvPr id="19" name="Shape 17"/>
          <p:cNvSpPr/>
          <p:nvPr/>
        </p:nvSpPr>
        <p:spPr>
          <a:xfrm>
            <a:off x="4709160" y="1051560"/>
            <a:ext cx="4114800" cy="3749040"/>
          </a:xfrm>
          <a:prstGeom prst="rect">
            <a:avLst/>
          </a:prstGeom>
          <a:solidFill>
            <a:srgbClr val="2E5D6E"/>
          </a:solidFill>
          <a:ln/>
          <a:effectLst>
            <a:outerShdw blurRad="101600" dist="38100" dir="8100000" algn="bl" rotWithShape="0">
              <a:srgbClr val="000000">
                <a:alpha val="10000"/>
              </a:srgbClr>
            </a:outerShdw>
          </a:effectLst>
        </p:spPr>
        <p:txBody>
          <a:bodyPr/>
          <a:lstStyle/>
          <a:p>
            <a:endParaRPr lang="en-US"/>
          </a:p>
        </p:txBody>
      </p:sp>
      <p:sp>
        <p:nvSpPr>
          <p:cNvPr id="20" name="Text 18"/>
          <p:cNvSpPr/>
          <p:nvPr/>
        </p:nvSpPr>
        <p:spPr>
          <a:xfrm>
            <a:off x="4892040" y="1188720"/>
            <a:ext cx="3749040" cy="411480"/>
          </a:xfrm>
          <a:prstGeom prst="rect">
            <a:avLst/>
          </a:prstGeom>
          <a:noFill/>
          <a:ln/>
        </p:spPr>
        <p:txBody>
          <a:bodyPr wrap="square" lIns="0" tIns="0" rIns="0" bIns="0" rtlCol="0" anchor="ctr"/>
          <a:lstStyle/>
          <a:p>
            <a:pPr marL="0" indent="0">
              <a:buNone/>
            </a:pPr>
            <a:r>
              <a:rPr lang="en-US" sz="1800" b="1" dirty="0">
                <a:solidFill>
                  <a:srgbClr val="02C39A"/>
                </a:solidFill>
                <a:latin typeface="Calibri" pitchFamily="34" charset="0"/>
                <a:ea typeface="Calibri" pitchFamily="34" charset="-122"/>
                <a:cs typeface="Calibri" pitchFamily="34" charset="-120"/>
              </a:rPr>
              <a:t>Ask Yourself:</a:t>
            </a:r>
            <a:endParaRPr lang="en-US" sz="1800" dirty="0"/>
          </a:p>
        </p:txBody>
      </p:sp>
      <p:sp>
        <p:nvSpPr>
          <p:cNvPr id="21" name="Shape 19"/>
          <p:cNvSpPr/>
          <p:nvPr/>
        </p:nvSpPr>
        <p:spPr>
          <a:xfrm>
            <a:off x="4846320" y="1737360"/>
            <a:ext cx="3794760" cy="868680"/>
          </a:xfrm>
          <a:prstGeom prst="rect">
            <a:avLst/>
          </a:prstGeom>
          <a:solidFill>
            <a:srgbClr val="FFFFFF">
              <a:alpha val="8000"/>
            </a:srgbClr>
          </a:solidFill>
          <a:ln w="12700">
            <a:solidFill>
              <a:srgbClr val="02C39A"/>
            </a:solidFill>
            <a:prstDash val="solid"/>
          </a:ln>
        </p:spPr>
        <p:txBody>
          <a:bodyPr/>
          <a:lstStyle/>
          <a:p>
            <a:endParaRPr lang="en-US"/>
          </a:p>
        </p:txBody>
      </p:sp>
      <p:sp>
        <p:nvSpPr>
          <p:cNvPr id="22" name="Text 20"/>
          <p:cNvSpPr/>
          <p:nvPr/>
        </p:nvSpPr>
        <p:spPr>
          <a:xfrm>
            <a:off x="4983480" y="1783080"/>
            <a:ext cx="352044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Why does this client need this?</a:t>
            </a:r>
            <a:endParaRPr lang="en-US" sz="1300" dirty="0"/>
          </a:p>
        </p:txBody>
      </p:sp>
      <p:sp>
        <p:nvSpPr>
          <p:cNvPr id="23" name="Text 21"/>
          <p:cNvSpPr/>
          <p:nvPr/>
        </p:nvSpPr>
        <p:spPr>
          <a:xfrm>
            <a:off x="4983480" y="2176272"/>
            <a:ext cx="3520440" cy="347472"/>
          </a:xfrm>
          <a:prstGeom prst="rect">
            <a:avLst/>
          </a:prstGeom>
          <a:noFill/>
          <a:ln/>
        </p:spPr>
        <p:txBody>
          <a:bodyPr wrap="square" lIns="0" tIns="0" rIns="0" bIns="0" rtlCol="0" anchor="ctr"/>
          <a:lstStyle/>
          <a:p>
            <a:pPr marL="0" indent="0">
              <a:buNone/>
            </a:pPr>
            <a:r>
              <a:rPr lang="en-US" sz="1150" i="1" dirty="0">
                <a:solidFill>
                  <a:srgbClr val="7AAAB8"/>
                </a:solidFill>
                <a:latin typeface="Calibri" pitchFamily="34" charset="0"/>
                <a:ea typeface="Calibri" pitchFamily="34" charset="-122"/>
                <a:cs typeface="Calibri" pitchFamily="34" charset="-120"/>
              </a:rPr>
              <a:t>Connect to their specific driver</a:t>
            </a:r>
            <a:endParaRPr lang="en-US" sz="1150" dirty="0"/>
          </a:p>
        </p:txBody>
      </p:sp>
      <p:sp>
        <p:nvSpPr>
          <p:cNvPr id="24" name="Shape 22"/>
          <p:cNvSpPr/>
          <p:nvPr/>
        </p:nvSpPr>
        <p:spPr>
          <a:xfrm>
            <a:off x="4846320" y="2743200"/>
            <a:ext cx="3794760" cy="868680"/>
          </a:xfrm>
          <a:prstGeom prst="rect">
            <a:avLst/>
          </a:prstGeom>
          <a:solidFill>
            <a:srgbClr val="FFFFFF">
              <a:alpha val="8000"/>
            </a:srgbClr>
          </a:solidFill>
          <a:ln w="12700">
            <a:solidFill>
              <a:srgbClr val="02C39A"/>
            </a:solidFill>
            <a:prstDash val="solid"/>
          </a:ln>
        </p:spPr>
        <p:txBody>
          <a:bodyPr/>
          <a:lstStyle/>
          <a:p>
            <a:endParaRPr lang="en-US"/>
          </a:p>
        </p:txBody>
      </p:sp>
      <p:sp>
        <p:nvSpPr>
          <p:cNvPr id="25" name="Text 23"/>
          <p:cNvSpPr/>
          <p:nvPr/>
        </p:nvSpPr>
        <p:spPr>
          <a:xfrm>
            <a:off x="4983480" y="2788920"/>
            <a:ext cx="352044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What business problem does this solve?</a:t>
            </a:r>
            <a:endParaRPr lang="en-US" sz="1300" dirty="0"/>
          </a:p>
        </p:txBody>
      </p:sp>
      <p:sp>
        <p:nvSpPr>
          <p:cNvPr id="26" name="Text 24"/>
          <p:cNvSpPr/>
          <p:nvPr/>
        </p:nvSpPr>
        <p:spPr>
          <a:xfrm>
            <a:off x="4983480" y="3182112"/>
            <a:ext cx="3520440" cy="347472"/>
          </a:xfrm>
          <a:prstGeom prst="rect">
            <a:avLst/>
          </a:prstGeom>
          <a:noFill/>
          <a:ln/>
        </p:spPr>
        <p:txBody>
          <a:bodyPr wrap="square" lIns="0" tIns="0" rIns="0" bIns="0" rtlCol="0" anchor="ctr"/>
          <a:lstStyle/>
          <a:p>
            <a:pPr marL="0" indent="0">
              <a:buNone/>
            </a:pPr>
            <a:r>
              <a:rPr lang="en-US" sz="1150" i="1" dirty="0">
                <a:solidFill>
                  <a:srgbClr val="7AAAB8"/>
                </a:solidFill>
                <a:latin typeface="Calibri" pitchFamily="34" charset="0"/>
                <a:ea typeface="Calibri" pitchFamily="34" charset="-122"/>
                <a:cs typeface="Calibri" pitchFamily="34" charset="-120"/>
              </a:rPr>
              <a:t>Frame around outcome, not feature</a:t>
            </a:r>
            <a:endParaRPr lang="en-US" sz="1150" dirty="0"/>
          </a:p>
        </p:txBody>
      </p:sp>
      <p:sp>
        <p:nvSpPr>
          <p:cNvPr id="27" name="Shape 25"/>
          <p:cNvSpPr/>
          <p:nvPr/>
        </p:nvSpPr>
        <p:spPr>
          <a:xfrm>
            <a:off x="4846320" y="3749040"/>
            <a:ext cx="3794760" cy="868680"/>
          </a:xfrm>
          <a:prstGeom prst="rect">
            <a:avLst/>
          </a:prstGeom>
          <a:solidFill>
            <a:srgbClr val="FFFFFF">
              <a:alpha val="8000"/>
            </a:srgbClr>
          </a:solidFill>
          <a:ln w="12700">
            <a:solidFill>
              <a:srgbClr val="02C39A"/>
            </a:solidFill>
            <a:prstDash val="solid"/>
          </a:ln>
        </p:spPr>
        <p:txBody>
          <a:bodyPr/>
          <a:lstStyle/>
          <a:p>
            <a:endParaRPr lang="en-US"/>
          </a:p>
        </p:txBody>
      </p:sp>
      <p:sp>
        <p:nvSpPr>
          <p:cNvPr id="28" name="Text 26"/>
          <p:cNvSpPr/>
          <p:nvPr/>
        </p:nvSpPr>
        <p:spPr>
          <a:xfrm>
            <a:off x="4983480" y="3794760"/>
            <a:ext cx="352044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What financial impact does this create?</a:t>
            </a:r>
            <a:endParaRPr lang="en-US" sz="1300" dirty="0"/>
          </a:p>
        </p:txBody>
      </p:sp>
      <p:sp>
        <p:nvSpPr>
          <p:cNvPr id="29" name="Text 27"/>
          <p:cNvSpPr/>
          <p:nvPr/>
        </p:nvSpPr>
        <p:spPr>
          <a:xfrm>
            <a:off x="4983480" y="4187952"/>
            <a:ext cx="3520440" cy="347472"/>
          </a:xfrm>
          <a:prstGeom prst="rect">
            <a:avLst/>
          </a:prstGeom>
          <a:noFill/>
          <a:ln/>
        </p:spPr>
        <p:txBody>
          <a:bodyPr wrap="square" lIns="0" tIns="0" rIns="0" bIns="0" rtlCol="0" anchor="ctr"/>
          <a:lstStyle/>
          <a:p>
            <a:pPr marL="0" indent="0">
              <a:buNone/>
            </a:pPr>
            <a:r>
              <a:rPr lang="en-US" sz="1150" i="1" dirty="0">
                <a:solidFill>
                  <a:srgbClr val="7AAAB8"/>
                </a:solidFill>
                <a:latin typeface="Calibri" pitchFamily="34" charset="0"/>
                <a:ea typeface="Calibri" pitchFamily="34" charset="-122"/>
                <a:cs typeface="Calibri" pitchFamily="34" charset="-120"/>
              </a:rPr>
              <a:t>Have a number ready before the call</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D6E"/>
          </a:solidFill>
          <a:ln w="12700">
            <a:solidFill>
              <a:srgbClr val="2E5D6E"/>
            </a:solidFill>
            <a:prstDash val="solid"/>
          </a:ln>
        </p:spPr>
        <p:txBody>
          <a:bodyPr/>
          <a:lstStyle/>
          <a:p>
            <a:endParaRPr lang="en-US"/>
          </a:p>
        </p:txBody>
      </p:sp>
      <p:sp>
        <p:nvSpPr>
          <p:cNvPr id="3" name="Text 1"/>
          <p:cNvSpPr/>
          <p:nvPr/>
        </p:nvSpPr>
        <p:spPr>
          <a:xfrm>
            <a:off x="365760" y="0"/>
            <a:ext cx="841248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Upsell Demo Structure  ·  Steps 1–3</a:t>
            </a:r>
            <a:endParaRPr lang="en-US" sz="2800" dirty="0"/>
          </a:p>
        </p:txBody>
      </p:sp>
      <p:sp>
        <p:nvSpPr>
          <p:cNvPr id="4" name="Shape 2"/>
          <p:cNvSpPr/>
          <p:nvPr/>
        </p:nvSpPr>
        <p:spPr>
          <a:xfrm>
            <a:off x="320040" y="1051560"/>
            <a:ext cx="260604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320040" y="1051560"/>
            <a:ext cx="2606040" cy="685800"/>
          </a:xfrm>
          <a:prstGeom prst="rect">
            <a:avLst/>
          </a:prstGeom>
          <a:solidFill>
            <a:srgbClr val="02C39A"/>
          </a:solidFill>
          <a:ln w="12700">
            <a:solidFill>
              <a:srgbClr val="02C39A"/>
            </a:solidFill>
            <a:prstDash val="solid"/>
          </a:ln>
        </p:spPr>
        <p:txBody>
          <a:bodyPr/>
          <a:lstStyle/>
          <a:p>
            <a:endParaRPr lang="en-US"/>
          </a:p>
        </p:txBody>
      </p:sp>
      <p:sp>
        <p:nvSpPr>
          <p:cNvPr id="6" name="Shape 4"/>
          <p:cNvSpPr/>
          <p:nvPr/>
        </p:nvSpPr>
        <p:spPr>
          <a:xfrm>
            <a:off x="429768" y="1161288"/>
            <a:ext cx="438912" cy="438912"/>
          </a:xfrm>
          <a:prstGeom prst="ellipse">
            <a:avLst/>
          </a:prstGeom>
          <a:solidFill>
            <a:srgbClr val="1C2E35"/>
          </a:solidFill>
          <a:ln w="12700">
            <a:solidFill>
              <a:srgbClr val="1C2E35"/>
            </a:solidFill>
            <a:prstDash val="solid"/>
          </a:ln>
        </p:spPr>
        <p:txBody>
          <a:bodyPr/>
          <a:lstStyle/>
          <a:p>
            <a:endParaRPr lang="en-US"/>
          </a:p>
        </p:txBody>
      </p:sp>
      <p:sp>
        <p:nvSpPr>
          <p:cNvPr id="7" name="Text 5"/>
          <p:cNvSpPr/>
          <p:nvPr/>
        </p:nvSpPr>
        <p:spPr>
          <a:xfrm>
            <a:off x="429768" y="116128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960120" y="1179576"/>
            <a:ext cx="1828800" cy="438912"/>
          </a:xfrm>
          <a:prstGeom prst="rect">
            <a:avLst/>
          </a:prstGeom>
          <a:noFill/>
          <a:ln/>
        </p:spPr>
        <p:txBody>
          <a:bodyPr wrap="square" lIns="0" tIns="0" rIns="0" bIns="0" rtlCol="0" anchor="ctr"/>
          <a:lstStyle/>
          <a:p>
            <a:pPr marL="0" indent="0">
              <a:buNone/>
            </a:pPr>
            <a:r>
              <a:rPr lang="en-US" sz="1400" b="1" dirty="0">
                <a:solidFill>
                  <a:srgbClr val="1C2E35"/>
                </a:solidFill>
                <a:latin typeface="Calibri" pitchFamily="34" charset="0"/>
                <a:ea typeface="Calibri" pitchFamily="34" charset="-122"/>
                <a:cs typeface="Calibri" pitchFamily="34" charset="-120"/>
              </a:rPr>
              <a:t>Set Strategic Context</a:t>
            </a:r>
            <a:endParaRPr lang="en-US" sz="1400" dirty="0"/>
          </a:p>
        </p:txBody>
      </p:sp>
      <p:sp>
        <p:nvSpPr>
          <p:cNvPr id="9" name="Text 7"/>
          <p:cNvSpPr/>
          <p:nvPr/>
        </p:nvSpPr>
        <p:spPr>
          <a:xfrm>
            <a:off x="457200" y="1856232"/>
            <a:ext cx="2350008" cy="59436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Open with business framing — signal growth conversation immediately.</a:t>
            </a:r>
            <a:endParaRPr lang="en-US" sz="1200" dirty="0"/>
          </a:p>
        </p:txBody>
      </p:sp>
      <p:sp>
        <p:nvSpPr>
          <p:cNvPr id="10" name="Shape 8"/>
          <p:cNvSpPr/>
          <p:nvPr/>
        </p:nvSpPr>
        <p:spPr>
          <a:xfrm>
            <a:off x="457200" y="2478024"/>
            <a:ext cx="2350008" cy="0"/>
          </a:xfrm>
          <a:prstGeom prst="line">
            <a:avLst/>
          </a:prstGeom>
          <a:noFill/>
          <a:ln w="12700">
            <a:solidFill>
              <a:srgbClr val="D1E0E7"/>
            </a:solidFill>
            <a:prstDash val="solid"/>
          </a:ln>
        </p:spPr>
        <p:txBody>
          <a:bodyPr/>
          <a:lstStyle/>
          <a:p>
            <a:endParaRPr lang="en-US"/>
          </a:p>
        </p:txBody>
      </p:sp>
      <p:sp>
        <p:nvSpPr>
          <p:cNvPr id="11" name="Text 9"/>
          <p:cNvSpPr/>
          <p:nvPr/>
        </p:nvSpPr>
        <p:spPr>
          <a:xfrm>
            <a:off x="457200" y="2587752"/>
            <a:ext cx="2350008" cy="23774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Salon:</a:t>
            </a:r>
            <a:endParaRPr lang="en-US" sz="1050" dirty="0"/>
          </a:p>
        </p:txBody>
      </p:sp>
      <p:sp>
        <p:nvSpPr>
          <p:cNvPr id="12" name="Text 10"/>
          <p:cNvSpPr/>
          <p:nvPr/>
        </p:nvSpPr>
        <p:spPr>
          <a:xfrm>
            <a:off x="457200" y="2807208"/>
            <a:ext cx="2350008" cy="438912"/>
          </a:xfrm>
          <a:prstGeom prst="rect">
            <a:avLst/>
          </a:prstGeom>
          <a:noFill/>
          <a:ln/>
        </p:spPr>
        <p:txBody>
          <a:bodyPr wrap="square" lIns="0" tIns="0" rIns="0" bIns="0" rtlCol="0" anchor="ctr"/>
          <a:lstStyle/>
          <a:p>
            <a:pPr marL="0" indent="0">
              <a:buNone/>
            </a:pPr>
            <a:r>
              <a:rPr lang="en-US" sz="1150" i="1" dirty="0">
                <a:solidFill>
                  <a:srgbClr val="363636"/>
                </a:solidFill>
                <a:latin typeface="Calibri" pitchFamily="34" charset="0"/>
                <a:ea typeface="Calibri" pitchFamily="34" charset="-122"/>
                <a:cs typeface="Calibri" pitchFamily="34" charset="-120"/>
              </a:rPr>
              <a:t>"I'd love to focus today on how this could increase membership penetration and retail attachment."</a:t>
            </a:r>
            <a:endParaRPr lang="en-US" sz="1150" dirty="0"/>
          </a:p>
        </p:txBody>
      </p:sp>
      <p:sp>
        <p:nvSpPr>
          <p:cNvPr id="13" name="Text 11"/>
          <p:cNvSpPr/>
          <p:nvPr/>
        </p:nvSpPr>
        <p:spPr>
          <a:xfrm>
            <a:off x="457200" y="3300984"/>
            <a:ext cx="2350008" cy="23774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Med Spa:</a:t>
            </a:r>
            <a:endParaRPr lang="en-US" sz="1050" dirty="0"/>
          </a:p>
        </p:txBody>
      </p:sp>
      <p:sp>
        <p:nvSpPr>
          <p:cNvPr id="14" name="Text 12"/>
          <p:cNvSpPr/>
          <p:nvPr/>
        </p:nvSpPr>
        <p:spPr>
          <a:xfrm>
            <a:off x="457200" y="3520440"/>
            <a:ext cx="2350008" cy="438912"/>
          </a:xfrm>
          <a:prstGeom prst="rect">
            <a:avLst/>
          </a:prstGeom>
          <a:noFill/>
          <a:ln/>
        </p:spPr>
        <p:txBody>
          <a:bodyPr wrap="square" lIns="0" tIns="0" rIns="0" bIns="0" rtlCol="0" anchor="ctr"/>
          <a:lstStyle/>
          <a:p>
            <a:pPr marL="0" indent="0">
              <a:buNone/>
            </a:pPr>
            <a:r>
              <a:rPr lang="en-US" sz="1150" i="1" dirty="0">
                <a:solidFill>
                  <a:srgbClr val="363636"/>
                </a:solidFill>
                <a:latin typeface="Calibri" pitchFamily="34" charset="0"/>
                <a:ea typeface="Calibri" pitchFamily="34" charset="-122"/>
                <a:cs typeface="Calibri" pitchFamily="34" charset="-120"/>
              </a:rPr>
              <a:t>"Today I want to walk through how this could increase revenue per provider and improve documentation visibility."</a:t>
            </a:r>
            <a:endParaRPr lang="en-US" sz="1150" dirty="0"/>
          </a:p>
        </p:txBody>
      </p:sp>
      <p:sp>
        <p:nvSpPr>
          <p:cNvPr id="15" name="Shape 13"/>
          <p:cNvSpPr/>
          <p:nvPr/>
        </p:nvSpPr>
        <p:spPr>
          <a:xfrm>
            <a:off x="3131820" y="1051560"/>
            <a:ext cx="260604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6" name="Shape 14"/>
          <p:cNvSpPr/>
          <p:nvPr/>
        </p:nvSpPr>
        <p:spPr>
          <a:xfrm>
            <a:off x="3131820" y="1051560"/>
            <a:ext cx="2606040" cy="685800"/>
          </a:xfrm>
          <a:prstGeom prst="rect">
            <a:avLst/>
          </a:prstGeom>
          <a:solidFill>
            <a:srgbClr val="3A7A8F"/>
          </a:solidFill>
          <a:ln w="12700">
            <a:solidFill>
              <a:srgbClr val="3A7A8F"/>
            </a:solidFill>
            <a:prstDash val="solid"/>
          </a:ln>
        </p:spPr>
        <p:txBody>
          <a:bodyPr/>
          <a:lstStyle/>
          <a:p>
            <a:endParaRPr lang="en-US"/>
          </a:p>
        </p:txBody>
      </p:sp>
      <p:sp>
        <p:nvSpPr>
          <p:cNvPr id="17" name="Shape 15"/>
          <p:cNvSpPr/>
          <p:nvPr/>
        </p:nvSpPr>
        <p:spPr>
          <a:xfrm>
            <a:off x="3241548" y="1161288"/>
            <a:ext cx="438912" cy="438912"/>
          </a:xfrm>
          <a:prstGeom prst="ellipse">
            <a:avLst/>
          </a:prstGeom>
          <a:solidFill>
            <a:srgbClr val="1C2E35"/>
          </a:solidFill>
          <a:ln w="12700">
            <a:solidFill>
              <a:srgbClr val="1C2E35"/>
            </a:solidFill>
            <a:prstDash val="solid"/>
          </a:ln>
        </p:spPr>
        <p:txBody>
          <a:bodyPr/>
          <a:lstStyle/>
          <a:p>
            <a:endParaRPr lang="en-US"/>
          </a:p>
        </p:txBody>
      </p:sp>
      <p:sp>
        <p:nvSpPr>
          <p:cNvPr id="18" name="Text 16"/>
          <p:cNvSpPr/>
          <p:nvPr/>
        </p:nvSpPr>
        <p:spPr>
          <a:xfrm>
            <a:off x="3241548" y="116128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9" name="Text 17"/>
          <p:cNvSpPr/>
          <p:nvPr/>
        </p:nvSpPr>
        <p:spPr>
          <a:xfrm>
            <a:off x="3771900" y="1179576"/>
            <a:ext cx="1828800" cy="43891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Reconfirm Current State</a:t>
            </a:r>
            <a:endParaRPr lang="en-US" sz="1400" dirty="0"/>
          </a:p>
        </p:txBody>
      </p:sp>
      <p:sp>
        <p:nvSpPr>
          <p:cNvPr id="20" name="Text 18"/>
          <p:cNvSpPr/>
          <p:nvPr/>
        </p:nvSpPr>
        <p:spPr>
          <a:xfrm>
            <a:off x="3268980" y="1856232"/>
            <a:ext cx="2350008" cy="59436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Before demoing, surface pain and create emotional buy-in.</a:t>
            </a:r>
            <a:endParaRPr lang="en-US" sz="1200" dirty="0"/>
          </a:p>
        </p:txBody>
      </p:sp>
      <p:sp>
        <p:nvSpPr>
          <p:cNvPr id="21" name="Shape 19"/>
          <p:cNvSpPr/>
          <p:nvPr/>
        </p:nvSpPr>
        <p:spPr>
          <a:xfrm>
            <a:off x="3268980" y="2478024"/>
            <a:ext cx="2350008" cy="0"/>
          </a:xfrm>
          <a:prstGeom prst="line">
            <a:avLst/>
          </a:prstGeom>
          <a:noFill/>
          <a:ln w="12700">
            <a:solidFill>
              <a:srgbClr val="D1E0E7"/>
            </a:solidFill>
            <a:prstDash val="solid"/>
          </a:ln>
        </p:spPr>
        <p:txBody>
          <a:bodyPr/>
          <a:lstStyle/>
          <a:p>
            <a:endParaRPr lang="en-US"/>
          </a:p>
        </p:txBody>
      </p:sp>
      <p:sp>
        <p:nvSpPr>
          <p:cNvPr id="22" name="Text 20"/>
          <p:cNvSpPr/>
          <p:nvPr/>
        </p:nvSpPr>
        <p:spPr>
          <a:xfrm>
            <a:off x="3268980" y="2587752"/>
            <a:ext cx="2350008" cy="237744"/>
          </a:xfrm>
          <a:prstGeom prst="rect">
            <a:avLst/>
          </a:prstGeom>
          <a:noFill/>
          <a:ln/>
        </p:spPr>
        <p:txBody>
          <a:bodyPr wrap="square" lIns="0" tIns="0" rIns="0" bIns="0" rtlCol="0" anchor="ctr"/>
          <a:lstStyle/>
          <a:p>
            <a:pPr marL="0" indent="0">
              <a:buNone/>
            </a:pPr>
            <a:r>
              <a:rPr lang="en-US" sz="1050" b="1" dirty="0">
                <a:solidFill>
                  <a:srgbClr val="3A7A8F"/>
                </a:solidFill>
                <a:latin typeface="Calibri" pitchFamily="34" charset="0"/>
                <a:ea typeface="Calibri" pitchFamily="34" charset="-122"/>
                <a:cs typeface="Calibri" pitchFamily="34" charset="-120"/>
              </a:rPr>
              <a:t>Ask:</a:t>
            </a:r>
            <a:endParaRPr lang="en-US" sz="1050" dirty="0"/>
          </a:p>
        </p:txBody>
      </p:sp>
      <p:sp>
        <p:nvSpPr>
          <p:cNvPr id="23" name="Text 21"/>
          <p:cNvSpPr/>
          <p:nvPr/>
        </p:nvSpPr>
        <p:spPr>
          <a:xfrm>
            <a:off x="3268980" y="2807208"/>
            <a:ext cx="2350008" cy="438912"/>
          </a:xfrm>
          <a:prstGeom prst="rect">
            <a:avLst/>
          </a:prstGeom>
          <a:noFill/>
          <a:ln/>
        </p:spPr>
        <p:txBody>
          <a:bodyPr wrap="square" lIns="0" tIns="0" rIns="0" bIns="0" rtlCol="0" anchor="ctr"/>
          <a:lstStyle/>
          <a:p>
            <a:pPr marL="0" indent="0">
              <a:buNone/>
            </a:pPr>
            <a:r>
              <a:rPr lang="en-US" sz="1150" i="1" dirty="0">
                <a:solidFill>
                  <a:srgbClr val="363636"/>
                </a:solidFill>
                <a:latin typeface="Calibri" pitchFamily="34" charset="0"/>
                <a:ea typeface="Calibri" pitchFamily="34" charset="-122"/>
                <a:cs typeface="Calibri" pitchFamily="34" charset="-120"/>
              </a:rPr>
              <a:t>"How are you currently handling this today?"</a:t>
            </a:r>
            <a:endParaRPr lang="en-US" sz="1150" dirty="0"/>
          </a:p>
        </p:txBody>
      </p:sp>
      <p:sp>
        <p:nvSpPr>
          <p:cNvPr id="24" name="Text 22"/>
          <p:cNvSpPr/>
          <p:nvPr/>
        </p:nvSpPr>
        <p:spPr>
          <a:xfrm>
            <a:off x="3268980" y="3300984"/>
            <a:ext cx="2350008" cy="237744"/>
          </a:xfrm>
          <a:prstGeom prst="rect">
            <a:avLst/>
          </a:prstGeom>
          <a:noFill/>
          <a:ln/>
        </p:spPr>
        <p:txBody>
          <a:bodyPr wrap="square" lIns="0" tIns="0" rIns="0" bIns="0" rtlCol="0" anchor="ctr"/>
          <a:lstStyle/>
          <a:p>
            <a:pPr marL="0" indent="0">
              <a:buNone/>
            </a:pPr>
            <a:r>
              <a:rPr lang="en-US" sz="1050" b="1" dirty="0">
                <a:solidFill>
                  <a:srgbClr val="3A7A8F"/>
                </a:solidFill>
                <a:latin typeface="Calibri" pitchFamily="34" charset="0"/>
                <a:ea typeface="Calibri" pitchFamily="34" charset="-122"/>
                <a:cs typeface="Calibri" pitchFamily="34" charset="-120"/>
              </a:rPr>
              <a:t>Ask:</a:t>
            </a:r>
            <a:endParaRPr lang="en-US" sz="1050" dirty="0"/>
          </a:p>
        </p:txBody>
      </p:sp>
      <p:sp>
        <p:nvSpPr>
          <p:cNvPr id="25" name="Text 23"/>
          <p:cNvSpPr/>
          <p:nvPr/>
        </p:nvSpPr>
        <p:spPr>
          <a:xfrm>
            <a:off x="3268980" y="3520440"/>
            <a:ext cx="2350008" cy="438912"/>
          </a:xfrm>
          <a:prstGeom prst="rect">
            <a:avLst/>
          </a:prstGeom>
          <a:noFill/>
          <a:ln/>
        </p:spPr>
        <p:txBody>
          <a:bodyPr wrap="square" lIns="0" tIns="0" rIns="0" bIns="0" rtlCol="0" anchor="ctr"/>
          <a:lstStyle/>
          <a:p>
            <a:pPr marL="0" indent="0">
              <a:buNone/>
            </a:pPr>
            <a:r>
              <a:rPr lang="en-US" sz="1150" i="1" dirty="0">
                <a:solidFill>
                  <a:srgbClr val="363636"/>
                </a:solidFill>
                <a:latin typeface="Calibri" pitchFamily="34" charset="0"/>
                <a:ea typeface="Calibri" pitchFamily="34" charset="-122"/>
                <a:cs typeface="Calibri" pitchFamily="34" charset="-120"/>
              </a:rPr>
              <a:t>"What's working well?"  |  "Where are you seeing friction?"</a:t>
            </a:r>
            <a:endParaRPr lang="en-US" sz="1150" dirty="0"/>
          </a:p>
        </p:txBody>
      </p:sp>
      <p:sp>
        <p:nvSpPr>
          <p:cNvPr id="26" name="Text 24"/>
          <p:cNvSpPr/>
          <p:nvPr/>
        </p:nvSpPr>
        <p:spPr>
          <a:xfrm>
            <a:off x="3268980" y="4014216"/>
            <a:ext cx="2350008" cy="237744"/>
          </a:xfrm>
          <a:prstGeom prst="rect">
            <a:avLst/>
          </a:prstGeom>
          <a:noFill/>
          <a:ln/>
        </p:spPr>
        <p:txBody>
          <a:bodyPr wrap="square" lIns="0" tIns="0" rIns="0" bIns="0" rtlCol="0" anchor="ctr"/>
          <a:lstStyle/>
          <a:p>
            <a:pPr marL="0" indent="0">
              <a:buNone/>
            </a:pPr>
            <a:r>
              <a:rPr lang="en-US" sz="1050" b="1" dirty="0">
                <a:solidFill>
                  <a:srgbClr val="3A7A8F"/>
                </a:solidFill>
                <a:latin typeface="Calibri" pitchFamily="34" charset="0"/>
                <a:ea typeface="Calibri" pitchFamily="34" charset="-122"/>
                <a:cs typeface="Calibri" pitchFamily="34" charset="-120"/>
              </a:rPr>
              <a:t>Ask:</a:t>
            </a:r>
            <a:endParaRPr lang="en-US" sz="1050" dirty="0"/>
          </a:p>
        </p:txBody>
      </p:sp>
      <p:sp>
        <p:nvSpPr>
          <p:cNvPr id="27" name="Text 25"/>
          <p:cNvSpPr/>
          <p:nvPr/>
        </p:nvSpPr>
        <p:spPr>
          <a:xfrm>
            <a:off x="3268980" y="4233672"/>
            <a:ext cx="2350008" cy="438912"/>
          </a:xfrm>
          <a:prstGeom prst="rect">
            <a:avLst/>
          </a:prstGeom>
          <a:noFill/>
          <a:ln/>
        </p:spPr>
        <p:txBody>
          <a:bodyPr wrap="square" lIns="0" tIns="0" rIns="0" bIns="0" rtlCol="0" anchor="ctr"/>
          <a:lstStyle/>
          <a:p>
            <a:pPr marL="0" indent="0">
              <a:buNone/>
            </a:pPr>
            <a:r>
              <a:rPr lang="en-US" sz="1150" i="1" dirty="0">
                <a:solidFill>
                  <a:srgbClr val="363636"/>
                </a:solidFill>
                <a:latin typeface="Calibri" pitchFamily="34" charset="0"/>
                <a:ea typeface="Calibri" pitchFamily="34" charset="-122"/>
                <a:cs typeface="Calibri" pitchFamily="34" charset="-120"/>
              </a:rPr>
              <a:t>"Are you tracking performance in this area?"</a:t>
            </a:r>
            <a:endParaRPr lang="en-US" sz="1150" dirty="0"/>
          </a:p>
        </p:txBody>
      </p:sp>
      <p:sp>
        <p:nvSpPr>
          <p:cNvPr id="28" name="Shape 26"/>
          <p:cNvSpPr/>
          <p:nvPr/>
        </p:nvSpPr>
        <p:spPr>
          <a:xfrm>
            <a:off x="5943600" y="1051560"/>
            <a:ext cx="260604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9" name="Shape 27"/>
          <p:cNvSpPr/>
          <p:nvPr/>
        </p:nvSpPr>
        <p:spPr>
          <a:xfrm>
            <a:off x="5943600" y="1051560"/>
            <a:ext cx="2606040" cy="685800"/>
          </a:xfrm>
          <a:prstGeom prst="rect">
            <a:avLst/>
          </a:prstGeom>
          <a:solidFill>
            <a:srgbClr val="F59E0B"/>
          </a:solidFill>
          <a:ln w="12700">
            <a:solidFill>
              <a:srgbClr val="F59E0B"/>
            </a:solidFill>
            <a:prstDash val="solid"/>
          </a:ln>
        </p:spPr>
        <p:txBody>
          <a:bodyPr/>
          <a:lstStyle/>
          <a:p>
            <a:endParaRPr lang="en-US"/>
          </a:p>
        </p:txBody>
      </p:sp>
      <p:sp>
        <p:nvSpPr>
          <p:cNvPr id="30" name="Shape 28"/>
          <p:cNvSpPr/>
          <p:nvPr/>
        </p:nvSpPr>
        <p:spPr>
          <a:xfrm>
            <a:off x="6053328" y="1161288"/>
            <a:ext cx="438912" cy="438912"/>
          </a:xfrm>
          <a:prstGeom prst="ellipse">
            <a:avLst/>
          </a:prstGeom>
          <a:solidFill>
            <a:srgbClr val="1C2E35"/>
          </a:solidFill>
          <a:ln w="12700">
            <a:solidFill>
              <a:srgbClr val="1C2E35"/>
            </a:solidFill>
            <a:prstDash val="solid"/>
          </a:ln>
        </p:spPr>
        <p:txBody>
          <a:bodyPr/>
          <a:lstStyle/>
          <a:p>
            <a:endParaRPr lang="en-US"/>
          </a:p>
        </p:txBody>
      </p:sp>
      <p:sp>
        <p:nvSpPr>
          <p:cNvPr id="31" name="Text 29"/>
          <p:cNvSpPr/>
          <p:nvPr/>
        </p:nvSpPr>
        <p:spPr>
          <a:xfrm>
            <a:off x="6053328" y="116128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2" name="Text 30"/>
          <p:cNvSpPr/>
          <p:nvPr/>
        </p:nvSpPr>
        <p:spPr>
          <a:xfrm>
            <a:off x="6583680" y="1179576"/>
            <a:ext cx="1828800" cy="438912"/>
          </a:xfrm>
          <a:prstGeom prst="rect">
            <a:avLst/>
          </a:prstGeom>
          <a:noFill/>
          <a:ln/>
        </p:spPr>
        <p:txBody>
          <a:bodyPr wrap="square" lIns="0" tIns="0" rIns="0" bIns="0" rtlCol="0" anchor="ctr"/>
          <a:lstStyle/>
          <a:p>
            <a:pPr marL="0" indent="0">
              <a:buNone/>
            </a:pPr>
            <a:r>
              <a:rPr lang="en-US" sz="1400" b="1" dirty="0">
                <a:solidFill>
                  <a:srgbClr val="1C2E35"/>
                </a:solidFill>
                <a:latin typeface="Calibri" pitchFamily="34" charset="0"/>
                <a:ea typeface="Calibri" pitchFamily="34" charset="-122"/>
                <a:cs typeface="Calibri" pitchFamily="34" charset="-120"/>
              </a:rPr>
              <a:t>Quantify the Opportunity</a:t>
            </a:r>
            <a:endParaRPr lang="en-US" sz="1400" dirty="0"/>
          </a:p>
        </p:txBody>
      </p:sp>
      <p:sp>
        <p:nvSpPr>
          <p:cNvPr id="33" name="Text 31"/>
          <p:cNvSpPr/>
          <p:nvPr/>
        </p:nvSpPr>
        <p:spPr>
          <a:xfrm>
            <a:off x="6080760" y="1856232"/>
            <a:ext cx="2350008" cy="59436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Move into numbers — expansion must feel measurable.</a:t>
            </a:r>
            <a:endParaRPr lang="en-US" sz="1200" dirty="0"/>
          </a:p>
        </p:txBody>
      </p:sp>
      <p:sp>
        <p:nvSpPr>
          <p:cNvPr id="34" name="Shape 32"/>
          <p:cNvSpPr/>
          <p:nvPr/>
        </p:nvSpPr>
        <p:spPr>
          <a:xfrm>
            <a:off x="6080760" y="2478024"/>
            <a:ext cx="2350008" cy="0"/>
          </a:xfrm>
          <a:prstGeom prst="line">
            <a:avLst/>
          </a:prstGeom>
          <a:noFill/>
          <a:ln w="12700">
            <a:solidFill>
              <a:srgbClr val="D1E0E7"/>
            </a:solidFill>
            <a:prstDash val="solid"/>
          </a:ln>
        </p:spPr>
        <p:txBody>
          <a:bodyPr/>
          <a:lstStyle/>
          <a:p>
            <a:endParaRPr lang="en-US"/>
          </a:p>
        </p:txBody>
      </p:sp>
      <p:sp>
        <p:nvSpPr>
          <p:cNvPr id="35" name="Text 33"/>
          <p:cNvSpPr/>
          <p:nvPr/>
        </p:nvSpPr>
        <p:spPr>
          <a:xfrm>
            <a:off x="6080760" y="2587752"/>
            <a:ext cx="2350008" cy="237744"/>
          </a:xfrm>
          <a:prstGeom prst="rect">
            <a:avLst/>
          </a:prstGeom>
          <a:noFill/>
          <a:ln/>
        </p:spPr>
        <p:txBody>
          <a:bodyPr wrap="square" lIns="0" tIns="0" rIns="0" bIns="0" rtlCol="0" anchor="ctr"/>
          <a:lstStyle/>
          <a:p>
            <a:pPr marL="0" indent="0">
              <a:buNone/>
            </a:pPr>
            <a:r>
              <a:rPr lang="en-US" sz="1050" b="1" dirty="0">
                <a:solidFill>
                  <a:srgbClr val="A0650A"/>
                </a:solidFill>
                <a:latin typeface="Calibri" pitchFamily="34" charset="0"/>
                <a:ea typeface="Calibri" pitchFamily="34" charset="-122"/>
                <a:cs typeface="Calibri" pitchFamily="34" charset="-120"/>
              </a:rPr>
              <a:t>Salon:</a:t>
            </a:r>
            <a:endParaRPr lang="en-US" sz="1050" dirty="0"/>
          </a:p>
        </p:txBody>
      </p:sp>
      <p:sp>
        <p:nvSpPr>
          <p:cNvPr id="36" name="Text 34"/>
          <p:cNvSpPr/>
          <p:nvPr/>
        </p:nvSpPr>
        <p:spPr>
          <a:xfrm>
            <a:off x="6080760" y="2807208"/>
            <a:ext cx="2350008" cy="438912"/>
          </a:xfrm>
          <a:prstGeom prst="rect">
            <a:avLst/>
          </a:prstGeom>
          <a:noFill/>
          <a:ln/>
        </p:spPr>
        <p:txBody>
          <a:bodyPr wrap="square" lIns="0" tIns="0" rIns="0" bIns="0" rtlCol="0" anchor="ctr"/>
          <a:lstStyle/>
          <a:p>
            <a:pPr marL="0" indent="0">
              <a:buNone/>
            </a:pPr>
            <a:r>
              <a:rPr lang="en-US" sz="1150" i="1" dirty="0">
                <a:solidFill>
                  <a:srgbClr val="363636"/>
                </a:solidFill>
                <a:latin typeface="Calibri" pitchFamily="34" charset="0"/>
                <a:ea typeface="Calibri" pitchFamily="34" charset="-122"/>
                <a:cs typeface="Calibri" pitchFamily="34" charset="-120"/>
              </a:rPr>
              <a:t>"A 5% lift in membership penetration could represent approximately $X per month."</a:t>
            </a:r>
            <a:endParaRPr lang="en-US" sz="1150" dirty="0"/>
          </a:p>
        </p:txBody>
      </p:sp>
      <p:sp>
        <p:nvSpPr>
          <p:cNvPr id="37" name="Text 35"/>
          <p:cNvSpPr/>
          <p:nvPr/>
        </p:nvSpPr>
        <p:spPr>
          <a:xfrm>
            <a:off x="6080760" y="3300984"/>
            <a:ext cx="2350008" cy="237744"/>
          </a:xfrm>
          <a:prstGeom prst="rect">
            <a:avLst/>
          </a:prstGeom>
          <a:noFill/>
          <a:ln/>
        </p:spPr>
        <p:txBody>
          <a:bodyPr wrap="square" lIns="0" tIns="0" rIns="0" bIns="0" rtlCol="0" anchor="ctr"/>
          <a:lstStyle/>
          <a:p>
            <a:pPr marL="0" indent="0">
              <a:buNone/>
            </a:pPr>
            <a:r>
              <a:rPr lang="en-US" sz="1050" b="1" dirty="0">
                <a:solidFill>
                  <a:srgbClr val="A0650A"/>
                </a:solidFill>
                <a:latin typeface="Calibri" pitchFamily="34" charset="0"/>
                <a:ea typeface="Calibri" pitchFamily="34" charset="-122"/>
                <a:cs typeface="Calibri" pitchFamily="34" charset="-120"/>
              </a:rPr>
              <a:t>Med Spa:</a:t>
            </a:r>
            <a:endParaRPr lang="en-US" sz="1050" dirty="0"/>
          </a:p>
        </p:txBody>
      </p:sp>
      <p:sp>
        <p:nvSpPr>
          <p:cNvPr id="38" name="Text 36"/>
          <p:cNvSpPr/>
          <p:nvPr/>
        </p:nvSpPr>
        <p:spPr>
          <a:xfrm>
            <a:off x="6080760" y="3520440"/>
            <a:ext cx="2350008" cy="438912"/>
          </a:xfrm>
          <a:prstGeom prst="rect">
            <a:avLst/>
          </a:prstGeom>
          <a:noFill/>
          <a:ln/>
        </p:spPr>
        <p:txBody>
          <a:bodyPr wrap="square" lIns="0" tIns="0" rIns="0" bIns="0" rtlCol="0" anchor="ctr"/>
          <a:lstStyle/>
          <a:p>
            <a:pPr marL="0" indent="0">
              <a:buNone/>
            </a:pPr>
            <a:r>
              <a:rPr lang="en-US" sz="1150" i="1" dirty="0">
                <a:solidFill>
                  <a:srgbClr val="363636"/>
                </a:solidFill>
                <a:latin typeface="Calibri" pitchFamily="34" charset="0"/>
                <a:ea typeface="Calibri" pitchFamily="34" charset="-122"/>
                <a:cs typeface="Calibri" pitchFamily="34" charset="-120"/>
              </a:rPr>
              <a:t>"One additional treatment per injector per day could impact monthly revenue by $X."</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D6E"/>
          </a:solidFill>
          <a:ln w="12700">
            <a:solidFill>
              <a:srgbClr val="2E5D6E"/>
            </a:solidFill>
            <a:prstDash val="solid"/>
          </a:ln>
        </p:spPr>
        <p:txBody>
          <a:bodyPr/>
          <a:lstStyle/>
          <a:p>
            <a:endParaRPr lang="en-US"/>
          </a:p>
        </p:txBody>
      </p:sp>
      <p:sp>
        <p:nvSpPr>
          <p:cNvPr id="3" name="Text 1"/>
          <p:cNvSpPr/>
          <p:nvPr/>
        </p:nvSpPr>
        <p:spPr>
          <a:xfrm>
            <a:off x="365760" y="0"/>
            <a:ext cx="841248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Upsell Demo Structure  ·  Steps 4–5</a:t>
            </a:r>
            <a:endParaRPr lang="en-US" sz="2800" dirty="0"/>
          </a:p>
        </p:txBody>
      </p:sp>
      <p:sp>
        <p:nvSpPr>
          <p:cNvPr id="4" name="Shape 2"/>
          <p:cNvSpPr/>
          <p:nvPr/>
        </p:nvSpPr>
        <p:spPr>
          <a:xfrm>
            <a:off x="320040" y="1051560"/>
            <a:ext cx="521208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320040" y="1051560"/>
            <a:ext cx="5212080" cy="658368"/>
          </a:xfrm>
          <a:prstGeom prst="rect">
            <a:avLst/>
          </a:prstGeom>
          <a:solidFill>
            <a:srgbClr val="3A7A8F"/>
          </a:solidFill>
          <a:ln w="12700">
            <a:solidFill>
              <a:srgbClr val="3A7A8F"/>
            </a:solidFill>
            <a:prstDash val="solid"/>
          </a:ln>
        </p:spPr>
        <p:txBody>
          <a:bodyPr/>
          <a:lstStyle/>
          <a:p>
            <a:endParaRPr lang="en-US"/>
          </a:p>
        </p:txBody>
      </p:sp>
      <p:sp>
        <p:nvSpPr>
          <p:cNvPr id="6" name="Shape 4"/>
          <p:cNvSpPr/>
          <p:nvPr/>
        </p:nvSpPr>
        <p:spPr>
          <a:xfrm>
            <a:off x="438912" y="1143000"/>
            <a:ext cx="438912" cy="438912"/>
          </a:xfrm>
          <a:prstGeom prst="ellipse">
            <a:avLst/>
          </a:prstGeom>
          <a:solidFill>
            <a:srgbClr val="1C2E35"/>
          </a:solidFill>
          <a:ln w="12700">
            <a:solidFill>
              <a:srgbClr val="1C2E35"/>
            </a:solidFill>
            <a:prstDash val="solid"/>
          </a:ln>
        </p:spPr>
        <p:txBody>
          <a:bodyPr/>
          <a:lstStyle/>
          <a:p>
            <a:endParaRPr lang="en-US"/>
          </a:p>
        </p:txBody>
      </p:sp>
      <p:sp>
        <p:nvSpPr>
          <p:cNvPr id="7" name="Text 5"/>
          <p:cNvSpPr/>
          <p:nvPr/>
        </p:nvSpPr>
        <p:spPr>
          <a:xfrm>
            <a:off x="438912" y="114300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8" name="Text 6"/>
          <p:cNvSpPr/>
          <p:nvPr/>
        </p:nvSpPr>
        <p:spPr>
          <a:xfrm>
            <a:off x="969264" y="1170432"/>
            <a:ext cx="4389120" cy="420624"/>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Demo With Purpose</a:t>
            </a:r>
            <a:endParaRPr lang="en-US" sz="1800" dirty="0"/>
          </a:p>
        </p:txBody>
      </p:sp>
      <p:sp>
        <p:nvSpPr>
          <p:cNvPr id="9" name="Text 7"/>
          <p:cNvSpPr/>
          <p:nvPr/>
        </p:nvSpPr>
        <p:spPr>
          <a:xfrm>
            <a:off x="502920" y="1828800"/>
            <a:ext cx="4846320" cy="384048"/>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Show the feature — but tie EVERYTHING back to business outcomes:</a:t>
            </a:r>
            <a:endParaRPr lang="en-US" sz="1300" dirty="0"/>
          </a:p>
        </p:txBody>
      </p:sp>
      <p:sp>
        <p:nvSpPr>
          <p:cNvPr id="10" name="Shape 8"/>
          <p:cNvSpPr/>
          <p:nvPr/>
        </p:nvSpPr>
        <p:spPr>
          <a:xfrm>
            <a:off x="502920" y="2286000"/>
            <a:ext cx="868680" cy="502920"/>
          </a:xfrm>
          <a:prstGeom prst="rect">
            <a:avLst/>
          </a:prstGeom>
          <a:solidFill>
            <a:srgbClr val="02C39A"/>
          </a:solidFill>
          <a:ln w="12700">
            <a:solidFill>
              <a:srgbClr val="02C39A"/>
            </a:solidFill>
            <a:prstDash val="solid"/>
          </a:ln>
        </p:spPr>
        <p:txBody>
          <a:bodyPr/>
          <a:lstStyle/>
          <a:p>
            <a:endParaRPr lang="en-US"/>
          </a:p>
        </p:txBody>
      </p:sp>
      <p:sp>
        <p:nvSpPr>
          <p:cNvPr id="11" name="Text 9"/>
          <p:cNvSpPr/>
          <p:nvPr/>
        </p:nvSpPr>
        <p:spPr>
          <a:xfrm>
            <a:off x="502920" y="2286000"/>
            <a:ext cx="868680" cy="502920"/>
          </a:xfrm>
          <a:prstGeom prst="rect">
            <a:avLst/>
          </a:prstGeom>
          <a:noFill/>
          <a:ln/>
        </p:spPr>
        <p:txBody>
          <a:bodyPr wrap="square" lIns="0" tIns="0" rIns="0" bIns="0" rtlCol="0" anchor="ctr"/>
          <a:lstStyle/>
          <a:p>
            <a:pPr marL="0" indent="0" algn="ctr">
              <a:buNone/>
            </a:pPr>
            <a:r>
              <a:rPr lang="en-US" sz="1050" b="1" dirty="0">
                <a:solidFill>
                  <a:srgbClr val="1C2E35"/>
                </a:solidFill>
                <a:latin typeface="Calibri" pitchFamily="34" charset="0"/>
                <a:ea typeface="Calibri" pitchFamily="34" charset="-122"/>
                <a:cs typeface="Calibri" pitchFamily="34" charset="-120"/>
              </a:rPr>
              <a:t>Revenue</a:t>
            </a:r>
            <a:endParaRPr lang="en-US" sz="1050" dirty="0"/>
          </a:p>
        </p:txBody>
      </p:sp>
      <p:sp>
        <p:nvSpPr>
          <p:cNvPr id="12" name="Shape 10"/>
          <p:cNvSpPr/>
          <p:nvPr/>
        </p:nvSpPr>
        <p:spPr>
          <a:xfrm>
            <a:off x="1435608" y="2286000"/>
            <a:ext cx="868680" cy="502920"/>
          </a:xfrm>
          <a:prstGeom prst="rect">
            <a:avLst/>
          </a:prstGeom>
          <a:solidFill>
            <a:srgbClr val="02C39A"/>
          </a:solidFill>
          <a:ln w="12700">
            <a:solidFill>
              <a:srgbClr val="02C39A"/>
            </a:solidFill>
            <a:prstDash val="solid"/>
          </a:ln>
        </p:spPr>
        <p:txBody>
          <a:bodyPr/>
          <a:lstStyle/>
          <a:p>
            <a:endParaRPr lang="en-US"/>
          </a:p>
        </p:txBody>
      </p:sp>
      <p:sp>
        <p:nvSpPr>
          <p:cNvPr id="13" name="Text 11"/>
          <p:cNvSpPr/>
          <p:nvPr/>
        </p:nvSpPr>
        <p:spPr>
          <a:xfrm>
            <a:off x="1435608" y="2286000"/>
            <a:ext cx="868680" cy="502920"/>
          </a:xfrm>
          <a:prstGeom prst="rect">
            <a:avLst/>
          </a:prstGeom>
          <a:noFill/>
          <a:ln/>
        </p:spPr>
        <p:txBody>
          <a:bodyPr wrap="square" lIns="0" tIns="0" rIns="0" bIns="0" rtlCol="0" anchor="ctr"/>
          <a:lstStyle/>
          <a:p>
            <a:pPr marL="0" indent="0" algn="ctr">
              <a:buNone/>
            </a:pPr>
            <a:r>
              <a:rPr lang="en-US" sz="1050" b="1" dirty="0">
                <a:solidFill>
                  <a:srgbClr val="1C2E35"/>
                </a:solidFill>
                <a:latin typeface="Calibri" pitchFamily="34" charset="0"/>
                <a:ea typeface="Calibri" pitchFamily="34" charset="-122"/>
                <a:cs typeface="Calibri" pitchFamily="34" charset="-120"/>
              </a:rPr>
              <a:t>Time savings</a:t>
            </a:r>
            <a:endParaRPr lang="en-US" sz="1050" dirty="0"/>
          </a:p>
        </p:txBody>
      </p:sp>
      <p:sp>
        <p:nvSpPr>
          <p:cNvPr id="14" name="Shape 12"/>
          <p:cNvSpPr/>
          <p:nvPr/>
        </p:nvSpPr>
        <p:spPr>
          <a:xfrm>
            <a:off x="2368296" y="2286000"/>
            <a:ext cx="868680" cy="502920"/>
          </a:xfrm>
          <a:prstGeom prst="rect">
            <a:avLst/>
          </a:prstGeom>
          <a:solidFill>
            <a:srgbClr val="02C39A"/>
          </a:solidFill>
          <a:ln w="12700">
            <a:solidFill>
              <a:srgbClr val="02C39A"/>
            </a:solidFill>
            <a:prstDash val="solid"/>
          </a:ln>
        </p:spPr>
        <p:txBody>
          <a:bodyPr/>
          <a:lstStyle/>
          <a:p>
            <a:endParaRPr lang="en-US"/>
          </a:p>
        </p:txBody>
      </p:sp>
      <p:sp>
        <p:nvSpPr>
          <p:cNvPr id="15" name="Text 13"/>
          <p:cNvSpPr/>
          <p:nvPr/>
        </p:nvSpPr>
        <p:spPr>
          <a:xfrm>
            <a:off x="2368296" y="2286000"/>
            <a:ext cx="868680" cy="502920"/>
          </a:xfrm>
          <a:prstGeom prst="rect">
            <a:avLst/>
          </a:prstGeom>
          <a:noFill/>
          <a:ln/>
        </p:spPr>
        <p:txBody>
          <a:bodyPr wrap="square" lIns="0" tIns="0" rIns="0" bIns="0" rtlCol="0" anchor="ctr"/>
          <a:lstStyle/>
          <a:p>
            <a:pPr marL="0" indent="0" algn="ctr">
              <a:buNone/>
            </a:pPr>
            <a:r>
              <a:rPr lang="en-US" sz="1050" b="1" dirty="0">
                <a:solidFill>
                  <a:srgbClr val="1C2E35"/>
                </a:solidFill>
                <a:latin typeface="Calibri" pitchFamily="34" charset="0"/>
                <a:ea typeface="Calibri" pitchFamily="34" charset="-122"/>
                <a:cs typeface="Calibri" pitchFamily="34" charset="-120"/>
              </a:rPr>
              <a:t>Visibility</a:t>
            </a:r>
            <a:endParaRPr lang="en-US" sz="1050" dirty="0"/>
          </a:p>
        </p:txBody>
      </p:sp>
      <p:sp>
        <p:nvSpPr>
          <p:cNvPr id="16" name="Shape 14"/>
          <p:cNvSpPr/>
          <p:nvPr/>
        </p:nvSpPr>
        <p:spPr>
          <a:xfrm>
            <a:off x="3300984" y="2286000"/>
            <a:ext cx="868680" cy="502920"/>
          </a:xfrm>
          <a:prstGeom prst="rect">
            <a:avLst/>
          </a:prstGeom>
          <a:solidFill>
            <a:srgbClr val="02C39A"/>
          </a:solidFill>
          <a:ln w="12700">
            <a:solidFill>
              <a:srgbClr val="02C39A"/>
            </a:solidFill>
            <a:prstDash val="solid"/>
          </a:ln>
        </p:spPr>
        <p:txBody>
          <a:bodyPr/>
          <a:lstStyle/>
          <a:p>
            <a:endParaRPr lang="en-US"/>
          </a:p>
        </p:txBody>
      </p:sp>
      <p:sp>
        <p:nvSpPr>
          <p:cNvPr id="17" name="Text 15"/>
          <p:cNvSpPr/>
          <p:nvPr/>
        </p:nvSpPr>
        <p:spPr>
          <a:xfrm>
            <a:off x="3300984" y="2286000"/>
            <a:ext cx="868680" cy="502920"/>
          </a:xfrm>
          <a:prstGeom prst="rect">
            <a:avLst/>
          </a:prstGeom>
          <a:noFill/>
          <a:ln/>
        </p:spPr>
        <p:txBody>
          <a:bodyPr wrap="square" lIns="0" tIns="0" rIns="0" bIns="0" rtlCol="0" anchor="ctr"/>
          <a:lstStyle/>
          <a:p>
            <a:pPr marL="0" indent="0" algn="ctr">
              <a:buNone/>
            </a:pPr>
            <a:r>
              <a:rPr lang="en-US" sz="1050" b="1" dirty="0">
                <a:solidFill>
                  <a:srgbClr val="1C2E35"/>
                </a:solidFill>
                <a:latin typeface="Calibri" pitchFamily="34" charset="0"/>
                <a:ea typeface="Calibri" pitchFamily="34" charset="-122"/>
                <a:cs typeface="Calibri" pitchFamily="34" charset="-120"/>
              </a:rPr>
              <a:t>Retention</a:t>
            </a:r>
            <a:endParaRPr lang="en-US" sz="1050" dirty="0"/>
          </a:p>
        </p:txBody>
      </p:sp>
      <p:sp>
        <p:nvSpPr>
          <p:cNvPr id="18" name="Shape 16"/>
          <p:cNvSpPr/>
          <p:nvPr/>
        </p:nvSpPr>
        <p:spPr>
          <a:xfrm>
            <a:off x="4233672" y="2286000"/>
            <a:ext cx="868680" cy="502920"/>
          </a:xfrm>
          <a:prstGeom prst="rect">
            <a:avLst/>
          </a:prstGeom>
          <a:solidFill>
            <a:srgbClr val="02C39A"/>
          </a:solidFill>
          <a:ln w="12700">
            <a:solidFill>
              <a:srgbClr val="02C39A"/>
            </a:solidFill>
            <a:prstDash val="solid"/>
          </a:ln>
        </p:spPr>
        <p:txBody>
          <a:bodyPr/>
          <a:lstStyle/>
          <a:p>
            <a:endParaRPr lang="en-US"/>
          </a:p>
        </p:txBody>
      </p:sp>
      <p:sp>
        <p:nvSpPr>
          <p:cNvPr id="19" name="Text 17"/>
          <p:cNvSpPr/>
          <p:nvPr/>
        </p:nvSpPr>
        <p:spPr>
          <a:xfrm>
            <a:off x="4233672" y="2286000"/>
            <a:ext cx="868680" cy="502920"/>
          </a:xfrm>
          <a:prstGeom prst="rect">
            <a:avLst/>
          </a:prstGeom>
          <a:noFill/>
          <a:ln/>
        </p:spPr>
        <p:txBody>
          <a:bodyPr wrap="square" lIns="0" tIns="0" rIns="0" bIns="0" rtlCol="0" anchor="ctr"/>
          <a:lstStyle/>
          <a:p>
            <a:pPr marL="0" indent="0" algn="ctr">
              <a:buNone/>
            </a:pPr>
            <a:r>
              <a:rPr lang="en-US" sz="1050" b="1" dirty="0">
                <a:solidFill>
                  <a:srgbClr val="1C2E35"/>
                </a:solidFill>
                <a:latin typeface="Calibri" pitchFamily="34" charset="0"/>
                <a:ea typeface="Calibri" pitchFamily="34" charset="-122"/>
                <a:cs typeface="Calibri" pitchFamily="34" charset="-120"/>
              </a:rPr>
              <a:t>Risk mitigation</a:t>
            </a:r>
            <a:endParaRPr lang="en-US" sz="1050" dirty="0"/>
          </a:p>
        </p:txBody>
      </p:sp>
      <p:sp>
        <p:nvSpPr>
          <p:cNvPr id="20" name="Shape 18"/>
          <p:cNvSpPr/>
          <p:nvPr/>
        </p:nvSpPr>
        <p:spPr>
          <a:xfrm>
            <a:off x="502920" y="2944368"/>
            <a:ext cx="2148840" cy="1600200"/>
          </a:xfrm>
          <a:prstGeom prst="rect">
            <a:avLst/>
          </a:prstGeom>
          <a:solidFill>
            <a:srgbClr val="E05A4E">
              <a:alpha val="12000"/>
            </a:srgbClr>
          </a:solidFill>
          <a:ln w="12700">
            <a:solidFill>
              <a:srgbClr val="E05A4E"/>
            </a:solidFill>
            <a:prstDash val="solid"/>
          </a:ln>
        </p:spPr>
        <p:txBody>
          <a:bodyPr/>
          <a:lstStyle/>
          <a:p>
            <a:endParaRPr lang="en-US"/>
          </a:p>
        </p:txBody>
      </p:sp>
      <p:sp>
        <p:nvSpPr>
          <p:cNvPr id="21" name="Text 19"/>
          <p:cNvSpPr/>
          <p:nvPr/>
        </p:nvSpPr>
        <p:spPr>
          <a:xfrm>
            <a:off x="594360" y="2999232"/>
            <a:ext cx="1965960" cy="320040"/>
          </a:xfrm>
          <a:prstGeom prst="rect">
            <a:avLst/>
          </a:prstGeom>
          <a:noFill/>
          <a:ln/>
        </p:spPr>
        <p:txBody>
          <a:bodyPr wrap="square" lIns="0" tIns="0" rIns="0" bIns="0" rtlCol="0" anchor="ctr"/>
          <a:lstStyle/>
          <a:p>
            <a:pPr marL="0" indent="0">
              <a:buNone/>
            </a:pPr>
            <a:r>
              <a:rPr lang="en-US" sz="1200" b="1" dirty="0">
                <a:solidFill>
                  <a:srgbClr val="E05A4E"/>
                </a:solidFill>
                <a:latin typeface="Calibri" pitchFamily="34" charset="0"/>
                <a:ea typeface="Calibri" pitchFamily="34" charset="-122"/>
                <a:cs typeface="Calibri" pitchFamily="34" charset="-120"/>
              </a:rPr>
              <a:t>❌  Avoid</a:t>
            </a:r>
            <a:endParaRPr lang="en-US" sz="1200" dirty="0"/>
          </a:p>
        </p:txBody>
      </p:sp>
      <p:sp>
        <p:nvSpPr>
          <p:cNvPr id="22" name="Text 20"/>
          <p:cNvSpPr/>
          <p:nvPr/>
        </p:nvSpPr>
        <p:spPr>
          <a:xfrm>
            <a:off x="594360" y="3310128"/>
            <a:ext cx="1965960" cy="777240"/>
          </a:xfrm>
          <a:prstGeom prst="rect">
            <a:avLst/>
          </a:prstGeom>
          <a:noFill/>
          <a:ln/>
        </p:spPr>
        <p:txBody>
          <a:bodyPr wrap="square" lIns="0" tIns="0" rIns="0" bIns="0" rtlCol="0" anchor="ctr"/>
          <a:lstStyle/>
          <a:p>
            <a:pPr marL="0" indent="0">
              <a:buNone/>
            </a:pPr>
            <a:r>
              <a:rPr lang="en-US" sz="1250" i="1" dirty="0">
                <a:solidFill>
                  <a:srgbClr val="555555"/>
                </a:solidFill>
                <a:latin typeface="Calibri" pitchFamily="34" charset="0"/>
                <a:ea typeface="Calibri" pitchFamily="34" charset="-122"/>
                <a:cs typeface="Calibri" pitchFamily="34" charset="-120"/>
              </a:rPr>
              <a:t>"This button does this…"</a:t>
            </a:r>
            <a:endParaRPr lang="en-US" sz="1250" dirty="0"/>
          </a:p>
        </p:txBody>
      </p:sp>
      <p:sp>
        <p:nvSpPr>
          <p:cNvPr id="23" name="Shape 21"/>
          <p:cNvSpPr/>
          <p:nvPr/>
        </p:nvSpPr>
        <p:spPr>
          <a:xfrm>
            <a:off x="2816352" y="2944368"/>
            <a:ext cx="2560320" cy="1600200"/>
          </a:xfrm>
          <a:prstGeom prst="rect">
            <a:avLst/>
          </a:prstGeom>
          <a:solidFill>
            <a:srgbClr val="02C39A">
              <a:alpha val="12000"/>
            </a:srgbClr>
          </a:solidFill>
          <a:ln w="12700">
            <a:solidFill>
              <a:srgbClr val="02C39A"/>
            </a:solidFill>
            <a:prstDash val="solid"/>
          </a:ln>
        </p:spPr>
        <p:txBody>
          <a:bodyPr/>
          <a:lstStyle/>
          <a:p>
            <a:endParaRPr lang="en-US"/>
          </a:p>
        </p:txBody>
      </p:sp>
      <p:sp>
        <p:nvSpPr>
          <p:cNvPr id="24" name="Text 22"/>
          <p:cNvSpPr/>
          <p:nvPr/>
        </p:nvSpPr>
        <p:spPr>
          <a:xfrm>
            <a:off x="2907792" y="2999232"/>
            <a:ext cx="2377440" cy="320040"/>
          </a:xfrm>
          <a:prstGeom prst="rect">
            <a:avLst/>
          </a:prstGeom>
          <a:noFill/>
          <a:ln/>
        </p:spPr>
        <p:txBody>
          <a:bodyPr wrap="square" lIns="0" tIns="0" rIns="0" bIns="0" rtlCol="0" anchor="ctr"/>
          <a:lstStyle/>
          <a:p>
            <a:pPr marL="0" indent="0">
              <a:buNone/>
            </a:pPr>
            <a:r>
              <a:rPr lang="en-US" sz="1200" b="1" dirty="0">
                <a:solidFill>
                  <a:srgbClr val="3A7A8F"/>
                </a:solidFill>
                <a:latin typeface="Calibri" pitchFamily="34" charset="0"/>
                <a:ea typeface="Calibri" pitchFamily="34" charset="-122"/>
                <a:cs typeface="Calibri" pitchFamily="34" charset="-120"/>
              </a:rPr>
              <a:t>✓  Instead Say</a:t>
            </a:r>
            <a:endParaRPr lang="en-US" sz="1200" dirty="0"/>
          </a:p>
        </p:txBody>
      </p:sp>
      <p:sp>
        <p:nvSpPr>
          <p:cNvPr id="25" name="Text 23"/>
          <p:cNvSpPr/>
          <p:nvPr/>
        </p:nvSpPr>
        <p:spPr>
          <a:xfrm>
            <a:off x="2907792" y="3310128"/>
            <a:ext cx="2377440" cy="1143000"/>
          </a:xfrm>
          <a:prstGeom prst="rect">
            <a:avLst/>
          </a:prstGeom>
          <a:noFill/>
          <a:ln/>
        </p:spPr>
        <p:txBody>
          <a:bodyPr wrap="square" lIns="0" tIns="0" rIns="0" bIns="0" rtlCol="0" anchor="ctr"/>
          <a:lstStyle/>
          <a:p>
            <a:pPr marL="0" indent="0">
              <a:buNone/>
            </a:pPr>
            <a:r>
              <a:rPr lang="en-US" sz="1250" i="1" dirty="0">
                <a:solidFill>
                  <a:srgbClr val="555555"/>
                </a:solidFill>
                <a:latin typeface="Calibri" pitchFamily="34" charset="0"/>
                <a:ea typeface="Calibri" pitchFamily="34" charset="-122"/>
                <a:cs typeface="Calibri" pitchFamily="34" charset="-120"/>
              </a:rPr>
              <a:t>"This automatically follows up with clients who haven't rebooked — reducing churn."</a:t>
            </a:r>
            <a:endParaRPr lang="en-US" sz="1250" dirty="0"/>
          </a:p>
        </p:txBody>
      </p:sp>
      <p:sp>
        <p:nvSpPr>
          <p:cNvPr id="26" name="Shape 24"/>
          <p:cNvSpPr/>
          <p:nvPr/>
        </p:nvSpPr>
        <p:spPr>
          <a:xfrm>
            <a:off x="5760720" y="1051560"/>
            <a:ext cx="3063240" cy="3794760"/>
          </a:xfrm>
          <a:prstGeom prst="rect">
            <a:avLst/>
          </a:prstGeom>
          <a:solidFill>
            <a:srgbClr val="2E5D6E"/>
          </a:solidFill>
          <a:ln/>
          <a:effectLst>
            <a:outerShdw blurRad="101600" dist="38100" dir="8100000" algn="bl" rotWithShape="0">
              <a:srgbClr val="000000">
                <a:alpha val="10000"/>
              </a:srgbClr>
            </a:outerShdw>
          </a:effectLst>
        </p:spPr>
        <p:txBody>
          <a:bodyPr/>
          <a:lstStyle/>
          <a:p>
            <a:endParaRPr lang="en-US"/>
          </a:p>
        </p:txBody>
      </p:sp>
      <p:sp>
        <p:nvSpPr>
          <p:cNvPr id="27" name="Shape 25"/>
          <p:cNvSpPr/>
          <p:nvPr/>
        </p:nvSpPr>
        <p:spPr>
          <a:xfrm>
            <a:off x="5888736" y="1143000"/>
            <a:ext cx="438912" cy="438912"/>
          </a:xfrm>
          <a:prstGeom prst="ellipse">
            <a:avLst/>
          </a:prstGeom>
          <a:solidFill>
            <a:srgbClr val="02C39A"/>
          </a:solidFill>
          <a:ln w="12700">
            <a:solidFill>
              <a:srgbClr val="02C39A"/>
            </a:solidFill>
            <a:prstDash val="solid"/>
          </a:ln>
        </p:spPr>
        <p:txBody>
          <a:bodyPr/>
          <a:lstStyle/>
          <a:p>
            <a:endParaRPr lang="en-US"/>
          </a:p>
        </p:txBody>
      </p:sp>
      <p:sp>
        <p:nvSpPr>
          <p:cNvPr id="28" name="Text 26"/>
          <p:cNvSpPr/>
          <p:nvPr/>
        </p:nvSpPr>
        <p:spPr>
          <a:xfrm>
            <a:off x="5888736" y="1143000"/>
            <a:ext cx="438912" cy="438912"/>
          </a:xfrm>
          <a:prstGeom prst="rect">
            <a:avLst/>
          </a:prstGeom>
          <a:noFill/>
          <a:ln/>
        </p:spPr>
        <p:txBody>
          <a:bodyPr wrap="square" lIns="0" tIns="0" rIns="0" bIns="0" rtlCol="0" anchor="ctr"/>
          <a:lstStyle/>
          <a:p>
            <a:pPr marL="0" indent="0" algn="ctr">
              <a:buNone/>
            </a:pPr>
            <a:r>
              <a:rPr lang="en-US" sz="1600" b="1" dirty="0">
                <a:solidFill>
                  <a:srgbClr val="1C2E35"/>
                </a:solidFill>
                <a:latin typeface="Calibri" pitchFamily="34" charset="0"/>
                <a:ea typeface="Calibri" pitchFamily="34" charset="-122"/>
                <a:cs typeface="Calibri" pitchFamily="34" charset="-120"/>
              </a:rPr>
              <a:t>5</a:t>
            </a:r>
            <a:endParaRPr lang="en-US" sz="1600" dirty="0"/>
          </a:p>
        </p:txBody>
      </p:sp>
      <p:sp>
        <p:nvSpPr>
          <p:cNvPr id="29" name="Text 27"/>
          <p:cNvSpPr/>
          <p:nvPr/>
        </p:nvSpPr>
        <p:spPr>
          <a:xfrm>
            <a:off x="6400800" y="1170432"/>
            <a:ext cx="2304288" cy="5943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Confirm Alignment Before Pricing</a:t>
            </a:r>
            <a:endParaRPr lang="en-US" sz="1400" dirty="0"/>
          </a:p>
        </p:txBody>
      </p:sp>
      <p:sp>
        <p:nvSpPr>
          <p:cNvPr id="30" name="Text 28"/>
          <p:cNvSpPr/>
          <p:nvPr/>
        </p:nvSpPr>
        <p:spPr>
          <a:xfrm>
            <a:off x="5925312" y="1874520"/>
            <a:ext cx="2743200" cy="347472"/>
          </a:xfrm>
          <a:prstGeom prst="rect">
            <a:avLst/>
          </a:prstGeom>
          <a:noFill/>
          <a:ln/>
        </p:spPr>
        <p:txBody>
          <a:bodyPr wrap="square" lIns="0" tIns="0" rIns="0" bIns="0" rtlCol="0" anchor="ctr"/>
          <a:lstStyle/>
          <a:p>
            <a:pPr marL="0" indent="0">
              <a:buNone/>
            </a:pPr>
            <a:r>
              <a:rPr lang="en-US" sz="1300" i="1" dirty="0">
                <a:solidFill>
                  <a:srgbClr val="B3D4DF"/>
                </a:solidFill>
                <a:latin typeface="Calibri" pitchFamily="34" charset="0"/>
                <a:ea typeface="Calibri" pitchFamily="34" charset="-122"/>
                <a:cs typeface="Calibri" pitchFamily="34" charset="-120"/>
              </a:rPr>
              <a:t>Before discussing cost, ask:</a:t>
            </a:r>
            <a:endParaRPr lang="en-US" sz="1300" dirty="0"/>
          </a:p>
        </p:txBody>
      </p:sp>
      <p:sp>
        <p:nvSpPr>
          <p:cNvPr id="31" name="Shape 29"/>
          <p:cNvSpPr/>
          <p:nvPr/>
        </p:nvSpPr>
        <p:spPr>
          <a:xfrm>
            <a:off x="5925312" y="2286000"/>
            <a:ext cx="2743200" cy="685800"/>
          </a:xfrm>
          <a:prstGeom prst="rect">
            <a:avLst/>
          </a:prstGeom>
          <a:solidFill>
            <a:srgbClr val="FFFFFF">
              <a:alpha val="10000"/>
            </a:srgbClr>
          </a:solidFill>
          <a:ln w="12700">
            <a:solidFill>
              <a:srgbClr val="02C39A"/>
            </a:solidFill>
            <a:prstDash val="solid"/>
          </a:ln>
        </p:spPr>
        <p:txBody>
          <a:bodyPr/>
          <a:lstStyle/>
          <a:p>
            <a:endParaRPr lang="en-US"/>
          </a:p>
        </p:txBody>
      </p:sp>
      <p:sp>
        <p:nvSpPr>
          <p:cNvPr id="32" name="Text 30"/>
          <p:cNvSpPr/>
          <p:nvPr/>
        </p:nvSpPr>
        <p:spPr>
          <a:xfrm>
            <a:off x="6035040" y="2322576"/>
            <a:ext cx="2542032" cy="594360"/>
          </a:xfrm>
          <a:prstGeom prst="rect">
            <a:avLst/>
          </a:prstGeom>
          <a:noFill/>
          <a:ln/>
        </p:spPr>
        <p:txBody>
          <a:bodyPr wrap="square" lIns="0" tIns="0" rIns="0" bIns="0" rtlCol="0" anchor="ctr"/>
          <a:lstStyle/>
          <a:p>
            <a:pPr marL="0" indent="0">
              <a:buNone/>
            </a:pPr>
            <a:r>
              <a:rPr lang="en-US" sz="1300" b="1" i="1" dirty="0">
                <a:solidFill>
                  <a:srgbClr val="FFFFFF"/>
                </a:solidFill>
                <a:latin typeface="Calibri" pitchFamily="34" charset="0"/>
                <a:ea typeface="Calibri" pitchFamily="34" charset="-122"/>
                <a:cs typeface="Calibri" pitchFamily="34" charset="-120"/>
              </a:rPr>
              <a:t>"Does this solve the challenge we discussed?"</a:t>
            </a:r>
            <a:endParaRPr lang="en-US" sz="1300" dirty="0"/>
          </a:p>
        </p:txBody>
      </p:sp>
      <p:sp>
        <p:nvSpPr>
          <p:cNvPr id="33" name="Shape 31"/>
          <p:cNvSpPr/>
          <p:nvPr/>
        </p:nvSpPr>
        <p:spPr>
          <a:xfrm>
            <a:off x="5925312" y="3200400"/>
            <a:ext cx="274320" cy="274320"/>
          </a:xfrm>
          <a:prstGeom prst="ellipse">
            <a:avLst/>
          </a:prstGeom>
          <a:solidFill>
            <a:srgbClr val="02C39A"/>
          </a:solidFill>
          <a:ln w="12700">
            <a:solidFill>
              <a:srgbClr val="02C39A"/>
            </a:solidFill>
            <a:prstDash val="solid"/>
          </a:ln>
        </p:spPr>
        <p:txBody>
          <a:bodyPr/>
          <a:lstStyle/>
          <a:p>
            <a:endParaRPr lang="en-US"/>
          </a:p>
        </p:txBody>
      </p:sp>
      <p:sp>
        <p:nvSpPr>
          <p:cNvPr id="34" name="Text 32"/>
          <p:cNvSpPr/>
          <p:nvPr/>
        </p:nvSpPr>
        <p:spPr>
          <a:xfrm>
            <a:off x="6272784" y="3127248"/>
            <a:ext cx="2423160" cy="42062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Yes → Move forward to pricing</a:t>
            </a:r>
            <a:endParaRPr lang="en-US" sz="1200" dirty="0"/>
          </a:p>
        </p:txBody>
      </p:sp>
      <p:sp>
        <p:nvSpPr>
          <p:cNvPr id="35" name="Shape 33"/>
          <p:cNvSpPr/>
          <p:nvPr/>
        </p:nvSpPr>
        <p:spPr>
          <a:xfrm>
            <a:off x="5925312" y="3730752"/>
            <a:ext cx="274320" cy="274320"/>
          </a:xfrm>
          <a:prstGeom prst="ellipse">
            <a:avLst/>
          </a:prstGeom>
          <a:solidFill>
            <a:srgbClr val="F59E0B"/>
          </a:solidFill>
          <a:ln w="12700">
            <a:solidFill>
              <a:srgbClr val="F59E0B"/>
            </a:solidFill>
            <a:prstDash val="solid"/>
          </a:ln>
        </p:spPr>
        <p:txBody>
          <a:bodyPr/>
          <a:lstStyle/>
          <a:p>
            <a:endParaRPr lang="en-US"/>
          </a:p>
        </p:txBody>
      </p:sp>
      <p:sp>
        <p:nvSpPr>
          <p:cNvPr id="36" name="Text 34"/>
          <p:cNvSpPr/>
          <p:nvPr/>
        </p:nvSpPr>
        <p:spPr>
          <a:xfrm>
            <a:off x="6272784" y="3657600"/>
            <a:ext cx="2423160" cy="42062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Hesitation → Clarify the objection</a:t>
            </a:r>
            <a:endParaRPr lang="en-US" sz="1200" dirty="0"/>
          </a:p>
        </p:txBody>
      </p:sp>
      <p:sp>
        <p:nvSpPr>
          <p:cNvPr id="37" name="Shape 35"/>
          <p:cNvSpPr/>
          <p:nvPr/>
        </p:nvSpPr>
        <p:spPr>
          <a:xfrm>
            <a:off x="5925312" y="4261104"/>
            <a:ext cx="274320" cy="274320"/>
          </a:xfrm>
          <a:prstGeom prst="ellipse">
            <a:avLst/>
          </a:prstGeom>
          <a:solidFill>
            <a:srgbClr val="E05A4E"/>
          </a:solidFill>
          <a:ln w="12700">
            <a:solidFill>
              <a:srgbClr val="E05A4E"/>
            </a:solidFill>
            <a:prstDash val="solid"/>
          </a:ln>
        </p:spPr>
        <p:txBody>
          <a:bodyPr/>
          <a:lstStyle/>
          <a:p>
            <a:endParaRPr lang="en-US"/>
          </a:p>
        </p:txBody>
      </p:sp>
      <p:sp>
        <p:nvSpPr>
          <p:cNvPr id="38" name="Text 36"/>
          <p:cNvSpPr/>
          <p:nvPr/>
        </p:nvSpPr>
        <p:spPr>
          <a:xfrm>
            <a:off x="6272784" y="4187952"/>
            <a:ext cx="2423160" cy="42062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No → Never jump to pricing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D6E"/>
          </a:solidFill>
          <a:ln w="12700">
            <a:solidFill>
              <a:srgbClr val="2E5D6E"/>
            </a:solidFill>
            <a:prstDash val="solid"/>
          </a:ln>
        </p:spPr>
        <p:txBody>
          <a:bodyPr/>
          <a:lstStyle/>
          <a:p>
            <a:endParaRPr lang="en-US"/>
          </a:p>
        </p:txBody>
      </p:sp>
      <p:sp>
        <p:nvSpPr>
          <p:cNvPr id="3" name="Text 1"/>
          <p:cNvSpPr/>
          <p:nvPr/>
        </p:nvSpPr>
        <p:spPr>
          <a:xfrm>
            <a:off x="365760" y="0"/>
            <a:ext cx="841248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Salon-Specific Upsell Focus Areas</a:t>
            </a:r>
            <a:endParaRPr lang="en-US" sz="2800" dirty="0"/>
          </a:p>
        </p:txBody>
      </p:sp>
      <p:sp>
        <p:nvSpPr>
          <p:cNvPr id="4" name="Shape 2"/>
          <p:cNvSpPr/>
          <p:nvPr/>
        </p:nvSpPr>
        <p:spPr>
          <a:xfrm>
            <a:off x="320040" y="1051560"/>
            <a:ext cx="260604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320040" y="1051560"/>
            <a:ext cx="2606040" cy="475488"/>
          </a:xfrm>
          <a:prstGeom prst="rect">
            <a:avLst/>
          </a:prstGeom>
          <a:solidFill>
            <a:srgbClr val="02C39A"/>
          </a:solidFill>
          <a:ln w="12700">
            <a:solidFill>
              <a:srgbClr val="02C39A"/>
            </a:solidFill>
            <a:prstDash val="solid"/>
          </a:ln>
        </p:spPr>
        <p:txBody>
          <a:bodyPr/>
          <a:lstStyle/>
          <a:p>
            <a:endParaRPr lang="en-US"/>
          </a:p>
        </p:txBody>
      </p:sp>
      <p:sp>
        <p:nvSpPr>
          <p:cNvPr id="6" name="Text 4"/>
          <p:cNvSpPr/>
          <p:nvPr/>
        </p:nvSpPr>
        <p:spPr>
          <a:xfrm>
            <a:off x="429768" y="1051560"/>
            <a:ext cx="2423160" cy="475488"/>
          </a:xfrm>
          <a:prstGeom prst="rect">
            <a:avLst/>
          </a:prstGeom>
          <a:noFill/>
          <a:ln/>
        </p:spPr>
        <p:txBody>
          <a:bodyPr wrap="square" lIns="0" tIns="0" rIns="0" bIns="0" rtlCol="0" anchor="ctr"/>
          <a:lstStyle/>
          <a:p>
            <a:pPr marL="0" indent="0">
              <a:buNone/>
            </a:pPr>
            <a:r>
              <a:rPr lang="en-US" sz="1400" b="1" dirty="0">
                <a:solidFill>
                  <a:srgbClr val="1C2E35"/>
                </a:solidFill>
                <a:latin typeface="Calibri" pitchFamily="34" charset="0"/>
                <a:ea typeface="Calibri" pitchFamily="34" charset="-122"/>
                <a:cs typeface="Calibri" pitchFamily="34" charset="-120"/>
              </a:rPr>
              <a:t>Marketing Automation</a:t>
            </a:r>
            <a:endParaRPr lang="en-US" sz="1400" dirty="0"/>
          </a:p>
        </p:txBody>
      </p:sp>
      <p:sp>
        <p:nvSpPr>
          <p:cNvPr id="7" name="Text 5"/>
          <p:cNvSpPr/>
          <p:nvPr/>
        </p:nvSpPr>
        <p:spPr>
          <a:xfrm>
            <a:off x="457200" y="1645920"/>
            <a:ext cx="2350008" cy="292608"/>
          </a:xfrm>
          <a:prstGeom prst="rect">
            <a:avLst/>
          </a:prstGeom>
          <a:noFill/>
          <a:ln/>
        </p:spPr>
        <p:txBody>
          <a:bodyPr wrap="square" lIns="0" tIns="0" rIns="0" bIns="0" rtlCol="0" anchor="ctr"/>
          <a:lstStyle/>
          <a:p>
            <a:pPr marL="0" indent="0">
              <a:buNone/>
            </a:pPr>
            <a:r>
              <a:rPr lang="en-US" sz="1150" b="1" dirty="0">
                <a:solidFill>
                  <a:srgbClr val="64748B"/>
                </a:solidFill>
                <a:latin typeface="Calibri" pitchFamily="34" charset="0"/>
                <a:ea typeface="Calibri" pitchFamily="34" charset="-122"/>
                <a:cs typeface="Calibri" pitchFamily="34" charset="-120"/>
              </a:rPr>
              <a:t>Position around:</a:t>
            </a:r>
            <a:endParaRPr lang="en-US" sz="1150" dirty="0"/>
          </a:p>
        </p:txBody>
      </p:sp>
      <p:sp>
        <p:nvSpPr>
          <p:cNvPr id="8" name="Text 6"/>
          <p:cNvSpPr/>
          <p:nvPr/>
        </p:nvSpPr>
        <p:spPr>
          <a:xfrm>
            <a:off x="457200" y="1947672"/>
            <a:ext cx="2350008" cy="1508760"/>
          </a:xfrm>
          <a:prstGeom prst="rect">
            <a:avLst/>
          </a:prstGeom>
          <a:noFill/>
          <a:ln/>
        </p:spPr>
        <p:txBody>
          <a:bodyPr wrap="square" rtlCol="0" anchor="t"/>
          <a:lstStyle/>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Rebooking</a:t>
            </a:r>
            <a:endParaRPr lang="en-US" sz="1300" dirty="0"/>
          </a:p>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Birthday offers</a:t>
            </a:r>
            <a:endParaRPr lang="en-US" sz="1300" dirty="0"/>
          </a:p>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Lost client win-back</a:t>
            </a:r>
            <a:endParaRPr lang="en-US" sz="1300" dirty="0"/>
          </a:p>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Retail promotion</a:t>
            </a:r>
            <a:endParaRPr lang="en-US" sz="1300" dirty="0"/>
          </a:p>
        </p:txBody>
      </p:sp>
      <p:sp>
        <p:nvSpPr>
          <p:cNvPr id="9" name="Shape 7"/>
          <p:cNvSpPr/>
          <p:nvPr/>
        </p:nvSpPr>
        <p:spPr>
          <a:xfrm>
            <a:off x="457200" y="3520440"/>
            <a:ext cx="2350008" cy="0"/>
          </a:xfrm>
          <a:prstGeom prst="line">
            <a:avLst/>
          </a:prstGeom>
          <a:noFill/>
          <a:ln w="12700">
            <a:solidFill>
              <a:srgbClr val="D1E0E7"/>
            </a:solidFill>
            <a:prstDash val="solid"/>
          </a:ln>
        </p:spPr>
        <p:txBody>
          <a:bodyPr/>
          <a:lstStyle/>
          <a:p>
            <a:endParaRPr lang="en-US"/>
          </a:p>
        </p:txBody>
      </p:sp>
      <p:sp>
        <p:nvSpPr>
          <p:cNvPr id="10" name="Text 8"/>
          <p:cNvSpPr/>
          <p:nvPr/>
        </p:nvSpPr>
        <p:spPr>
          <a:xfrm>
            <a:off x="457200" y="3630168"/>
            <a:ext cx="2350008" cy="292608"/>
          </a:xfrm>
          <a:prstGeom prst="rect">
            <a:avLst/>
          </a:prstGeom>
          <a:noFill/>
          <a:ln/>
        </p:spPr>
        <p:txBody>
          <a:bodyPr wrap="square" lIns="0" tIns="0" rIns="0" bIns="0" rtlCol="0" anchor="ctr"/>
          <a:lstStyle/>
          <a:p>
            <a:pPr marL="0" indent="0">
              <a:buNone/>
            </a:pPr>
            <a:r>
              <a:rPr lang="en-US" sz="1100" b="1" dirty="0">
                <a:solidFill>
                  <a:srgbClr val="3A7A8F"/>
                </a:solidFill>
                <a:latin typeface="Calibri" pitchFamily="34" charset="0"/>
                <a:ea typeface="Calibri" pitchFamily="34" charset="-122"/>
                <a:cs typeface="Calibri" pitchFamily="34" charset="-120"/>
              </a:rPr>
              <a:t>Business Framing:</a:t>
            </a:r>
            <a:endParaRPr lang="en-US" sz="1100" dirty="0"/>
          </a:p>
        </p:txBody>
      </p:sp>
      <p:sp>
        <p:nvSpPr>
          <p:cNvPr id="11" name="Shape 9"/>
          <p:cNvSpPr/>
          <p:nvPr/>
        </p:nvSpPr>
        <p:spPr>
          <a:xfrm>
            <a:off x="457200" y="3959352"/>
            <a:ext cx="2350008" cy="749808"/>
          </a:xfrm>
          <a:prstGeom prst="rect">
            <a:avLst/>
          </a:prstGeom>
          <a:solidFill>
            <a:srgbClr val="EEF4F7"/>
          </a:solidFill>
          <a:ln w="12700">
            <a:solidFill>
              <a:srgbClr val="D1E0E7"/>
            </a:solidFill>
            <a:prstDash val="solid"/>
          </a:ln>
        </p:spPr>
        <p:txBody>
          <a:bodyPr/>
          <a:lstStyle/>
          <a:p>
            <a:endParaRPr lang="en-US"/>
          </a:p>
        </p:txBody>
      </p:sp>
      <p:sp>
        <p:nvSpPr>
          <p:cNvPr id="12" name="Text 10"/>
          <p:cNvSpPr/>
          <p:nvPr/>
        </p:nvSpPr>
        <p:spPr>
          <a:xfrm>
            <a:off x="548640" y="3995928"/>
            <a:ext cx="2167128" cy="676656"/>
          </a:xfrm>
          <a:prstGeom prst="rect">
            <a:avLst/>
          </a:prstGeom>
          <a:noFill/>
          <a:ln/>
        </p:spPr>
        <p:txBody>
          <a:bodyPr wrap="square" lIns="0" tIns="0" rIns="0" bIns="0" rtlCol="0" anchor="ctr"/>
          <a:lstStyle/>
          <a:p>
            <a:pPr marL="0" indent="0">
              <a:buNone/>
            </a:pPr>
            <a:r>
              <a:rPr lang="en-US" sz="1250" i="1" dirty="0">
                <a:solidFill>
                  <a:srgbClr val="1C2E35"/>
                </a:solidFill>
                <a:latin typeface="Calibri" pitchFamily="34" charset="0"/>
                <a:ea typeface="Calibri" pitchFamily="34" charset="-122"/>
                <a:cs typeface="Calibri" pitchFamily="34" charset="-120"/>
              </a:rPr>
              <a:t>"This keeps your book full without adding front desk workload."</a:t>
            </a:r>
            <a:endParaRPr lang="en-US" sz="1250" dirty="0"/>
          </a:p>
        </p:txBody>
      </p:sp>
      <p:sp>
        <p:nvSpPr>
          <p:cNvPr id="13" name="Shape 11"/>
          <p:cNvSpPr/>
          <p:nvPr/>
        </p:nvSpPr>
        <p:spPr>
          <a:xfrm>
            <a:off x="3131820" y="1051560"/>
            <a:ext cx="260604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4" name="Shape 12"/>
          <p:cNvSpPr/>
          <p:nvPr/>
        </p:nvSpPr>
        <p:spPr>
          <a:xfrm>
            <a:off x="3131820" y="1051560"/>
            <a:ext cx="2606040" cy="475488"/>
          </a:xfrm>
          <a:prstGeom prst="rect">
            <a:avLst/>
          </a:prstGeom>
          <a:solidFill>
            <a:srgbClr val="3A7A8F"/>
          </a:solidFill>
          <a:ln w="12700">
            <a:solidFill>
              <a:srgbClr val="3A7A8F"/>
            </a:solidFill>
            <a:prstDash val="solid"/>
          </a:ln>
        </p:spPr>
        <p:txBody>
          <a:bodyPr/>
          <a:lstStyle/>
          <a:p>
            <a:endParaRPr lang="en-US"/>
          </a:p>
        </p:txBody>
      </p:sp>
      <p:sp>
        <p:nvSpPr>
          <p:cNvPr id="15" name="Text 13"/>
          <p:cNvSpPr/>
          <p:nvPr/>
        </p:nvSpPr>
        <p:spPr>
          <a:xfrm>
            <a:off x="3241548" y="1051560"/>
            <a:ext cx="2423160" cy="47548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Reporting Upgrades</a:t>
            </a:r>
            <a:endParaRPr lang="en-US" sz="1400" dirty="0"/>
          </a:p>
        </p:txBody>
      </p:sp>
      <p:sp>
        <p:nvSpPr>
          <p:cNvPr id="16" name="Text 14"/>
          <p:cNvSpPr/>
          <p:nvPr/>
        </p:nvSpPr>
        <p:spPr>
          <a:xfrm>
            <a:off x="3268980" y="1645920"/>
            <a:ext cx="2350008" cy="292608"/>
          </a:xfrm>
          <a:prstGeom prst="rect">
            <a:avLst/>
          </a:prstGeom>
          <a:noFill/>
          <a:ln/>
        </p:spPr>
        <p:txBody>
          <a:bodyPr wrap="square" lIns="0" tIns="0" rIns="0" bIns="0" rtlCol="0" anchor="ctr"/>
          <a:lstStyle/>
          <a:p>
            <a:pPr marL="0" indent="0">
              <a:buNone/>
            </a:pPr>
            <a:r>
              <a:rPr lang="en-US" sz="1150" b="1" dirty="0">
                <a:solidFill>
                  <a:srgbClr val="64748B"/>
                </a:solidFill>
                <a:latin typeface="Calibri" pitchFamily="34" charset="0"/>
                <a:ea typeface="Calibri" pitchFamily="34" charset="-122"/>
                <a:cs typeface="Calibri" pitchFamily="34" charset="-120"/>
              </a:rPr>
              <a:t>Position around:</a:t>
            </a:r>
            <a:endParaRPr lang="en-US" sz="1150" dirty="0"/>
          </a:p>
        </p:txBody>
      </p:sp>
      <p:sp>
        <p:nvSpPr>
          <p:cNvPr id="17" name="Text 15"/>
          <p:cNvSpPr/>
          <p:nvPr/>
        </p:nvSpPr>
        <p:spPr>
          <a:xfrm>
            <a:off x="3268980" y="1947672"/>
            <a:ext cx="2350008" cy="1508760"/>
          </a:xfrm>
          <a:prstGeom prst="rect">
            <a:avLst/>
          </a:prstGeom>
          <a:noFill/>
          <a:ln/>
        </p:spPr>
        <p:txBody>
          <a:bodyPr wrap="square" rtlCol="0" anchor="t"/>
          <a:lstStyle/>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Provider productivity</a:t>
            </a:r>
            <a:endParaRPr lang="en-US" sz="1300" dirty="0"/>
          </a:p>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Retail conversion rates</a:t>
            </a:r>
            <a:endParaRPr lang="en-US" sz="1300" dirty="0"/>
          </a:p>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Membership performance</a:t>
            </a:r>
            <a:endParaRPr lang="en-US" sz="1300" dirty="0"/>
          </a:p>
        </p:txBody>
      </p:sp>
      <p:sp>
        <p:nvSpPr>
          <p:cNvPr id="18" name="Shape 16"/>
          <p:cNvSpPr/>
          <p:nvPr/>
        </p:nvSpPr>
        <p:spPr>
          <a:xfrm>
            <a:off x="3268980" y="3520440"/>
            <a:ext cx="2350008" cy="0"/>
          </a:xfrm>
          <a:prstGeom prst="line">
            <a:avLst/>
          </a:prstGeom>
          <a:noFill/>
          <a:ln w="12700">
            <a:solidFill>
              <a:srgbClr val="D1E0E7"/>
            </a:solidFill>
            <a:prstDash val="solid"/>
          </a:ln>
        </p:spPr>
        <p:txBody>
          <a:bodyPr/>
          <a:lstStyle/>
          <a:p>
            <a:endParaRPr lang="en-US"/>
          </a:p>
        </p:txBody>
      </p:sp>
      <p:sp>
        <p:nvSpPr>
          <p:cNvPr id="19" name="Text 17"/>
          <p:cNvSpPr/>
          <p:nvPr/>
        </p:nvSpPr>
        <p:spPr>
          <a:xfrm>
            <a:off x="3268980" y="3630168"/>
            <a:ext cx="2350008" cy="292608"/>
          </a:xfrm>
          <a:prstGeom prst="rect">
            <a:avLst/>
          </a:prstGeom>
          <a:noFill/>
          <a:ln/>
        </p:spPr>
        <p:txBody>
          <a:bodyPr wrap="square" lIns="0" tIns="0" rIns="0" bIns="0" rtlCol="0" anchor="ctr"/>
          <a:lstStyle/>
          <a:p>
            <a:pPr marL="0" indent="0">
              <a:buNone/>
            </a:pPr>
            <a:r>
              <a:rPr lang="en-US" sz="1100" b="1" dirty="0">
                <a:solidFill>
                  <a:srgbClr val="3A7A8F"/>
                </a:solidFill>
                <a:latin typeface="Calibri" pitchFamily="34" charset="0"/>
                <a:ea typeface="Calibri" pitchFamily="34" charset="-122"/>
                <a:cs typeface="Calibri" pitchFamily="34" charset="-120"/>
              </a:rPr>
              <a:t>Business Framing:</a:t>
            </a:r>
            <a:endParaRPr lang="en-US" sz="1100" dirty="0"/>
          </a:p>
        </p:txBody>
      </p:sp>
      <p:sp>
        <p:nvSpPr>
          <p:cNvPr id="20" name="Shape 18"/>
          <p:cNvSpPr/>
          <p:nvPr/>
        </p:nvSpPr>
        <p:spPr>
          <a:xfrm>
            <a:off x="3268980" y="3959352"/>
            <a:ext cx="2350008" cy="749808"/>
          </a:xfrm>
          <a:prstGeom prst="rect">
            <a:avLst/>
          </a:prstGeom>
          <a:solidFill>
            <a:srgbClr val="EEF4F7"/>
          </a:solidFill>
          <a:ln w="12700">
            <a:solidFill>
              <a:srgbClr val="D1E0E7"/>
            </a:solidFill>
            <a:prstDash val="solid"/>
          </a:ln>
        </p:spPr>
        <p:txBody>
          <a:bodyPr/>
          <a:lstStyle/>
          <a:p>
            <a:endParaRPr lang="en-US"/>
          </a:p>
        </p:txBody>
      </p:sp>
      <p:sp>
        <p:nvSpPr>
          <p:cNvPr id="21" name="Text 19"/>
          <p:cNvSpPr/>
          <p:nvPr/>
        </p:nvSpPr>
        <p:spPr>
          <a:xfrm>
            <a:off x="3360420" y="3995928"/>
            <a:ext cx="2167128" cy="676656"/>
          </a:xfrm>
          <a:prstGeom prst="rect">
            <a:avLst/>
          </a:prstGeom>
          <a:noFill/>
          <a:ln/>
        </p:spPr>
        <p:txBody>
          <a:bodyPr wrap="square" lIns="0" tIns="0" rIns="0" bIns="0" rtlCol="0" anchor="ctr"/>
          <a:lstStyle/>
          <a:p>
            <a:pPr marL="0" indent="0">
              <a:buNone/>
            </a:pPr>
            <a:r>
              <a:rPr lang="en-US" sz="1250" i="1" dirty="0">
                <a:solidFill>
                  <a:srgbClr val="1C2E35"/>
                </a:solidFill>
                <a:latin typeface="Calibri" pitchFamily="34" charset="0"/>
                <a:ea typeface="Calibri" pitchFamily="34" charset="-122"/>
                <a:cs typeface="Calibri" pitchFamily="34" charset="-120"/>
              </a:rPr>
              <a:t>"This gives you visibility into performance gaps across stylists."</a:t>
            </a:r>
            <a:endParaRPr lang="en-US" sz="1250" dirty="0"/>
          </a:p>
        </p:txBody>
      </p:sp>
      <p:sp>
        <p:nvSpPr>
          <p:cNvPr id="22" name="Shape 20"/>
          <p:cNvSpPr/>
          <p:nvPr/>
        </p:nvSpPr>
        <p:spPr>
          <a:xfrm>
            <a:off x="5943600" y="1051560"/>
            <a:ext cx="260604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3" name="Shape 21"/>
          <p:cNvSpPr/>
          <p:nvPr/>
        </p:nvSpPr>
        <p:spPr>
          <a:xfrm>
            <a:off x="5943600" y="1051560"/>
            <a:ext cx="2606040" cy="475488"/>
          </a:xfrm>
          <a:prstGeom prst="rect">
            <a:avLst/>
          </a:prstGeom>
          <a:solidFill>
            <a:srgbClr val="2E5D6E"/>
          </a:solidFill>
          <a:ln w="12700">
            <a:solidFill>
              <a:srgbClr val="2E5D6E"/>
            </a:solidFill>
            <a:prstDash val="solid"/>
          </a:ln>
        </p:spPr>
        <p:txBody>
          <a:bodyPr/>
          <a:lstStyle/>
          <a:p>
            <a:endParaRPr lang="en-US"/>
          </a:p>
        </p:txBody>
      </p:sp>
      <p:sp>
        <p:nvSpPr>
          <p:cNvPr id="24" name="Text 22"/>
          <p:cNvSpPr/>
          <p:nvPr/>
        </p:nvSpPr>
        <p:spPr>
          <a:xfrm>
            <a:off x="6053328" y="1051560"/>
            <a:ext cx="2423160" cy="47548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Payments &amp; Financial Add-Ons</a:t>
            </a:r>
            <a:endParaRPr lang="en-US" sz="1400" dirty="0"/>
          </a:p>
        </p:txBody>
      </p:sp>
      <p:sp>
        <p:nvSpPr>
          <p:cNvPr id="25" name="Text 23"/>
          <p:cNvSpPr/>
          <p:nvPr/>
        </p:nvSpPr>
        <p:spPr>
          <a:xfrm>
            <a:off x="6080760" y="1645920"/>
            <a:ext cx="2350008" cy="292608"/>
          </a:xfrm>
          <a:prstGeom prst="rect">
            <a:avLst/>
          </a:prstGeom>
          <a:noFill/>
          <a:ln/>
        </p:spPr>
        <p:txBody>
          <a:bodyPr wrap="square" lIns="0" tIns="0" rIns="0" bIns="0" rtlCol="0" anchor="ctr"/>
          <a:lstStyle/>
          <a:p>
            <a:pPr marL="0" indent="0">
              <a:buNone/>
            </a:pPr>
            <a:r>
              <a:rPr lang="en-US" sz="1150" b="1" dirty="0">
                <a:solidFill>
                  <a:srgbClr val="64748B"/>
                </a:solidFill>
                <a:latin typeface="Calibri" pitchFamily="34" charset="0"/>
                <a:ea typeface="Calibri" pitchFamily="34" charset="-122"/>
                <a:cs typeface="Calibri" pitchFamily="34" charset="-120"/>
              </a:rPr>
              <a:t>Position around:</a:t>
            </a:r>
            <a:endParaRPr lang="en-US" sz="1150" dirty="0"/>
          </a:p>
        </p:txBody>
      </p:sp>
      <p:sp>
        <p:nvSpPr>
          <p:cNvPr id="26" name="Text 24"/>
          <p:cNvSpPr/>
          <p:nvPr/>
        </p:nvSpPr>
        <p:spPr>
          <a:xfrm>
            <a:off x="6080760" y="1947672"/>
            <a:ext cx="2350008" cy="1508760"/>
          </a:xfrm>
          <a:prstGeom prst="rect">
            <a:avLst/>
          </a:prstGeom>
          <a:noFill/>
          <a:ln/>
        </p:spPr>
        <p:txBody>
          <a:bodyPr wrap="square" rtlCol="0" anchor="t"/>
          <a:lstStyle/>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Consolidated reporting</a:t>
            </a:r>
            <a:endParaRPr lang="en-US" sz="1300" dirty="0"/>
          </a:p>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Fee transparency</a:t>
            </a:r>
            <a:endParaRPr lang="en-US" sz="1300" dirty="0"/>
          </a:p>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Faster reconciliation</a:t>
            </a:r>
            <a:endParaRPr lang="en-US" sz="1300" dirty="0"/>
          </a:p>
        </p:txBody>
      </p:sp>
      <p:sp>
        <p:nvSpPr>
          <p:cNvPr id="27" name="Shape 25"/>
          <p:cNvSpPr/>
          <p:nvPr/>
        </p:nvSpPr>
        <p:spPr>
          <a:xfrm>
            <a:off x="6080760" y="3520440"/>
            <a:ext cx="2350008" cy="0"/>
          </a:xfrm>
          <a:prstGeom prst="line">
            <a:avLst/>
          </a:prstGeom>
          <a:noFill/>
          <a:ln w="12700">
            <a:solidFill>
              <a:srgbClr val="D1E0E7"/>
            </a:solidFill>
            <a:prstDash val="solid"/>
          </a:ln>
        </p:spPr>
        <p:txBody>
          <a:bodyPr/>
          <a:lstStyle/>
          <a:p>
            <a:endParaRPr lang="en-US"/>
          </a:p>
        </p:txBody>
      </p:sp>
      <p:sp>
        <p:nvSpPr>
          <p:cNvPr id="28" name="Text 26"/>
          <p:cNvSpPr/>
          <p:nvPr/>
        </p:nvSpPr>
        <p:spPr>
          <a:xfrm>
            <a:off x="6080760" y="3630168"/>
            <a:ext cx="2350008" cy="292608"/>
          </a:xfrm>
          <a:prstGeom prst="rect">
            <a:avLst/>
          </a:prstGeom>
          <a:noFill/>
          <a:ln/>
        </p:spPr>
        <p:txBody>
          <a:bodyPr wrap="square" lIns="0" tIns="0" rIns="0" bIns="0" rtlCol="0" anchor="ctr"/>
          <a:lstStyle/>
          <a:p>
            <a:pPr marL="0" indent="0">
              <a:buNone/>
            </a:pPr>
            <a:r>
              <a:rPr lang="en-US" sz="1100" b="1" dirty="0">
                <a:solidFill>
                  <a:srgbClr val="2E5D6E"/>
                </a:solidFill>
                <a:latin typeface="Calibri" pitchFamily="34" charset="0"/>
                <a:ea typeface="Calibri" pitchFamily="34" charset="-122"/>
                <a:cs typeface="Calibri" pitchFamily="34" charset="-120"/>
              </a:rPr>
              <a:t>Business Framing:</a:t>
            </a:r>
            <a:endParaRPr lang="en-US" sz="1100" dirty="0"/>
          </a:p>
        </p:txBody>
      </p:sp>
      <p:sp>
        <p:nvSpPr>
          <p:cNvPr id="29" name="Shape 27"/>
          <p:cNvSpPr/>
          <p:nvPr/>
        </p:nvSpPr>
        <p:spPr>
          <a:xfrm>
            <a:off x="6080760" y="3959352"/>
            <a:ext cx="2350008" cy="749808"/>
          </a:xfrm>
          <a:prstGeom prst="rect">
            <a:avLst/>
          </a:prstGeom>
          <a:solidFill>
            <a:srgbClr val="EEF4F7"/>
          </a:solidFill>
          <a:ln w="12700">
            <a:solidFill>
              <a:srgbClr val="D1E0E7"/>
            </a:solidFill>
            <a:prstDash val="solid"/>
          </a:ln>
        </p:spPr>
        <p:txBody>
          <a:bodyPr/>
          <a:lstStyle/>
          <a:p>
            <a:endParaRPr lang="en-US"/>
          </a:p>
        </p:txBody>
      </p:sp>
      <p:sp>
        <p:nvSpPr>
          <p:cNvPr id="30" name="Text 28"/>
          <p:cNvSpPr/>
          <p:nvPr/>
        </p:nvSpPr>
        <p:spPr>
          <a:xfrm>
            <a:off x="6172200" y="3995928"/>
            <a:ext cx="2167128" cy="676656"/>
          </a:xfrm>
          <a:prstGeom prst="rect">
            <a:avLst/>
          </a:prstGeom>
          <a:noFill/>
          <a:ln/>
        </p:spPr>
        <p:txBody>
          <a:bodyPr wrap="square" lIns="0" tIns="0" rIns="0" bIns="0" rtlCol="0" anchor="ctr"/>
          <a:lstStyle/>
          <a:p>
            <a:pPr marL="0" indent="0">
              <a:buNone/>
            </a:pPr>
            <a:r>
              <a:rPr lang="en-US" sz="1250" i="1" dirty="0">
                <a:solidFill>
                  <a:srgbClr val="1C2E35"/>
                </a:solidFill>
                <a:latin typeface="Calibri" pitchFamily="34" charset="0"/>
                <a:ea typeface="Calibri" pitchFamily="34" charset="-122"/>
                <a:cs typeface="Calibri" pitchFamily="34" charset="-120"/>
              </a:rPr>
              <a:t>"This simplifies your financial reporting process."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D6E"/>
          </a:solidFill>
          <a:ln w="12700">
            <a:solidFill>
              <a:srgbClr val="2E5D6E"/>
            </a:solidFill>
            <a:prstDash val="solid"/>
          </a:ln>
        </p:spPr>
        <p:txBody>
          <a:bodyPr/>
          <a:lstStyle/>
          <a:p>
            <a:endParaRPr lang="en-US"/>
          </a:p>
        </p:txBody>
      </p:sp>
      <p:sp>
        <p:nvSpPr>
          <p:cNvPr id="3" name="Text 1"/>
          <p:cNvSpPr/>
          <p:nvPr/>
        </p:nvSpPr>
        <p:spPr>
          <a:xfrm>
            <a:off x="365760" y="0"/>
            <a:ext cx="841248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Med Spa-Specific Upsell Focus Areas</a:t>
            </a:r>
            <a:endParaRPr lang="en-US" sz="2800" dirty="0"/>
          </a:p>
        </p:txBody>
      </p:sp>
      <p:sp>
        <p:nvSpPr>
          <p:cNvPr id="4" name="Shape 2"/>
          <p:cNvSpPr/>
          <p:nvPr/>
        </p:nvSpPr>
        <p:spPr>
          <a:xfrm>
            <a:off x="320040" y="1051560"/>
            <a:ext cx="260604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320040" y="1051560"/>
            <a:ext cx="2606040" cy="475488"/>
          </a:xfrm>
          <a:prstGeom prst="rect">
            <a:avLst/>
          </a:prstGeom>
          <a:solidFill>
            <a:srgbClr val="02C39A"/>
          </a:solidFill>
          <a:ln w="12700">
            <a:solidFill>
              <a:srgbClr val="02C39A"/>
            </a:solidFill>
            <a:prstDash val="solid"/>
          </a:ln>
        </p:spPr>
        <p:txBody>
          <a:bodyPr/>
          <a:lstStyle/>
          <a:p>
            <a:endParaRPr lang="en-US"/>
          </a:p>
        </p:txBody>
      </p:sp>
      <p:sp>
        <p:nvSpPr>
          <p:cNvPr id="6" name="Text 4"/>
          <p:cNvSpPr/>
          <p:nvPr/>
        </p:nvSpPr>
        <p:spPr>
          <a:xfrm>
            <a:off x="429768" y="1051560"/>
            <a:ext cx="2423160" cy="475488"/>
          </a:xfrm>
          <a:prstGeom prst="rect">
            <a:avLst/>
          </a:prstGeom>
          <a:noFill/>
          <a:ln/>
        </p:spPr>
        <p:txBody>
          <a:bodyPr wrap="square" lIns="0" tIns="0" rIns="0" bIns="0" rtlCol="0" anchor="ctr"/>
          <a:lstStyle/>
          <a:p>
            <a:pPr marL="0" indent="0">
              <a:buNone/>
            </a:pPr>
            <a:r>
              <a:rPr lang="en-US" sz="1400" b="1" dirty="0">
                <a:solidFill>
                  <a:srgbClr val="1C2E35"/>
                </a:solidFill>
                <a:latin typeface="Calibri" pitchFamily="34" charset="0"/>
                <a:ea typeface="Calibri" pitchFamily="34" charset="-122"/>
                <a:cs typeface="Calibri" pitchFamily="34" charset="-120"/>
              </a:rPr>
              <a:t>Membership Tools</a:t>
            </a:r>
            <a:endParaRPr lang="en-US" sz="1400" dirty="0"/>
          </a:p>
        </p:txBody>
      </p:sp>
      <p:sp>
        <p:nvSpPr>
          <p:cNvPr id="7" name="Text 5"/>
          <p:cNvSpPr/>
          <p:nvPr/>
        </p:nvSpPr>
        <p:spPr>
          <a:xfrm>
            <a:off x="457200" y="1645920"/>
            <a:ext cx="2350008" cy="292608"/>
          </a:xfrm>
          <a:prstGeom prst="rect">
            <a:avLst/>
          </a:prstGeom>
          <a:noFill/>
          <a:ln/>
        </p:spPr>
        <p:txBody>
          <a:bodyPr wrap="square" lIns="0" tIns="0" rIns="0" bIns="0" rtlCol="0" anchor="ctr"/>
          <a:lstStyle/>
          <a:p>
            <a:pPr marL="0" indent="0">
              <a:buNone/>
            </a:pPr>
            <a:r>
              <a:rPr lang="en-US" sz="1150" b="1" dirty="0">
                <a:solidFill>
                  <a:srgbClr val="64748B"/>
                </a:solidFill>
                <a:latin typeface="Calibri" pitchFamily="34" charset="0"/>
                <a:ea typeface="Calibri" pitchFamily="34" charset="-122"/>
                <a:cs typeface="Calibri" pitchFamily="34" charset="-120"/>
              </a:rPr>
              <a:t>Position around:</a:t>
            </a:r>
            <a:endParaRPr lang="en-US" sz="1150" dirty="0"/>
          </a:p>
        </p:txBody>
      </p:sp>
      <p:sp>
        <p:nvSpPr>
          <p:cNvPr id="8" name="Text 6"/>
          <p:cNvSpPr/>
          <p:nvPr/>
        </p:nvSpPr>
        <p:spPr>
          <a:xfrm>
            <a:off x="457200" y="1947672"/>
            <a:ext cx="2350008" cy="1508760"/>
          </a:xfrm>
          <a:prstGeom prst="rect">
            <a:avLst/>
          </a:prstGeom>
          <a:noFill/>
          <a:ln/>
        </p:spPr>
        <p:txBody>
          <a:bodyPr wrap="square" rtlCol="0" anchor="t"/>
          <a:lstStyle/>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Recurring revenue predictability</a:t>
            </a:r>
            <a:endParaRPr lang="en-US" sz="1300" dirty="0"/>
          </a:p>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Retention</a:t>
            </a:r>
            <a:endParaRPr lang="en-US" sz="1300" dirty="0"/>
          </a:p>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Client lifetime value</a:t>
            </a:r>
            <a:endParaRPr lang="en-US" sz="1300" dirty="0"/>
          </a:p>
        </p:txBody>
      </p:sp>
      <p:sp>
        <p:nvSpPr>
          <p:cNvPr id="9" name="Shape 7"/>
          <p:cNvSpPr/>
          <p:nvPr/>
        </p:nvSpPr>
        <p:spPr>
          <a:xfrm>
            <a:off x="457200" y="3520440"/>
            <a:ext cx="2350008" cy="0"/>
          </a:xfrm>
          <a:prstGeom prst="line">
            <a:avLst/>
          </a:prstGeom>
          <a:noFill/>
          <a:ln w="12700">
            <a:solidFill>
              <a:srgbClr val="D1E0E7"/>
            </a:solidFill>
            <a:prstDash val="solid"/>
          </a:ln>
        </p:spPr>
        <p:txBody>
          <a:bodyPr/>
          <a:lstStyle/>
          <a:p>
            <a:endParaRPr lang="en-US"/>
          </a:p>
        </p:txBody>
      </p:sp>
      <p:sp>
        <p:nvSpPr>
          <p:cNvPr id="10" name="Text 8"/>
          <p:cNvSpPr/>
          <p:nvPr/>
        </p:nvSpPr>
        <p:spPr>
          <a:xfrm>
            <a:off x="457200" y="3630168"/>
            <a:ext cx="2350008" cy="292608"/>
          </a:xfrm>
          <a:prstGeom prst="rect">
            <a:avLst/>
          </a:prstGeom>
          <a:noFill/>
          <a:ln/>
        </p:spPr>
        <p:txBody>
          <a:bodyPr wrap="square" lIns="0" tIns="0" rIns="0" bIns="0" rtlCol="0" anchor="ctr"/>
          <a:lstStyle/>
          <a:p>
            <a:pPr marL="0" indent="0">
              <a:buNone/>
            </a:pPr>
            <a:r>
              <a:rPr lang="en-US" sz="1100" b="1" dirty="0">
                <a:solidFill>
                  <a:srgbClr val="3A7A8F"/>
                </a:solidFill>
                <a:latin typeface="Calibri" pitchFamily="34" charset="0"/>
                <a:ea typeface="Calibri" pitchFamily="34" charset="-122"/>
                <a:cs typeface="Calibri" pitchFamily="34" charset="-120"/>
              </a:rPr>
              <a:t>Business Framing:</a:t>
            </a:r>
            <a:endParaRPr lang="en-US" sz="1100" dirty="0"/>
          </a:p>
        </p:txBody>
      </p:sp>
      <p:sp>
        <p:nvSpPr>
          <p:cNvPr id="11" name="Shape 9"/>
          <p:cNvSpPr/>
          <p:nvPr/>
        </p:nvSpPr>
        <p:spPr>
          <a:xfrm>
            <a:off x="457200" y="3959352"/>
            <a:ext cx="2350008" cy="749808"/>
          </a:xfrm>
          <a:prstGeom prst="rect">
            <a:avLst/>
          </a:prstGeom>
          <a:solidFill>
            <a:srgbClr val="EEF4F7"/>
          </a:solidFill>
          <a:ln w="12700">
            <a:solidFill>
              <a:srgbClr val="D1E0E7"/>
            </a:solidFill>
            <a:prstDash val="solid"/>
          </a:ln>
        </p:spPr>
        <p:txBody>
          <a:bodyPr/>
          <a:lstStyle/>
          <a:p>
            <a:endParaRPr lang="en-US"/>
          </a:p>
        </p:txBody>
      </p:sp>
      <p:sp>
        <p:nvSpPr>
          <p:cNvPr id="12" name="Text 10"/>
          <p:cNvSpPr/>
          <p:nvPr/>
        </p:nvSpPr>
        <p:spPr>
          <a:xfrm>
            <a:off x="548640" y="3995928"/>
            <a:ext cx="2167128" cy="676656"/>
          </a:xfrm>
          <a:prstGeom prst="rect">
            <a:avLst/>
          </a:prstGeom>
          <a:noFill/>
          <a:ln/>
        </p:spPr>
        <p:txBody>
          <a:bodyPr wrap="square" lIns="0" tIns="0" rIns="0" bIns="0" rtlCol="0" anchor="ctr"/>
          <a:lstStyle/>
          <a:p>
            <a:pPr marL="0" indent="0">
              <a:buNone/>
            </a:pPr>
            <a:r>
              <a:rPr lang="en-US" sz="1250" i="1" dirty="0">
                <a:solidFill>
                  <a:srgbClr val="1C2E35"/>
                </a:solidFill>
                <a:latin typeface="Calibri" pitchFamily="34" charset="0"/>
                <a:ea typeface="Calibri" pitchFamily="34" charset="-122"/>
                <a:cs typeface="Calibri" pitchFamily="34" charset="-120"/>
              </a:rPr>
              <a:t>"This builds recurring revenue stability."</a:t>
            </a:r>
            <a:endParaRPr lang="en-US" sz="1250" dirty="0"/>
          </a:p>
        </p:txBody>
      </p:sp>
      <p:sp>
        <p:nvSpPr>
          <p:cNvPr id="13" name="Shape 11"/>
          <p:cNvSpPr/>
          <p:nvPr/>
        </p:nvSpPr>
        <p:spPr>
          <a:xfrm>
            <a:off x="3131820" y="1051560"/>
            <a:ext cx="260604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4" name="Shape 12"/>
          <p:cNvSpPr/>
          <p:nvPr/>
        </p:nvSpPr>
        <p:spPr>
          <a:xfrm>
            <a:off x="3131820" y="1051560"/>
            <a:ext cx="2606040" cy="475488"/>
          </a:xfrm>
          <a:prstGeom prst="rect">
            <a:avLst/>
          </a:prstGeom>
          <a:solidFill>
            <a:srgbClr val="3A7A8F"/>
          </a:solidFill>
          <a:ln w="12700">
            <a:solidFill>
              <a:srgbClr val="3A7A8F"/>
            </a:solidFill>
            <a:prstDash val="solid"/>
          </a:ln>
        </p:spPr>
        <p:txBody>
          <a:bodyPr/>
          <a:lstStyle/>
          <a:p>
            <a:endParaRPr lang="en-US"/>
          </a:p>
        </p:txBody>
      </p:sp>
      <p:sp>
        <p:nvSpPr>
          <p:cNvPr id="15" name="Text 13"/>
          <p:cNvSpPr/>
          <p:nvPr/>
        </p:nvSpPr>
        <p:spPr>
          <a:xfrm>
            <a:off x="3241548" y="1051560"/>
            <a:ext cx="2423160" cy="47548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Charting &amp; Documentation</a:t>
            </a:r>
            <a:endParaRPr lang="en-US" sz="1400" dirty="0"/>
          </a:p>
        </p:txBody>
      </p:sp>
      <p:sp>
        <p:nvSpPr>
          <p:cNvPr id="16" name="Text 14"/>
          <p:cNvSpPr/>
          <p:nvPr/>
        </p:nvSpPr>
        <p:spPr>
          <a:xfrm>
            <a:off x="3268980" y="1645920"/>
            <a:ext cx="2350008" cy="292608"/>
          </a:xfrm>
          <a:prstGeom prst="rect">
            <a:avLst/>
          </a:prstGeom>
          <a:noFill/>
          <a:ln/>
        </p:spPr>
        <p:txBody>
          <a:bodyPr wrap="square" lIns="0" tIns="0" rIns="0" bIns="0" rtlCol="0" anchor="ctr"/>
          <a:lstStyle/>
          <a:p>
            <a:pPr marL="0" indent="0">
              <a:buNone/>
            </a:pPr>
            <a:r>
              <a:rPr lang="en-US" sz="1150" b="1" dirty="0">
                <a:solidFill>
                  <a:srgbClr val="64748B"/>
                </a:solidFill>
                <a:latin typeface="Calibri" pitchFamily="34" charset="0"/>
                <a:ea typeface="Calibri" pitchFamily="34" charset="-122"/>
                <a:cs typeface="Calibri" pitchFamily="34" charset="-120"/>
              </a:rPr>
              <a:t>Position around:</a:t>
            </a:r>
            <a:endParaRPr lang="en-US" sz="1150" dirty="0"/>
          </a:p>
        </p:txBody>
      </p:sp>
      <p:sp>
        <p:nvSpPr>
          <p:cNvPr id="17" name="Text 15"/>
          <p:cNvSpPr/>
          <p:nvPr/>
        </p:nvSpPr>
        <p:spPr>
          <a:xfrm>
            <a:off x="3268980" y="1947672"/>
            <a:ext cx="2350008" cy="1508760"/>
          </a:xfrm>
          <a:prstGeom prst="rect">
            <a:avLst/>
          </a:prstGeom>
          <a:noFill/>
          <a:ln/>
        </p:spPr>
        <p:txBody>
          <a:bodyPr wrap="square" rtlCol="0" anchor="t"/>
          <a:lstStyle/>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Compliance</a:t>
            </a:r>
            <a:endParaRPr lang="en-US" sz="1300" dirty="0"/>
          </a:p>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Consistency across injectors</a:t>
            </a:r>
            <a:endParaRPr lang="en-US" sz="1300" dirty="0"/>
          </a:p>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Reduced liability risk</a:t>
            </a:r>
            <a:endParaRPr lang="en-US" sz="1300" dirty="0"/>
          </a:p>
        </p:txBody>
      </p:sp>
      <p:sp>
        <p:nvSpPr>
          <p:cNvPr id="18" name="Shape 16"/>
          <p:cNvSpPr/>
          <p:nvPr/>
        </p:nvSpPr>
        <p:spPr>
          <a:xfrm>
            <a:off x="3268980" y="3520440"/>
            <a:ext cx="2350008" cy="0"/>
          </a:xfrm>
          <a:prstGeom prst="line">
            <a:avLst/>
          </a:prstGeom>
          <a:noFill/>
          <a:ln w="12700">
            <a:solidFill>
              <a:srgbClr val="D1E0E7"/>
            </a:solidFill>
            <a:prstDash val="solid"/>
          </a:ln>
        </p:spPr>
        <p:txBody>
          <a:bodyPr/>
          <a:lstStyle/>
          <a:p>
            <a:endParaRPr lang="en-US"/>
          </a:p>
        </p:txBody>
      </p:sp>
      <p:sp>
        <p:nvSpPr>
          <p:cNvPr id="19" name="Text 17"/>
          <p:cNvSpPr/>
          <p:nvPr/>
        </p:nvSpPr>
        <p:spPr>
          <a:xfrm>
            <a:off x="3268980" y="3630168"/>
            <a:ext cx="2350008" cy="292608"/>
          </a:xfrm>
          <a:prstGeom prst="rect">
            <a:avLst/>
          </a:prstGeom>
          <a:noFill/>
          <a:ln/>
        </p:spPr>
        <p:txBody>
          <a:bodyPr wrap="square" lIns="0" tIns="0" rIns="0" bIns="0" rtlCol="0" anchor="ctr"/>
          <a:lstStyle/>
          <a:p>
            <a:pPr marL="0" indent="0">
              <a:buNone/>
            </a:pPr>
            <a:r>
              <a:rPr lang="en-US" sz="1100" b="1" dirty="0">
                <a:solidFill>
                  <a:srgbClr val="3A7A8F"/>
                </a:solidFill>
                <a:latin typeface="Calibri" pitchFamily="34" charset="0"/>
                <a:ea typeface="Calibri" pitchFamily="34" charset="-122"/>
                <a:cs typeface="Calibri" pitchFamily="34" charset="-120"/>
              </a:rPr>
              <a:t>Business Framing:</a:t>
            </a:r>
            <a:endParaRPr lang="en-US" sz="1100" dirty="0"/>
          </a:p>
        </p:txBody>
      </p:sp>
      <p:sp>
        <p:nvSpPr>
          <p:cNvPr id="20" name="Shape 18"/>
          <p:cNvSpPr/>
          <p:nvPr/>
        </p:nvSpPr>
        <p:spPr>
          <a:xfrm>
            <a:off x="3268980" y="3959352"/>
            <a:ext cx="2350008" cy="749808"/>
          </a:xfrm>
          <a:prstGeom prst="rect">
            <a:avLst/>
          </a:prstGeom>
          <a:solidFill>
            <a:srgbClr val="EEF4F7"/>
          </a:solidFill>
          <a:ln w="12700">
            <a:solidFill>
              <a:srgbClr val="D1E0E7"/>
            </a:solidFill>
            <a:prstDash val="solid"/>
          </a:ln>
        </p:spPr>
        <p:txBody>
          <a:bodyPr/>
          <a:lstStyle/>
          <a:p>
            <a:endParaRPr lang="en-US"/>
          </a:p>
        </p:txBody>
      </p:sp>
      <p:sp>
        <p:nvSpPr>
          <p:cNvPr id="21" name="Text 19"/>
          <p:cNvSpPr/>
          <p:nvPr/>
        </p:nvSpPr>
        <p:spPr>
          <a:xfrm>
            <a:off x="3360420" y="3995928"/>
            <a:ext cx="2167128" cy="676656"/>
          </a:xfrm>
          <a:prstGeom prst="rect">
            <a:avLst/>
          </a:prstGeom>
          <a:noFill/>
          <a:ln/>
        </p:spPr>
        <p:txBody>
          <a:bodyPr wrap="square" lIns="0" tIns="0" rIns="0" bIns="0" rtlCol="0" anchor="ctr"/>
          <a:lstStyle/>
          <a:p>
            <a:pPr marL="0" indent="0">
              <a:buNone/>
            </a:pPr>
            <a:r>
              <a:rPr lang="en-US" sz="1250" i="1" dirty="0">
                <a:solidFill>
                  <a:srgbClr val="1C2E35"/>
                </a:solidFill>
                <a:latin typeface="Calibri" pitchFamily="34" charset="0"/>
                <a:ea typeface="Calibri" pitchFamily="34" charset="-122"/>
                <a:cs typeface="Calibri" pitchFamily="34" charset="-120"/>
              </a:rPr>
              <a:t>"This protects the business while standardizing documentation."</a:t>
            </a:r>
            <a:endParaRPr lang="en-US" sz="1250" dirty="0"/>
          </a:p>
        </p:txBody>
      </p:sp>
      <p:sp>
        <p:nvSpPr>
          <p:cNvPr id="22" name="Shape 20"/>
          <p:cNvSpPr/>
          <p:nvPr/>
        </p:nvSpPr>
        <p:spPr>
          <a:xfrm>
            <a:off x="5943600" y="1051560"/>
            <a:ext cx="260604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3" name="Shape 21"/>
          <p:cNvSpPr/>
          <p:nvPr/>
        </p:nvSpPr>
        <p:spPr>
          <a:xfrm>
            <a:off x="5943600" y="1051560"/>
            <a:ext cx="2606040" cy="475488"/>
          </a:xfrm>
          <a:prstGeom prst="rect">
            <a:avLst/>
          </a:prstGeom>
          <a:solidFill>
            <a:srgbClr val="2E5D6E"/>
          </a:solidFill>
          <a:ln w="12700">
            <a:solidFill>
              <a:srgbClr val="2E5D6E"/>
            </a:solidFill>
            <a:prstDash val="solid"/>
          </a:ln>
        </p:spPr>
        <p:txBody>
          <a:bodyPr/>
          <a:lstStyle/>
          <a:p>
            <a:endParaRPr lang="en-US"/>
          </a:p>
        </p:txBody>
      </p:sp>
      <p:sp>
        <p:nvSpPr>
          <p:cNvPr id="24" name="Text 22"/>
          <p:cNvSpPr/>
          <p:nvPr/>
        </p:nvSpPr>
        <p:spPr>
          <a:xfrm>
            <a:off x="6053328" y="1051560"/>
            <a:ext cx="2423160" cy="47548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Advanced Reporting</a:t>
            </a:r>
            <a:endParaRPr lang="en-US" sz="1400" dirty="0"/>
          </a:p>
        </p:txBody>
      </p:sp>
      <p:sp>
        <p:nvSpPr>
          <p:cNvPr id="25" name="Text 23"/>
          <p:cNvSpPr/>
          <p:nvPr/>
        </p:nvSpPr>
        <p:spPr>
          <a:xfrm>
            <a:off x="6080760" y="1645920"/>
            <a:ext cx="2350008" cy="292608"/>
          </a:xfrm>
          <a:prstGeom prst="rect">
            <a:avLst/>
          </a:prstGeom>
          <a:noFill/>
          <a:ln/>
        </p:spPr>
        <p:txBody>
          <a:bodyPr wrap="square" lIns="0" tIns="0" rIns="0" bIns="0" rtlCol="0" anchor="ctr"/>
          <a:lstStyle/>
          <a:p>
            <a:pPr marL="0" indent="0">
              <a:buNone/>
            </a:pPr>
            <a:r>
              <a:rPr lang="en-US" sz="1150" b="1" dirty="0">
                <a:solidFill>
                  <a:srgbClr val="64748B"/>
                </a:solidFill>
                <a:latin typeface="Calibri" pitchFamily="34" charset="0"/>
                <a:ea typeface="Calibri" pitchFamily="34" charset="-122"/>
                <a:cs typeface="Calibri" pitchFamily="34" charset="-120"/>
              </a:rPr>
              <a:t>Position around:</a:t>
            </a:r>
            <a:endParaRPr lang="en-US" sz="1150" dirty="0"/>
          </a:p>
        </p:txBody>
      </p:sp>
      <p:sp>
        <p:nvSpPr>
          <p:cNvPr id="26" name="Text 24"/>
          <p:cNvSpPr/>
          <p:nvPr/>
        </p:nvSpPr>
        <p:spPr>
          <a:xfrm>
            <a:off x="6080760" y="1947672"/>
            <a:ext cx="2350008" cy="1508760"/>
          </a:xfrm>
          <a:prstGeom prst="rect">
            <a:avLst/>
          </a:prstGeom>
          <a:noFill/>
          <a:ln/>
        </p:spPr>
        <p:txBody>
          <a:bodyPr wrap="square" rtlCol="0" anchor="t"/>
          <a:lstStyle/>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Revenue per provider</a:t>
            </a:r>
            <a:endParaRPr lang="en-US" sz="1300" dirty="0"/>
          </a:p>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Treatment profitability</a:t>
            </a:r>
            <a:endParaRPr lang="en-US" sz="1300" dirty="0"/>
          </a:p>
          <a:p>
            <a:pPr marL="342900" indent="-342900">
              <a:spcAft>
                <a:spcPts val="500"/>
              </a:spcAft>
              <a:buSzPct val="100000"/>
              <a:buChar char="•"/>
            </a:pPr>
            <a:r>
              <a:rPr lang="en-US" sz="1300" dirty="0">
                <a:solidFill>
                  <a:srgbClr val="363636"/>
                </a:solidFill>
                <a:latin typeface="Calibri" pitchFamily="34" charset="0"/>
                <a:ea typeface="Calibri" pitchFamily="34" charset="-122"/>
                <a:cs typeface="Calibri" pitchFamily="34" charset="-120"/>
              </a:rPr>
              <a:t>Retail attachment</a:t>
            </a:r>
            <a:endParaRPr lang="en-US" sz="1300" dirty="0"/>
          </a:p>
        </p:txBody>
      </p:sp>
      <p:sp>
        <p:nvSpPr>
          <p:cNvPr id="27" name="Shape 25"/>
          <p:cNvSpPr/>
          <p:nvPr/>
        </p:nvSpPr>
        <p:spPr>
          <a:xfrm>
            <a:off x="6080760" y="3520440"/>
            <a:ext cx="2350008" cy="0"/>
          </a:xfrm>
          <a:prstGeom prst="line">
            <a:avLst/>
          </a:prstGeom>
          <a:noFill/>
          <a:ln w="12700">
            <a:solidFill>
              <a:srgbClr val="D1E0E7"/>
            </a:solidFill>
            <a:prstDash val="solid"/>
          </a:ln>
        </p:spPr>
        <p:txBody>
          <a:bodyPr/>
          <a:lstStyle/>
          <a:p>
            <a:endParaRPr lang="en-US"/>
          </a:p>
        </p:txBody>
      </p:sp>
      <p:sp>
        <p:nvSpPr>
          <p:cNvPr id="28" name="Text 26"/>
          <p:cNvSpPr/>
          <p:nvPr/>
        </p:nvSpPr>
        <p:spPr>
          <a:xfrm>
            <a:off x="6080760" y="3630168"/>
            <a:ext cx="2350008" cy="292608"/>
          </a:xfrm>
          <a:prstGeom prst="rect">
            <a:avLst/>
          </a:prstGeom>
          <a:noFill/>
          <a:ln/>
        </p:spPr>
        <p:txBody>
          <a:bodyPr wrap="square" lIns="0" tIns="0" rIns="0" bIns="0" rtlCol="0" anchor="ctr"/>
          <a:lstStyle/>
          <a:p>
            <a:pPr marL="0" indent="0">
              <a:buNone/>
            </a:pPr>
            <a:r>
              <a:rPr lang="en-US" sz="1100" b="1" dirty="0">
                <a:solidFill>
                  <a:srgbClr val="2E5D6E"/>
                </a:solidFill>
                <a:latin typeface="Calibri" pitchFamily="34" charset="0"/>
                <a:ea typeface="Calibri" pitchFamily="34" charset="-122"/>
                <a:cs typeface="Calibri" pitchFamily="34" charset="-120"/>
              </a:rPr>
              <a:t>Business Framing:</a:t>
            </a:r>
            <a:endParaRPr lang="en-US" sz="1100" dirty="0"/>
          </a:p>
        </p:txBody>
      </p:sp>
      <p:sp>
        <p:nvSpPr>
          <p:cNvPr id="29" name="Shape 27"/>
          <p:cNvSpPr/>
          <p:nvPr/>
        </p:nvSpPr>
        <p:spPr>
          <a:xfrm>
            <a:off x="6080760" y="3959352"/>
            <a:ext cx="2350008" cy="749808"/>
          </a:xfrm>
          <a:prstGeom prst="rect">
            <a:avLst/>
          </a:prstGeom>
          <a:solidFill>
            <a:srgbClr val="EEF4F7"/>
          </a:solidFill>
          <a:ln w="12700">
            <a:solidFill>
              <a:srgbClr val="D1E0E7"/>
            </a:solidFill>
            <a:prstDash val="solid"/>
          </a:ln>
        </p:spPr>
        <p:txBody>
          <a:bodyPr/>
          <a:lstStyle/>
          <a:p>
            <a:endParaRPr lang="en-US"/>
          </a:p>
        </p:txBody>
      </p:sp>
      <p:sp>
        <p:nvSpPr>
          <p:cNvPr id="30" name="Text 28"/>
          <p:cNvSpPr/>
          <p:nvPr/>
        </p:nvSpPr>
        <p:spPr>
          <a:xfrm>
            <a:off x="6172200" y="3995928"/>
            <a:ext cx="2167128" cy="676656"/>
          </a:xfrm>
          <a:prstGeom prst="rect">
            <a:avLst/>
          </a:prstGeom>
          <a:noFill/>
          <a:ln/>
        </p:spPr>
        <p:txBody>
          <a:bodyPr wrap="square" lIns="0" tIns="0" rIns="0" bIns="0" rtlCol="0" anchor="ctr"/>
          <a:lstStyle/>
          <a:p>
            <a:pPr marL="0" indent="0">
              <a:buNone/>
            </a:pPr>
            <a:r>
              <a:rPr lang="en-US" sz="1250" i="1" dirty="0">
                <a:solidFill>
                  <a:srgbClr val="1C2E35"/>
                </a:solidFill>
                <a:latin typeface="Calibri" pitchFamily="34" charset="0"/>
                <a:ea typeface="Calibri" pitchFamily="34" charset="-122"/>
                <a:cs typeface="Calibri" pitchFamily="34" charset="-120"/>
              </a:rPr>
              <a:t>"This allows you to identify top-performing services and providers."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D6E"/>
          </a:solidFill>
          <a:ln w="12700">
            <a:solidFill>
              <a:srgbClr val="2E5D6E"/>
            </a:solidFill>
            <a:prstDash val="solid"/>
          </a:ln>
        </p:spPr>
        <p:txBody>
          <a:bodyPr/>
          <a:lstStyle/>
          <a:p>
            <a:endParaRPr lang="en-US"/>
          </a:p>
        </p:txBody>
      </p:sp>
      <p:sp>
        <p:nvSpPr>
          <p:cNvPr id="3" name="Text 1"/>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Handling Common Expansion Objections</a:t>
            </a:r>
            <a:endParaRPr lang="en-US" sz="2600" dirty="0"/>
          </a:p>
        </p:txBody>
      </p:sp>
      <p:sp>
        <p:nvSpPr>
          <p:cNvPr id="4" name="Shape 2"/>
          <p:cNvSpPr/>
          <p:nvPr/>
        </p:nvSpPr>
        <p:spPr>
          <a:xfrm>
            <a:off x="320040" y="1051560"/>
            <a:ext cx="260604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320040" y="1051560"/>
            <a:ext cx="2606040" cy="749808"/>
          </a:xfrm>
          <a:prstGeom prst="rect">
            <a:avLst/>
          </a:prstGeom>
          <a:solidFill>
            <a:srgbClr val="E05A4E"/>
          </a:solidFill>
          <a:ln w="12700">
            <a:solidFill>
              <a:srgbClr val="E05A4E"/>
            </a:solidFill>
            <a:prstDash val="solid"/>
          </a:ln>
        </p:spPr>
        <p:txBody>
          <a:bodyPr/>
          <a:lstStyle/>
          <a:p>
            <a:endParaRPr lang="en-US"/>
          </a:p>
        </p:txBody>
      </p:sp>
      <p:sp>
        <p:nvSpPr>
          <p:cNvPr id="6" name="Text 4"/>
          <p:cNvSpPr/>
          <p:nvPr/>
        </p:nvSpPr>
        <p:spPr>
          <a:xfrm>
            <a:off x="457200" y="1097280"/>
            <a:ext cx="2350008" cy="65836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"We don't have budget."</a:t>
            </a:r>
            <a:endParaRPr lang="en-US" sz="1500" dirty="0"/>
          </a:p>
        </p:txBody>
      </p:sp>
      <p:sp>
        <p:nvSpPr>
          <p:cNvPr id="7" name="Text 5"/>
          <p:cNvSpPr/>
          <p:nvPr/>
        </p:nvSpPr>
        <p:spPr>
          <a:xfrm>
            <a:off x="457200" y="1938528"/>
            <a:ext cx="2350008" cy="292608"/>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Your Response:</a:t>
            </a:r>
            <a:endParaRPr lang="en-US" sz="1100" dirty="0"/>
          </a:p>
        </p:txBody>
      </p:sp>
      <p:sp>
        <p:nvSpPr>
          <p:cNvPr id="8" name="Shape 6"/>
          <p:cNvSpPr/>
          <p:nvPr/>
        </p:nvSpPr>
        <p:spPr>
          <a:xfrm>
            <a:off x="457200" y="2240280"/>
            <a:ext cx="2350008" cy="1554480"/>
          </a:xfrm>
          <a:prstGeom prst="rect">
            <a:avLst/>
          </a:prstGeom>
          <a:solidFill>
            <a:srgbClr val="EEF4F7"/>
          </a:solidFill>
          <a:ln w="12700">
            <a:solidFill>
              <a:srgbClr val="D1E0E7"/>
            </a:solidFill>
            <a:prstDash val="solid"/>
          </a:ln>
        </p:spPr>
        <p:txBody>
          <a:bodyPr/>
          <a:lstStyle/>
          <a:p>
            <a:endParaRPr lang="en-US"/>
          </a:p>
        </p:txBody>
      </p:sp>
      <p:sp>
        <p:nvSpPr>
          <p:cNvPr id="9" name="Text 7"/>
          <p:cNvSpPr/>
          <p:nvPr/>
        </p:nvSpPr>
        <p:spPr>
          <a:xfrm>
            <a:off x="548640" y="2286000"/>
            <a:ext cx="2167128" cy="1444752"/>
          </a:xfrm>
          <a:prstGeom prst="rect">
            <a:avLst/>
          </a:prstGeom>
          <a:noFill/>
          <a:ln/>
        </p:spPr>
        <p:txBody>
          <a:bodyPr wrap="square" lIns="0" tIns="0" rIns="0" bIns="0" rtlCol="0" anchor="t"/>
          <a:lstStyle/>
          <a:p>
            <a:pPr marL="0" indent="0">
              <a:buNone/>
            </a:pPr>
            <a:r>
              <a:rPr lang="en-US" sz="1300" i="1" dirty="0">
                <a:solidFill>
                  <a:srgbClr val="1C2E35"/>
                </a:solidFill>
                <a:latin typeface="Calibri" pitchFamily="34" charset="0"/>
                <a:ea typeface="Calibri" pitchFamily="34" charset="-122"/>
                <a:cs typeface="Calibri" pitchFamily="34" charset="-120"/>
              </a:rPr>
              <a:t>"I completely understand. If this increased revenue by X per month, would that change the ROI conversation?"</a:t>
            </a:r>
            <a:endParaRPr lang="en-US" sz="1300" dirty="0"/>
          </a:p>
        </p:txBody>
      </p:sp>
      <p:sp>
        <p:nvSpPr>
          <p:cNvPr id="10" name="Shape 8"/>
          <p:cNvSpPr/>
          <p:nvPr/>
        </p:nvSpPr>
        <p:spPr>
          <a:xfrm>
            <a:off x="457200" y="3995928"/>
            <a:ext cx="2350008" cy="530352"/>
          </a:xfrm>
          <a:prstGeom prst="rect">
            <a:avLst/>
          </a:prstGeom>
          <a:solidFill>
            <a:srgbClr val="E05A4E"/>
          </a:solidFill>
          <a:ln w="12700">
            <a:solidFill>
              <a:srgbClr val="E05A4E"/>
            </a:solidFill>
            <a:prstDash val="solid"/>
          </a:ln>
        </p:spPr>
        <p:txBody>
          <a:bodyPr/>
          <a:lstStyle/>
          <a:p>
            <a:endParaRPr lang="en-US"/>
          </a:p>
        </p:txBody>
      </p:sp>
      <p:sp>
        <p:nvSpPr>
          <p:cNvPr id="11" name="Text 9"/>
          <p:cNvSpPr/>
          <p:nvPr/>
        </p:nvSpPr>
        <p:spPr>
          <a:xfrm>
            <a:off x="521208" y="3995928"/>
            <a:ext cx="2240280" cy="53035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Shift to Financial Outcome</a:t>
            </a:r>
            <a:endParaRPr lang="en-US" sz="1300" dirty="0"/>
          </a:p>
        </p:txBody>
      </p:sp>
      <p:sp>
        <p:nvSpPr>
          <p:cNvPr id="12" name="Shape 10"/>
          <p:cNvSpPr/>
          <p:nvPr/>
        </p:nvSpPr>
        <p:spPr>
          <a:xfrm>
            <a:off x="3131820" y="1051560"/>
            <a:ext cx="260604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3" name="Shape 11"/>
          <p:cNvSpPr/>
          <p:nvPr/>
        </p:nvSpPr>
        <p:spPr>
          <a:xfrm>
            <a:off x="3131820" y="1051560"/>
            <a:ext cx="2606040" cy="749808"/>
          </a:xfrm>
          <a:prstGeom prst="rect">
            <a:avLst/>
          </a:prstGeom>
          <a:solidFill>
            <a:srgbClr val="F59E0B"/>
          </a:solidFill>
          <a:ln w="12700">
            <a:solidFill>
              <a:srgbClr val="F59E0B"/>
            </a:solidFill>
            <a:prstDash val="solid"/>
          </a:ln>
        </p:spPr>
        <p:txBody>
          <a:bodyPr/>
          <a:lstStyle/>
          <a:p>
            <a:endParaRPr lang="en-US"/>
          </a:p>
        </p:txBody>
      </p:sp>
      <p:sp>
        <p:nvSpPr>
          <p:cNvPr id="14" name="Text 12"/>
          <p:cNvSpPr/>
          <p:nvPr/>
        </p:nvSpPr>
        <p:spPr>
          <a:xfrm>
            <a:off x="3268980" y="1097280"/>
            <a:ext cx="2350008" cy="65836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"We're too busy right now."</a:t>
            </a:r>
            <a:endParaRPr lang="en-US" sz="1500" dirty="0"/>
          </a:p>
        </p:txBody>
      </p:sp>
      <p:sp>
        <p:nvSpPr>
          <p:cNvPr id="15" name="Text 13"/>
          <p:cNvSpPr/>
          <p:nvPr/>
        </p:nvSpPr>
        <p:spPr>
          <a:xfrm>
            <a:off x="3268980" y="1938528"/>
            <a:ext cx="2350008" cy="292608"/>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Your Response:</a:t>
            </a:r>
            <a:endParaRPr lang="en-US" sz="1100" dirty="0"/>
          </a:p>
        </p:txBody>
      </p:sp>
      <p:sp>
        <p:nvSpPr>
          <p:cNvPr id="16" name="Shape 14"/>
          <p:cNvSpPr/>
          <p:nvPr/>
        </p:nvSpPr>
        <p:spPr>
          <a:xfrm>
            <a:off x="3268980" y="2240280"/>
            <a:ext cx="2350008" cy="1554480"/>
          </a:xfrm>
          <a:prstGeom prst="rect">
            <a:avLst/>
          </a:prstGeom>
          <a:solidFill>
            <a:srgbClr val="EEF4F7"/>
          </a:solidFill>
          <a:ln w="12700">
            <a:solidFill>
              <a:srgbClr val="D1E0E7"/>
            </a:solidFill>
            <a:prstDash val="solid"/>
          </a:ln>
        </p:spPr>
        <p:txBody>
          <a:bodyPr/>
          <a:lstStyle/>
          <a:p>
            <a:endParaRPr lang="en-US"/>
          </a:p>
        </p:txBody>
      </p:sp>
      <p:sp>
        <p:nvSpPr>
          <p:cNvPr id="17" name="Text 15"/>
          <p:cNvSpPr/>
          <p:nvPr/>
        </p:nvSpPr>
        <p:spPr>
          <a:xfrm>
            <a:off x="3360420" y="2286000"/>
            <a:ext cx="2167128" cy="1444752"/>
          </a:xfrm>
          <a:prstGeom prst="rect">
            <a:avLst/>
          </a:prstGeom>
          <a:noFill/>
          <a:ln/>
        </p:spPr>
        <p:txBody>
          <a:bodyPr wrap="square" lIns="0" tIns="0" rIns="0" bIns="0" rtlCol="0" anchor="t"/>
          <a:lstStyle/>
          <a:p>
            <a:pPr marL="0" indent="0">
              <a:buNone/>
            </a:pPr>
            <a:r>
              <a:rPr lang="en-US" sz="1300" i="1" dirty="0">
                <a:solidFill>
                  <a:srgbClr val="1C2E35"/>
                </a:solidFill>
                <a:latin typeface="Calibri" pitchFamily="34" charset="0"/>
                <a:ea typeface="Calibri" pitchFamily="34" charset="-122"/>
                <a:cs typeface="Calibri" pitchFamily="34" charset="-120"/>
              </a:rPr>
              <a:t>"That's exactly why automation may help. If we could remove X manual tasks, would that create breathing room?"</a:t>
            </a:r>
            <a:endParaRPr lang="en-US" sz="1300" dirty="0"/>
          </a:p>
        </p:txBody>
      </p:sp>
      <p:sp>
        <p:nvSpPr>
          <p:cNvPr id="18" name="Shape 16"/>
          <p:cNvSpPr/>
          <p:nvPr/>
        </p:nvSpPr>
        <p:spPr>
          <a:xfrm>
            <a:off x="3268980" y="3995928"/>
            <a:ext cx="2350008" cy="530352"/>
          </a:xfrm>
          <a:prstGeom prst="rect">
            <a:avLst/>
          </a:prstGeom>
          <a:solidFill>
            <a:srgbClr val="F59E0B"/>
          </a:solidFill>
          <a:ln w="12700">
            <a:solidFill>
              <a:srgbClr val="F59E0B"/>
            </a:solidFill>
            <a:prstDash val="solid"/>
          </a:ln>
        </p:spPr>
        <p:txBody>
          <a:bodyPr/>
          <a:lstStyle/>
          <a:p>
            <a:endParaRPr lang="en-US"/>
          </a:p>
        </p:txBody>
      </p:sp>
      <p:sp>
        <p:nvSpPr>
          <p:cNvPr id="19" name="Text 17"/>
          <p:cNvSpPr/>
          <p:nvPr/>
        </p:nvSpPr>
        <p:spPr>
          <a:xfrm>
            <a:off x="3332988" y="3995928"/>
            <a:ext cx="2240280" cy="53035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Reframe as Efficiency</a:t>
            </a:r>
            <a:endParaRPr lang="en-US" sz="1300" dirty="0"/>
          </a:p>
        </p:txBody>
      </p:sp>
      <p:sp>
        <p:nvSpPr>
          <p:cNvPr id="20" name="Shape 18"/>
          <p:cNvSpPr/>
          <p:nvPr/>
        </p:nvSpPr>
        <p:spPr>
          <a:xfrm>
            <a:off x="5943600" y="1051560"/>
            <a:ext cx="260604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1" name="Shape 19"/>
          <p:cNvSpPr/>
          <p:nvPr/>
        </p:nvSpPr>
        <p:spPr>
          <a:xfrm>
            <a:off x="5943600" y="1051560"/>
            <a:ext cx="2606040" cy="749808"/>
          </a:xfrm>
          <a:prstGeom prst="rect">
            <a:avLst/>
          </a:prstGeom>
          <a:solidFill>
            <a:srgbClr val="3A7A8F"/>
          </a:solidFill>
          <a:ln w="12700">
            <a:solidFill>
              <a:srgbClr val="3A7A8F"/>
            </a:solidFill>
            <a:prstDash val="solid"/>
          </a:ln>
        </p:spPr>
        <p:txBody>
          <a:bodyPr/>
          <a:lstStyle/>
          <a:p>
            <a:endParaRPr lang="en-US"/>
          </a:p>
        </p:txBody>
      </p:sp>
      <p:sp>
        <p:nvSpPr>
          <p:cNvPr id="22" name="Text 20"/>
          <p:cNvSpPr/>
          <p:nvPr/>
        </p:nvSpPr>
        <p:spPr>
          <a:xfrm>
            <a:off x="6080760" y="1097280"/>
            <a:ext cx="2350008" cy="65836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"Let's revisit at renewal."</a:t>
            </a:r>
            <a:endParaRPr lang="en-US" sz="1500" dirty="0"/>
          </a:p>
        </p:txBody>
      </p:sp>
      <p:sp>
        <p:nvSpPr>
          <p:cNvPr id="23" name="Text 21"/>
          <p:cNvSpPr/>
          <p:nvPr/>
        </p:nvSpPr>
        <p:spPr>
          <a:xfrm>
            <a:off x="6080760" y="1938528"/>
            <a:ext cx="2350008" cy="292608"/>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Your Response:</a:t>
            </a:r>
            <a:endParaRPr lang="en-US" sz="1100" dirty="0"/>
          </a:p>
        </p:txBody>
      </p:sp>
      <p:sp>
        <p:nvSpPr>
          <p:cNvPr id="24" name="Shape 22"/>
          <p:cNvSpPr/>
          <p:nvPr/>
        </p:nvSpPr>
        <p:spPr>
          <a:xfrm>
            <a:off x="6080760" y="2240280"/>
            <a:ext cx="2350008" cy="1554480"/>
          </a:xfrm>
          <a:prstGeom prst="rect">
            <a:avLst/>
          </a:prstGeom>
          <a:solidFill>
            <a:srgbClr val="EEF4F7"/>
          </a:solidFill>
          <a:ln w="12700">
            <a:solidFill>
              <a:srgbClr val="D1E0E7"/>
            </a:solidFill>
            <a:prstDash val="solid"/>
          </a:ln>
        </p:spPr>
        <p:txBody>
          <a:bodyPr/>
          <a:lstStyle/>
          <a:p>
            <a:endParaRPr lang="en-US"/>
          </a:p>
        </p:txBody>
      </p:sp>
      <p:sp>
        <p:nvSpPr>
          <p:cNvPr id="25" name="Text 23"/>
          <p:cNvSpPr/>
          <p:nvPr/>
        </p:nvSpPr>
        <p:spPr>
          <a:xfrm>
            <a:off x="6172200" y="2286000"/>
            <a:ext cx="2167128" cy="1444752"/>
          </a:xfrm>
          <a:prstGeom prst="rect">
            <a:avLst/>
          </a:prstGeom>
          <a:noFill/>
          <a:ln/>
        </p:spPr>
        <p:txBody>
          <a:bodyPr wrap="square" lIns="0" tIns="0" rIns="0" bIns="0" rtlCol="0" anchor="t"/>
          <a:lstStyle/>
          <a:p>
            <a:pPr marL="0" indent="0">
              <a:buNone/>
            </a:pPr>
            <a:r>
              <a:rPr lang="en-US" sz="1300" i="1" dirty="0">
                <a:solidFill>
                  <a:srgbClr val="1C2E35"/>
                </a:solidFill>
                <a:latin typeface="Calibri" pitchFamily="34" charset="0"/>
                <a:ea typeface="Calibri" pitchFamily="34" charset="-122"/>
                <a:cs typeface="Calibri" pitchFamily="34" charset="-120"/>
              </a:rPr>
              <a:t>"If this improves performance before renewal, it may actually strengthen your position heading into renewal."</a:t>
            </a:r>
            <a:endParaRPr lang="en-US" sz="1300" dirty="0"/>
          </a:p>
        </p:txBody>
      </p:sp>
      <p:sp>
        <p:nvSpPr>
          <p:cNvPr id="26" name="Shape 24"/>
          <p:cNvSpPr/>
          <p:nvPr/>
        </p:nvSpPr>
        <p:spPr>
          <a:xfrm>
            <a:off x="6080760" y="3995928"/>
            <a:ext cx="2350008" cy="530352"/>
          </a:xfrm>
          <a:prstGeom prst="rect">
            <a:avLst/>
          </a:prstGeom>
          <a:solidFill>
            <a:srgbClr val="3A7A8F"/>
          </a:solidFill>
          <a:ln w="12700">
            <a:solidFill>
              <a:srgbClr val="3A7A8F"/>
            </a:solidFill>
            <a:prstDash val="solid"/>
          </a:ln>
        </p:spPr>
        <p:txBody>
          <a:bodyPr/>
          <a:lstStyle/>
          <a:p>
            <a:endParaRPr lang="en-US"/>
          </a:p>
        </p:txBody>
      </p:sp>
      <p:sp>
        <p:nvSpPr>
          <p:cNvPr id="27" name="Text 25"/>
          <p:cNvSpPr/>
          <p:nvPr/>
        </p:nvSpPr>
        <p:spPr>
          <a:xfrm>
            <a:off x="6144768" y="3995928"/>
            <a:ext cx="2240280" cy="53035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Protect Timing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D6E"/>
          </a:solidFill>
          <a:ln w="12700">
            <a:solidFill>
              <a:srgbClr val="2E5D6E"/>
            </a:solidFill>
            <a:prstDash val="solid"/>
          </a:ln>
        </p:spPr>
        <p:txBody>
          <a:bodyPr/>
          <a:lstStyle/>
          <a:p>
            <a:endParaRPr lang="en-US"/>
          </a:p>
        </p:txBody>
      </p:sp>
      <p:sp>
        <p:nvSpPr>
          <p:cNvPr id="3" name="Text 1"/>
          <p:cNvSpPr/>
          <p:nvPr/>
        </p:nvSpPr>
        <p:spPr>
          <a:xfrm>
            <a:off x="365760" y="0"/>
            <a:ext cx="841248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Closing Techniques  ·  Understanding Owner Psychology</a:t>
            </a:r>
            <a:endParaRPr lang="en-US" sz="2400" dirty="0"/>
          </a:p>
        </p:txBody>
      </p:sp>
      <p:sp>
        <p:nvSpPr>
          <p:cNvPr id="4" name="Shape 2"/>
          <p:cNvSpPr/>
          <p:nvPr/>
        </p:nvSpPr>
        <p:spPr>
          <a:xfrm>
            <a:off x="320040" y="1051560"/>
            <a:ext cx="4114800" cy="37490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320040" y="1051560"/>
            <a:ext cx="4114800" cy="438912"/>
          </a:xfrm>
          <a:prstGeom prst="rect">
            <a:avLst/>
          </a:prstGeom>
          <a:solidFill>
            <a:srgbClr val="3A7A8F"/>
          </a:solidFill>
          <a:ln w="12700">
            <a:solidFill>
              <a:srgbClr val="3A7A8F"/>
            </a:solidFill>
            <a:prstDash val="solid"/>
          </a:ln>
        </p:spPr>
        <p:txBody>
          <a:bodyPr/>
          <a:lstStyle/>
          <a:p>
            <a:endParaRPr lang="en-US"/>
          </a:p>
        </p:txBody>
      </p:sp>
      <p:sp>
        <p:nvSpPr>
          <p:cNvPr id="6" name="Text 4"/>
          <p:cNvSpPr/>
          <p:nvPr/>
        </p:nvSpPr>
        <p:spPr>
          <a:xfrm>
            <a:off x="457200" y="1051560"/>
            <a:ext cx="3840480" cy="43891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How Salon &amp; Spa Owners Think</a:t>
            </a:r>
            <a:endParaRPr lang="en-US" sz="1400" dirty="0"/>
          </a:p>
        </p:txBody>
      </p:sp>
      <p:sp>
        <p:nvSpPr>
          <p:cNvPr id="7" name="Text 5"/>
          <p:cNvSpPr/>
          <p:nvPr/>
        </p:nvSpPr>
        <p:spPr>
          <a:xfrm>
            <a:off x="457200" y="1600200"/>
            <a:ext cx="3749040" cy="292608"/>
          </a:xfrm>
          <a:prstGeom prst="rect">
            <a:avLst/>
          </a:prstGeom>
          <a:noFill/>
          <a:ln/>
        </p:spPr>
        <p:txBody>
          <a:bodyPr wrap="square" lIns="0" tIns="0" rIns="0" bIns="0"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They THINK in:</a:t>
            </a:r>
            <a:endParaRPr lang="en-US" sz="1200" dirty="0"/>
          </a:p>
        </p:txBody>
      </p:sp>
      <p:sp>
        <p:nvSpPr>
          <p:cNvPr id="8" name="Text 6"/>
          <p:cNvSpPr/>
          <p:nvPr/>
        </p:nvSpPr>
        <p:spPr>
          <a:xfrm>
            <a:off x="457200" y="1901952"/>
            <a:ext cx="1783080" cy="2103120"/>
          </a:xfrm>
          <a:prstGeom prst="rect">
            <a:avLst/>
          </a:prstGeom>
          <a:noFill/>
          <a:ln/>
        </p:spPr>
        <p:txBody>
          <a:bodyPr wrap="square" rtlCol="0" anchor="ctr"/>
          <a:lstStyle/>
          <a:p>
            <a:pPr marL="342900" indent="-342900">
              <a:spcAft>
                <a:spcPts val="300"/>
              </a:spcAft>
              <a:buSzPct val="100000"/>
              <a:buChar char="•"/>
            </a:pPr>
            <a:r>
              <a:rPr lang="en-US" sz="1250" dirty="0">
                <a:solidFill>
                  <a:srgbClr val="363636"/>
                </a:solidFill>
                <a:latin typeface="Calibri" pitchFamily="34" charset="0"/>
                <a:ea typeface="Calibri" pitchFamily="34" charset="-122"/>
                <a:cs typeface="Calibri" pitchFamily="34" charset="-120"/>
              </a:rPr>
              <a:t>Monthly revenue</a:t>
            </a:r>
            <a:endParaRPr lang="en-US" sz="1250" dirty="0"/>
          </a:p>
          <a:p>
            <a:pPr marL="342900" indent="-342900">
              <a:spcAft>
                <a:spcPts val="300"/>
              </a:spcAft>
              <a:buSzPct val="100000"/>
              <a:buChar char="•"/>
            </a:pPr>
            <a:r>
              <a:rPr lang="en-US" sz="1250" dirty="0">
                <a:solidFill>
                  <a:srgbClr val="363636"/>
                </a:solidFill>
                <a:latin typeface="Calibri" pitchFamily="34" charset="0"/>
                <a:ea typeface="Calibri" pitchFamily="34" charset="-122"/>
                <a:cs typeface="Calibri" pitchFamily="34" charset="-120"/>
              </a:rPr>
              <a:t>Staff productivity</a:t>
            </a:r>
            <a:endParaRPr lang="en-US" sz="1250" dirty="0"/>
          </a:p>
          <a:p>
            <a:pPr marL="342900" indent="-342900">
              <a:spcAft>
                <a:spcPts val="300"/>
              </a:spcAft>
              <a:buSzPct val="100000"/>
              <a:buChar char="•"/>
            </a:pPr>
            <a:r>
              <a:rPr lang="en-US" sz="1250" dirty="0">
                <a:solidFill>
                  <a:srgbClr val="363636"/>
                </a:solidFill>
                <a:latin typeface="Calibri" pitchFamily="34" charset="0"/>
                <a:ea typeface="Calibri" pitchFamily="34" charset="-122"/>
                <a:cs typeface="Calibri" pitchFamily="34" charset="-120"/>
              </a:rPr>
              <a:t>Client retention</a:t>
            </a:r>
            <a:endParaRPr lang="en-US" sz="1250" dirty="0"/>
          </a:p>
          <a:p>
            <a:pPr marL="342900" indent="-342900">
              <a:spcAft>
                <a:spcPts val="300"/>
              </a:spcAft>
              <a:buSzPct val="100000"/>
              <a:buChar char="•"/>
            </a:pPr>
            <a:r>
              <a:rPr lang="en-US" sz="1250" dirty="0">
                <a:solidFill>
                  <a:srgbClr val="363636"/>
                </a:solidFill>
                <a:latin typeface="Calibri" pitchFamily="34" charset="0"/>
                <a:ea typeface="Calibri" pitchFamily="34" charset="-122"/>
                <a:cs typeface="Calibri" pitchFamily="34" charset="-120"/>
              </a:rPr>
              <a:t>Simplicity</a:t>
            </a:r>
            <a:endParaRPr lang="en-US" sz="1250" dirty="0"/>
          </a:p>
          <a:p>
            <a:pPr marL="342900" indent="-342900">
              <a:spcAft>
                <a:spcPts val="300"/>
              </a:spcAft>
              <a:buSzPct val="100000"/>
              <a:buChar char="•"/>
            </a:pPr>
            <a:r>
              <a:rPr lang="en-US" sz="1250" dirty="0">
                <a:solidFill>
                  <a:srgbClr val="363636"/>
                </a:solidFill>
                <a:latin typeface="Calibri" pitchFamily="34" charset="0"/>
                <a:ea typeface="Calibri" pitchFamily="34" charset="-122"/>
                <a:cs typeface="Calibri" pitchFamily="34" charset="-120"/>
              </a:rPr>
              <a:t>Time savings</a:t>
            </a:r>
            <a:endParaRPr lang="en-US" sz="1250" dirty="0"/>
          </a:p>
          <a:p>
            <a:pPr marL="342900" indent="-342900">
              <a:spcAft>
                <a:spcPts val="300"/>
              </a:spcAft>
              <a:buSzPct val="100000"/>
              <a:buChar char="•"/>
            </a:pPr>
            <a:r>
              <a:rPr lang="en-US" sz="1250" dirty="0">
                <a:solidFill>
                  <a:srgbClr val="363636"/>
                </a:solidFill>
                <a:latin typeface="Calibri" pitchFamily="34" charset="0"/>
                <a:ea typeface="Calibri" pitchFamily="34" charset="-122"/>
                <a:cs typeface="Calibri" pitchFamily="34" charset="-120"/>
              </a:rPr>
              <a:t>Margin protection</a:t>
            </a:r>
            <a:endParaRPr lang="en-US" sz="1250" dirty="0"/>
          </a:p>
        </p:txBody>
      </p:sp>
      <p:sp>
        <p:nvSpPr>
          <p:cNvPr id="9" name="Text 7"/>
          <p:cNvSpPr/>
          <p:nvPr/>
        </p:nvSpPr>
        <p:spPr>
          <a:xfrm>
            <a:off x="2377440" y="1600200"/>
            <a:ext cx="1920240" cy="292608"/>
          </a:xfrm>
          <a:prstGeom prst="rect">
            <a:avLst/>
          </a:prstGeom>
          <a:noFill/>
          <a:ln/>
        </p:spPr>
        <p:txBody>
          <a:bodyPr wrap="square" lIns="0" tIns="0" rIns="0" bIns="0" rtlCol="0" anchor="ctr"/>
          <a:lstStyle/>
          <a:p>
            <a:pPr marL="0" indent="0">
              <a:buNone/>
            </a:pPr>
            <a:r>
              <a:rPr lang="en-US" sz="1200" b="1" dirty="0">
                <a:solidFill>
                  <a:srgbClr val="E05A4E"/>
                </a:solidFill>
                <a:latin typeface="Calibri" pitchFamily="34" charset="0"/>
                <a:ea typeface="Calibri" pitchFamily="34" charset="-122"/>
                <a:cs typeface="Calibri" pitchFamily="34" charset="-120"/>
              </a:rPr>
              <a:t>They DON'T think in:</a:t>
            </a:r>
            <a:endParaRPr lang="en-US" sz="1200" dirty="0"/>
          </a:p>
        </p:txBody>
      </p:sp>
      <p:sp>
        <p:nvSpPr>
          <p:cNvPr id="10" name="Text 8"/>
          <p:cNvSpPr/>
          <p:nvPr/>
        </p:nvSpPr>
        <p:spPr>
          <a:xfrm>
            <a:off x="2377440" y="1901952"/>
            <a:ext cx="1920240" cy="1097280"/>
          </a:xfrm>
          <a:prstGeom prst="rect">
            <a:avLst/>
          </a:prstGeom>
          <a:noFill/>
          <a:ln/>
        </p:spPr>
        <p:txBody>
          <a:bodyPr wrap="square" rtlCol="0" anchor="ctr"/>
          <a:lstStyle/>
          <a:p>
            <a:pPr marL="342900" indent="-342900">
              <a:spcAft>
                <a:spcPts val="300"/>
              </a:spcAft>
              <a:buSzPct val="100000"/>
              <a:buChar char="•"/>
            </a:pPr>
            <a:r>
              <a:rPr lang="en-US" sz="1250" dirty="0">
                <a:solidFill>
                  <a:srgbClr val="363636"/>
                </a:solidFill>
                <a:latin typeface="Calibri" pitchFamily="34" charset="0"/>
                <a:ea typeface="Calibri" pitchFamily="34" charset="-122"/>
                <a:cs typeface="Calibri" pitchFamily="34" charset="-120"/>
              </a:rPr>
              <a:t>Feature comparisons</a:t>
            </a:r>
            <a:endParaRPr lang="en-US" sz="1250" dirty="0"/>
          </a:p>
          <a:p>
            <a:pPr marL="342900" indent="-342900">
              <a:spcAft>
                <a:spcPts val="300"/>
              </a:spcAft>
              <a:buSzPct val="100000"/>
              <a:buChar char="•"/>
            </a:pPr>
            <a:r>
              <a:rPr lang="en-US" sz="1250" dirty="0">
                <a:solidFill>
                  <a:srgbClr val="363636"/>
                </a:solidFill>
                <a:latin typeface="Calibri" pitchFamily="34" charset="0"/>
                <a:ea typeface="Calibri" pitchFamily="34" charset="-122"/>
                <a:cs typeface="Calibri" pitchFamily="34" charset="-120"/>
              </a:rPr>
              <a:t>Technical specs</a:t>
            </a:r>
            <a:endParaRPr lang="en-US" sz="1250" dirty="0"/>
          </a:p>
          <a:p>
            <a:pPr marL="342900" indent="-342900">
              <a:spcAft>
                <a:spcPts val="300"/>
              </a:spcAft>
              <a:buSzPct val="100000"/>
              <a:buChar char="•"/>
            </a:pPr>
            <a:r>
              <a:rPr lang="en-US" sz="1250" dirty="0">
                <a:solidFill>
                  <a:srgbClr val="363636"/>
                </a:solidFill>
                <a:latin typeface="Calibri" pitchFamily="34" charset="0"/>
                <a:ea typeface="Calibri" pitchFamily="34" charset="-122"/>
                <a:cs typeface="Calibri" pitchFamily="34" charset="-120"/>
              </a:rPr>
              <a:t>"Tool enhancements"</a:t>
            </a:r>
            <a:endParaRPr lang="en-US" sz="1250" dirty="0"/>
          </a:p>
        </p:txBody>
      </p:sp>
      <p:sp>
        <p:nvSpPr>
          <p:cNvPr id="11" name="Shape 9"/>
          <p:cNvSpPr/>
          <p:nvPr/>
        </p:nvSpPr>
        <p:spPr>
          <a:xfrm>
            <a:off x="457200" y="4069080"/>
            <a:ext cx="3794760" cy="502920"/>
          </a:xfrm>
          <a:prstGeom prst="rect">
            <a:avLst/>
          </a:prstGeom>
          <a:solidFill>
            <a:srgbClr val="2E5D6E"/>
          </a:solidFill>
          <a:ln w="12700">
            <a:solidFill>
              <a:srgbClr val="2E5D6E"/>
            </a:solidFill>
            <a:prstDash val="solid"/>
          </a:ln>
        </p:spPr>
        <p:txBody>
          <a:bodyPr/>
          <a:lstStyle/>
          <a:p>
            <a:endParaRPr lang="en-US"/>
          </a:p>
        </p:txBody>
      </p:sp>
      <p:sp>
        <p:nvSpPr>
          <p:cNvPr id="12" name="Text 10"/>
          <p:cNvSpPr/>
          <p:nvPr/>
        </p:nvSpPr>
        <p:spPr>
          <a:xfrm>
            <a:off x="457200" y="4069080"/>
            <a:ext cx="3794760" cy="502920"/>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Close must connect to: Growth · Protection · Simplification</a:t>
            </a:r>
            <a:endParaRPr lang="en-US" sz="1200" dirty="0"/>
          </a:p>
        </p:txBody>
      </p:sp>
      <p:sp>
        <p:nvSpPr>
          <p:cNvPr id="13" name="Shape 11"/>
          <p:cNvSpPr/>
          <p:nvPr/>
        </p:nvSpPr>
        <p:spPr>
          <a:xfrm>
            <a:off x="4709160" y="1051560"/>
            <a:ext cx="4114800" cy="3749040"/>
          </a:xfrm>
          <a:prstGeom prst="rect">
            <a:avLst/>
          </a:prstGeom>
          <a:solidFill>
            <a:srgbClr val="2E5D6E"/>
          </a:solidFill>
          <a:ln/>
          <a:effectLst>
            <a:outerShdw blurRad="101600" dist="38100" dir="8100000" algn="bl" rotWithShape="0">
              <a:srgbClr val="000000">
                <a:alpha val="10000"/>
              </a:srgbClr>
            </a:outerShdw>
          </a:effectLst>
        </p:spPr>
        <p:txBody>
          <a:bodyPr/>
          <a:lstStyle/>
          <a:p>
            <a:endParaRPr lang="en-US"/>
          </a:p>
        </p:txBody>
      </p:sp>
      <p:sp>
        <p:nvSpPr>
          <p:cNvPr id="14" name="Shape 12"/>
          <p:cNvSpPr/>
          <p:nvPr/>
        </p:nvSpPr>
        <p:spPr>
          <a:xfrm>
            <a:off x="4709160" y="1051560"/>
            <a:ext cx="4114800" cy="438912"/>
          </a:xfrm>
          <a:prstGeom prst="rect">
            <a:avLst/>
          </a:prstGeom>
          <a:solidFill>
            <a:srgbClr val="02C39A"/>
          </a:solidFill>
          <a:ln w="12700">
            <a:solidFill>
              <a:srgbClr val="02C39A"/>
            </a:solidFill>
            <a:prstDash val="solid"/>
          </a:ln>
        </p:spPr>
        <p:txBody>
          <a:bodyPr/>
          <a:lstStyle/>
          <a:p>
            <a:endParaRPr lang="en-US"/>
          </a:p>
        </p:txBody>
      </p:sp>
      <p:sp>
        <p:nvSpPr>
          <p:cNvPr id="15" name="Text 13"/>
          <p:cNvSpPr/>
          <p:nvPr/>
        </p:nvSpPr>
        <p:spPr>
          <a:xfrm>
            <a:off x="4846320" y="1051560"/>
            <a:ext cx="3840480" cy="438912"/>
          </a:xfrm>
          <a:prstGeom prst="rect">
            <a:avLst/>
          </a:prstGeom>
          <a:noFill/>
          <a:ln/>
        </p:spPr>
        <p:txBody>
          <a:bodyPr wrap="square" lIns="0" tIns="0" rIns="0" bIns="0" rtlCol="0" anchor="ctr"/>
          <a:lstStyle/>
          <a:p>
            <a:pPr marL="0" indent="0">
              <a:buNone/>
            </a:pPr>
            <a:r>
              <a:rPr lang="en-US" sz="1400" b="1" dirty="0">
                <a:solidFill>
                  <a:srgbClr val="1C2E35"/>
                </a:solidFill>
                <a:latin typeface="Calibri" pitchFamily="34" charset="0"/>
                <a:ea typeface="Calibri" pitchFamily="34" charset="-122"/>
                <a:cs typeface="Calibri" pitchFamily="34" charset="-120"/>
              </a:rPr>
              <a:t>⭐  The Revenue Impact Close</a:t>
            </a:r>
            <a:endParaRPr lang="en-US" sz="1400" dirty="0"/>
          </a:p>
        </p:txBody>
      </p:sp>
      <p:sp>
        <p:nvSpPr>
          <p:cNvPr id="16" name="Text 14"/>
          <p:cNvSpPr/>
          <p:nvPr/>
        </p:nvSpPr>
        <p:spPr>
          <a:xfrm>
            <a:off x="4846320" y="1536192"/>
            <a:ext cx="3794760" cy="274320"/>
          </a:xfrm>
          <a:prstGeom prst="rect">
            <a:avLst/>
          </a:prstGeom>
          <a:noFill/>
          <a:ln/>
        </p:spPr>
        <p:txBody>
          <a:bodyPr wrap="square" lIns="0" tIns="0" rIns="0" bIns="0" rtlCol="0" anchor="ctr"/>
          <a:lstStyle/>
          <a:p>
            <a:pPr marL="0" indent="0">
              <a:buNone/>
            </a:pPr>
            <a:r>
              <a:rPr lang="en-US" sz="1100" i="1" dirty="0">
                <a:solidFill>
                  <a:srgbClr val="7AAAB8"/>
                </a:solidFill>
                <a:latin typeface="Calibri" pitchFamily="34" charset="0"/>
                <a:ea typeface="Calibri" pitchFamily="34" charset="-122"/>
                <a:cs typeface="Calibri" pitchFamily="34" charset="-120"/>
              </a:rPr>
              <a:t>MOST EFFECTIVE for owners</a:t>
            </a:r>
            <a:endParaRPr lang="en-US" sz="1100" dirty="0"/>
          </a:p>
        </p:txBody>
      </p:sp>
      <p:sp>
        <p:nvSpPr>
          <p:cNvPr id="17" name="Text 15"/>
          <p:cNvSpPr/>
          <p:nvPr/>
        </p:nvSpPr>
        <p:spPr>
          <a:xfrm>
            <a:off x="4846320" y="1810512"/>
            <a:ext cx="3794760" cy="384048"/>
          </a:xfrm>
          <a:prstGeom prst="rect">
            <a:avLst/>
          </a:prstGeom>
          <a:noFill/>
          <a:ln/>
        </p:spPr>
        <p:txBody>
          <a:bodyPr wrap="square" lIns="0" tIns="0" rIns="0" bIns="0" rtlCol="0" anchor="ctr"/>
          <a:lstStyle/>
          <a:p>
            <a:pPr marL="0" indent="0">
              <a:buNone/>
            </a:pPr>
            <a:r>
              <a:rPr lang="en-US" sz="1150" dirty="0">
                <a:solidFill>
                  <a:srgbClr val="B3D4DF"/>
                </a:solidFill>
                <a:latin typeface="Calibri" pitchFamily="34" charset="0"/>
                <a:ea typeface="Calibri" pitchFamily="34" charset="-122"/>
                <a:cs typeface="Calibri" pitchFamily="34" charset="-120"/>
              </a:rPr>
              <a:t>Best for: Marketing tools · Membership features · Reporting upgrades · Retail tools</a:t>
            </a:r>
            <a:endParaRPr lang="en-US" sz="1150" dirty="0"/>
          </a:p>
        </p:txBody>
      </p:sp>
      <p:sp>
        <p:nvSpPr>
          <p:cNvPr id="18" name="Shape 16"/>
          <p:cNvSpPr/>
          <p:nvPr/>
        </p:nvSpPr>
        <p:spPr>
          <a:xfrm>
            <a:off x="4846320" y="2286000"/>
            <a:ext cx="3794760" cy="1645920"/>
          </a:xfrm>
          <a:prstGeom prst="rect">
            <a:avLst/>
          </a:prstGeom>
          <a:solidFill>
            <a:srgbClr val="FFFFFF">
              <a:alpha val="10000"/>
            </a:srgbClr>
          </a:solidFill>
          <a:ln w="12700">
            <a:solidFill>
              <a:srgbClr val="02C39A"/>
            </a:solidFill>
            <a:prstDash val="solid"/>
          </a:ln>
        </p:spPr>
        <p:txBody>
          <a:bodyPr/>
          <a:lstStyle/>
          <a:p>
            <a:endParaRPr lang="en-US"/>
          </a:p>
        </p:txBody>
      </p:sp>
      <p:sp>
        <p:nvSpPr>
          <p:cNvPr id="19" name="Text 17"/>
          <p:cNvSpPr/>
          <p:nvPr/>
        </p:nvSpPr>
        <p:spPr>
          <a:xfrm>
            <a:off x="4956048" y="2340864"/>
            <a:ext cx="3566160" cy="1536192"/>
          </a:xfrm>
          <a:prstGeom prst="rect">
            <a:avLst/>
          </a:prstGeom>
          <a:noFill/>
          <a:ln/>
        </p:spPr>
        <p:txBody>
          <a:bodyPr wrap="square" lIns="0" tIns="0" rIns="0" bIns="0" rtlCol="0" anchor="t"/>
          <a:lstStyle/>
          <a:p>
            <a:pPr marL="0" indent="0">
              <a:buNone/>
            </a:pPr>
            <a:r>
              <a:rPr lang="en-US" sz="1250" i="1" dirty="0">
                <a:solidFill>
                  <a:srgbClr val="FFFFFF"/>
                </a:solidFill>
                <a:latin typeface="Calibri" pitchFamily="34" charset="0"/>
                <a:ea typeface="Calibri" pitchFamily="34" charset="-122"/>
                <a:cs typeface="Calibri" pitchFamily="34" charset="-120"/>
              </a:rPr>
              <a:t>"We discussed that increasing membership penetration by just 5% could represent about $X per month. If this helps you capture even a portion of that, it pays for itself quickly. Would you like to move forward and start implementing this?"</a:t>
            </a:r>
            <a:endParaRPr lang="en-US" sz="1250" dirty="0"/>
          </a:p>
        </p:txBody>
      </p:sp>
      <p:sp>
        <p:nvSpPr>
          <p:cNvPr id="20" name="Text 18"/>
          <p:cNvSpPr/>
          <p:nvPr/>
        </p:nvSpPr>
        <p:spPr>
          <a:xfrm>
            <a:off x="4846320" y="4041648"/>
            <a:ext cx="3794760" cy="274320"/>
          </a:xfrm>
          <a:prstGeom prst="rect">
            <a:avLst/>
          </a:prstGeom>
          <a:noFill/>
          <a:ln/>
        </p:spPr>
        <p:txBody>
          <a:bodyPr wrap="square" lIns="0" tIns="0" rIns="0" bIns="0" rtlCol="0" anchor="ctr"/>
          <a:lstStyle/>
          <a:p>
            <a:pPr marL="0" indent="0">
              <a:buNone/>
            </a:pPr>
            <a:r>
              <a:rPr lang="en-US" sz="1150" b="1" dirty="0">
                <a:solidFill>
                  <a:srgbClr val="02C39A"/>
                </a:solidFill>
                <a:latin typeface="Calibri" pitchFamily="34" charset="0"/>
                <a:ea typeface="Calibri" pitchFamily="34" charset="-122"/>
                <a:cs typeface="Calibri" pitchFamily="34" charset="-120"/>
              </a:rPr>
              <a:t>Why it works:</a:t>
            </a:r>
            <a:endParaRPr lang="en-US" sz="1150" dirty="0"/>
          </a:p>
        </p:txBody>
      </p:sp>
      <p:sp>
        <p:nvSpPr>
          <p:cNvPr id="21" name="Text 19"/>
          <p:cNvSpPr/>
          <p:nvPr/>
        </p:nvSpPr>
        <p:spPr>
          <a:xfrm>
            <a:off x="4846320" y="4315968"/>
            <a:ext cx="3794760" cy="347472"/>
          </a:xfrm>
          <a:prstGeom prst="rect">
            <a:avLst/>
          </a:prstGeom>
          <a:noFill/>
          <a:ln/>
        </p:spPr>
        <p:txBody>
          <a:bodyPr wrap="square" lIns="0" tIns="0" rIns="0" bIns="0" rtlCol="0" anchor="ctr"/>
          <a:lstStyle/>
          <a:p>
            <a:pPr marL="0" indent="0">
              <a:buNone/>
            </a:pPr>
            <a:r>
              <a:rPr lang="en-US" sz="1200" dirty="0">
                <a:solidFill>
                  <a:srgbClr val="B3D4DF"/>
                </a:solidFill>
                <a:latin typeface="Calibri" pitchFamily="34" charset="0"/>
                <a:ea typeface="Calibri" pitchFamily="34" charset="-122"/>
                <a:cs typeface="Calibri" pitchFamily="34" charset="-120"/>
              </a:rPr>
              <a:t>Owners think in revenue  ·  Reframes cost into investment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D6E"/>
          </a:solidFill>
          <a:ln w="12700">
            <a:solidFill>
              <a:srgbClr val="2E5D6E"/>
            </a:solidFill>
            <a:prstDash val="solid"/>
          </a:ln>
        </p:spPr>
        <p:txBody>
          <a:bodyPr/>
          <a:lstStyle/>
          <a:p>
            <a:endParaRPr lang="en-US"/>
          </a:p>
        </p:txBody>
      </p:sp>
      <p:sp>
        <p:nvSpPr>
          <p:cNvPr id="3" name="Text 1"/>
          <p:cNvSpPr/>
          <p:nvPr/>
        </p:nvSpPr>
        <p:spPr>
          <a:xfrm>
            <a:off x="365760" y="0"/>
            <a:ext cx="8412480" cy="9144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Closing Techniques  ·  4 Proven Approaches</a:t>
            </a:r>
            <a:endParaRPr lang="en-US" sz="2600" dirty="0"/>
          </a:p>
        </p:txBody>
      </p:sp>
      <p:sp>
        <p:nvSpPr>
          <p:cNvPr id="4" name="Shape 2"/>
          <p:cNvSpPr/>
          <p:nvPr/>
        </p:nvSpPr>
        <p:spPr>
          <a:xfrm>
            <a:off x="320040" y="1051560"/>
            <a:ext cx="196596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320040" y="1051560"/>
            <a:ext cx="1965960" cy="685800"/>
          </a:xfrm>
          <a:prstGeom prst="rect">
            <a:avLst/>
          </a:prstGeom>
          <a:solidFill>
            <a:srgbClr val="02C39A"/>
          </a:solidFill>
          <a:ln w="12700">
            <a:solidFill>
              <a:srgbClr val="02C39A"/>
            </a:solidFill>
            <a:prstDash val="solid"/>
          </a:ln>
        </p:spPr>
        <p:txBody>
          <a:bodyPr/>
          <a:lstStyle/>
          <a:p>
            <a:endParaRPr lang="en-US"/>
          </a:p>
        </p:txBody>
      </p:sp>
      <p:sp>
        <p:nvSpPr>
          <p:cNvPr id="6" name="Text 4"/>
          <p:cNvSpPr/>
          <p:nvPr/>
        </p:nvSpPr>
        <p:spPr>
          <a:xfrm>
            <a:off x="411480" y="1088136"/>
            <a:ext cx="1801368" cy="411480"/>
          </a:xfrm>
          <a:prstGeom prst="rect">
            <a:avLst/>
          </a:prstGeom>
          <a:noFill/>
          <a:ln/>
        </p:spPr>
        <p:txBody>
          <a:bodyPr wrap="square" lIns="0" tIns="0" rIns="0" bIns="0" rtlCol="0" anchor="ctr"/>
          <a:lstStyle/>
          <a:p>
            <a:pPr marL="0" indent="0">
              <a:buNone/>
            </a:pPr>
            <a:r>
              <a:rPr lang="en-US" sz="1250" b="1" dirty="0">
                <a:solidFill>
                  <a:srgbClr val="1C2E35"/>
                </a:solidFill>
                <a:latin typeface="Calibri" pitchFamily="34" charset="0"/>
                <a:ea typeface="Calibri" pitchFamily="34" charset="-122"/>
                <a:cs typeface="Calibri" pitchFamily="34" charset="-120"/>
              </a:rPr>
              <a:t>The Efficiency Close</a:t>
            </a:r>
            <a:endParaRPr lang="en-US" sz="1250" dirty="0"/>
          </a:p>
        </p:txBody>
      </p:sp>
      <p:sp>
        <p:nvSpPr>
          <p:cNvPr id="7" name="Text 5"/>
          <p:cNvSpPr/>
          <p:nvPr/>
        </p:nvSpPr>
        <p:spPr>
          <a:xfrm>
            <a:off x="411480" y="1481328"/>
            <a:ext cx="1801368" cy="237744"/>
          </a:xfrm>
          <a:prstGeom prst="rect">
            <a:avLst/>
          </a:prstGeom>
          <a:noFill/>
          <a:ln/>
        </p:spPr>
        <p:txBody>
          <a:bodyPr wrap="square" lIns="0" tIns="0" rIns="0" bIns="0" rtlCol="0" anchor="ctr"/>
          <a:lstStyle/>
          <a:p>
            <a:pPr marL="0" indent="0">
              <a:buNone/>
            </a:pPr>
            <a:r>
              <a:rPr lang="en-US" sz="950" i="1" dirty="0">
                <a:solidFill>
                  <a:srgbClr val="1C2E35"/>
                </a:solidFill>
                <a:latin typeface="Calibri" pitchFamily="34" charset="0"/>
                <a:ea typeface="Calibri" pitchFamily="34" charset="-122"/>
                <a:cs typeface="Calibri" pitchFamily="34" charset="-120"/>
              </a:rPr>
              <a:t>Best for: Automation · Reporting · Workflow tools</a:t>
            </a:r>
            <a:endParaRPr lang="en-US" sz="950" dirty="0"/>
          </a:p>
        </p:txBody>
      </p:sp>
      <p:sp>
        <p:nvSpPr>
          <p:cNvPr id="8" name="Shape 6"/>
          <p:cNvSpPr/>
          <p:nvPr/>
        </p:nvSpPr>
        <p:spPr>
          <a:xfrm>
            <a:off x="411480" y="1856232"/>
            <a:ext cx="1801368" cy="1874520"/>
          </a:xfrm>
          <a:prstGeom prst="rect">
            <a:avLst/>
          </a:prstGeom>
          <a:solidFill>
            <a:srgbClr val="EEF4F7"/>
          </a:solidFill>
          <a:ln w="12700">
            <a:solidFill>
              <a:srgbClr val="D1E0E7"/>
            </a:solidFill>
            <a:prstDash val="solid"/>
          </a:ln>
        </p:spPr>
        <p:txBody>
          <a:bodyPr/>
          <a:lstStyle/>
          <a:p>
            <a:endParaRPr lang="en-US"/>
          </a:p>
        </p:txBody>
      </p:sp>
      <p:sp>
        <p:nvSpPr>
          <p:cNvPr id="9" name="Text 7"/>
          <p:cNvSpPr/>
          <p:nvPr/>
        </p:nvSpPr>
        <p:spPr>
          <a:xfrm>
            <a:off x="484632" y="1901952"/>
            <a:ext cx="1645920" cy="1737360"/>
          </a:xfrm>
          <a:prstGeom prst="rect">
            <a:avLst/>
          </a:prstGeom>
          <a:noFill/>
          <a:ln/>
        </p:spPr>
        <p:txBody>
          <a:bodyPr wrap="square" lIns="0" tIns="0" rIns="0" bIns="0" rtlCol="0" anchor="t"/>
          <a:lstStyle/>
          <a:p>
            <a:pPr marL="0" indent="0">
              <a:buNone/>
            </a:pPr>
            <a:r>
              <a:rPr lang="en-US" sz="1150" i="1" dirty="0">
                <a:solidFill>
                  <a:srgbClr val="1C2E35"/>
                </a:solidFill>
                <a:latin typeface="Calibri" pitchFamily="34" charset="0"/>
                <a:ea typeface="Calibri" pitchFamily="34" charset="-122"/>
                <a:cs typeface="Calibri" pitchFamily="34" charset="-120"/>
              </a:rPr>
              <a:t>"If this removes even 5–10 hours of manual follow-up per week, what would that free up for you or your team?" [Pause] "Would it make sense to put that in place now?"</a:t>
            </a:r>
            <a:endParaRPr lang="en-US" sz="1150" dirty="0"/>
          </a:p>
        </p:txBody>
      </p:sp>
      <p:sp>
        <p:nvSpPr>
          <p:cNvPr id="10" name="Shape 8"/>
          <p:cNvSpPr/>
          <p:nvPr/>
        </p:nvSpPr>
        <p:spPr>
          <a:xfrm>
            <a:off x="411480" y="3794760"/>
            <a:ext cx="1801368" cy="0"/>
          </a:xfrm>
          <a:prstGeom prst="line">
            <a:avLst/>
          </a:prstGeom>
          <a:noFill/>
          <a:ln w="12700">
            <a:solidFill>
              <a:srgbClr val="D1E0E7"/>
            </a:solidFill>
            <a:prstDash val="solid"/>
          </a:ln>
        </p:spPr>
        <p:txBody>
          <a:bodyPr/>
          <a:lstStyle/>
          <a:p>
            <a:endParaRPr lang="en-US"/>
          </a:p>
        </p:txBody>
      </p:sp>
      <p:sp>
        <p:nvSpPr>
          <p:cNvPr id="11" name="Text 9"/>
          <p:cNvSpPr/>
          <p:nvPr/>
        </p:nvSpPr>
        <p:spPr>
          <a:xfrm>
            <a:off x="411480" y="3886200"/>
            <a:ext cx="1801368" cy="228600"/>
          </a:xfrm>
          <a:prstGeom prst="rect">
            <a:avLst/>
          </a:prstGeom>
          <a:noFill/>
          <a:ln/>
        </p:spPr>
        <p:txBody>
          <a:bodyPr wrap="square" lIns="0" tIns="0" rIns="0" bIns="0" rtlCol="0" anchor="ctr"/>
          <a:lstStyle/>
          <a:p>
            <a:pPr marL="0" indent="0">
              <a:buNone/>
            </a:pPr>
            <a:r>
              <a:rPr lang="en-US" sz="1000" b="1" dirty="0">
                <a:solidFill>
                  <a:srgbClr val="3A7A8F"/>
                </a:solidFill>
                <a:latin typeface="Calibri" pitchFamily="34" charset="0"/>
                <a:ea typeface="Calibri" pitchFamily="34" charset="-122"/>
                <a:cs typeface="Calibri" pitchFamily="34" charset="-120"/>
              </a:rPr>
              <a:t>Why it works:</a:t>
            </a:r>
            <a:endParaRPr lang="en-US" sz="1000" dirty="0"/>
          </a:p>
        </p:txBody>
      </p:sp>
      <p:sp>
        <p:nvSpPr>
          <p:cNvPr id="12" name="Text 10"/>
          <p:cNvSpPr/>
          <p:nvPr/>
        </p:nvSpPr>
        <p:spPr>
          <a:xfrm>
            <a:off x="411480" y="4114800"/>
            <a:ext cx="1801368" cy="62179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Owners are overloaded. Time is emotional currency.</a:t>
            </a:r>
            <a:endParaRPr lang="en-US" sz="1100" dirty="0"/>
          </a:p>
        </p:txBody>
      </p:sp>
      <p:sp>
        <p:nvSpPr>
          <p:cNvPr id="13" name="Shape 11"/>
          <p:cNvSpPr/>
          <p:nvPr/>
        </p:nvSpPr>
        <p:spPr>
          <a:xfrm>
            <a:off x="2514600" y="1051560"/>
            <a:ext cx="196596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4" name="Shape 12"/>
          <p:cNvSpPr/>
          <p:nvPr/>
        </p:nvSpPr>
        <p:spPr>
          <a:xfrm>
            <a:off x="2514600" y="1051560"/>
            <a:ext cx="1965960" cy="685800"/>
          </a:xfrm>
          <a:prstGeom prst="rect">
            <a:avLst/>
          </a:prstGeom>
          <a:solidFill>
            <a:srgbClr val="F59E0B"/>
          </a:solidFill>
          <a:ln w="12700">
            <a:solidFill>
              <a:srgbClr val="F59E0B"/>
            </a:solidFill>
            <a:prstDash val="solid"/>
          </a:ln>
        </p:spPr>
        <p:txBody>
          <a:bodyPr/>
          <a:lstStyle/>
          <a:p>
            <a:endParaRPr lang="en-US"/>
          </a:p>
        </p:txBody>
      </p:sp>
      <p:sp>
        <p:nvSpPr>
          <p:cNvPr id="15" name="Text 13"/>
          <p:cNvSpPr/>
          <p:nvPr/>
        </p:nvSpPr>
        <p:spPr>
          <a:xfrm>
            <a:off x="2606040" y="1088136"/>
            <a:ext cx="1801368" cy="411480"/>
          </a:xfrm>
          <a:prstGeom prst="rect">
            <a:avLst/>
          </a:prstGeom>
          <a:noFill/>
          <a:ln/>
        </p:spPr>
        <p:txBody>
          <a:bodyPr wrap="square" lIns="0" tIns="0" rIns="0" bIns="0" rtlCol="0" anchor="ctr"/>
          <a:lstStyle/>
          <a:p>
            <a:pPr marL="0" indent="0">
              <a:buNone/>
            </a:pPr>
            <a:r>
              <a:rPr lang="en-US" sz="1250" b="1" dirty="0">
                <a:solidFill>
                  <a:srgbClr val="1C2E35"/>
                </a:solidFill>
                <a:latin typeface="Calibri" pitchFamily="34" charset="0"/>
                <a:ea typeface="Calibri" pitchFamily="34" charset="-122"/>
                <a:cs typeface="Calibri" pitchFamily="34" charset="-120"/>
              </a:rPr>
              <a:t>Low Risk, High Upside Close</a:t>
            </a:r>
            <a:endParaRPr lang="en-US" sz="1250" dirty="0"/>
          </a:p>
        </p:txBody>
      </p:sp>
      <p:sp>
        <p:nvSpPr>
          <p:cNvPr id="16" name="Text 14"/>
          <p:cNvSpPr/>
          <p:nvPr/>
        </p:nvSpPr>
        <p:spPr>
          <a:xfrm>
            <a:off x="2606040" y="1481328"/>
            <a:ext cx="1801368" cy="237744"/>
          </a:xfrm>
          <a:prstGeom prst="rect">
            <a:avLst/>
          </a:prstGeom>
          <a:noFill/>
          <a:ln/>
        </p:spPr>
        <p:txBody>
          <a:bodyPr wrap="square" lIns="0" tIns="0" rIns="0" bIns="0" rtlCol="0" anchor="ctr"/>
          <a:lstStyle/>
          <a:p>
            <a:pPr marL="0" indent="0">
              <a:buNone/>
            </a:pPr>
            <a:r>
              <a:rPr lang="en-US" sz="950" i="1" dirty="0">
                <a:solidFill>
                  <a:srgbClr val="1C2E35"/>
                </a:solidFill>
                <a:latin typeface="Calibri" pitchFamily="34" charset="0"/>
                <a:ea typeface="Calibri" pitchFamily="34" charset="-122"/>
                <a:cs typeface="Calibri" pitchFamily="34" charset="-120"/>
              </a:rPr>
              <a:t>Best for: Hesitant owners</a:t>
            </a:r>
            <a:endParaRPr lang="en-US" sz="950" dirty="0"/>
          </a:p>
        </p:txBody>
      </p:sp>
      <p:sp>
        <p:nvSpPr>
          <p:cNvPr id="17" name="Shape 15"/>
          <p:cNvSpPr/>
          <p:nvPr/>
        </p:nvSpPr>
        <p:spPr>
          <a:xfrm>
            <a:off x="2606040" y="1856232"/>
            <a:ext cx="1801368" cy="1874520"/>
          </a:xfrm>
          <a:prstGeom prst="rect">
            <a:avLst/>
          </a:prstGeom>
          <a:solidFill>
            <a:srgbClr val="EEF4F7"/>
          </a:solidFill>
          <a:ln w="12700">
            <a:solidFill>
              <a:srgbClr val="D1E0E7"/>
            </a:solidFill>
            <a:prstDash val="solid"/>
          </a:ln>
        </p:spPr>
        <p:txBody>
          <a:bodyPr/>
          <a:lstStyle/>
          <a:p>
            <a:endParaRPr lang="en-US"/>
          </a:p>
        </p:txBody>
      </p:sp>
      <p:sp>
        <p:nvSpPr>
          <p:cNvPr id="18" name="Text 16"/>
          <p:cNvSpPr/>
          <p:nvPr/>
        </p:nvSpPr>
        <p:spPr>
          <a:xfrm>
            <a:off x="2679192" y="1901952"/>
            <a:ext cx="1645920" cy="1737360"/>
          </a:xfrm>
          <a:prstGeom prst="rect">
            <a:avLst/>
          </a:prstGeom>
          <a:noFill/>
          <a:ln/>
        </p:spPr>
        <p:txBody>
          <a:bodyPr wrap="square" lIns="0" tIns="0" rIns="0" bIns="0" rtlCol="0" anchor="t"/>
          <a:lstStyle/>
          <a:p>
            <a:pPr marL="0" indent="0">
              <a:buNone/>
            </a:pPr>
            <a:r>
              <a:rPr lang="en-US" sz="1150" i="1" dirty="0">
                <a:solidFill>
                  <a:srgbClr val="1C2E35"/>
                </a:solidFill>
                <a:latin typeface="Calibri" pitchFamily="34" charset="0"/>
                <a:ea typeface="Calibri" pitchFamily="34" charset="-122"/>
                <a:cs typeface="Calibri" pitchFamily="34" charset="-120"/>
              </a:rPr>
              <a:t>"You're already running on Meevo. This simply enhances what you're already doing. The upside is increased revenue and visibility — the downside is minimal. Would you like to activate it and start testing the impact?"</a:t>
            </a:r>
            <a:endParaRPr lang="en-US" sz="1150" dirty="0"/>
          </a:p>
        </p:txBody>
      </p:sp>
      <p:sp>
        <p:nvSpPr>
          <p:cNvPr id="19" name="Shape 17"/>
          <p:cNvSpPr/>
          <p:nvPr/>
        </p:nvSpPr>
        <p:spPr>
          <a:xfrm>
            <a:off x="2606040" y="3794760"/>
            <a:ext cx="1801368" cy="0"/>
          </a:xfrm>
          <a:prstGeom prst="line">
            <a:avLst/>
          </a:prstGeom>
          <a:noFill/>
          <a:ln w="12700">
            <a:solidFill>
              <a:srgbClr val="D1E0E7"/>
            </a:solidFill>
            <a:prstDash val="solid"/>
          </a:ln>
        </p:spPr>
        <p:txBody>
          <a:bodyPr/>
          <a:lstStyle/>
          <a:p>
            <a:endParaRPr lang="en-US"/>
          </a:p>
        </p:txBody>
      </p:sp>
      <p:sp>
        <p:nvSpPr>
          <p:cNvPr id="20" name="Text 18"/>
          <p:cNvSpPr/>
          <p:nvPr/>
        </p:nvSpPr>
        <p:spPr>
          <a:xfrm>
            <a:off x="2606040" y="3886200"/>
            <a:ext cx="1801368" cy="228600"/>
          </a:xfrm>
          <a:prstGeom prst="rect">
            <a:avLst/>
          </a:prstGeom>
          <a:noFill/>
          <a:ln/>
        </p:spPr>
        <p:txBody>
          <a:bodyPr wrap="square" lIns="0" tIns="0" rIns="0" bIns="0" rtlCol="0" anchor="ctr"/>
          <a:lstStyle/>
          <a:p>
            <a:pPr marL="0" indent="0">
              <a:buNone/>
            </a:pPr>
            <a:r>
              <a:rPr lang="en-US" sz="1000" b="1" dirty="0">
                <a:solidFill>
                  <a:srgbClr val="A0650A"/>
                </a:solidFill>
                <a:latin typeface="Calibri" pitchFamily="34" charset="0"/>
                <a:ea typeface="Calibri" pitchFamily="34" charset="-122"/>
                <a:cs typeface="Calibri" pitchFamily="34" charset="-120"/>
              </a:rPr>
              <a:t>Why it works:</a:t>
            </a:r>
            <a:endParaRPr lang="en-US" sz="1000" dirty="0"/>
          </a:p>
        </p:txBody>
      </p:sp>
      <p:sp>
        <p:nvSpPr>
          <p:cNvPr id="21" name="Text 19"/>
          <p:cNvSpPr/>
          <p:nvPr/>
        </p:nvSpPr>
        <p:spPr>
          <a:xfrm>
            <a:off x="2606040" y="4114800"/>
            <a:ext cx="1801368" cy="62179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Reduces perceived risk. Removes fear of change.</a:t>
            </a:r>
            <a:endParaRPr lang="en-US" sz="1100" dirty="0"/>
          </a:p>
        </p:txBody>
      </p:sp>
      <p:sp>
        <p:nvSpPr>
          <p:cNvPr id="22" name="Shape 20"/>
          <p:cNvSpPr/>
          <p:nvPr/>
        </p:nvSpPr>
        <p:spPr>
          <a:xfrm>
            <a:off x="4709160" y="1051560"/>
            <a:ext cx="196596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3" name="Shape 21"/>
          <p:cNvSpPr/>
          <p:nvPr/>
        </p:nvSpPr>
        <p:spPr>
          <a:xfrm>
            <a:off x="4709160" y="1051560"/>
            <a:ext cx="1965960" cy="685800"/>
          </a:xfrm>
          <a:prstGeom prst="rect">
            <a:avLst/>
          </a:prstGeom>
          <a:solidFill>
            <a:srgbClr val="3A7A8F"/>
          </a:solidFill>
          <a:ln w="12700">
            <a:solidFill>
              <a:srgbClr val="3A7A8F"/>
            </a:solidFill>
            <a:prstDash val="solid"/>
          </a:ln>
        </p:spPr>
        <p:txBody>
          <a:bodyPr/>
          <a:lstStyle/>
          <a:p>
            <a:endParaRPr lang="en-US"/>
          </a:p>
        </p:txBody>
      </p:sp>
      <p:sp>
        <p:nvSpPr>
          <p:cNvPr id="24" name="Text 22"/>
          <p:cNvSpPr/>
          <p:nvPr/>
        </p:nvSpPr>
        <p:spPr>
          <a:xfrm>
            <a:off x="4800600" y="1088136"/>
            <a:ext cx="1801368" cy="41148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The Future Pacing Close</a:t>
            </a:r>
            <a:endParaRPr lang="en-US" sz="1250" dirty="0"/>
          </a:p>
        </p:txBody>
      </p:sp>
      <p:sp>
        <p:nvSpPr>
          <p:cNvPr id="25" name="Text 23"/>
          <p:cNvSpPr/>
          <p:nvPr/>
        </p:nvSpPr>
        <p:spPr>
          <a:xfrm>
            <a:off x="4800600" y="1481328"/>
            <a:ext cx="1801368" cy="237744"/>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Best for: Growth-minded owners</a:t>
            </a:r>
            <a:endParaRPr lang="en-US" sz="950" dirty="0"/>
          </a:p>
        </p:txBody>
      </p:sp>
      <p:sp>
        <p:nvSpPr>
          <p:cNvPr id="26" name="Shape 24"/>
          <p:cNvSpPr/>
          <p:nvPr/>
        </p:nvSpPr>
        <p:spPr>
          <a:xfrm>
            <a:off x="4800600" y="1856232"/>
            <a:ext cx="1801368" cy="1874520"/>
          </a:xfrm>
          <a:prstGeom prst="rect">
            <a:avLst/>
          </a:prstGeom>
          <a:solidFill>
            <a:srgbClr val="EEF4F7"/>
          </a:solidFill>
          <a:ln w="12700">
            <a:solidFill>
              <a:srgbClr val="D1E0E7"/>
            </a:solidFill>
            <a:prstDash val="solid"/>
          </a:ln>
        </p:spPr>
        <p:txBody>
          <a:bodyPr/>
          <a:lstStyle/>
          <a:p>
            <a:endParaRPr lang="en-US"/>
          </a:p>
        </p:txBody>
      </p:sp>
      <p:sp>
        <p:nvSpPr>
          <p:cNvPr id="27" name="Text 25"/>
          <p:cNvSpPr/>
          <p:nvPr/>
        </p:nvSpPr>
        <p:spPr>
          <a:xfrm>
            <a:off x="4873752" y="1901952"/>
            <a:ext cx="1645920" cy="1737360"/>
          </a:xfrm>
          <a:prstGeom prst="rect">
            <a:avLst/>
          </a:prstGeom>
          <a:noFill/>
          <a:ln/>
        </p:spPr>
        <p:txBody>
          <a:bodyPr wrap="square" lIns="0" tIns="0" rIns="0" bIns="0" rtlCol="0" anchor="t"/>
          <a:lstStyle/>
          <a:p>
            <a:pPr marL="0" indent="0">
              <a:buNone/>
            </a:pPr>
            <a:r>
              <a:rPr lang="en-US" sz="1150" i="1" dirty="0">
                <a:solidFill>
                  <a:srgbClr val="1C2E35"/>
                </a:solidFill>
                <a:latin typeface="Calibri" pitchFamily="34" charset="0"/>
                <a:ea typeface="Calibri" pitchFamily="34" charset="-122"/>
                <a:cs typeface="Calibri" pitchFamily="34" charset="-120"/>
              </a:rPr>
              <a:t>"Six months from now, if this increased rebooking and membership growth, you'd likely wish you had implemented it sooner. Does it make sense to start now so you're positioned for that growth?"</a:t>
            </a:r>
            <a:endParaRPr lang="en-US" sz="1150" dirty="0"/>
          </a:p>
        </p:txBody>
      </p:sp>
      <p:sp>
        <p:nvSpPr>
          <p:cNvPr id="28" name="Shape 26"/>
          <p:cNvSpPr/>
          <p:nvPr/>
        </p:nvSpPr>
        <p:spPr>
          <a:xfrm>
            <a:off x="4800600" y="3794760"/>
            <a:ext cx="1801368" cy="0"/>
          </a:xfrm>
          <a:prstGeom prst="line">
            <a:avLst/>
          </a:prstGeom>
          <a:noFill/>
          <a:ln w="12700">
            <a:solidFill>
              <a:srgbClr val="D1E0E7"/>
            </a:solidFill>
            <a:prstDash val="solid"/>
          </a:ln>
        </p:spPr>
        <p:txBody>
          <a:bodyPr/>
          <a:lstStyle/>
          <a:p>
            <a:endParaRPr lang="en-US"/>
          </a:p>
        </p:txBody>
      </p:sp>
      <p:sp>
        <p:nvSpPr>
          <p:cNvPr id="29" name="Text 27"/>
          <p:cNvSpPr/>
          <p:nvPr/>
        </p:nvSpPr>
        <p:spPr>
          <a:xfrm>
            <a:off x="4800600" y="3886200"/>
            <a:ext cx="1801368" cy="228600"/>
          </a:xfrm>
          <a:prstGeom prst="rect">
            <a:avLst/>
          </a:prstGeom>
          <a:noFill/>
          <a:ln/>
        </p:spPr>
        <p:txBody>
          <a:bodyPr wrap="square" lIns="0" tIns="0" rIns="0" bIns="0" rtlCol="0" anchor="ctr"/>
          <a:lstStyle/>
          <a:p>
            <a:pPr marL="0" indent="0">
              <a:buNone/>
            </a:pPr>
            <a:r>
              <a:rPr lang="en-US" sz="1000" b="1" dirty="0">
                <a:solidFill>
                  <a:srgbClr val="3A7A8F"/>
                </a:solidFill>
                <a:latin typeface="Calibri" pitchFamily="34" charset="0"/>
                <a:ea typeface="Calibri" pitchFamily="34" charset="-122"/>
                <a:cs typeface="Calibri" pitchFamily="34" charset="-120"/>
              </a:rPr>
              <a:t>Why it works:</a:t>
            </a:r>
            <a:endParaRPr lang="en-US" sz="1000" dirty="0"/>
          </a:p>
        </p:txBody>
      </p:sp>
      <p:sp>
        <p:nvSpPr>
          <p:cNvPr id="30" name="Text 28"/>
          <p:cNvSpPr/>
          <p:nvPr/>
        </p:nvSpPr>
        <p:spPr>
          <a:xfrm>
            <a:off x="4800600" y="4114800"/>
            <a:ext cx="1801368" cy="62179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Gets them thinking long-term. Moves focus away from immediate spend.</a:t>
            </a:r>
            <a:endParaRPr lang="en-US" sz="1100" dirty="0"/>
          </a:p>
        </p:txBody>
      </p:sp>
      <p:sp>
        <p:nvSpPr>
          <p:cNvPr id="31" name="Shape 29"/>
          <p:cNvSpPr/>
          <p:nvPr/>
        </p:nvSpPr>
        <p:spPr>
          <a:xfrm>
            <a:off x="6903720" y="1051560"/>
            <a:ext cx="1965960" cy="37947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32" name="Shape 30"/>
          <p:cNvSpPr/>
          <p:nvPr/>
        </p:nvSpPr>
        <p:spPr>
          <a:xfrm>
            <a:off x="6903720" y="1051560"/>
            <a:ext cx="1965960" cy="685800"/>
          </a:xfrm>
          <a:prstGeom prst="rect">
            <a:avLst/>
          </a:prstGeom>
          <a:solidFill>
            <a:srgbClr val="2E5D6E"/>
          </a:solidFill>
          <a:ln w="12700">
            <a:solidFill>
              <a:srgbClr val="2E5D6E"/>
            </a:solidFill>
            <a:prstDash val="solid"/>
          </a:ln>
        </p:spPr>
        <p:txBody>
          <a:bodyPr/>
          <a:lstStyle/>
          <a:p>
            <a:endParaRPr lang="en-US"/>
          </a:p>
        </p:txBody>
      </p:sp>
      <p:sp>
        <p:nvSpPr>
          <p:cNvPr id="33" name="Text 31"/>
          <p:cNvSpPr/>
          <p:nvPr/>
        </p:nvSpPr>
        <p:spPr>
          <a:xfrm>
            <a:off x="6995160" y="1088136"/>
            <a:ext cx="1801368" cy="41148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The Soft Alignment Close</a:t>
            </a:r>
            <a:endParaRPr lang="en-US" sz="1250" dirty="0"/>
          </a:p>
        </p:txBody>
      </p:sp>
      <p:sp>
        <p:nvSpPr>
          <p:cNvPr id="34" name="Text 32"/>
          <p:cNvSpPr/>
          <p:nvPr/>
        </p:nvSpPr>
        <p:spPr>
          <a:xfrm>
            <a:off x="6995160" y="1481328"/>
            <a:ext cx="1801368" cy="237744"/>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Best for: After strong demo alignment</a:t>
            </a:r>
            <a:endParaRPr lang="en-US" sz="950" dirty="0"/>
          </a:p>
        </p:txBody>
      </p:sp>
      <p:sp>
        <p:nvSpPr>
          <p:cNvPr id="35" name="Shape 33"/>
          <p:cNvSpPr/>
          <p:nvPr/>
        </p:nvSpPr>
        <p:spPr>
          <a:xfrm>
            <a:off x="6995160" y="1856232"/>
            <a:ext cx="1801368" cy="1874520"/>
          </a:xfrm>
          <a:prstGeom prst="rect">
            <a:avLst/>
          </a:prstGeom>
          <a:solidFill>
            <a:srgbClr val="EEF4F7"/>
          </a:solidFill>
          <a:ln w="12700">
            <a:solidFill>
              <a:srgbClr val="D1E0E7"/>
            </a:solidFill>
            <a:prstDash val="solid"/>
          </a:ln>
        </p:spPr>
        <p:txBody>
          <a:bodyPr/>
          <a:lstStyle/>
          <a:p>
            <a:endParaRPr lang="en-US"/>
          </a:p>
        </p:txBody>
      </p:sp>
      <p:sp>
        <p:nvSpPr>
          <p:cNvPr id="36" name="Text 34"/>
          <p:cNvSpPr/>
          <p:nvPr/>
        </p:nvSpPr>
        <p:spPr>
          <a:xfrm>
            <a:off x="7068312" y="1901952"/>
            <a:ext cx="1645920" cy="1737360"/>
          </a:xfrm>
          <a:prstGeom prst="rect">
            <a:avLst/>
          </a:prstGeom>
          <a:noFill/>
          <a:ln/>
        </p:spPr>
        <p:txBody>
          <a:bodyPr wrap="square" lIns="0" tIns="0" rIns="0" bIns="0" rtlCol="0" anchor="t"/>
          <a:lstStyle/>
          <a:p>
            <a:pPr marL="0" indent="0">
              <a:buNone/>
            </a:pPr>
            <a:r>
              <a:rPr lang="en-US" sz="1150" i="1" dirty="0">
                <a:solidFill>
                  <a:srgbClr val="1C2E35"/>
                </a:solidFill>
                <a:latin typeface="Calibri" pitchFamily="34" charset="0"/>
                <a:ea typeface="Calibri" pitchFamily="34" charset="-122"/>
                <a:cs typeface="Calibri" pitchFamily="34" charset="-120"/>
              </a:rPr>
              <a:t>"Does this feel like the right next step to support your growth goals?" [If yes] "Great — I'll get this activated."</a:t>
            </a:r>
            <a:endParaRPr lang="en-US" sz="1150" dirty="0"/>
          </a:p>
        </p:txBody>
      </p:sp>
      <p:sp>
        <p:nvSpPr>
          <p:cNvPr id="37" name="Shape 35"/>
          <p:cNvSpPr/>
          <p:nvPr/>
        </p:nvSpPr>
        <p:spPr>
          <a:xfrm>
            <a:off x="6995160" y="3794760"/>
            <a:ext cx="1801368" cy="0"/>
          </a:xfrm>
          <a:prstGeom prst="line">
            <a:avLst/>
          </a:prstGeom>
          <a:noFill/>
          <a:ln w="12700">
            <a:solidFill>
              <a:srgbClr val="D1E0E7"/>
            </a:solidFill>
            <a:prstDash val="solid"/>
          </a:ln>
        </p:spPr>
        <p:txBody>
          <a:bodyPr/>
          <a:lstStyle/>
          <a:p>
            <a:endParaRPr lang="en-US"/>
          </a:p>
        </p:txBody>
      </p:sp>
      <p:sp>
        <p:nvSpPr>
          <p:cNvPr id="38" name="Text 36"/>
          <p:cNvSpPr/>
          <p:nvPr/>
        </p:nvSpPr>
        <p:spPr>
          <a:xfrm>
            <a:off x="6995160" y="3886200"/>
            <a:ext cx="1801368" cy="228600"/>
          </a:xfrm>
          <a:prstGeom prst="rect">
            <a:avLst/>
          </a:prstGeom>
          <a:noFill/>
          <a:ln/>
        </p:spPr>
        <p:txBody>
          <a:bodyPr wrap="square" lIns="0" tIns="0" rIns="0" bIns="0" rtlCol="0" anchor="ctr"/>
          <a:lstStyle/>
          <a:p>
            <a:pPr marL="0" indent="0">
              <a:buNone/>
            </a:pPr>
            <a:r>
              <a:rPr lang="en-US" sz="1000" b="1" dirty="0">
                <a:solidFill>
                  <a:srgbClr val="2E5D6E"/>
                </a:solidFill>
                <a:latin typeface="Calibri" pitchFamily="34" charset="0"/>
                <a:ea typeface="Calibri" pitchFamily="34" charset="-122"/>
                <a:cs typeface="Calibri" pitchFamily="34" charset="-120"/>
              </a:rPr>
              <a:t>Why it works:</a:t>
            </a:r>
            <a:endParaRPr lang="en-US" sz="1000" dirty="0"/>
          </a:p>
        </p:txBody>
      </p:sp>
      <p:sp>
        <p:nvSpPr>
          <p:cNvPr id="39" name="Text 37"/>
          <p:cNvSpPr/>
          <p:nvPr/>
        </p:nvSpPr>
        <p:spPr>
          <a:xfrm>
            <a:off x="6995160" y="4114800"/>
            <a:ext cx="1801368" cy="62179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Non-confrontational. Natural progression.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D6E"/>
          </a:solidFill>
          <a:ln w="12700">
            <a:solidFill>
              <a:srgbClr val="2E5D6E"/>
            </a:solidFill>
            <a:prstDash val="solid"/>
          </a:ln>
        </p:spPr>
        <p:txBody>
          <a:bodyPr/>
          <a:lstStyle/>
          <a:p>
            <a:endParaRPr lang="en-US"/>
          </a:p>
        </p:txBody>
      </p:sp>
      <p:sp>
        <p:nvSpPr>
          <p:cNvPr id="3" name="Text 1"/>
          <p:cNvSpPr/>
          <p:nvPr/>
        </p:nvSpPr>
        <p:spPr>
          <a:xfrm>
            <a:off x="365760" y="0"/>
            <a:ext cx="8412480" cy="9144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Closing Techniques  ·  Handling Stalls &amp; Advanced Closes</a:t>
            </a:r>
            <a:endParaRPr lang="en-US" sz="2400" dirty="0"/>
          </a:p>
        </p:txBody>
      </p:sp>
      <p:sp>
        <p:nvSpPr>
          <p:cNvPr id="4" name="Shape 2"/>
          <p:cNvSpPr/>
          <p:nvPr/>
        </p:nvSpPr>
        <p:spPr>
          <a:xfrm>
            <a:off x="320040" y="1051560"/>
            <a:ext cx="4114800" cy="37490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320040" y="1051560"/>
            <a:ext cx="4114800" cy="475488"/>
          </a:xfrm>
          <a:prstGeom prst="rect">
            <a:avLst/>
          </a:prstGeom>
          <a:solidFill>
            <a:srgbClr val="E05A4E"/>
          </a:solidFill>
          <a:ln w="12700">
            <a:solidFill>
              <a:srgbClr val="E05A4E"/>
            </a:solidFill>
            <a:prstDash val="solid"/>
          </a:ln>
        </p:spPr>
        <p:txBody>
          <a:bodyPr/>
          <a:lstStyle/>
          <a:p>
            <a:endParaRPr lang="en-US"/>
          </a:p>
        </p:txBody>
      </p:sp>
      <p:sp>
        <p:nvSpPr>
          <p:cNvPr id="6" name="Text 4"/>
          <p:cNvSpPr/>
          <p:nvPr/>
        </p:nvSpPr>
        <p:spPr>
          <a:xfrm>
            <a:off x="475488" y="1051560"/>
            <a:ext cx="3840480" cy="47548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When They Say "Let Me Think About It"</a:t>
            </a:r>
            <a:endParaRPr lang="en-US" sz="1350" dirty="0"/>
          </a:p>
        </p:txBody>
      </p:sp>
      <p:sp>
        <p:nvSpPr>
          <p:cNvPr id="7" name="Shape 5"/>
          <p:cNvSpPr/>
          <p:nvPr/>
        </p:nvSpPr>
        <p:spPr>
          <a:xfrm>
            <a:off x="475488" y="1627632"/>
            <a:ext cx="3794760" cy="438912"/>
          </a:xfrm>
          <a:prstGeom prst="rect">
            <a:avLst/>
          </a:prstGeom>
          <a:solidFill>
            <a:srgbClr val="E05A4E">
              <a:alpha val="15000"/>
            </a:srgbClr>
          </a:solidFill>
          <a:ln w="12700">
            <a:solidFill>
              <a:srgbClr val="E05A4E"/>
            </a:solidFill>
            <a:prstDash val="solid"/>
          </a:ln>
        </p:spPr>
        <p:txBody>
          <a:bodyPr/>
          <a:lstStyle/>
          <a:p>
            <a:endParaRPr lang="en-US"/>
          </a:p>
        </p:txBody>
      </p:sp>
      <p:sp>
        <p:nvSpPr>
          <p:cNvPr id="8" name="Text 6"/>
          <p:cNvSpPr/>
          <p:nvPr/>
        </p:nvSpPr>
        <p:spPr>
          <a:xfrm>
            <a:off x="548640" y="1664208"/>
            <a:ext cx="3611880" cy="347472"/>
          </a:xfrm>
          <a:prstGeom prst="rect">
            <a:avLst/>
          </a:prstGeom>
          <a:noFill/>
          <a:ln/>
        </p:spPr>
        <p:txBody>
          <a:bodyPr wrap="square" lIns="0" tIns="0" rIns="0" bIns="0" rtlCol="0" anchor="ctr"/>
          <a:lstStyle/>
          <a:p>
            <a:pPr marL="0" indent="0">
              <a:buNone/>
            </a:pPr>
            <a:r>
              <a:rPr lang="en-US" sz="1350" b="1" dirty="0">
                <a:solidFill>
                  <a:srgbClr val="E05A4E"/>
                </a:solidFill>
                <a:latin typeface="Calibri" pitchFamily="34" charset="0"/>
                <a:ea typeface="Calibri" pitchFamily="34" charset="-122"/>
                <a:cs typeface="Calibri" pitchFamily="34" charset="-120"/>
              </a:rPr>
              <a:t>Do NOT immediately back off.</a:t>
            </a:r>
            <a:endParaRPr lang="en-US" sz="1350" dirty="0"/>
          </a:p>
        </p:txBody>
      </p:sp>
      <p:sp>
        <p:nvSpPr>
          <p:cNvPr id="9" name="Text 7"/>
          <p:cNvSpPr/>
          <p:nvPr/>
        </p:nvSpPr>
        <p:spPr>
          <a:xfrm>
            <a:off x="475488" y="2176272"/>
            <a:ext cx="3749040" cy="292608"/>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Instead ask:</a:t>
            </a:r>
            <a:endParaRPr lang="en-US" sz="1200" dirty="0"/>
          </a:p>
        </p:txBody>
      </p:sp>
      <p:sp>
        <p:nvSpPr>
          <p:cNvPr id="10" name="Shape 8"/>
          <p:cNvSpPr/>
          <p:nvPr/>
        </p:nvSpPr>
        <p:spPr>
          <a:xfrm>
            <a:off x="475488" y="2487168"/>
            <a:ext cx="3749040" cy="530352"/>
          </a:xfrm>
          <a:prstGeom prst="rect">
            <a:avLst/>
          </a:prstGeom>
          <a:solidFill>
            <a:srgbClr val="EEF4F7"/>
          </a:solidFill>
          <a:ln w="12700">
            <a:solidFill>
              <a:srgbClr val="D1E0E7"/>
            </a:solidFill>
            <a:prstDash val="solid"/>
          </a:ln>
        </p:spPr>
        <p:txBody>
          <a:bodyPr/>
          <a:lstStyle/>
          <a:p>
            <a:endParaRPr lang="en-US"/>
          </a:p>
        </p:txBody>
      </p:sp>
      <p:sp>
        <p:nvSpPr>
          <p:cNvPr id="11" name="Text 9"/>
          <p:cNvSpPr/>
          <p:nvPr/>
        </p:nvSpPr>
        <p:spPr>
          <a:xfrm>
            <a:off x="566928" y="2523744"/>
            <a:ext cx="3566160" cy="457200"/>
          </a:xfrm>
          <a:prstGeom prst="rect">
            <a:avLst/>
          </a:prstGeom>
          <a:noFill/>
          <a:ln/>
        </p:spPr>
        <p:txBody>
          <a:bodyPr wrap="square" lIns="0" tIns="0" rIns="0" bIns="0" rtlCol="0" anchor="ctr"/>
          <a:lstStyle/>
          <a:p>
            <a:pPr marL="0" indent="0">
              <a:buNone/>
            </a:pPr>
            <a:r>
              <a:rPr lang="en-US" sz="1300" i="1" dirty="0">
                <a:solidFill>
                  <a:srgbClr val="1C2E35"/>
                </a:solidFill>
                <a:latin typeface="Calibri" pitchFamily="34" charset="0"/>
                <a:ea typeface="Calibri" pitchFamily="34" charset="-122"/>
                <a:cs typeface="Calibri" pitchFamily="34" charset="-120"/>
              </a:rPr>
              <a:t>"What specifically would you like to think through?"</a:t>
            </a:r>
            <a:endParaRPr lang="en-US" sz="1300" dirty="0"/>
          </a:p>
        </p:txBody>
      </p:sp>
      <p:sp>
        <p:nvSpPr>
          <p:cNvPr id="12" name="Text 10"/>
          <p:cNvSpPr/>
          <p:nvPr/>
        </p:nvSpPr>
        <p:spPr>
          <a:xfrm>
            <a:off x="475488" y="3127248"/>
            <a:ext cx="3749040" cy="292608"/>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Often the real objection is:</a:t>
            </a:r>
            <a:endParaRPr lang="en-US" sz="1200" dirty="0"/>
          </a:p>
        </p:txBody>
      </p:sp>
      <p:sp>
        <p:nvSpPr>
          <p:cNvPr id="13" name="Shape 11"/>
          <p:cNvSpPr/>
          <p:nvPr/>
        </p:nvSpPr>
        <p:spPr>
          <a:xfrm>
            <a:off x="475488" y="3493008"/>
            <a:ext cx="1783080" cy="402336"/>
          </a:xfrm>
          <a:prstGeom prst="rect">
            <a:avLst/>
          </a:prstGeom>
          <a:solidFill>
            <a:srgbClr val="E05A4E"/>
          </a:solidFill>
          <a:ln w="12700">
            <a:solidFill>
              <a:srgbClr val="E05A4E"/>
            </a:solidFill>
            <a:prstDash val="solid"/>
          </a:ln>
        </p:spPr>
        <p:txBody>
          <a:bodyPr/>
          <a:lstStyle/>
          <a:p>
            <a:endParaRPr lang="en-US"/>
          </a:p>
        </p:txBody>
      </p:sp>
      <p:sp>
        <p:nvSpPr>
          <p:cNvPr id="14" name="Text 12"/>
          <p:cNvSpPr/>
          <p:nvPr/>
        </p:nvSpPr>
        <p:spPr>
          <a:xfrm>
            <a:off x="475488" y="3493008"/>
            <a:ext cx="178308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Budget</a:t>
            </a:r>
            <a:endParaRPr lang="en-US" sz="1250" dirty="0"/>
          </a:p>
        </p:txBody>
      </p:sp>
      <p:sp>
        <p:nvSpPr>
          <p:cNvPr id="15" name="Shape 13"/>
          <p:cNvSpPr/>
          <p:nvPr/>
        </p:nvSpPr>
        <p:spPr>
          <a:xfrm>
            <a:off x="2395728" y="3493008"/>
            <a:ext cx="1783080" cy="402336"/>
          </a:xfrm>
          <a:prstGeom prst="rect">
            <a:avLst/>
          </a:prstGeom>
          <a:solidFill>
            <a:srgbClr val="F59E0B"/>
          </a:solidFill>
          <a:ln w="12700">
            <a:solidFill>
              <a:srgbClr val="F59E0B"/>
            </a:solidFill>
            <a:prstDash val="solid"/>
          </a:ln>
        </p:spPr>
        <p:txBody>
          <a:bodyPr/>
          <a:lstStyle/>
          <a:p>
            <a:endParaRPr lang="en-US"/>
          </a:p>
        </p:txBody>
      </p:sp>
      <p:sp>
        <p:nvSpPr>
          <p:cNvPr id="16" name="Text 14"/>
          <p:cNvSpPr/>
          <p:nvPr/>
        </p:nvSpPr>
        <p:spPr>
          <a:xfrm>
            <a:off x="2395728" y="3493008"/>
            <a:ext cx="178308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Timing</a:t>
            </a:r>
            <a:endParaRPr lang="en-US" sz="1250" dirty="0"/>
          </a:p>
        </p:txBody>
      </p:sp>
      <p:sp>
        <p:nvSpPr>
          <p:cNvPr id="17" name="Shape 15"/>
          <p:cNvSpPr/>
          <p:nvPr/>
        </p:nvSpPr>
        <p:spPr>
          <a:xfrm>
            <a:off x="475488" y="3995928"/>
            <a:ext cx="1783080" cy="402336"/>
          </a:xfrm>
          <a:prstGeom prst="rect">
            <a:avLst/>
          </a:prstGeom>
          <a:solidFill>
            <a:srgbClr val="3A7A8F"/>
          </a:solidFill>
          <a:ln w="12700">
            <a:solidFill>
              <a:srgbClr val="3A7A8F"/>
            </a:solidFill>
            <a:prstDash val="solid"/>
          </a:ln>
        </p:spPr>
        <p:txBody>
          <a:bodyPr/>
          <a:lstStyle/>
          <a:p>
            <a:endParaRPr lang="en-US"/>
          </a:p>
        </p:txBody>
      </p:sp>
      <p:sp>
        <p:nvSpPr>
          <p:cNvPr id="18" name="Text 16"/>
          <p:cNvSpPr/>
          <p:nvPr/>
        </p:nvSpPr>
        <p:spPr>
          <a:xfrm>
            <a:off x="475488" y="3995928"/>
            <a:ext cx="178308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Staff adoption</a:t>
            </a:r>
            <a:endParaRPr lang="en-US" sz="1250" dirty="0"/>
          </a:p>
        </p:txBody>
      </p:sp>
      <p:sp>
        <p:nvSpPr>
          <p:cNvPr id="19" name="Shape 17"/>
          <p:cNvSpPr/>
          <p:nvPr/>
        </p:nvSpPr>
        <p:spPr>
          <a:xfrm>
            <a:off x="2395728" y="3995928"/>
            <a:ext cx="1783080" cy="402336"/>
          </a:xfrm>
          <a:prstGeom prst="rect">
            <a:avLst/>
          </a:prstGeom>
          <a:solidFill>
            <a:srgbClr val="2E5D6E"/>
          </a:solidFill>
          <a:ln w="12700">
            <a:solidFill>
              <a:srgbClr val="2E5D6E"/>
            </a:solidFill>
            <a:prstDash val="solid"/>
          </a:ln>
        </p:spPr>
        <p:txBody>
          <a:bodyPr/>
          <a:lstStyle/>
          <a:p>
            <a:endParaRPr lang="en-US"/>
          </a:p>
        </p:txBody>
      </p:sp>
      <p:sp>
        <p:nvSpPr>
          <p:cNvPr id="20" name="Text 18"/>
          <p:cNvSpPr/>
          <p:nvPr/>
        </p:nvSpPr>
        <p:spPr>
          <a:xfrm>
            <a:off x="2395728" y="3995928"/>
            <a:ext cx="1783080"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Confidence in ROI</a:t>
            </a:r>
            <a:endParaRPr lang="en-US" sz="1250" dirty="0"/>
          </a:p>
        </p:txBody>
      </p:sp>
      <p:sp>
        <p:nvSpPr>
          <p:cNvPr id="21" name="Text 19"/>
          <p:cNvSpPr/>
          <p:nvPr/>
        </p:nvSpPr>
        <p:spPr>
          <a:xfrm>
            <a:off x="475488" y="4572000"/>
            <a:ext cx="3749040" cy="292608"/>
          </a:xfrm>
          <a:prstGeom prst="rect">
            <a:avLst/>
          </a:prstGeom>
          <a:noFill/>
          <a:ln/>
        </p:spPr>
        <p:txBody>
          <a:bodyPr wrap="square" lIns="0" tIns="0" rIns="0" bIns="0" rtlCol="0" anchor="ctr"/>
          <a:lstStyle/>
          <a:p>
            <a:pPr marL="0" indent="0">
              <a:buNone/>
            </a:pPr>
            <a:r>
              <a:rPr lang="en-US" sz="1150" b="1" i="1" dirty="0">
                <a:solidFill>
                  <a:srgbClr val="64748B"/>
                </a:solidFill>
                <a:latin typeface="Calibri" pitchFamily="34" charset="0"/>
                <a:ea typeface="Calibri" pitchFamily="34" charset="-122"/>
                <a:cs typeface="Calibri" pitchFamily="34" charset="-120"/>
              </a:rPr>
              <a:t>→ Clarify the real objection before responding.</a:t>
            </a:r>
            <a:endParaRPr lang="en-US" sz="1150" dirty="0"/>
          </a:p>
        </p:txBody>
      </p:sp>
      <p:sp>
        <p:nvSpPr>
          <p:cNvPr id="22" name="Shape 20"/>
          <p:cNvSpPr/>
          <p:nvPr/>
        </p:nvSpPr>
        <p:spPr>
          <a:xfrm>
            <a:off x="4709160" y="1051560"/>
            <a:ext cx="4114800" cy="17830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3" name="Shape 21"/>
          <p:cNvSpPr/>
          <p:nvPr/>
        </p:nvSpPr>
        <p:spPr>
          <a:xfrm>
            <a:off x="4709160" y="1051560"/>
            <a:ext cx="4114800" cy="420624"/>
          </a:xfrm>
          <a:prstGeom prst="rect">
            <a:avLst/>
          </a:prstGeom>
          <a:solidFill>
            <a:srgbClr val="02C39A"/>
          </a:solidFill>
          <a:ln w="12700">
            <a:solidFill>
              <a:srgbClr val="02C39A"/>
            </a:solidFill>
            <a:prstDash val="solid"/>
          </a:ln>
        </p:spPr>
        <p:txBody>
          <a:bodyPr/>
          <a:lstStyle/>
          <a:p>
            <a:endParaRPr lang="en-US"/>
          </a:p>
        </p:txBody>
      </p:sp>
      <p:sp>
        <p:nvSpPr>
          <p:cNvPr id="24" name="Text 22"/>
          <p:cNvSpPr/>
          <p:nvPr/>
        </p:nvSpPr>
        <p:spPr>
          <a:xfrm>
            <a:off x="4846320" y="1051560"/>
            <a:ext cx="3840480" cy="420624"/>
          </a:xfrm>
          <a:prstGeom prst="rect">
            <a:avLst/>
          </a:prstGeom>
          <a:noFill/>
          <a:ln/>
        </p:spPr>
        <p:txBody>
          <a:bodyPr wrap="square" lIns="0" tIns="0" rIns="0" bIns="0" rtlCol="0" anchor="ctr"/>
          <a:lstStyle/>
          <a:p>
            <a:pPr marL="0" indent="0">
              <a:buNone/>
            </a:pPr>
            <a:r>
              <a:rPr lang="en-US" sz="1300" b="1" dirty="0">
                <a:solidFill>
                  <a:srgbClr val="1C2E35"/>
                </a:solidFill>
                <a:latin typeface="Calibri" pitchFamily="34" charset="0"/>
                <a:ea typeface="Calibri" pitchFamily="34" charset="-122"/>
                <a:cs typeface="Calibri" pitchFamily="34" charset="-120"/>
              </a:rPr>
              <a:t>⭐  Expansion Summary Close</a:t>
            </a:r>
            <a:endParaRPr lang="en-US" sz="1300" dirty="0"/>
          </a:p>
        </p:txBody>
      </p:sp>
      <p:sp>
        <p:nvSpPr>
          <p:cNvPr id="25" name="Text 23"/>
          <p:cNvSpPr/>
          <p:nvPr/>
        </p:nvSpPr>
        <p:spPr>
          <a:xfrm>
            <a:off x="4846320" y="1527048"/>
            <a:ext cx="3840480" cy="292608"/>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Very Effective — Before asking for commitment:</a:t>
            </a:r>
            <a:endParaRPr lang="en-US" sz="1050" dirty="0"/>
          </a:p>
        </p:txBody>
      </p:sp>
      <p:sp>
        <p:nvSpPr>
          <p:cNvPr id="26" name="Text 24"/>
          <p:cNvSpPr/>
          <p:nvPr/>
        </p:nvSpPr>
        <p:spPr>
          <a:xfrm>
            <a:off x="4846320" y="1819656"/>
            <a:ext cx="3840480" cy="658368"/>
          </a:xfrm>
          <a:prstGeom prst="rect">
            <a:avLst/>
          </a:prstGeom>
          <a:noFill/>
          <a:ln/>
        </p:spPr>
        <p:txBody>
          <a:bodyPr wrap="square" lIns="0" tIns="0" rIns="0" bIns="0" rtlCol="0" anchor="ctr"/>
          <a:lstStyle/>
          <a:p>
            <a:pPr marL="0" indent="0">
              <a:buNone/>
            </a:pPr>
            <a:r>
              <a:rPr lang="en-US" sz="1200" i="1" dirty="0">
                <a:solidFill>
                  <a:srgbClr val="1C2E35"/>
                </a:solidFill>
                <a:latin typeface="Calibri" pitchFamily="34" charset="0"/>
                <a:ea typeface="Calibri" pitchFamily="34" charset="-122"/>
                <a:cs typeface="Calibri" pitchFamily="34" charset="-120"/>
              </a:rPr>
              <a:t>"We discussed increasing X, improving Y, and reducing Z. This tool directly supports that. Are you comfortable moving forward?"</a:t>
            </a:r>
            <a:endParaRPr lang="en-US" sz="1200" dirty="0"/>
          </a:p>
        </p:txBody>
      </p:sp>
      <p:sp>
        <p:nvSpPr>
          <p:cNvPr id="27" name="Text 25"/>
          <p:cNvSpPr/>
          <p:nvPr/>
        </p:nvSpPr>
        <p:spPr>
          <a:xfrm>
            <a:off x="4846320" y="2496312"/>
            <a:ext cx="3840480" cy="292608"/>
          </a:xfrm>
          <a:prstGeom prst="rect">
            <a:avLst/>
          </a:prstGeom>
          <a:noFill/>
          <a:ln/>
        </p:spPr>
        <p:txBody>
          <a:bodyPr wrap="square" lIns="0" tIns="0" rIns="0" bIns="0" rtlCol="0" anchor="ctr"/>
          <a:lstStyle/>
          <a:p>
            <a:pPr marL="0" indent="0">
              <a:buNone/>
            </a:pPr>
            <a:r>
              <a:rPr lang="en-US" sz="1100" b="1" dirty="0">
                <a:solidFill>
                  <a:srgbClr val="3A7A8F"/>
                </a:solidFill>
                <a:latin typeface="Calibri" pitchFamily="34" charset="0"/>
                <a:ea typeface="Calibri" pitchFamily="34" charset="-122"/>
                <a:cs typeface="Calibri" pitchFamily="34" charset="-120"/>
              </a:rPr>
              <a:t>→ Feels logical — not salesy.</a:t>
            </a:r>
            <a:endParaRPr lang="en-US" sz="1100" dirty="0"/>
          </a:p>
        </p:txBody>
      </p:sp>
      <p:sp>
        <p:nvSpPr>
          <p:cNvPr id="28" name="Shape 26"/>
          <p:cNvSpPr/>
          <p:nvPr/>
        </p:nvSpPr>
        <p:spPr>
          <a:xfrm>
            <a:off x="4709160" y="2971800"/>
            <a:ext cx="4114800" cy="17830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9" name="Shape 27"/>
          <p:cNvSpPr/>
          <p:nvPr/>
        </p:nvSpPr>
        <p:spPr>
          <a:xfrm>
            <a:off x="4709160" y="2971800"/>
            <a:ext cx="4114800" cy="420624"/>
          </a:xfrm>
          <a:prstGeom prst="rect">
            <a:avLst/>
          </a:prstGeom>
          <a:solidFill>
            <a:srgbClr val="3A7A8F"/>
          </a:solidFill>
          <a:ln w="12700">
            <a:solidFill>
              <a:srgbClr val="3A7A8F"/>
            </a:solidFill>
            <a:prstDash val="solid"/>
          </a:ln>
        </p:spPr>
        <p:txBody>
          <a:bodyPr/>
          <a:lstStyle/>
          <a:p>
            <a:endParaRPr lang="en-US"/>
          </a:p>
        </p:txBody>
      </p:sp>
      <p:sp>
        <p:nvSpPr>
          <p:cNvPr id="30" name="Text 28"/>
          <p:cNvSpPr/>
          <p:nvPr/>
        </p:nvSpPr>
        <p:spPr>
          <a:xfrm>
            <a:off x="4846320" y="2971800"/>
            <a:ext cx="384048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Assumptive Activation Close</a:t>
            </a:r>
            <a:endParaRPr lang="en-US" sz="1300" dirty="0"/>
          </a:p>
        </p:txBody>
      </p:sp>
      <p:sp>
        <p:nvSpPr>
          <p:cNvPr id="31" name="Text 29"/>
          <p:cNvSpPr/>
          <p:nvPr/>
        </p:nvSpPr>
        <p:spPr>
          <a:xfrm>
            <a:off x="4846320" y="3447288"/>
            <a:ext cx="3840480" cy="292608"/>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Use only when strong buying signals exist:</a:t>
            </a:r>
            <a:endParaRPr lang="en-US" sz="1050" dirty="0"/>
          </a:p>
        </p:txBody>
      </p:sp>
      <p:sp>
        <p:nvSpPr>
          <p:cNvPr id="32" name="Text 30"/>
          <p:cNvSpPr/>
          <p:nvPr/>
        </p:nvSpPr>
        <p:spPr>
          <a:xfrm>
            <a:off x="4846320" y="3739896"/>
            <a:ext cx="3840480" cy="658368"/>
          </a:xfrm>
          <a:prstGeom prst="rect">
            <a:avLst/>
          </a:prstGeom>
          <a:noFill/>
          <a:ln/>
        </p:spPr>
        <p:txBody>
          <a:bodyPr wrap="square" lIns="0" tIns="0" rIns="0" bIns="0" rtlCol="0" anchor="ctr"/>
          <a:lstStyle/>
          <a:p>
            <a:pPr marL="0" indent="0">
              <a:buNone/>
            </a:pPr>
            <a:r>
              <a:rPr lang="en-US" sz="1200" i="1" dirty="0">
                <a:solidFill>
                  <a:srgbClr val="1C2E35"/>
                </a:solidFill>
                <a:latin typeface="Calibri" pitchFamily="34" charset="0"/>
                <a:ea typeface="Calibri" pitchFamily="34" charset="-122"/>
                <a:cs typeface="Calibri" pitchFamily="34" charset="-120"/>
              </a:rPr>
              <a:t>"I'll go ahead and get this activated for next month so you can start seeing results." [Pause for objection — if none, proceed.]</a:t>
            </a:r>
            <a:endParaRPr lang="en-US" sz="1200" dirty="0"/>
          </a:p>
        </p:txBody>
      </p:sp>
      <p:sp>
        <p:nvSpPr>
          <p:cNvPr id="33" name="Text 31"/>
          <p:cNvSpPr/>
          <p:nvPr/>
        </p:nvSpPr>
        <p:spPr>
          <a:xfrm>
            <a:off x="4846320" y="4416552"/>
            <a:ext cx="3840480" cy="292608"/>
          </a:xfrm>
          <a:prstGeom prst="rect">
            <a:avLst/>
          </a:prstGeom>
          <a:noFill/>
          <a:ln/>
        </p:spPr>
        <p:txBody>
          <a:bodyPr wrap="square" lIns="0" tIns="0" rIns="0" bIns="0" rtlCol="0" anchor="ctr"/>
          <a:lstStyle/>
          <a:p>
            <a:pPr marL="0" indent="0">
              <a:buNone/>
            </a:pPr>
            <a:r>
              <a:rPr lang="en-US" sz="1100" b="1" dirty="0">
                <a:solidFill>
                  <a:srgbClr val="3A7A8F"/>
                </a:solidFill>
                <a:latin typeface="Calibri" pitchFamily="34" charset="0"/>
                <a:ea typeface="Calibri" pitchFamily="34" charset="-122"/>
                <a:cs typeface="Calibri" pitchFamily="34" charset="-120"/>
              </a:rPr>
              <a:t>→ Use carefully and only when alignment is strong.</a:t>
            </a:r>
            <a:endParaRPr lang="en-US" sz="1100" dirty="0"/>
          </a:p>
        </p:txBody>
      </p:sp>
      <p:sp>
        <p:nvSpPr>
          <p:cNvPr id="34" name="Shape 32"/>
          <p:cNvSpPr/>
          <p:nvPr/>
        </p:nvSpPr>
        <p:spPr>
          <a:xfrm>
            <a:off x="4709160" y="4114800"/>
            <a:ext cx="4114800" cy="685800"/>
          </a:xfrm>
          <a:prstGeom prst="rect">
            <a:avLst/>
          </a:prstGeom>
          <a:solidFill>
            <a:srgbClr val="2E5D6E"/>
          </a:solidFill>
          <a:ln/>
          <a:effectLst>
            <a:outerShdw blurRad="101600" dist="38100" dir="8100000" algn="bl" rotWithShape="0">
              <a:srgbClr val="000000">
                <a:alpha val="10000"/>
              </a:srgbClr>
            </a:outerShdw>
          </a:effectLst>
        </p:spPr>
        <p:txBody>
          <a:bodyPr/>
          <a:lstStyle/>
          <a:p>
            <a:endParaRPr lang="en-US"/>
          </a:p>
        </p:txBody>
      </p:sp>
      <p:sp>
        <p:nvSpPr>
          <p:cNvPr id="35" name="Text 33"/>
          <p:cNvSpPr/>
          <p:nvPr/>
        </p:nvSpPr>
        <p:spPr>
          <a:xfrm>
            <a:off x="4846320" y="4133088"/>
            <a:ext cx="3840480" cy="640080"/>
          </a:xfrm>
          <a:prstGeom prst="rect">
            <a:avLst/>
          </a:prstGeom>
          <a:noFill/>
          <a:ln/>
        </p:spPr>
        <p:txBody>
          <a:bodyPr wrap="square" lIns="0" tIns="0" rIns="0" bIns="0" rtlCol="0" anchor="ctr"/>
          <a:lstStyle/>
          <a:p>
            <a:pPr marL="0" indent="0">
              <a:buNone/>
            </a:pPr>
            <a:r>
              <a:rPr lang="en-US" sz="1200" i="1" dirty="0">
                <a:solidFill>
                  <a:srgbClr val="02C39A"/>
                </a:solidFill>
                <a:latin typeface="Calibri" pitchFamily="34" charset="0"/>
                <a:ea typeface="Calibri" pitchFamily="34" charset="-122"/>
                <a:cs typeface="Calibri" pitchFamily="34" charset="-120"/>
              </a:rPr>
              <a:t>💡  The goal of every close: Make the next step feel like the obvious, logical outcome — not a sales ask.</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E5D6E"/>
        </a:solidFill>
        <a:effectLst/>
      </p:bgPr>
    </p:bg>
    <p:spTree>
      <p:nvGrpSpPr>
        <p:cNvPr id="1" name=""/>
        <p:cNvGrpSpPr/>
        <p:nvPr/>
      </p:nvGrpSpPr>
      <p:grpSpPr>
        <a:xfrm>
          <a:off x="0" y="0"/>
          <a:ext cx="0" cy="0"/>
          <a:chOff x="0" y="0"/>
          <a:chExt cx="0" cy="0"/>
        </a:xfrm>
      </p:grpSpPr>
      <p:sp>
        <p:nvSpPr>
          <p:cNvPr id="2" name="Shape 0"/>
          <p:cNvSpPr/>
          <p:nvPr/>
        </p:nvSpPr>
        <p:spPr>
          <a:xfrm>
            <a:off x="6858000" y="-731520"/>
            <a:ext cx="3200400" cy="3200400"/>
          </a:xfrm>
          <a:prstGeom prst="ellipse">
            <a:avLst/>
          </a:prstGeom>
          <a:solidFill>
            <a:srgbClr val="FFFFFF">
              <a:alpha val="10000"/>
            </a:srgbClr>
          </a:solidFill>
          <a:ln w="12700">
            <a:solidFill>
              <a:srgbClr val="FFFFFF">
                <a:alpha val="10000"/>
              </a:srgbClr>
            </a:solidFill>
            <a:prstDash val="solid"/>
          </a:ln>
        </p:spPr>
        <p:txBody>
          <a:bodyPr/>
          <a:lstStyle/>
          <a:p>
            <a:endParaRPr lang="en-US"/>
          </a:p>
        </p:txBody>
      </p:sp>
      <p:sp>
        <p:nvSpPr>
          <p:cNvPr id="3" name="Shape 1"/>
          <p:cNvSpPr/>
          <p:nvPr/>
        </p:nvSpPr>
        <p:spPr>
          <a:xfrm>
            <a:off x="-731520" y="3200400"/>
            <a:ext cx="2743200" cy="2743200"/>
          </a:xfrm>
          <a:prstGeom prst="ellipse">
            <a:avLst/>
          </a:prstGeom>
          <a:solidFill>
            <a:srgbClr val="000000">
              <a:alpha val="15000"/>
            </a:srgbClr>
          </a:solidFill>
          <a:ln w="12700">
            <a:solidFill>
              <a:srgbClr val="000000">
                <a:alpha val="15000"/>
              </a:srgbClr>
            </a:solidFill>
            <a:prstDash val="solid"/>
          </a:ln>
        </p:spPr>
        <p:txBody>
          <a:bodyPr/>
          <a:lstStyle/>
          <a:p>
            <a:endParaRPr lang="en-US"/>
          </a:p>
        </p:txBody>
      </p:sp>
      <p:sp>
        <p:nvSpPr>
          <p:cNvPr id="4" name="Text 2"/>
          <p:cNvSpPr/>
          <p:nvPr/>
        </p:nvSpPr>
        <p:spPr>
          <a:xfrm>
            <a:off x="502920" y="502920"/>
            <a:ext cx="8229600" cy="68580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The CAE Expansion Formula</a:t>
            </a:r>
            <a:endParaRPr lang="en-US" sz="3600" dirty="0"/>
          </a:p>
        </p:txBody>
      </p:sp>
      <p:sp>
        <p:nvSpPr>
          <p:cNvPr id="5" name="Shape 3"/>
          <p:cNvSpPr/>
          <p:nvPr/>
        </p:nvSpPr>
        <p:spPr>
          <a:xfrm>
            <a:off x="320040" y="1371600"/>
            <a:ext cx="1508760" cy="1234440"/>
          </a:xfrm>
          <a:prstGeom prst="rect">
            <a:avLst/>
          </a:prstGeom>
          <a:solidFill>
            <a:srgbClr val="02C39A"/>
          </a:solidFill>
          <a:ln w="12700">
            <a:solidFill>
              <a:srgbClr val="02C39A"/>
            </a:solidFill>
            <a:prstDash val="solid"/>
          </a:ln>
          <a:effectLst>
            <a:outerShdw blurRad="101600" dist="38100" dir="8100000" algn="bl" rotWithShape="0">
              <a:srgbClr val="000000">
                <a:alpha val="10000"/>
              </a:srgbClr>
            </a:outerShdw>
          </a:effectLst>
        </p:spPr>
        <p:txBody>
          <a:bodyPr/>
          <a:lstStyle/>
          <a:p>
            <a:endParaRPr lang="en-US"/>
          </a:p>
        </p:txBody>
      </p:sp>
      <p:sp>
        <p:nvSpPr>
          <p:cNvPr id="6" name="Text 4"/>
          <p:cNvSpPr/>
          <p:nvPr/>
        </p:nvSpPr>
        <p:spPr>
          <a:xfrm>
            <a:off x="320040" y="1417320"/>
            <a:ext cx="1508760" cy="548640"/>
          </a:xfrm>
          <a:prstGeom prst="rect">
            <a:avLst/>
          </a:prstGeom>
          <a:noFill/>
          <a:ln/>
        </p:spPr>
        <p:txBody>
          <a:bodyPr wrap="square" lIns="0" tIns="0" rIns="0" bIns="0" rtlCol="0" anchor="ctr"/>
          <a:lstStyle/>
          <a:p>
            <a:pPr marL="0" indent="0" algn="ctr">
              <a:buNone/>
            </a:pPr>
            <a:r>
              <a:rPr lang="en-US" sz="3200" b="1" dirty="0">
                <a:solidFill>
                  <a:srgbClr val="1C2E35"/>
                </a:solidFill>
                <a:latin typeface="Calibri" pitchFamily="34" charset="0"/>
                <a:ea typeface="Calibri" pitchFamily="34" charset="-122"/>
                <a:cs typeface="Calibri" pitchFamily="34" charset="-120"/>
              </a:rPr>
              <a:t>1</a:t>
            </a:r>
            <a:endParaRPr lang="en-US" sz="3200" dirty="0"/>
          </a:p>
        </p:txBody>
      </p:sp>
      <p:sp>
        <p:nvSpPr>
          <p:cNvPr id="7" name="Text 5"/>
          <p:cNvSpPr/>
          <p:nvPr/>
        </p:nvSpPr>
        <p:spPr>
          <a:xfrm>
            <a:off x="320040" y="1901952"/>
            <a:ext cx="1508760" cy="621792"/>
          </a:xfrm>
          <a:prstGeom prst="rect">
            <a:avLst/>
          </a:prstGeom>
          <a:noFill/>
          <a:ln/>
        </p:spPr>
        <p:txBody>
          <a:bodyPr wrap="square" lIns="0" tIns="0" rIns="0" bIns="0" rtlCol="0" anchor="ctr"/>
          <a:lstStyle/>
          <a:p>
            <a:pPr marL="0" indent="0" algn="ctr">
              <a:buNone/>
            </a:pPr>
            <a:r>
              <a:rPr lang="en-US" sz="1150" b="1" dirty="0">
                <a:solidFill>
                  <a:srgbClr val="1C2E35"/>
                </a:solidFill>
                <a:latin typeface="Calibri" pitchFamily="34" charset="0"/>
                <a:ea typeface="Calibri" pitchFamily="34" charset="-122"/>
                <a:cs typeface="Calibri" pitchFamily="34" charset="-120"/>
              </a:rPr>
              <a:t>Identify Driver</a:t>
            </a:r>
            <a:endParaRPr lang="en-US" sz="1150" dirty="0"/>
          </a:p>
        </p:txBody>
      </p:sp>
      <p:sp>
        <p:nvSpPr>
          <p:cNvPr id="8" name="Text 6"/>
          <p:cNvSpPr/>
          <p:nvPr/>
        </p:nvSpPr>
        <p:spPr>
          <a:xfrm>
            <a:off x="1837944" y="1737360"/>
            <a:ext cx="109728" cy="502920"/>
          </a:xfrm>
          <a:prstGeom prst="rect">
            <a:avLst/>
          </a:prstGeom>
          <a:noFill/>
          <a:ln/>
        </p:spPr>
        <p:txBody>
          <a:bodyPr wrap="square" lIns="0" tIns="0" rIns="0" bIns="0" rtlCol="0" anchor="ctr"/>
          <a:lstStyle/>
          <a:p>
            <a:pPr marL="0" indent="0" algn="ctr">
              <a:buNone/>
            </a:pPr>
            <a:r>
              <a:rPr lang="en-US" sz="2000" b="1" dirty="0">
                <a:solidFill>
                  <a:srgbClr val="7AAAB8"/>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1938528" y="1371600"/>
            <a:ext cx="1508760" cy="1234440"/>
          </a:xfrm>
          <a:prstGeom prst="rect">
            <a:avLst/>
          </a:prstGeom>
          <a:solidFill>
            <a:srgbClr val="3A7A8F"/>
          </a:solidFill>
          <a:ln w="12700">
            <a:solidFill>
              <a:srgbClr val="3A7A8F"/>
            </a:solidFill>
            <a:prstDash val="solid"/>
          </a:ln>
          <a:effectLst>
            <a:outerShdw blurRad="101600" dist="38100" dir="8100000" algn="bl" rotWithShape="0">
              <a:srgbClr val="000000">
                <a:alpha val="10000"/>
              </a:srgbClr>
            </a:outerShdw>
          </a:effectLst>
        </p:spPr>
        <p:txBody>
          <a:bodyPr/>
          <a:lstStyle/>
          <a:p>
            <a:endParaRPr lang="en-US"/>
          </a:p>
        </p:txBody>
      </p:sp>
      <p:sp>
        <p:nvSpPr>
          <p:cNvPr id="10" name="Text 8"/>
          <p:cNvSpPr/>
          <p:nvPr/>
        </p:nvSpPr>
        <p:spPr>
          <a:xfrm>
            <a:off x="1938528" y="1417320"/>
            <a:ext cx="1508760" cy="548640"/>
          </a:xfrm>
          <a:prstGeom prst="rect">
            <a:avLst/>
          </a:prstGeom>
          <a:noFill/>
          <a:ln/>
        </p:spPr>
        <p:txBody>
          <a:bodyPr wrap="square" lIns="0" tIns="0" rIns="0" bIns="0" rtlCol="0" anchor="ctr"/>
          <a:lstStyle/>
          <a:p>
            <a:pPr marL="0" indent="0" algn="ctr">
              <a:buNone/>
            </a:pPr>
            <a:r>
              <a:rPr lang="en-US" sz="3200" b="1" dirty="0">
                <a:solidFill>
                  <a:srgbClr val="1C2E35"/>
                </a:solidFill>
                <a:latin typeface="Calibri" pitchFamily="34" charset="0"/>
                <a:ea typeface="Calibri" pitchFamily="34" charset="-122"/>
                <a:cs typeface="Calibri" pitchFamily="34" charset="-120"/>
              </a:rPr>
              <a:t>2</a:t>
            </a:r>
            <a:endParaRPr lang="en-US" sz="3200" dirty="0"/>
          </a:p>
        </p:txBody>
      </p:sp>
      <p:sp>
        <p:nvSpPr>
          <p:cNvPr id="11" name="Text 9"/>
          <p:cNvSpPr/>
          <p:nvPr/>
        </p:nvSpPr>
        <p:spPr>
          <a:xfrm>
            <a:off x="1938528" y="1901952"/>
            <a:ext cx="1508760" cy="621792"/>
          </a:xfrm>
          <a:prstGeom prst="rect">
            <a:avLst/>
          </a:prstGeom>
          <a:noFill/>
          <a:ln/>
        </p:spPr>
        <p:txBody>
          <a:bodyPr wrap="square" lIns="0" tIns="0" rIns="0" bIns="0" rtlCol="0" anchor="ctr"/>
          <a:lstStyle/>
          <a:p>
            <a:pPr marL="0" indent="0" algn="ctr">
              <a:buNone/>
            </a:pPr>
            <a:r>
              <a:rPr lang="en-US" sz="1150" b="1" dirty="0">
                <a:solidFill>
                  <a:srgbClr val="1C2E35"/>
                </a:solidFill>
                <a:latin typeface="Calibri" pitchFamily="34" charset="0"/>
                <a:ea typeface="Calibri" pitchFamily="34" charset="-122"/>
                <a:cs typeface="Calibri" pitchFamily="34" charset="-120"/>
              </a:rPr>
              <a:t>Prep Financials</a:t>
            </a:r>
            <a:endParaRPr lang="en-US" sz="1150" dirty="0"/>
          </a:p>
        </p:txBody>
      </p:sp>
      <p:sp>
        <p:nvSpPr>
          <p:cNvPr id="12" name="Text 10"/>
          <p:cNvSpPr/>
          <p:nvPr/>
        </p:nvSpPr>
        <p:spPr>
          <a:xfrm>
            <a:off x="3456432" y="1737360"/>
            <a:ext cx="109728" cy="502920"/>
          </a:xfrm>
          <a:prstGeom prst="rect">
            <a:avLst/>
          </a:prstGeom>
          <a:noFill/>
          <a:ln/>
        </p:spPr>
        <p:txBody>
          <a:bodyPr wrap="square" lIns="0" tIns="0" rIns="0" bIns="0" rtlCol="0" anchor="ctr"/>
          <a:lstStyle/>
          <a:p>
            <a:pPr marL="0" indent="0" algn="ctr">
              <a:buNone/>
            </a:pPr>
            <a:r>
              <a:rPr lang="en-US" sz="2000" b="1" dirty="0">
                <a:solidFill>
                  <a:srgbClr val="7AAAB8"/>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3557016" y="1371600"/>
            <a:ext cx="1508760" cy="1234440"/>
          </a:xfrm>
          <a:prstGeom prst="rect">
            <a:avLst/>
          </a:prstGeom>
          <a:solidFill>
            <a:srgbClr val="1C2E35"/>
          </a:solidFill>
          <a:ln w="12700">
            <a:solidFill>
              <a:srgbClr val="1C2E35"/>
            </a:solidFill>
            <a:prstDash val="solid"/>
          </a:ln>
          <a:effectLst>
            <a:outerShdw blurRad="101600" dist="38100" dir="8100000" algn="bl" rotWithShape="0">
              <a:srgbClr val="000000">
                <a:alpha val="10000"/>
              </a:srgbClr>
            </a:outerShdw>
          </a:effectLst>
        </p:spPr>
        <p:txBody>
          <a:bodyPr/>
          <a:lstStyle/>
          <a:p>
            <a:endParaRPr lang="en-US"/>
          </a:p>
        </p:txBody>
      </p:sp>
      <p:sp>
        <p:nvSpPr>
          <p:cNvPr id="14" name="Text 12"/>
          <p:cNvSpPr/>
          <p:nvPr/>
        </p:nvSpPr>
        <p:spPr>
          <a:xfrm>
            <a:off x="3557016" y="1417320"/>
            <a:ext cx="150876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3</a:t>
            </a:r>
            <a:endParaRPr lang="en-US" sz="3200" dirty="0"/>
          </a:p>
        </p:txBody>
      </p:sp>
      <p:sp>
        <p:nvSpPr>
          <p:cNvPr id="15" name="Text 13"/>
          <p:cNvSpPr/>
          <p:nvPr/>
        </p:nvSpPr>
        <p:spPr>
          <a:xfrm>
            <a:off x="3557016" y="1901952"/>
            <a:ext cx="1508760" cy="62179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Frame Business Case</a:t>
            </a:r>
            <a:endParaRPr lang="en-US" sz="1150" dirty="0"/>
          </a:p>
        </p:txBody>
      </p:sp>
      <p:sp>
        <p:nvSpPr>
          <p:cNvPr id="16" name="Text 14"/>
          <p:cNvSpPr/>
          <p:nvPr/>
        </p:nvSpPr>
        <p:spPr>
          <a:xfrm>
            <a:off x="5074920" y="1737360"/>
            <a:ext cx="109728" cy="502920"/>
          </a:xfrm>
          <a:prstGeom prst="rect">
            <a:avLst/>
          </a:prstGeom>
          <a:noFill/>
          <a:ln/>
        </p:spPr>
        <p:txBody>
          <a:bodyPr wrap="square" lIns="0" tIns="0" rIns="0" bIns="0" rtlCol="0" anchor="ctr"/>
          <a:lstStyle/>
          <a:p>
            <a:pPr marL="0" indent="0" algn="ctr">
              <a:buNone/>
            </a:pPr>
            <a:r>
              <a:rPr lang="en-US" sz="2000" b="1" dirty="0">
                <a:solidFill>
                  <a:srgbClr val="7AAAB8"/>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5175504" y="1371600"/>
            <a:ext cx="1508760" cy="1234440"/>
          </a:xfrm>
          <a:prstGeom prst="rect">
            <a:avLst/>
          </a:prstGeom>
          <a:solidFill>
            <a:srgbClr val="F59E0B"/>
          </a:solidFill>
          <a:ln w="12700">
            <a:solidFill>
              <a:srgbClr val="F59E0B"/>
            </a:solidFill>
            <a:prstDash val="solid"/>
          </a:ln>
          <a:effectLst>
            <a:outerShdw blurRad="101600" dist="38100" dir="8100000" algn="bl" rotWithShape="0">
              <a:srgbClr val="000000">
                <a:alpha val="10000"/>
              </a:srgbClr>
            </a:outerShdw>
          </a:effectLst>
        </p:spPr>
        <p:txBody>
          <a:bodyPr/>
          <a:lstStyle/>
          <a:p>
            <a:endParaRPr lang="en-US"/>
          </a:p>
        </p:txBody>
      </p:sp>
      <p:sp>
        <p:nvSpPr>
          <p:cNvPr id="18" name="Text 16"/>
          <p:cNvSpPr/>
          <p:nvPr/>
        </p:nvSpPr>
        <p:spPr>
          <a:xfrm>
            <a:off x="5175504" y="1417320"/>
            <a:ext cx="150876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4</a:t>
            </a:r>
            <a:endParaRPr lang="en-US" sz="3200" dirty="0"/>
          </a:p>
        </p:txBody>
      </p:sp>
      <p:sp>
        <p:nvSpPr>
          <p:cNvPr id="19" name="Text 17"/>
          <p:cNvSpPr/>
          <p:nvPr/>
        </p:nvSpPr>
        <p:spPr>
          <a:xfrm>
            <a:off x="5175504" y="1901952"/>
            <a:ext cx="1508760" cy="62179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Demo With Purpose</a:t>
            </a:r>
            <a:endParaRPr lang="en-US" sz="1150" dirty="0"/>
          </a:p>
        </p:txBody>
      </p:sp>
      <p:sp>
        <p:nvSpPr>
          <p:cNvPr id="20" name="Text 18"/>
          <p:cNvSpPr/>
          <p:nvPr/>
        </p:nvSpPr>
        <p:spPr>
          <a:xfrm>
            <a:off x="6693408" y="1737360"/>
            <a:ext cx="109728" cy="502920"/>
          </a:xfrm>
          <a:prstGeom prst="rect">
            <a:avLst/>
          </a:prstGeom>
          <a:noFill/>
          <a:ln/>
        </p:spPr>
        <p:txBody>
          <a:bodyPr wrap="square" lIns="0" tIns="0" rIns="0" bIns="0" rtlCol="0" anchor="ctr"/>
          <a:lstStyle/>
          <a:p>
            <a:pPr marL="0" indent="0" algn="ctr">
              <a:buNone/>
            </a:pPr>
            <a:r>
              <a:rPr lang="en-US" sz="2000" b="1" dirty="0">
                <a:solidFill>
                  <a:srgbClr val="7AAAB8"/>
                </a:solidFill>
                <a:latin typeface="Calibri" pitchFamily="34" charset="0"/>
                <a:ea typeface="Calibri" pitchFamily="34" charset="-122"/>
                <a:cs typeface="Calibri" pitchFamily="34" charset="-120"/>
              </a:rPr>
              <a:t>→</a:t>
            </a:r>
            <a:endParaRPr lang="en-US" sz="2000" dirty="0"/>
          </a:p>
        </p:txBody>
      </p:sp>
      <p:sp>
        <p:nvSpPr>
          <p:cNvPr id="21" name="Shape 19"/>
          <p:cNvSpPr/>
          <p:nvPr/>
        </p:nvSpPr>
        <p:spPr>
          <a:xfrm>
            <a:off x="6793992" y="1371600"/>
            <a:ext cx="1508760" cy="1234440"/>
          </a:xfrm>
          <a:prstGeom prst="rect">
            <a:avLst/>
          </a:prstGeom>
          <a:solidFill>
            <a:srgbClr val="E05A4E"/>
          </a:solidFill>
          <a:ln w="12700">
            <a:solidFill>
              <a:srgbClr val="E05A4E"/>
            </a:solidFill>
            <a:prstDash val="solid"/>
          </a:ln>
          <a:effectLst>
            <a:outerShdw blurRad="101600" dist="38100" dir="8100000" algn="bl" rotWithShape="0">
              <a:srgbClr val="000000">
                <a:alpha val="10000"/>
              </a:srgbClr>
            </a:outerShdw>
          </a:effectLst>
        </p:spPr>
        <p:txBody>
          <a:bodyPr/>
          <a:lstStyle/>
          <a:p>
            <a:endParaRPr lang="en-US"/>
          </a:p>
        </p:txBody>
      </p:sp>
      <p:sp>
        <p:nvSpPr>
          <p:cNvPr id="22" name="Text 20"/>
          <p:cNvSpPr/>
          <p:nvPr/>
        </p:nvSpPr>
        <p:spPr>
          <a:xfrm>
            <a:off x="6793992" y="1417320"/>
            <a:ext cx="1508760" cy="5486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5</a:t>
            </a:r>
            <a:endParaRPr lang="en-US" sz="3200" dirty="0"/>
          </a:p>
        </p:txBody>
      </p:sp>
      <p:sp>
        <p:nvSpPr>
          <p:cNvPr id="23" name="Text 21"/>
          <p:cNvSpPr/>
          <p:nvPr/>
        </p:nvSpPr>
        <p:spPr>
          <a:xfrm>
            <a:off x="6793992" y="1901952"/>
            <a:ext cx="1508760" cy="62179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Close to Outcome</a:t>
            </a:r>
            <a:endParaRPr lang="en-US" sz="1150" dirty="0"/>
          </a:p>
        </p:txBody>
      </p:sp>
      <p:sp>
        <p:nvSpPr>
          <p:cNvPr id="24" name="Shape 22"/>
          <p:cNvSpPr/>
          <p:nvPr/>
        </p:nvSpPr>
        <p:spPr>
          <a:xfrm>
            <a:off x="320040" y="2852928"/>
            <a:ext cx="2606040" cy="1508760"/>
          </a:xfrm>
          <a:prstGeom prst="rect">
            <a:avLst/>
          </a:prstGeom>
          <a:solidFill>
            <a:srgbClr val="02C39A"/>
          </a:solidFill>
          <a:ln/>
          <a:effectLst>
            <a:outerShdw blurRad="101600" dist="38100" dir="8100000" algn="bl" rotWithShape="0">
              <a:srgbClr val="000000">
                <a:alpha val="10000"/>
              </a:srgbClr>
            </a:outerShdw>
          </a:effectLst>
        </p:spPr>
        <p:txBody>
          <a:bodyPr/>
          <a:lstStyle/>
          <a:p>
            <a:endParaRPr lang="en-US"/>
          </a:p>
        </p:txBody>
      </p:sp>
      <p:sp>
        <p:nvSpPr>
          <p:cNvPr id="25" name="Text 23"/>
          <p:cNvSpPr/>
          <p:nvPr/>
        </p:nvSpPr>
        <p:spPr>
          <a:xfrm>
            <a:off x="457200" y="2898648"/>
            <a:ext cx="2350008" cy="347472"/>
          </a:xfrm>
          <a:prstGeom prst="rect">
            <a:avLst/>
          </a:prstGeom>
          <a:noFill/>
          <a:ln/>
        </p:spPr>
        <p:txBody>
          <a:bodyPr wrap="square" lIns="0" tIns="0" rIns="0" bIns="0" rtlCol="0" anchor="ctr"/>
          <a:lstStyle/>
          <a:p>
            <a:pPr marL="0" indent="0">
              <a:buNone/>
            </a:pPr>
            <a:r>
              <a:rPr lang="en-US" sz="1500" b="1" kern="0" spc="100" dirty="0">
                <a:solidFill>
                  <a:srgbClr val="1C2E35"/>
                </a:solidFill>
                <a:latin typeface="Calibri" pitchFamily="34" charset="0"/>
                <a:ea typeface="Calibri" pitchFamily="34" charset="-122"/>
                <a:cs typeface="Calibri" pitchFamily="34" charset="-120"/>
              </a:rPr>
              <a:t>Always</a:t>
            </a:r>
            <a:endParaRPr lang="en-US" sz="1500" dirty="0"/>
          </a:p>
        </p:txBody>
      </p:sp>
      <p:sp>
        <p:nvSpPr>
          <p:cNvPr id="26" name="Text 24"/>
          <p:cNvSpPr/>
          <p:nvPr/>
        </p:nvSpPr>
        <p:spPr>
          <a:xfrm>
            <a:off x="457200" y="3246120"/>
            <a:ext cx="2350008" cy="1005840"/>
          </a:xfrm>
          <a:prstGeom prst="rect">
            <a:avLst/>
          </a:prstGeom>
          <a:noFill/>
          <a:ln/>
        </p:spPr>
        <p:txBody>
          <a:bodyPr wrap="square" lIns="0" tIns="0" rIns="0" bIns="0" rtlCol="0" anchor="ctr"/>
          <a:lstStyle/>
          <a:p>
            <a:pPr marL="0" indent="0">
              <a:buNone/>
            </a:pPr>
            <a:r>
              <a:rPr lang="en-US" sz="1250" dirty="0">
                <a:solidFill>
                  <a:srgbClr val="1C2E35"/>
                </a:solidFill>
                <a:latin typeface="Calibri" pitchFamily="34" charset="0"/>
                <a:ea typeface="Calibri" pitchFamily="34" charset="-122"/>
                <a:cs typeface="Calibri" pitchFamily="34" charset="-120"/>
              </a:rPr>
              <a:t>Connect features to revenue, retention, or efficiency — never demo in isolation.</a:t>
            </a:r>
            <a:endParaRPr lang="en-US" sz="1250" dirty="0"/>
          </a:p>
        </p:txBody>
      </p:sp>
      <p:sp>
        <p:nvSpPr>
          <p:cNvPr id="27" name="Shape 25"/>
          <p:cNvSpPr/>
          <p:nvPr/>
        </p:nvSpPr>
        <p:spPr>
          <a:xfrm>
            <a:off x="3131820" y="2852928"/>
            <a:ext cx="2606040" cy="1508760"/>
          </a:xfrm>
          <a:prstGeom prst="rect">
            <a:avLst/>
          </a:prstGeom>
          <a:solidFill>
            <a:srgbClr val="E05A4E"/>
          </a:solidFill>
          <a:ln/>
          <a:effectLst>
            <a:outerShdw blurRad="101600" dist="38100" dir="8100000" algn="bl" rotWithShape="0">
              <a:srgbClr val="000000">
                <a:alpha val="10000"/>
              </a:srgbClr>
            </a:outerShdw>
          </a:effectLst>
        </p:spPr>
        <p:txBody>
          <a:bodyPr/>
          <a:lstStyle/>
          <a:p>
            <a:endParaRPr lang="en-US"/>
          </a:p>
        </p:txBody>
      </p:sp>
      <p:sp>
        <p:nvSpPr>
          <p:cNvPr id="28" name="Text 26"/>
          <p:cNvSpPr/>
          <p:nvPr/>
        </p:nvSpPr>
        <p:spPr>
          <a:xfrm>
            <a:off x="3268980" y="2898648"/>
            <a:ext cx="2350008" cy="347472"/>
          </a:xfrm>
          <a:prstGeom prst="rect">
            <a:avLst/>
          </a:prstGeom>
          <a:noFill/>
          <a:ln/>
        </p:spPr>
        <p:txBody>
          <a:bodyPr wrap="square" lIns="0" tIns="0" rIns="0" bIns="0" rtlCol="0" anchor="ctr"/>
          <a:lstStyle/>
          <a:p>
            <a:pPr marL="0" indent="0">
              <a:buNone/>
            </a:pPr>
            <a:r>
              <a:rPr lang="en-US" sz="1500" b="1" kern="0" spc="100" dirty="0">
                <a:solidFill>
                  <a:srgbClr val="FFFFFF"/>
                </a:solidFill>
                <a:latin typeface="Calibri" pitchFamily="34" charset="0"/>
                <a:ea typeface="Calibri" pitchFamily="34" charset="-122"/>
                <a:cs typeface="Calibri" pitchFamily="34" charset="-120"/>
              </a:rPr>
              <a:t>Never</a:t>
            </a:r>
            <a:endParaRPr lang="en-US" sz="1500" dirty="0"/>
          </a:p>
        </p:txBody>
      </p:sp>
      <p:sp>
        <p:nvSpPr>
          <p:cNvPr id="29" name="Text 27"/>
          <p:cNvSpPr/>
          <p:nvPr/>
        </p:nvSpPr>
        <p:spPr>
          <a:xfrm>
            <a:off x="3268980" y="3246120"/>
            <a:ext cx="2350008" cy="10058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Jump to pricing before confirming the client sees the value in the solution.</a:t>
            </a:r>
            <a:endParaRPr lang="en-US" sz="1250" dirty="0"/>
          </a:p>
        </p:txBody>
      </p:sp>
      <p:sp>
        <p:nvSpPr>
          <p:cNvPr id="30" name="Shape 28"/>
          <p:cNvSpPr/>
          <p:nvPr/>
        </p:nvSpPr>
        <p:spPr>
          <a:xfrm>
            <a:off x="5943600" y="2852928"/>
            <a:ext cx="2606040" cy="1508760"/>
          </a:xfrm>
          <a:prstGeom prst="rect">
            <a:avLst/>
          </a:prstGeom>
          <a:solidFill>
            <a:srgbClr val="F59E0B"/>
          </a:solidFill>
          <a:ln/>
          <a:effectLst>
            <a:outerShdw blurRad="101600" dist="38100" dir="8100000" algn="bl" rotWithShape="0">
              <a:srgbClr val="000000">
                <a:alpha val="10000"/>
              </a:srgbClr>
            </a:outerShdw>
          </a:effectLst>
        </p:spPr>
        <p:txBody>
          <a:bodyPr/>
          <a:lstStyle/>
          <a:p>
            <a:endParaRPr lang="en-US"/>
          </a:p>
        </p:txBody>
      </p:sp>
      <p:sp>
        <p:nvSpPr>
          <p:cNvPr id="31" name="Text 29"/>
          <p:cNvSpPr/>
          <p:nvPr/>
        </p:nvSpPr>
        <p:spPr>
          <a:xfrm>
            <a:off x="6080760" y="2898648"/>
            <a:ext cx="2350008" cy="347472"/>
          </a:xfrm>
          <a:prstGeom prst="rect">
            <a:avLst/>
          </a:prstGeom>
          <a:noFill/>
          <a:ln/>
        </p:spPr>
        <p:txBody>
          <a:bodyPr wrap="square" lIns="0" tIns="0" rIns="0" bIns="0" rtlCol="0" anchor="ctr"/>
          <a:lstStyle/>
          <a:p>
            <a:pPr marL="0" indent="0">
              <a:buNone/>
            </a:pPr>
            <a:r>
              <a:rPr lang="en-US" sz="1500" b="1" kern="0" spc="100" dirty="0">
                <a:solidFill>
                  <a:srgbClr val="1C2E35"/>
                </a:solidFill>
                <a:latin typeface="Calibri" pitchFamily="34" charset="0"/>
                <a:ea typeface="Calibri" pitchFamily="34" charset="-122"/>
                <a:cs typeface="Calibri" pitchFamily="34" charset="-120"/>
              </a:rPr>
              <a:t>Remember</a:t>
            </a:r>
            <a:endParaRPr lang="en-US" sz="1500" dirty="0"/>
          </a:p>
        </p:txBody>
      </p:sp>
      <p:sp>
        <p:nvSpPr>
          <p:cNvPr id="32" name="Text 30"/>
          <p:cNvSpPr/>
          <p:nvPr/>
        </p:nvSpPr>
        <p:spPr>
          <a:xfrm>
            <a:off x="6080760" y="3246120"/>
            <a:ext cx="2350008" cy="1005840"/>
          </a:xfrm>
          <a:prstGeom prst="rect">
            <a:avLst/>
          </a:prstGeom>
          <a:noFill/>
          <a:ln/>
        </p:spPr>
        <p:txBody>
          <a:bodyPr wrap="square" lIns="0" tIns="0" rIns="0" bIns="0" rtlCol="0" anchor="ctr"/>
          <a:lstStyle/>
          <a:p>
            <a:pPr marL="0" indent="0">
              <a:buNone/>
            </a:pPr>
            <a:r>
              <a:rPr lang="en-US" sz="1250" dirty="0">
                <a:solidFill>
                  <a:srgbClr val="1C2E35"/>
                </a:solidFill>
                <a:latin typeface="Calibri" pitchFamily="34" charset="0"/>
                <a:ea typeface="Calibri" pitchFamily="34" charset="-122"/>
                <a:cs typeface="Calibri" pitchFamily="34" charset="-120"/>
              </a:rPr>
              <a:t>Salon &amp; spa owners think in growth, protection, and simplification — not features.</a:t>
            </a:r>
            <a:endParaRPr lang="en-US" sz="1250" dirty="0"/>
          </a:p>
        </p:txBody>
      </p:sp>
      <p:sp>
        <p:nvSpPr>
          <p:cNvPr id="33" name="Text 31"/>
          <p:cNvSpPr/>
          <p:nvPr/>
        </p:nvSpPr>
        <p:spPr>
          <a:xfrm>
            <a:off x="320040" y="4617720"/>
            <a:ext cx="8503920" cy="292608"/>
          </a:xfrm>
          <a:prstGeom prst="rect">
            <a:avLst/>
          </a:prstGeom>
          <a:noFill/>
          <a:ln/>
        </p:spPr>
        <p:txBody>
          <a:bodyPr wrap="square" lIns="0" tIns="0" rIns="0" bIns="0" rtlCol="0" anchor="ctr"/>
          <a:lstStyle/>
          <a:p>
            <a:pPr marL="0" indent="0" algn="ctr">
              <a:buNone/>
            </a:pPr>
            <a:r>
              <a:rPr lang="en-US" sz="1100" i="1" dirty="0">
                <a:solidFill>
                  <a:srgbClr val="7AAAB8"/>
                </a:solidFill>
                <a:latin typeface="Calibri" pitchFamily="34" charset="0"/>
                <a:ea typeface="Calibri" pitchFamily="34" charset="-122"/>
                <a:cs typeface="Calibri" pitchFamily="34" charset="-120"/>
              </a:rPr>
              <a:t>Meevo  ·  Customer Account Executive Training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1415</Words>
  <Application>Microsoft Office PowerPoint</Application>
  <PresentationFormat>On-screen Show (16:9)</PresentationFormat>
  <Paragraphs>266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CAE Demo &amp; Closing Training</dc:title>
  <dc:subject>PptxGenJS Presentation</dc:subject>
  <dc:creator>PptxGenJS</dc:creator>
  <cp:lastModifiedBy>Terry Moorehead</cp:lastModifiedBy>
  <cp:revision>1</cp:revision>
  <dcterms:created xsi:type="dcterms:W3CDTF">2026-02-19T20:47:21Z</dcterms:created>
  <dcterms:modified xsi:type="dcterms:W3CDTF">2026-02-19T20:52:50Z</dcterms:modified>
</cp:coreProperties>
</file>