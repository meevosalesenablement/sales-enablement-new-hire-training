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38480-3664-7E8E-8F23-3C1C36611FE5}" v="40" dt="2026-03-10T20:10:47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EE138480-3664-7E8E-8F23-3C1C36611FE5}"/>
    <pc:docChg chg="modSld">
      <pc:chgData name="Terry Moorehead" userId="S::tmoorehead@meevo.com::a2a6df63-b8e3-4cea-aa6c-ded8cdcb5bd7" providerId="AD" clId="Web-{EE138480-3664-7E8E-8F23-3C1C36611FE5}" dt="2026-03-10T20:10:47.516" v="39" actId="20577"/>
      <pc:docMkLst>
        <pc:docMk/>
      </pc:docMkLst>
      <pc:sldChg chg="delSp">
        <pc:chgData name="Terry Moorehead" userId="S::tmoorehead@meevo.com::a2a6df63-b8e3-4cea-aa6c-ded8cdcb5bd7" providerId="AD" clId="Web-{EE138480-3664-7E8E-8F23-3C1C36611FE5}" dt="2026-03-10T19:15:35.231" v="0"/>
        <pc:sldMkLst>
          <pc:docMk/>
          <pc:sldMk cId="0" sldId="256"/>
        </pc:sldMkLst>
        <pc:spChg chg="del">
          <ac:chgData name="Terry Moorehead" userId="S::tmoorehead@meevo.com::a2a6df63-b8e3-4cea-aa6c-ded8cdcb5bd7" providerId="AD" clId="Web-{EE138480-3664-7E8E-8F23-3C1C36611FE5}" dt="2026-03-10T19:15:35.231" v="0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E138480-3664-7E8E-8F23-3C1C36611FE5}" dt="2026-03-10T20:07:06.140" v="12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EE138480-3664-7E8E-8F23-3C1C36611FE5}" dt="2026-03-10T20:05:53.061" v="3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23.765" v="4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28.983" v="5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35.343" v="6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19:15:57.652" v="1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52.030" v="9" actId="20577"/>
          <ac:spMkLst>
            <pc:docMk/>
            <pc:sldMk cId="0" sldId="258"/>
            <ac:spMk id="39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41.562" v="7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06.140" v="12" actId="20577"/>
          <ac:spMkLst>
            <pc:docMk/>
            <pc:sldMk cId="0" sldId="258"/>
            <ac:spMk id="48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6:56.155" v="10" actId="1076"/>
          <ac:spMkLst>
            <pc:docMk/>
            <pc:sldMk cId="0" sldId="258"/>
            <ac:spMk id="50" creationId="{00000000-0000-0000-0000-000000000000}"/>
          </ac:spMkLst>
        </pc:spChg>
        <pc:picChg chg="mod">
          <ac:chgData name="Terry Moorehead" userId="S::tmoorehead@meevo.com::a2a6df63-b8e3-4cea-aa6c-ded8cdcb5bd7" providerId="AD" clId="Web-{EE138480-3664-7E8E-8F23-3C1C36611FE5}" dt="2026-03-10T19:16:00.027" v="2" actId="1076"/>
          <ac:picMkLst>
            <pc:docMk/>
            <pc:sldMk cId="0" sldId="258"/>
            <ac:picMk id="31" creationId="{00000000-0000-0000-0000-000000000000}"/>
          </ac:picMkLst>
        </pc:picChg>
        <pc:picChg chg="mod">
          <ac:chgData name="Terry Moorehead" userId="S::tmoorehead@meevo.com::a2a6df63-b8e3-4cea-aa6c-ded8cdcb5bd7" providerId="AD" clId="Web-{EE138480-3664-7E8E-8F23-3C1C36611FE5}" dt="2026-03-10T20:06:46.202" v="8" actId="1076"/>
          <ac:picMkLst>
            <pc:docMk/>
            <pc:sldMk cId="0" sldId="258"/>
            <ac:picMk id="40" creationId="{00000000-0000-0000-0000-000000000000}"/>
          </ac:picMkLst>
        </pc:picChg>
        <pc:picChg chg="mod">
          <ac:chgData name="Terry Moorehead" userId="S::tmoorehead@meevo.com::a2a6df63-b8e3-4cea-aa6c-ded8cdcb5bd7" providerId="AD" clId="Web-{EE138480-3664-7E8E-8F23-3C1C36611FE5}" dt="2026-03-10T20:06:59.796" v="11" actId="1076"/>
          <ac:picMkLst>
            <pc:docMk/>
            <pc:sldMk cId="0" sldId="258"/>
            <ac:picMk id="49" creationId="{00000000-0000-0000-0000-000000000000}"/>
          </ac:picMkLst>
        </pc:picChg>
      </pc:sldChg>
      <pc:sldChg chg="modSp">
        <pc:chgData name="Terry Moorehead" userId="S::tmoorehead@meevo.com::a2a6df63-b8e3-4cea-aa6c-ded8cdcb5bd7" providerId="AD" clId="Web-{EE138480-3664-7E8E-8F23-3C1C36611FE5}" dt="2026-03-10T20:10:47.516" v="39" actId="20577"/>
        <pc:sldMkLst>
          <pc:docMk/>
          <pc:sldMk cId="0" sldId="259"/>
        </pc:sldMkLst>
        <pc:spChg chg="mod">
          <ac:chgData name="Terry Moorehead" userId="S::tmoorehead@meevo.com::a2a6df63-b8e3-4cea-aa6c-ded8cdcb5bd7" providerId="AD" clId="Web-{EE138480-3664-7E8E-8F23-3C1C36611FE5}" dt="2026-03-10T20:10:47.516" v="3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14.265" v="13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22.624" v="15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27.405" v="16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32.468" v="17" actId="2057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7:39.874" v="18" actId="20577"/>
          <ac:spMkLst>
            <pc:docMk/>
            <pc:sldMk cId="0" sldId="259"/>
            <ac:spMk id="48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E138480-3664-7E8E-8F23-3C1C36611FE5}" dt="2026-03-10T20:10:29.750" v="38" actId="20577"/>
        <pc:sldMkLst>
          <pc:docMk/>
          <pc:sldMk cId="0" sldId="260"/>
        </pc:sldMkLst>
        <pc:spChg chg="mod">
          <ac:chgData name="Terry Moorehead" userId="S::tmoorehead@meevo.com::a2a6df63-b8e3-4cea-aa6c-ded8cdcb5bd7" providerId="AD" clId="Web-{EE138480-3664-7E8E-8F23-3C1C36611FE5}" dt="2026-03-10T20:10:29.750" v="38" actId="20577"/>
          <ac:spMkLst>
            <pc:docMk/>
            <pc:sldMk cId="0" sldId="260"/>
            <ac:spMk id="3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E138480-3664-7E8E-8F23-3C1C36611FE5}" dt="2026-03-10T20:08:04.187" v="20"/>
        <pc:sldMkLst>
          <pc:docMk/>
          <pc:sldMk cId="0" sldId="261"/>
        </pc:sldMkLst>
        <pc:spChg chg="del mod">
          <ac:chgData name="Terry Moorehead" userId="S::tmoorehead@meevo.com::a2a6df63-b8e3-4cea-aa6c-ded8cdcb5bd7" providerId="AD" clId="Web-{EE138480-3664-7E8E-8F23-3C1C36611FE5}" dt="2026-03-10T20:08:04.187" v="20"/>
          <ac:spMkLst>
            <pc:docMk/>
            <pc:sldMk cId="0" sldId="261"/>
            <ac:spMk id="9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E138480-3664-7E8E-8F23-3C1C36611FE5}" dt="2026-03-10T20:10:18.094" v="37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EE138480-3664-7E8E-8F23-3C1C36611FE5}" dt="2026-03-10T20:10:18.094" v="37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E138480-3664-7E8E-8F23-3C1C36611FE5}" dt="2026-03-10T20:10:08.359" v="36" actId="20577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EE138480-3664-7E8E-8F23-3C1C36611FE5}" dt="2026-03-10T20:10:08.359" v="36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8:27.624" v="22" actId="20577"/>
          <ac:spMkLst>
            <pc:docMk/>
            <pc:sldMk cId="0" sldId="263"/>
            <ac:spMk id="69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E138480-3664-7E8E-8F23-3C1C36611FE5}" dt="2026-03-10T20:09:20.015" v="33" actId="1076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EE138480-3664-7E8E-8F23-3C1C36611FE5}" dt="2026-03-10T20:08:33.999" v="23" actId="1076"/>
          <ac:spMkLst>
            <pc:docMk/>
            <pc:sldMk cId="0" sldId="264"/>
            <ac:spMk id="9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37.546" v="24"/>
          <ac:spMkLst>
            <pc:docMk/>
            <pc:sldMk cId="0" sldId="264"/>
            <ac:spMk id="13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40.765" v="25"/>
          <ac:spMkLst>
            <pc:docMk/>
            <pc:sldMk cId="0" sldId="264"/>
            <ac:spMk id="16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45.921" v="26"/>
          <ac:spMkLst>
            <pc:docMk/>
            <pc:sldMk cId="0" sldId="264"/>
            <ac:spMk id="20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51.405" v="27"/>
          <ac:spMkLst>
            <pc:docMk/>
            <pc:sldMk cId="0" sldId="264"/>
            <ac:spMk id="24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53.718" v="28"/>
          <ac:spMkLst>
            <pc:docMk/>
            <pc:sldMk cId="0" sldId="264"/>
            <ac:spMk id="28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8:58.484" v="29"/>
          <ac:spMkLst>
            <pc:docMk/>
            <pc:sldMk cId="0" sldId="264"/>
            <ac:spMk id="32" creationId="{00000000-0000-0000-0000-000000000000}"/>
          </ac:spMkLst>
        </pc:spChg>
        <pc:spChg chg="del">
          <ac:chgData name="Terry Moorehead" userId="S::tmoorehead@meevo.com::a2a6df63-b8e3-4cea-aa6c-ded8cdcb5bd7" providerId="AD" clId="Web-{EE138480-3664-7E8E-8F23-3C1C36611FE5}" dt="2026-03-10T20:09:13.734" v="32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9:20.015" v="33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E138480-3664-7E8E-8F23-3C1C36611FE5}" dt="2026-03-10T20:09:36.687" v="35" actId="1076"/>
        <pc:sldMkLst>
          <pc:docMk/>
          <pc:sldMk cId="0" sldId="265"/>
        </pc:sldMkLst>
        <pc:spChg chg="del">
          <ac:chgData name="Terry Moorehead" userId="S::tmoorehead@meevo.com::a2a6df63-b8e3-4cea-aa6c-ded8cdcb5bd7" providerId="AD" clId="Web-{EE138480-3664-7E8E-8F23-3C1C36611FE5}" dt="2026-03-10T20:09:32.109" v="34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EE138480-3664-7E8E-8F23-3C1C36611FE5}" dt="2026-03-10T20:09:36.687" v="35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4033E-3142-4F4E-AAA4-F1529396DF87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E5AC5-5B58-4DE4-A9CB-23715C84F7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0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Selling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00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&amp; Research Techniques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Warm Up Cold Prospects Before You Ever Pick Up the Phone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3383280"/>
            <a:ext cx="6766560" cy="50292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Optimization  •  Engagement Strategy  •  Connection Requests  •  Content Plays  •  DM Scripts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Social Selling Matters in Our World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and spa owners live on Instagram and LinkedIn. Social selling isn’t a nice-to-have — it’s a channel that warms up cold prospects before you ever dial.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1480" y="1554480"/>
            <a:ext cx="1920240" cy="54864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B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1148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social sellers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peers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don’t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6032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6032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connection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when you engage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calling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916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554480"/>
            <a:ext cx="19202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470916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opportunities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through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touches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5800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0" y="1554480"/>
            <a:ext cx="1920240" cy="54864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6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85800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investment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compounds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months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063240"/>
            <a:ext cx="54864" cy="5943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" y="30906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BEAUTY INDUSTRY ADVANTAGE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0080" y="3310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and spa owners are highly active on social media — it’s how they market their business. They check their DMs. They notice who likes their posts. They see who views their profile. You have a direct line to decision makers that most B2B reps would kill for.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7200" y="384048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0" name="Text 26"/>
          <p:cNvSpPr/>
          <p:nvPr/>
        </p:nvSpPr>
        <p:spPr>
          <a:xfrm>
            <a:off x="594360" y="3840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with no context</a:t>
            </a:r>
            <a:endParaRPr lang="en-US" sz="9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931920"/>
            <a:ext cx="146304" cy="146304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4114800" y="384048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114800" y="384048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4" name="Text 29"/>
          <p:cNvSpPr/>
          <p:nvPr/>
        </p:nvSpPr>
        <p:spPr>
          <a:xfrm>
            <a:off x="425196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call after social engagement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57200" y="434340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57200" y="434340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7" name="Text 32"/>
          <p:cNvSpPr/>
          <p:nvPr/>
        </p:nvSpPr>
        <p:spPr>
          <a:xfrm>
            <a:off x="594360" y="4343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connection request</a:t>
            </a:r>
            <a:endParaRPr lang="en-US" sz="9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434840"/>
            <a:ext cx="146304" cy="146304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114800" y="434340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114800" y="434340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1" name="Text 35"/>
          <p:cNvSpPr/>
          <p:nvPr/>
        </p:nvSpPr>
        <p:spPr>
          <a:xfrm>
            <a:off x="4251960" y="4343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request with trigger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4" name="Text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Your LinkedIn Profile — Your Digital First Impression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send a single connection request, your profile must position you as a trusted advisor — not a salesperson.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1371600"/>
            <a:ext cx="54864" cy="5943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1408176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65960" y="13898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Helping salon &amp; spa owners grow with technology that works  |  Meevo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1591056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65960" y="1572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at Millennium Systems International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5074920" y="1417320"/>
            <a:ext cx="36576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0"/>
          <p:cNvSpPr/>
          <p:nvPr/>
        </p:nvSpPr>
        <p:spPr>
          <a:xfrm>
            <a:off x="5212080" y="1389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want a partner, not a pitch. Lead with value, not your title.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457200" y="2029968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2"/>
          <p:cNvSpPr/>
          <p:nvPr/>
        </p:nvSpPr>
        <p:spPr>
          <a:xfrm>
            <a:off x="457200" y="2029968"/>
            <a:ext cx="54864" cy="5943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3"/>
          <p:cNvSpPr/>
          <p:nvPr/>
        </p:nvSpPr>
        <p:spPr>
          <a:xfrm>
            <a:off x="594360" y="2048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Image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066544"/>
            <a:ext cx="137160" cy="1371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65960" y="2048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Meevo-branded banner with tagline or value prop</a:t>
            </a: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2249424"/>
            <a:ext cx="137160" cy="1371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965960" y="22311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LinkedIn blue gradient</a:t>
            </a:r>
            <a:endParaRPr lang="en-US" sz="800" dirty="0"/>
          </a:p>
        </p:txBody>
      </p:sp>
      <p:sp>
        <p:nvSpPr>
          <p:cNvPr id="24" name="Shape 16"/>
          <p:cNvSpPr/>
          <p:nvPr/>
        </p:nvSpPr>
        <p:spPr>
          <a:xfrm>
            <a:off x="5074920" y="2075688"/>
            <a:ext cx="36576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5" name="Text 17"/>
          <p:cNvSpPr/>
          <p:nvPr/>
        </p:nvSpPr>
        <p:spPr>
          <a:xfrm>
            <a:off x="5212080" y="20482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visual impression. Shows you represent a real brand, not a cold caller.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457200" y="268833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457200" y="2688336"/>
            <a:ext cx="54864" cy="5943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8" name="Text 20"/>
          <p:cNvSpPr/>
          <p:nvPr/>
        </p:nvSpPr>
        <p:spPr>
          <a:xfrm>
            <a:off x="594360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Section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724912"/>
            <a:ext cx="137160" cy="1371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965960" y="27066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3–4 sentences: who you help, what you’ve seen work, and an invitation to connect. Write in first person.</a:t>
            </a: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2978251"/>
            <a:ext cx="137160" cy="1371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965960" y="2983449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Copy/paste of Meevo’s boilerplate or a resume-style list of responsibilities</a:t>
            </a:r>
            <a:endParaRPr lang="en-US" sz="800" dirty="0"/>
          </a:p>
        </p:txBody>
      </p:sp>
      <p:sp>
        <p:nvSpPr>
          <p:cNvPr id="33" name="Shape 23"/>
          <p:cNvSpPr/>
          <p:nvPr/>
        </p:nvSpPr>
        <p:spPr>
          <a:xfrm>
            <a:off x="5074920" y="2734056"/>
            <a:ext cx="36576" cy="5029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4" name="Text 24"/>
          <p:cNvSpPr/>
          <p:nvPr/>
        </p:nvSpPr>
        <p:spPr>
          <a:xfrm>
            <a:off x="5212080" y="27066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read this when deciding whether to accept your request. Make it about THEM.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457200" y="3346704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6" name="Shape 26"/>
          <p:cNvSpPr/>
          <p:nvPr/>
        </p:nvSpPr>
        <p:spPr>
          <a:xfrm>
            <a:off x="457200" y="3346704"/>
            <a:ext cx="54864" cy="59436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7" name="Text 27"/>
          <p:cNvSpPr/>
          <p:nvPr/>
        </p:nvSpPr>
        <p:spPr>
          <a:xfrm>
            <a:off x="594360" y="33649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Posts</a:t>
            </a:r>
            <a:endParaRPr lang="en-US" sz="1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383280"/>
            <a:ext cx="137160" cy="1371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965960" y="3364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Engage with 3–5 posts weekly. Share industry insights. Comment on owner posts.</a:t>
            </a:r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3667934"/>
            <a:ext cx="137160" cy="1371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965960" y="3641817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activity. Last post was 2019. Profile looks abandoned.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5074920" y="3392424"/>
            <a:ext cx="36576" cy="5029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3" name="Text 31"/>
          <p:cNvSpPr/>
          <p:nvPr/>
        </p:nvSpPr>
        <p:spPr>
          <a:xfrm>
            <a:off x="5212080" y="33649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profiles get 5x more profile views. Engagement builds familiarity before the call.</a:t>
            </a:r>
            <a:endParaRPr lang="en-US" sz="800" dirty="0"/>
          </a:p>
        </p:txBody>
      </p:sp>
      <p:sp>
        <p:nvSpPr>
          <p:cNvPr id="44" name="Shape 32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3"/>
          <p:cNvSpPr/>
          <p:nvPr/>
        </p:nvSpPr>
        <p:spPr>
          <a:xfrm>
            <a:off x="457200" y="4005072"/>
            <a:ext cx="54864" cy="59436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6" name="Text 34"/>
          <p:cNvSpPr/>
          <p:nvPr/>
        </p:nvSpPr>
        <p:spPr>
          <a:xfrm>
            <a:off x="594360" y="4023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Section</a:t>
            </a:r>
            <a:endParaRPr lang="en-US" sz="10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4041648"/>
            <a:ext cx="137160" cy="13716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965960" y="40233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Pin a case study, a useful industry stat, or a Meevo blog post that helps owners</a:t>
            </a:r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334131"/>
            <a:ext cx="137160" cy="13716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1965960" y="430801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a link to meevo.com homepage</a:t>
            </a:r>
            <a:endParaRPr lang="en-US" sz="800" dirty="0"/>
          </a:p>
        </p:txBody>
      </p:sp>
      <p:sp>
        <p:nvSpPr>
          <p:cNvPr id="51" name="Shape 37"/>
          <p:cNvSpPr/>
          <p:nvPr/>
        </p:nvSpPr>
        <p:spPr>
          <a:xfrm>
            <a:off x="5074920" y="4050792"/>
            <a:ext cx="36576" cy="50292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52" name="Text 38"/>
          <p:cNvSpPr/>
          <p:nvPr/>
        </p:nvSpPr>
        <p:spPr>
          <a:xfrm>
            <a:off x="5212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prospects something to learn from. Positions you as someone who adds value, not just sells.</a:t>
            </a:r>
            <a:endParaRPr lang="en-US" sz="800" dirty="0"/>
          </a:p>
        </p:txBody>
      </p:sp>
      <p:sp>
        <p:nvSpPr>
          <p:cNvPr id="53" name="Text 3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5" name="Text 4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Daily 5-Minute Social Selling Routine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7132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Shape 4"/>
          <p:cNvSpPr/>
          <p:nvPr/>
        </p:nvSpPr>
        <p:spPr>
          <a:xfrm>
            <a:off x="594360" y="914400"/>
            <a:ext cx="640080" cy="20116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914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9144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27632" y="896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10 Prospect Profiles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9436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Open your target list. View 10 profiles. That’s it. They get a notification. Name recognition starts building.</a:t>
            </a:r>
          </a:p>
        </p:txBody>
      </p:sp>
      <p:sp>
        <p:nvSpPr>
          <p:cNvPr id="13" name="Shape 8"/>
          <p:cNvSpPr/>
          <p:nvPr/>
        </p:nvSpPr>
        <p:spPr>
          <a:xfrm>
            <a:off x="4572000" y="914400"/>
            <a:ext cx="36576" cy="5943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9"/>
          <p:cNvSpPr/>
          <p:nvPr/>
        </p:nvSpPr>
        <p:spPr>
          <a:xfrm>
            <a:off x="470916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Do this every morning before you start dialing. By week 2, they’ve seen your name 5–10 times.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7200" y="167335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1673352"/>
            <a:ext cx="54864" cy="71323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Shape 12"/>
          <p:cNvSpPr/>
          <p:nvPr/>
        </p:nvSpPr>
        <p:spPr>
          <a:xfrm>
            <a:off x="594360" y="1719072"/>
            <a:ext cx="640080" cy="20116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3"/>
          <p:cNvSpPr/>
          <p:nvPr/>
        </p:nvSpPr>
        <p:spPr>
          <a:xfrm>
            <a:off x="594360" y="1719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</a:t>
            </a:r>
            <a:endParaRPr lang="en-US" sz="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1719072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27632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5 Prospect Posts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94360" y="201687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Scroll your feed. Find 5 posts from salon/spa owners or managers. Like them. Takes 30 seconds.</a:t>
            </a:r>
          </a:p>
        </p:txBody>
      </p:sp>
      <p:sp>
        <p:nvSpPr>
          <p:cNvPr id="22" name="Shape 16"/>
          <p:cNvSpPr/>
          <p:nvPr/>
        </p:nvSpPr>
        <p:spPr>
          <a:xfrm>
            <a:off x="4572000" y="1719072"/>
            <a:ext cx="36576" cy="5943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7"/>
          <p:cNvSpPr/>
          <p:nvPr/>
        </p:nvSpPr>
        <p:spPr>
          <a:xfrm>
            <a:off x="4709160" y="17190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Likes are low-effort for you, high-visibility for them. They see you showing up consistently.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2478024"/>
            <a:ext cx="54864" cy="71323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2523744"/>
            <a:ext cx="640080" cy="20116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7" name="Text 21"/>
          <p:cNvSpPr/>
          <p:nvPr/>
        </p:nvSpPr>
        <p:spPr>
          <a:xfrm>
            <a:off x="594360" y="2523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3</a:t>
            </a:r>
            <a:endParaRPr lang="en-US" sz="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2523744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27632" y="2505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2–3 Posts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94360" y="27980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Leave a genuine comment on 2–3 posts. Congratulate a new hire. Ask a question about their business. Reference something specific.</a:t>
            </a:r>
          </a:p>
        </p:txBody>
      </p:sp>
      <p:sp>
        <p:nvSpPr>
          <p:cNvPr id="31" name="Shape 24"/>
          <p:cNvSpPr/>
          <p:nvPr/>
        </p:nvSpPr>
        <p:spPr>
          <a:xfrm>
            <a:off x="4572000" y="2523744"/>
            <a:ext cx="36576" cy="5943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2" name="Text 25"/>
          <p:cNvSpPr/>
          <p:nvPr/>
        </p:nvSpPr>
        <p:spPr>
          <a:xfrm>
            <a:off x="4709160" y="2523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Comments &gt; Likes. A thoughtful comment puts your name in front of their entire network.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57200" y="328269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57200" y="3282696"/>
            <a:ext cx="54864" cy="71323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5" name="Shape 28"/>
          <p:cNvSpPr/>
          <p:nvPr/>
        </p:nvSpPr>
        <p:spPr>
          <a:xfrm>
            <a:off x="594360" y="3328416"/>
            <a:ext cx="640080" cy="20116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6" name="Text 29"/>
          <p:cNvSpPr/>
          <p:nvPr/>
        </p:nvSpPr>
        <p:spPr>
          <a:xfrm>
            <a:off x="594360" y="33284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4</a:t>
            </a:r>
            <a:endParaRPr lang="en-US" sz="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328416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27632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2–3 Connection Requests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94360" y="3602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Send personalized connection requests to prospects you’re about to call or have recently engaged with.</a:t>
            </a:r>
          </a:p>
        </p:txBody>
      </p:sp>
      <p:sp>
        <p:nvSpPr>
          <p:cNvPr id="40" name="Shape 32"/>
          <p:cNvSpPr/>
          <p:nvPr/>
        </p:nvSpPr>
        <p:spPr>
          <a:xfrm>
            <a:off x="4572000" y="3328416"/>
            <a:ext cx="36576" cy="59436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1" name="Text 33"/>
          <p:cNvSpPr/>
          <p:nvPr/>
        </p:nvSpPr>
        <p:spPr>
          <a:xfrm>
            <a:off x="4709160" y="33284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Never send the default “I’d like to connect.” Always personalize with a trigger or observation.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7200" y="4087368"/>
            <a:ext cx="54864" cy="71323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4" name="Shape 36"/>
          <p:cNvSpPr/>
          <p:nvPr/>
        </p:nvSpPr>
        <p:spPr>
          <a:xfrm>
            <a:off x="594360" y="4133088"/>
            <a:ext cx="640080" cy="20116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5" name="Text 37"/>
          <p:cNvSpPr/>
          <p:nvPr/>
        </p:nvSpPr>
        <p:spPr>
          <a:xfrm>
            <a:off x="594360" y="4133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</a:t>
            </a:r>
            <a:endParaRPr lang="en-US" sz="8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880" y="4133088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627632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1–2 DMs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59436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Send a low-pressure DM to a warm connection. Not a pitch — a value-add or question.</a:t>
            </a:r>
          </a:p>
        </p:txBody>
      </p:sp>
      <p:sp>
        <p:nvSpPr>
          <p:cNvPr id="49" name="Shape 40"/>
          <p:cNvSpPr/>
          <p:nvPr/>
        </p:nvSpPr>
        <p:spPr>
          <a:xfrm>
            <a:off x="4572000" y="4133088"/>
            <a:ext cx="36576" cy="59436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50" name="Text 41"/>
          <p:cNvSpPr/>
          <p:nvPr/>
        </p:nvSpPr>
        <p:spPr>
          <a:xfrm>
            <a:off x="4709160" y="41330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DMs convert at 3–5x the rate of cold calls when the prospect has already seen your name.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3" name="Text 4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Connection Request Scripts — Never Send the Default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request must be personalized. The default “I’d like to connect” gets ignored 90% of the time.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3716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389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They posted about growth / new hire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429000" y="1417320"/>
            <a:ext cx="36576" cy="53035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8"/>
          <p:cNvSpPr/>
          <p:nvPr/>
        </p:nvSpPr>
        <p:spPr>
          <a:xfrm>
            <a:off x="3566160" y="13898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Nicole! Congrats on the new addition to the team — love seeing salons grow like this. I work with a lot of salon owners in [city] and would love to connect. No pitch, just think we run in similar circles. – Terry”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" y="2057400"/>
            <a:ext cx="8229600" cy="621792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057400"/>
            <a:ext cx="54864" cy="62179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2075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They’re in a beauty industry group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429000" y="2103120"/>
            <a:ext cx="36576" cy="53035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20756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Jason — saw we’re both in the Salon Business Owners group. I work with salons and spas on the tech side and always enjoy connecting with owners who are serious about growth. Would love to be in your network. – Terry”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7200" y="27432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743200"/>
            <a:ext cx="54864" cy="62179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You’re about to cold call them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429000" y="2788920"/>
            <a:ext cx="36576" cy="53035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2" name="Text 18"/>
          <p:cNvSpPr/>
          <p:nvPr/>
        </p:nvSpPr>
        <p:spPr>
          <a:xfrm>
            <a:off x="3566160" y="27614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Sarah — I was doing some research on spas in [city] and came across your business. Really impressive what you’ve built. I’d love to connect — I share a lot of content around spa growth and technology. – Terry”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" y="3429000"/>
            <a:ext cx="54864" cy="62179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5" name="Text 21"/>
          <p:cNvSpPr/>
          <p:nvPr/>
        </p:nvSpPr>
        <p:spPr>
          <a:xfrm>
            <a:off x="594360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They recently launched memberships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429000" y="3474720"/>
            <a:ext cx="36576" cy="53035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7" name="Text 23"/>
          <p:cNvSpPr/>
          <p:nvPr/>
        </p:nvSpPr>
        <p:spPr>
          <a:xfrm>
            <a:off x="3566160" y="34472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Maria! Saw you launched a membership program — that’s a huge move. I work with salon owners who’ve made memberships their #1 revenue driver. Happy to share what’s been working if you’re ever curious. – Terry”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7200" y="4114800"/>
            <a:ext cx="54864" cy="62179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0" name="Text 26"/>
          <p:cNvSpPr/>
          <p:nvPr/>
        </p:nvSpPr>
        <p:spPr>
          <a:xfrm>
            <a:off x="594360" y="4133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Post-call / post-demo follow-up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429000" y="4160520"/>
            <a:ext cx="36576" cy="53035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2" name="Text 28"/>
          <p:cNvSpPr/>
          <p:nvPr/>
        </p:nvSpPr>
        <p:spPr>
          <a:xfrm>
            <a:off x="3566160" y="41330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Nicole — great chatting earlier! Wanted to connect here so you can put a face to the name. Looking forward to staying in touch either way. – Terry”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PLAYS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 Scripts, Content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&amp; Multi-Channel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plays that turn LinkedIn connections into booked meetings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LinkedIn DM Scripts — Value First, Ask Second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8B6F7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89611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896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VALUE-ADD DM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115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After they accept your connection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291840" y="914400"/>
            <a:ext cx="36576" cy="7772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1" name="Text 7"/>
          <p:cNvSpPr/>
          <p:nvPr/>
        </p:nvSpPr>
        <p:spPr>
          <a:xfrm>
            <a:off x="3429000" y="914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Nicole, thanks for connecting! I noticed you recently launched a membership program — congrats. I actually just helped a 15-chair salon in [city] grow their membership revenue 35% in 90 days. Happy to share what worked if you’re curious. No pitch — just thought it might be relevant.”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7200" y="187452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1874520"/>
            <a:ext cx="54864" cy="89611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SHARE DM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1214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After engaging with their content 2–3 times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91840" y="1920240"/>
            <a:ext cx="36576" cy="77724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3429000" y="1920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Jason — loved your post about rebooking. We actually just put out some data on how salons are using automation to hit 85%+ rebook rates. Thought of you immediately. Want me to send it over?”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7200" y="288036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880360"/>
            <a:ext cx="54864" cy="89611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BRIDGE DM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" y="3127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Before you cold call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291840" y="2926080"/>
            <a:ext cx="36576" cy="7772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3" name="Text 19"/>
          <p:cNvSpPr/>
          <p:nvPr/>
        </p:nvSpPr>
        <p:spPr>
          <a:xfrm>
            <a:off x="34290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Sarah — I’ve been doing some research on growing spas in [city] and your business keeps coming up. Impressive growth! I work with a lot of spa owners on the technology side and had a quick thought I wanted to share. Mind if I give you a call this week?”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57200" y="388620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886200"/>
            <a:ext cx="54864" cy="89611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" y="3913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BREAKUP DM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0080" y="4133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After 2 DMs with no response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291840" y="3931920"/>
            <a:ext cx="36576" cy="77724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9" name="Text 25"/>
          <p:cNvSpPr/>
          <p:nvPr/>
        </p:nvSpPr>
        <p:spPr>
          <a:xfrm>
            <a:off x="3429000" y="3931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 — I know you’re busy running a business, so I’ll keep it short. I sent a note a while back about some membership growth strategies. If the timing isn’t right, totally get it. But if you’re ever curious, I’m a quick message away. All the best! – Terry”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2" name="Text 2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Multi-Channel Sequence — Social + Phone + Email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selling doesn’t replace cold calling — it supercharges it. The best reps layer social touches into their outreach sequence.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1371600"/>
            <a:ext cx="54864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280160" y="1417320"/>
            <a:ext cx="822960" cy="1828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8"/>
          <p:cNvSpPr/>
          <p:nvPr/>
        </p:nvSpPr>
        <p:spPr>
          <a:xfrm>
            <a:off x="1280160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2240280" y="1371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LinkedIn profile + like a recent post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1691640"/>
            <a:ext cx="54864" cy="2743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280160" y="1737360"/>
            <a:ext cx="822960" cy="1828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4"/>
          <p:cNvSpPr/>
          <p:nvPr/>
        </p:nvSpPr>
        <p:spPr>
          <a:xfrm>
            <a:off x="1280160" y="1737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224028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attempt #1 → leave trigger-based voicemail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" y="2011680"/>
            <a:ext cx="54864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1280160" y="2057400"/>
            <a:ext cx="822960" cy="1828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4" name="Text 20"/>
          <p:cNvSpPr/>
          <p:nvPr/>
        </p:nvSpPr>
        <p:spPr>
          <a:xfrm>
            <a:off x="1280160" y="2057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2240280" y="2011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personalized connection request (reference the trigger)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7" name="Shape 23"/>
          <p:cNvSpPr/>
          <p:nvPr/>
        </p:nvSpPr>
        <p:spPr>
          <a:xfrm>
            <a:off x="457200" y="2331720"/>
            <a:ext cx="54864" cy="2743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8" name="Text 24"/>
          <p:cNvSpPr/>
          <p:nvPr/>
        </p:nvSpPr>
        <p:spPr>
          <a:xfrm>
            <a:off x="59436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280160" y="2377440"/>
            <a:ext cx="822960" cy="1828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0" name="Text 26"/>
          <p:cNvSpPr/>
          <p:nvPr/>
        </p:nvSpPr>
        <p:spPr>
          <a:xfrm>
            <a:off x="1280160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2240280" y="2331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cold email with trigger + curiosity gap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57200" y="2651760"/>
            <a:ext cx="54864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4" name="Text 30"/>
          <p:cNvSpPr/>
          <p:nvPr/>
        </p:nvSpPr>
        <p:spPr>
          <a:xfrm>
            <a:off x="594360" y="2651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1280160" y="2697480"/>
            <a:ext cx="822960" cy="1828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6" name="Text 32"/>
          <p:cNvSpPr/>
          <p:nvPr/>
        </p:nvSpPr>
        <p:spPr>
          <a:xfrm>
            <a:off x="1280160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2240280" y="2651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one of their posts (genuine, specific)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57200" y="2971800"/>
            <a:ext cx="54864" cy="2743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40" name="Text 36"/>
          <p:cNvSpPr/>
          <p:nvPr/>
        </p:nvSpPr>
        <p:spPr>
          <a:xfrm>
            <a:off x="59436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1280160" y="3017520"/>
            <a:ext cx="822960" cy="1828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42" name="Text 38"/>
          <p:cNvSpPr/>
          <p:nvPr/>
        </p:nvSpPr>
        <p:spPr>
          <a:xfrm>
            <a:off x="1280160" y="3017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2240280" y="2971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attempt #2 → social proof voicemail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1"/>
          <p:cNvSpPr/>
          <p:nvPr/>
        </p:nvSpPr>
        <p:spPr>
          <a:xfrm>
            <a:off x="457200" y="3291840"/>
            <a:ext cx="54864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6" name="Text 42"/>
          <p:cNvSpPr/>
          <p:nvPr/>
        </p:nvSpPr>
        <p:spPr>
          <a:xfrm>
            <a:off x="59436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1280160" y="3337560"/>
            <a:ext cx="822960" cy="1828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8" name="Text 44"/>
          <p:cNvSpPr/>
          <p:nvPr/>
        </p:nvSpPr>
        <p:spPr>
          <a:xfrm>
            <a:off x="1280160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2240280" y="32918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value-add DM (if connected) or InMail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51" name="Shape 47"/>
          <p:cNvSpPr/>
          <p:nvPr/>
        </p:nvSpPr>
        <p:spPr>
          <a:xfrm>
            <a:off x="457200" y="3611880"/>
            <a:ext cx="54864" cy="2743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52" name="Text 48"/>
          <p:cNvSpPr/>
          <p:nvPr/>
        </p:nvSpPr>
        <p:spPr>
          <a:xfrm>
            <a:off x="594360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1280160" y="3657600"/>
            <a:ext cx="822960" cy="1828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54" name="Text 50"/>
          <p:cNvSpPr/>
          <p:nvPr/>
        </p:nvSpPr>
        <p:spPr>
          <a:xfrm>
            <a:off x="1280160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2240280" y="3611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 with case study or helpful content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3"/>
          <p:cNvSpPr/>
          <p:nvPr/>
        </p:nvSpPr>
        <p:spPr>
          <a:xfrm>
            <a:off x="457200" y="3931920"/>
            <a:ext cx="54864" cy="2743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58" name="Text 54"/>
          <p:cNvSpPr/>
          <p:nvPr/>
        </p:nvSpPr>
        <p:spPr>
          <a:xfrm>
            <a:off x="59436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1280160" y="3977640"/>
            <a:ext cx="822960" cy="1828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60" name="Text 56"/>
          <p:cNvSpPr/>
          <p:nvPr/>
        </p:nvSpPr>
        <p:spPr>
          <a:xfrm>
            <a:off x="12801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2240280" y="3931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attempt #3 → breakup voicemail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63" name="Shape 59"/>
          <p:cNvSpPr/>
          <p:nvPr/>
        </p:nvSpPr>
        <p:spPr>
          <a:xfrm>
            <a:off x="457200" y="4251960"/>
            <a:ext cx="54864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4" name="Text 60"/>
          <p:cNvSpPr/>
          <p:nvPr/>
        </p:nvSpPr>
        <p:spPr>
          <a:xfrm>
            <a:off x="594360" y="4251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1280160" y="4297680"/>
            <a:ext cx="822960" cy="1828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6" name="Text 62"/>
          <p:cNvSpPr/>
          <p:nvPr/>
        </p:nvSpPr>
        <p:spPr>
          <a:xfrm>
            <a:off x="1280160" y="4297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2240280" y="42519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Breakup DM if no response on LinkedIn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69" name="Text 6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By Day 9, they’ve seen your name 8–10 times across 3 channels. You’re no longer a stranger — you’re that person who keeps showing up.</a:t>
            </a:r>
            <a:endParaRPr lang="en-US" sz="95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Text 6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72" name="Text 6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896127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LinkedIn profile using the optimization checklist on slide 3. Screenshot before/after and share with the team.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5-minute daily routine tomorrow. Track it for 2 weeks. Log profile views, connection accepts, and DM responses.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personalized connection requests for accounts you’re about to call. Use a different trigger for each one.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DM scripts: value-add, content share, and warm bridge. Practice delivering them out loud.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10-day multi-channel sequence for your top 5 accounts. Map every touch across LinkedIn, phone, and email.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join 2 beauty/wellness LinkedIn groups. Comment on 3 posts in each group this week.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LinkedIn profile is optimized: headline, banner, about, and featured section all position me as a trusted advisor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execute the 5-minute daily routine consistently (view, like, comment, connect, DM)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send the default connection request — every one is personalized with a trigger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layer social touches into my outreach sequence alongside phone and email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I’ve booked at least one meeting through LinkedIn engagement in the last 30 days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engage with prospect content genuinely — not just “great post!” but specific, thoughtful comments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893293" y="4276699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selling doesn’t replace cold calling — it supercharges it. The best reps use both.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LinkedIn profile is your digital first impression. Optimize it before you send a single request.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daily routine: View 10 profiles, like 5 posts, comment on 2–3, send 2–3 connections, send 1–2 DMs.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send the default connection request. Personalize every one with a trigger or observation.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scripts follow the same principle as voicemails: value first, ask second. Create curiosity, not pressure.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multi-channel sequence layers social + phone + email across 9–10 days. By the end, you’re not a stranger.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and spa owners are active on social — they check DMs, notice likes, and see profile views. Use that.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a day. Compounded over months, that’s hundreds of warm touches. This is the controllable that compounds.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459392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34</cp:revision>
  <dcterms:created xsi:type="dcterms:W3CDTF">2026-03-10T19:11:17Z</dcterms:created>
  <dcterms:modified xsi:type="dcterms:W3CDTF">2026-03-10T20:10:49Z</dcterms:modified>
</cp:coreProperties>
</file>