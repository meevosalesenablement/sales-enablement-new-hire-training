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y Moorehead" userId="a2a6df63-b8e3-4cea-aa6c-ded8cdcb5bd7" providerId="ADAL" clId="{1DB60B36-D7D3-4578-BB50-9DD269F0B249}"/>
    <pc:docChg chg="modSld">
      <pc:chgData name="Terry Moorehead" userId="a2a6df63-b8e3-4cea-aa6c-ded8cdcb5bd7" providerId="ADAL" clId="{1DB60B36-D7D3-4578-BB50-9DD269F0B249}" dt="2026-03-05T14:55:28.363" v="35" actId="20577"/>
      <pc:docMkLst>
        <pc:docMk/>
      </pc:docMkLst>
      <pc:sldChg chg="modSp mod">
        <pc:chgData name="Terry Moorehead" userId="a2a6df63-b8e3-4cea-aa6c-ded8cdcb5bd7" providerId="ADAL" clId="{1DB60B36-D7D3-4578-BB50-9DD269F0B249}" dt="2026-03-05T14:52:30.129" v="3" actId="20577"/>
        <pc:sldMkLst>
          <pc:docMk/>
          <pc:sldMk cId="0" sldId="257"/>
        </pc:sldMkLst>
        <pc:spChg chg="mod">
          <ac:chgData name="Terry Moorehead" userId="a2a6df63-b8e3-4cea-aa6c-ded8cdcb5bd7" providerId="ADAL" clId="{1DB60B36-D7D3-4578-BB50-9DD269F0B249}" dt="2026-03-05T14:52:20.264" v="2" actId="20577"/>
          <ac:spMkLst>
            <pc:docMk/>
            <pc:sldMk cId="0" sldId="257"/>
            <ac:spMk id="3" creationId="{00000000-0000-0000-0000-000000000000}"/>
          </ac:spMkLst>
        </pc:spChg>
        <pc:spChg chg="mod">
          <ac:chgData name="Terry Moorehead" userId="a2a6df63-b8e3-4cea-aa6c-ded8cdcb5bd7" providerId="ADAL" clId="{1DB60B36-D7D3-4578-BB50-9DD269F0B249}" dt="2026-03-05T14:52:30.129" v="3" actId="20577"/>
          <ac:spMkLst>
            <pc:docMk/>
            <pc:sldMk cId="0" sldId="257"/>
            <ac:spMk id="19" creationId="{00000000-0000-0000-0000-000000000000}"/>
          </ac:spMkLst>
        </pc:spChg>
      </pc:sldChg>
      <pc:sldChg chg="modSp mod">
        <pc:chgData name="Terry Moorehead" userId="a2a6df63-b8e3-4cea-aa6c-ded8cdcb5bd7" providerId="ADAL" clId="{1DB60B36-D7D3-4578-BB50-9DD269F0B249}" dt="2026-03-05T14:53:08.624" v="6" actId="20577"/>
        <pc:sldMkLst>
          <pc:docMk/>
          <pc:sldMk cId="0" sldId="258"/>
        </pc:sldMkLst>
        <pc:spChg chg="mod">
          <ac:chgData name="Terry Moorehead" userId="a2a6df63-b8e3-4cea-aa6c-ded8cdcb5bd7" providerId="ADAL" clId="{1DB60B36-D7D3-4578-BB50-9DD269F0B249}" dt="2026-03-05T14:53:08.624" v="6" actId="20577"/>
          <ac:spMkLst>
            <pc:docMk/>
            <pc:sldMk cId="0" sldId="258"/>
            <ac:spMk id="3" creationId="{00000000-0000-0000-0000-000000000000}"/>
          </ac:spMkLst>
        </pc:spChg>
      </pc:sldChg>
      <pc:sldChg chg="modSp mod">
        <pc:chgData name="Terry Moorehead" userId="a2a6df63-b8e3-4cea-aa6c-ded8cdcb5bd7" providerId="ADAL" clId="{1DB60B36-D7D3-4578-BB50-9DD269F0B249}" dt="2026-03-05T14:55:08.770" v="19" actId="1076"/>
        <pc:sldMkLst>
          <pc:docMk/>
          <pc:sldMk cId="0" sldId="259"/>
        </pc:sldMkLst>
        <pc:spChg chg="mod">
          <ac:chgData name="Terry Moorehead" userId="a2a6df63-b8e3-4cea-aa6c-ded8cdcb5bd7" providerId="ADAL" clId="{1DB60B36-D7D3-4578-BB50-9DD269F0B249}" dt="2026-03-05T14:55:08.770" v="19" actId="1076"/>
          <ac:spMkLst>
            <pc:docMk/>
            <pc:sldMk cId="0" sldId="259"/>
            <ac:spMk id="3" creationId="{00000000-0000-0000-0000-000000000000}"/>
          </ac:spMkLst>
        </pc:spChg>
        <pc:spChg chg="mod">
          <ac:chgData name="Terry Moorehead" userId="a2a6df63-b8e3-4cea-aa6c-ded8cdcb5bd7" providerId="ADAL" clId="{1DB60B36-D7D3-4578-BB50-9DD269F0B249}" dt="2026-03-05T14:53:39.285" v="8" actId="207"/>
          <ac:spMkLst>
            <pc:docMk/>
            <pc:sldMk cId="0" sldId="259"/>
            <ac:spMk id="11" creationId="{00000000-0000-0000-0000-000000000000}"/>
          </ac:spMkLst>
        </pc:spChg>
        <pc:spChg chg="mod">
          <ac:chgData name="Terry Moorehead" userId="a2a6df63-b8e3-4cea-aa6c-ded8cdcb5bd7" providerId="ADAL" clId="{1DB60B36-D7D3-4578-BB50-9DD269F0B249}" dt="2026-03-05T14:53:48.914" v="9" actId="207"/>
          <ac:spMkLst>
            <pc:docMk/>
            <pc:sldMk cId="0" sldId="259"/>
            <ac:spMk id="17" creationId="{00000000-0000-0000-0000-000000000000}"/>
          </ac:spMkLst>
        </pc:spChg>
        <pc:spChg chg="mod">
          <ac:chgData name="Terry Moorehead" userId="a2a6df63-b8e3-4cea-aa6c-ded8cdcb5bd7" providerId="ADAL" clId="{1DB60B36-D7D3-4578-BB50-9DD269F0B249}" dt="2026-03-05T14:53:22.853" v="7" actId="207"/>
          <ac:spMkLst>
            <pc:docMk/>
            <pc:sldMk cId="0" sldId="259"/>
            <ac:spMk id="19" creationId="{00000000-0000-0000-0000-000000000000}"/>
          </ac:spMkLst>
        </pc:spChg>
        <pc:spChg chg="mod">
          <ac:chgData name="Terry Moorehead" userId="a2a6df63-b8e3-4cea-aa6c-ded8cdcb5bd7" providerId="ADAL" clId="{1DB60B36-D7D3-4578-BB50-9DD269F0B249}" dt="2026-03-05T14:54:09.271" v="10" actId="207"/>
          <ac:spMkLst>
            <pc:docMk/>
            <pc:sldMk cId="0" sldId="259"/>
            <ac:spMk id="26" creationId="{00000000-0000-0000-0000-000000000000}"/>
          </ac:spMkLst>
        </pc:spChg>
        <pc:spChg chg="mod">
          <ac:chgData name="Terry Moorehead" userId="a2a6df63-b8e3-4cea-aa6c-ded8cdcb5bd7" providerId="ADAL" clId="{1DB60B36-D7D3-4578-BB50-9DD269F0B249}" dt="2026-03-05T14:54:16.922" v="11" actId="207"/>
          <ac:spMkLst>
            <pc:docMk/>
            <pc:sldMk cId="0" sldId="259"/>
            <ac:spMk id="31" creationId="{00000000-0000-0000-0000-000000000000}"/>
          </ac:spMkLst>
        </pc:spChg>
        <pc:spChg chg="mod">
          <ac:chgData name="Terry Moorehead" userId="a2a6df63-b8e3-4cea-aa6c-ded8cdcb5bd7" providerId="ADAL" clId="{1DB60B36-D7D3-4578-BB50-9DD269F0B249}" dt="2026-03-05T14:54:23.457" v="12" actId="207"/>
          <ac:spMkLst>
            <pc:docMk/>
            <pc:sldMk cId="0" sldId="259"/>
            <ac:spMk id="36" creationId="{00000000-0000-0000-0000-000000000000}"/>
          </ac:spMkLst>
        </pc:spChg>
        <pc:spChg chg="mod">
          <ac:chgData name="Terry Moorehead" userId="a2a6df63-b8e3-4cea-aa6c-ded8cdcb5bd7" providerId="ADAL" clId="{1DB60B36-D7D3-4578-BB50-9DD269F0B249}" dt="2026-03-05T14:54:32.255" v="13" actId="207"/>
          <ac:spMkLst>
            <pc:docMk/>
            <pc:sldMk cId="0" sldId="259"/>
            <ac:spMk id="41" creationId="{00000000-0000-0000-0000-000000000000}"/>
          </ac:spMkLst>
        </pc:spChg>
        <pc:spChg chg="mod">
          <ac:chgData name="Terry Moorehead" userId="a2a6df63-b8e3-4cea-aa6c-ded8cdcb5bd7" providerId="ADAL" clId="{1DB60B36-D7D3-4578-BB50-9DD269F0B249}" dt="2026-03-05T14:54:39.734" v="14" actId="207"/>
          <ac:spMkLst>
            <pc:docMk/>
            <pc:sldMk cId="0" sldId="259"/>
            <ac:spMk id="46" creationId="{00000000-0000-0000-0000-000000000000}"/>
          </ac:spMkLst>
        </pc:spChg>
      </pc:sldChg>
      <pc:sldChg chg="modSp mod">
        <pc:chgData name="Terry Moorehead" userId="a2a6df63-b8e3-4cea-aa6c-ded8cdcb5bd7" providerId="ADAL" clId="{1DB60B36-D7D3-4578-BB50-9DD269F0B249}" dt="2026-03-05T14:55:28.363" v="35" actId="20577"/>
        <pc:sldMkLst>
          <pc:docMk/>
          <pc:sldMk cId="0" sldId="260"/>
        </pc:sldMkLst>
        <pc:spChg chg="mod">
          <ac:chgData name="Terry Moorehead" userId="a2a6df63-b8e3-4cea-aa6c-ded8cdcb5bd7" providerId="ADAL" clId="{1DB60B36-D7D3-4578-BB50-9DD269F0B249}" dt="2026-03-05T14:55:28.363" v="35" actId="20577"/>
          <ac:spMkLst>
            <pc:docMk/>
            <pc:sldMk cId="0" sldId="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325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txBody>
          <a:bodyPr/>
          <a:lstStyle/>
          <a:p>
            <a:endParaRPr lang="en-US"/>
          </a:p>
        </p:txBody>
      </p:sp>
      <p:sp>
        <p:nvSpPr>
          <p:cNvPr id="3" name="Shape 1"/>
          <p:cNvSpPr/>
          <p:nvPr/>
        </p:nvSpPr>
        <p:spPr>
          <a:xfrm>
            <a:off x="109728" y="0"/>
            <a:ext cx="9034272" cy="54864"/>
          </a:xfrm>
          <a:prstGeom prst="rect">
            <a:avLst/>
          </a:prstGeom>
          <a:solidFill>
            <a:srgbClr val="1B6B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Shape 2"/>
          <p:cNvSpPr/>
          <p:nvPr/>
        </p:nvSpPr>
        <p:spPr>
          <a:xfrm>
            <a:off x="1463040" y="457200"/>
            <a:ext cx="1005840" cy="1005840"/>
          </a:xfrm>
          <a:prstGeom prst="ellipse">
            <a:avLst/>
          </a:prstGeom>
          <a:solidFill>
            <a:srgbClr val="2A3A44"/>
          </a:solidFill>
          <a:ln/>
          <a:effectLst>
            <a:outerShdw blurRad="76200" dist="25400" dir="8100000" algn="bl" rotWithShape="0">
              <a:srgbClr val="000000">
                <a:alpha val="12000"/>
              </a:srgbClr>
            </a:outerShdw>
          </a:effectLst>
        </p:spPr>
        <p:txBody>
          <a:bodyPr/>
          <a:lstStyle/>
          <a:p>
            <a:endParaRPr lang="en-US"/>
          </a:p>
        </p:txBody>
      </p:sp>
      <p:pic>
        <p:nvPicPr>
          <p:cNvPr id="6" name="Image 1" descr="preencoded.png"/>
          <p:cNvPicPr>
            <a:picLocks noChangeAspect="1"/>
          </p:cNvPicPr>
          <p:nvPr/>
        </p:nvPicPr>
        <p:blipFill>
          <a:blip r:embed="rId4"/>
          <a:stretch>
            <a:fillRect/>
          </a:stretch>
        </p:blipFill>
        <p:spPr>
          <a:xfrm>
            <a:off x="1691640" y="685800"/>
            <a:ext cx="548640" cy="548640"/>
          </a:xfrm>
          <a:prstGeom prst="rect">
            <a:avLst/>
          </a:prstGeom>
        </p:spPr>
      </p:pic>
      <p:sp>
        <p:nvSpPr>
          <p:cNvPr id="7" name="Text 3"/>
          <p:cNvSpPr/>
          <p:nvPr/>
        </p:nvSpPr>
        <p:spPr>
          <a:xfrm>
            <a:off x="1188720" y="1508760"/>
            <a:ext cx="1554480" cy="320040"/>
          </a:xfrm>
          <a:prstGeom prst="rect">
            <a:avLst/>
          </a:prstGeom>
          <a:noFill/>
          <a:ln/>
        </p:spPr>
        <p:txBody>
          <a:bodyPr wrap="square" lIns="0" tIns="0" rIns="0" bIns="0" rtlCol="0" anchor="ctr"/>
          <a:lstStyle/>
          <a:p>
            <a:pPr marL="0" indent="0" algn="ctr">
              <a:buNone/>
            </a:pPr>
            <a:r>
              <a:rPr lang="en-US" sz="1100" b="1" kern="0" spc="300" dirty="0">
                <a:solidFill>
                  <a:srgbClr val="1B6B93"/>
                </a:solidFill>
                <a:latin typeface="Trebuchet MS" pitchFamily="34" charset="0"/>
                <a:ea typeface="Trebuchet MS" pitchFamily="34" charset="-122"/>
                <a:cs typeface="Trebuchet MS" pitchFamily="34" charset="-120"/>
              </a:rPr>
              <a:t>PURPOSE</a:t>
            </a:r>
            <a:endParaRPr lang="en-US" sz="1100" dirty="0"/>
          </a:p>
        </p:txBody>
      </p:sp>
      <p:sp>
        <p:nvSpPr>
          <p:cNvPr id="8" name="Shape 4"/>
          <p:cNvSpPr/>
          <p:nvPr/>
        </p:nvSpPr>
        <p:spPr>
          <a:xfrm>
            <a:off x="2651760" y="868680"/>
            <a:ext cx="457200" cy="27432"/>
          </a:xfrm>
          <a:prstGeom prst="rect">
            <a:avLst/>
          </a:prstGeom>
          <a:solidFill>
            <a:srgbClr val="C67B5C"/>
          </a:solidFill>
          <a:ln/>
        </p:spPr>
        <p:txBody>
          <a:bodyPr/>
          <a:lstStyle/>
          <a:p>
            <a:endParaRPr lang="en-US"/>
          </a:p>
        </p:txBody>
      </p:sp>
      <p:sp>
        <p:nvSpPr>
          <p:cNvPr id="9" name="Shape 5"/>
          <p:cNvSpPr/>
          <p:nvPr/>
        </p:nvSpPr>
        <p:spPr>
          <a:xfrm>
            <a:off x="3840480" y="457200"/>
            <a:ext cx="1005840" cy="1005840"/>
          </a:xfrm>
          <a:prstGeom prst="ellipse">
            <a:avLst/>
          </a:prstGeom>
          <a:solidFill>
            <a:srgbClr val="2A3A44"/>
          </a:solidFill>
          <a:ln/>
          <a:effectLst>
            <a:outerShdw blurRad="76200" dist="25400" dir="8100000" algn="bl" rotWithShape="0">
              <a:srgbClr val="000000">
                <a:alpha val="12000"/>
              </a:srgbClr>
            </a:outerShdw>
          </a:effectLst>
        </p:spPr>
        <p:txBody>
          <a:bodyPr/>
          <a:lstStyle/>
          <a:p>
            <a:endParaRPr lang="en-US"/>
          </a:p>
        </p:txBody>
      </p:sp>
      <p:pic>
        <p:nvPicPr>
          <p:cNvPr id="10" name="Image 2" descr="preencoded.png"/>
          <p:cNvPicPr>
            <a:picLocks noChangeAspect="1"/>
          </p:cNvPicPr>
          <p:nvPr/>
        </p:nvPicPr>
        <p:blipFill>
          <a:blip r:embed="rId5"/>
          <a:stretch>
            <a:fillRect/>
          </a:stretch>
        </p:blipFill>
        <p:spPr>
          <a:xfrm>
            <a:off x="4069080" y="685800"/>
            <a:ext cx="548640" cy="548640"/>
          </a:xfrm>
          <a:prstGeom prst="rect">
            <a:avLst/>
          </a:prstGeom>
        </p:spPr>
      </p:pic>
      <p:sp>
        <p:nvSpPr>
          <p:cNvPr id="11" name="Text 6"/>
          <p:cNvSpPr/>
          <p:nvPr/>
        </p:nvSpPr>
        <p:spPr>
          <a:xfrm>
            <a:off x="3566160" y="1508760"/>
            <a:ext cx="1554480" cy="320040"/>
          </a:xfrm>
          <a:prstGeom prst="rect">
            <a:avLst/>
          </a:prstGeom>
          <a:noFill/>
          <a:ln/>
        </p:spPr>
        <p:txBody>
          <a:bodyPr wrap="square" lIns="0" tIns="0" rIns="0" bIns="0" rtlCol="0" anchor="ctr"/>
          <a:lstStyle/>
          <a:p>
            <a:pPr marL="0" indent="0" algn="ctr">
              <a:buNone/>
            </a:pPr>
            <a:r>
              <a:rPr lang="en-US" sz="1100" b="1" kern="0" spc="300" dirty="0">
                <a:solidFill>
                  <a:srgbClr val="C67B5C"/>
                </a:solidFill>
                <a:latin typeface="Trebuchet MS" pitchFamily="34" charset="0"/>
                <a:ea typeface="Trebuchet MS" pitchFamily="34" charset="-122"/>
                <a:cs typeface="Trebuchet MS" pitchFamily="34" charset="-120"/>
              </a:rPr>
              <a:t>PLAN</a:t>
            </a:r>
            <a:endParaRPr lang="en-US" sz="1100" dirty="0"/>
          </a:p>
        </p:txBody>
      </p:sp>
      <p:sp>
        <p:nvSpPr>
          <p:cNvPr id="12" name="Shape 7"/>
          <p:cNvSpPr/>
          <p:nvPr/>
        </p:nvSpPr>
        <p:spPr>
          <a:xfrm>
            <a:off x="5029200" y="868680"/>
            <a:ext cx="457200" cy="27432"/>
          </a:xfrm>
          <a:prstGeom prst="rect">
            <a:avLst/>
          </a:prstGeom>
          <a:solidFill>
            <a:srgbClr val="C67B5C"/>
          </a:solidFill>
          <a:ln/>
        </p:spPr>
        <p:txBody>
          <a:bodyPr/>
          <a:lstStyle/>
          <a:p>
            <a:endParaRPr lang="en-US"/>
          </a:p>
        </p:txBody>
      </p:sp>
      <p:sp>
        <p:nvSpPr>
          <p:cNvPr id="13" name="Shape 8"/>
          <p:cNvSpPr/>
          <p:nvPr/>
        </p:nvSpPr>
        <p:spPr>
          <a:xfrm>
            <a:off x="6217920" y="457200"/>
            <a:ext cx="1005840" cy="1005840"/>
          </a:xfrm>
          <a:prstGeom prst="ellipse">
            <a:avLst/>
          </a:prstGeom>
          <a:solidFill>
            <a:srgbClr val="2A3A44"/>
          </a:solidFill>
          <a:ln/>
          <a:effectLst>
            <a:outerShdw blurRad="76200" dist="25400" dir="8100000" algn="bl" rotWithShape="0">
              <a:srgbClr val="000000">
                <a:alpha val="12000"/>
              </a:srgbClr>
            </a:outerShdw>
          </a:effectLst>
        </p:spPr>
        <p:txBody>
          <a:bodyPr/>
          <a:lstStyle/>
          <a:p>
            <a:endParaRPr lang="en-US"/>
          </a:p>
        </p:txBody>
      </p:sp>
      <p:pic>
        <p:nvPicPr>
          <p:cNvPr id="14" name="Image 3" descr="preencoded.png"/>
          <p:cNvPicPr>
            <a:picLocks noChangeAspect="1"/>
          </p:cNvPicPr>
          <p:nvPr/>
        </p:nvPicPr>
        <p:blipFill>
          <a:blip r:embed="rId6"/>
          <a:stretch>
            <a:fillRect/>
          </a:stretch>
        </p:blipFill>
        <p:spPr>
          <a:xfrm>
            <a:off x="6446520" y="685800"/>
            <a:ext cx="548640" cy="548640"/>
          </a:xfrm>
          <a:prstGeom prst="rect">
            <a:avLst/>
          </a:prstGeom>
        </p:spPr>
      </p:pic>
      <p:sp>
        <p:nvSpPr>
          <p:cNvPr id="15" name="Text 9"/>
          <p:cNvSpPr/>
          <p:nvPr/>
        </p:nvSpPr>
        <p:spPr>
          <a:xfrm>
            <a:off x="5943600" y="1508760"/>
            <a:ext cx="1554480" cy="320040"/>
          </a:xfrm>
          <a:prstGeom prst="rect">
            <a:avLst/>
          </a:prstGeom>
          <a:noFill/>
          <a:ln/>
        </p:spPr>
        <p:txBody>
          <a:bodyPr wrap="square" lIns="0" tIns="0" rIns="0" bIns="0" rtlCol="0" anchor="ctr"/>
          <a:lstStyle/>
          <a:p>
            <a:pPr marL="0" indent="0" algn="ctr">
              <a:buNone/>
            </a:pPr>
            <a:r>
              <a:rPr lang="en-US" sz="1100" b="1" kern="0" spc="300" dirty="0">
                <a:solidFill>
                  <a:srgbClr val="7A9E7E"/>
                </a:solidFill>
                <a:latin typeface="Trebuchet MS" pitchFamily="34" charset="0"/>
                <a:ea typeface="Trebuchet MS" pitchFamily="34" charset="-122"/>
                <a:cs typeface="Trebuchet MS" pitchFamily="34" charset="-120"/>
              </a:rPr>
              <a:t>OUTCOME</a:t>
            </a:r>
            <a:endParaRPr lang="en-US" sz="1100" dirty="0"/>
          </a:p>
        </p:txBody>
      </p:sp>
      <p:sp>
        <p:nvSpPr>
          <p:cNvPr id="16" name="Text 10"/>
          <p:cNvSpPr/>
          <p:nvPr/>
        </p:nvSpPr>
        <p:spPr>
          <a:xfrm>
            <a:off x="457200" y="1965960"/>
            <a:ext cx="8229600" cy="822960"/>
          </a:xfrm>
          <a:prstGeom prst="rect">
            <a:avLst/>
          </a:prstGeom>
          <a:noFill/>
          <a:ln/>
        </p:spPr>
        <p:txBody>
          <a:bodyPr wrap="square" lIns="0" tIns="0" rIns="0" bIns="0" rtlCol="0" anchor="ctr"/>
          <a:lstStyle/>
          <a:p>
            <a:pPr marL="0" indent="0" algn="ctr">
              <a:buNone/>
            </a:pPr>
            <a:r>
              <a:rPr lang="en-US" sz="3800" b="1" kern="0" spc="300" dirty="0">
                <a:solidFill>
                  <a:srgbClr val="F5F0EB"/>
                </a:solidFill>
                <a:latin typeface="Trebuchet MS" pitchFamily="34" charset="0"/>
                <a:ea typeface="Trebuchet MS" pitchFamily="34" charset="-122"/>
                <a:cs typeface="Trebuchet MS" pitchFamily="34" charset="-120"/>
              </a:rPr>
              <a:t>Purpose – Plan – Outcome</a:t>
            </a:r>
            <a:endParaRPr lang="en-US" sz="3800" dirty="0"/>
          </a:p>
        </p:txBody>
      </p:sp>
      <p:sp>
        <p:nvSpPr>
          <p:cNvPr id="17" name="Text 11"/>
          <p:cNvSpPr/>
          <p:nvPr/>
        </p:nvSpPr>
        <p:spPr>
          <a:xfrm>
            <a:off x="457200" y="2788920"/>
            <a:ext cx="8229600" cy="365760"/>
          </a:xfrm>
          <a:prstGeom prst="rect">
            <a:avLst/>
          </a:prstGeom>
          <a:noFill/>
          <a:ln/>
        </p:spPr>
        <p:txBody>
          <a:bodyPr wrap="square" lIns="0" tIns="0" rIns="0" bIns="0" rtlCol="0" anchor="ctr"/>
          <a:lstStyle/>
          <a:p>
            <a:pPr marL="0" indent="0" algn="ctr">
              <a:buNone/>
            </a:pPr>
            <a:r>
              <a:rPr lang="en-US" sz="1400" i="1" dirty="0">
                <a:solidFill>
                  <a:srgbClr val="C67B5C"/>
                </a:solidFill>
                <a:latin typeface="Calibri" pitchFamily="34" charset="0"/>
                <a:ea typeface="Calibri" pitchFamily="34" charset="-122"/>
                <a:cs typeface="Calibri" pitchFamily="34" charset="-120"/>
              </a:rPr>
              <a:t>Structuring Every Conversation for Maximum Impact</a:t>
            </a:r>
            <a:endParaRPr lang="en-US" sz="1400" dirty="0"/>
          </a:p>
        </p:txBody>
      </p:sp>
      <p:sp>
        <p:nvSpPr>
          <p:cNvPr id="18" name="Shape 12"/>
          <p:cNvSpPr/>
          <p:nvPr/>
        </p:nvSpPr>
        <p:spPr>
          <a:xfrm>
            <a:off x="1371600" y="3337560"/>
            <a:ext cx="6400800" cy="502920"/>
          </a:xfrm>
          <a:prstGeom prst="rect">
            <a:avLst/>
          </a:prstGeom>
          <a:solidFill>
            <a:srgbClr val="2A3A44"/>
          </a:solidFill>
          <a:ln/>
          <a:effectLst>
            <a:outerShdw blurRad="50800" dist="12700" dir="8100000" algn="bl" rotWithShape="0">
              <a:srgbClr val="000000">
                <a:alpha val="8000"/>
              </a:srgbClr>
            </a:outerShdw>
          </a:effectLst>
        </p:spPr>
        <p:txBody>
          <a:bodyPr/>
          <a:lstStyle/>
          <a:p>
            <a:endParaRPr lang="en-US"/>
          </a:p>
        </p:txBody>
      </p:sp>
      <p:sp>
        <p:nvSpPr>
          <p:cNvPr id="19" name="Text 13"/>
          <p:cNvSpPr/>
          <p:nvPr/>
        </p:nvSpPr>
        <p:spPr>
          <a:xfrm>
            <a:off x="1554480" y="3337560"/>
            <a:ext cx="6035040" cy="502920"/>
          </a:xfrm>
          <a:prstGeom prst="rect">
            <a:avLst/>
          </a:prstGeom>
          <a:noFill/>
          <a:ln/>
        </p:spPr>
        <p:txBody>
          <a:bodyPr wrap="square" lIns="0" tIns="0" rIns="0" bIns="0" rtlCol="0" anchor="ctr"/>
          <a:lstStyle/>
          <a:p>
            <a:pPr marL="0" indent="0" algn="ctr">
              <a:buNone/>
            </a:pPr>
            <a:r>
              <a:rPr lang="en-US" sz="1000" dirty="0">
                <a:solidFill>
                  <a:srgbClr val="E8E3DE"/>
                </a:solidFill>
                <a:latin typeface="Calibri" pitchFamily="34" charset="0"/>
                <a:ea typeface="Calibri" pitchFamily="34" charset="-122"/>
                <a:cs typeface="Calibri" pitchFamily="34" charset="-120"/>
              </a:rPr>
              <a:t>Discovery • Demo Calls • SDR Prospecting • TSE Client Engagement • Implicit &amp; Explicit Needs</a:t>
            </a:r>
            <a:endParaRPr lang="en-US" sz="1000" dirty="0"/>
          </a:p>
        </p:txBody>
      </p:sp>
      <p:sp>
        <p:nvSpPr>
          <p:cNvPr id="20" name="Text 14"/>
          <p:cNvSpPr/>
          <p:nvPr/>
        </p:nvSpPr>
        <p:spPr>
          <a:xfrm>
            <a:off x="731520" y="3977640"/>
            <a:ext cx="6400800" cy="182880"/>
          </a:xfrm>
          <a:prstGeom prst="rect">
            <a:avLst/>
          </a:prstGeom>
          <a:noFill/>
          <a:ln/>
        </p:spPr>
        <p:txBody>
          <a:bodyPr wrap="square" lIns="0" tIns="0" rIns="0" bIns="0" rtlCol="0" anchor="ctr"/>
          <a:lstStyle/>
          <a:p>
            <a:pPr marL="0" indent="0">
              <a:buNone/>
            </a:pPr>
            <a:r>
              <a:rPr lang="en-US" sz="800" dirty="0">
                <a:solidFill>
                  <a:srgbClr val="7A9E7E"/>
                </a:solidFill>
                <a:latin typeface="Calibri" pitchFamily="34" charset="0"/>
                <a:ea typeface="Calibri" pitchFamily="34" charset="-122"/>
                <a:cs typeface="Calibri" pitchFamily="34" charset="-120"/>
              </a:rPr>
              <a:t>[ATTRIBUTE: Communication Skills #4 | Business Acumen #7 | Coachability #2]  [STAGE: Continuous Education]  [LEVEL: 1-2]</a:t>
            </a:r>
            <a:endParaRPr lang="en-US" sz="800" dirty="0"/>
          </a:p>
        </p:txBody>
      </p:sp>
      <p:sp>
        <p:nvSpPr>
          <p:cNvPr id="21" name="Text 15"/>
          <p:cNvSpPr/>
          <p:nvPr/>
        </p:nvSpPr>
        <p:spPr>
          <a:xfrm>
            <a:off x="731520" y="4343400"/>
            <a:ext cx="7680960" cy="228600"/>
          </a:xfrm>
          <a:prstGeom prst="rect">
            <a:avLst/>
          </a:prstGeom>
          <a:noFill/>
          <a:ln/>
        </p:spPr>
        <p:txBody>
          <a:bodyPr wrap="square" lIns="0" tIns="0" rIns="0" bIns="0" rtlCol="0" anchor="ctr"/>
          <a:lstStyle/>
          <a:p>
            <a:pPr marL="0" indent="0" algn="ctr">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28600"/>
            <a:ext cx="347472" cy="347472"/>
          </a:xfrm>
          <a:prstGeom prst="rect">
            <a:avLst/>
          </a:prstGeom>
        </p:spPr>
      </p:pic>
      <p:sp>
        <p:nvSpPr>
          <p:cNvPr id="3" name="Text 0"/>
          <p:cNvSpPr/>
          <p:nvPr/>
        </p:nvSpPr>
        <p:spPr>
          <a:xfrm>
            <a:off x="868680" y="182880"/>
            <a:ext cx="7315200" cy="548640"/>
          </a:xfrm>
          <a:prstGeom prst="rect">
            <a:avLst/>
          </a:prstGeom>
          <a:noFill/>
          <a:ln/>
        </p:spPr>
        <p:txBody>
          <a:bodyPr wrap="square" lIns="0" tIns="0" rIns="0" bIns="0" rtlCol="0" anchor="ctr"/>
          <a:lstStyle/>
          <a:p>
            <a:pPr marL="0" indent="0">
              <a:buNone/>
            </a:pPr>
            <a:r>
              <a:rPr lang="en-US" sz="1600" b="1" kern="0" spc="300" dirty="0">
                <a:solidFill>
                  <a:srgbClr val="36454F"/>
                </a:solidFill>
                <a:latin typeface="Trebuchet MS" pitchFamily="34" charset="0"/>
                <a:ea typeface="Trebuchet MS" pitchFamily="34" charset="-122"/>
                <a:cs typeface="Trebuchet MS" pitchFamily="34" charset="-120"/>
              </a:rPr>
              <a:t>  The PPO Framework — Structure Every Conversation</a:t>
            </a:r>
            <a:endParaRPr lang="en-US" sz="1600" dirty="0"/>
          </a:p>
        </p:txBody>
      </p:sp>
      <p:sp>
        <p:nvSpPr>
          <p:cNvPr id="4" name="Shape 1"/>
          <p:cNvSpPr/>
          <p:nvPr/>
        </p:nvSpPr>
        <p:spPr>
          <a:xfrm>
            <a:off x="548640" y="777240"/>
            <a:ext cx="1645920" cy="36576"/>
          </a:xfrm>
          <a:prstGeom prst="rect">
            <a:avLst/>
          </a:prstGeom>
          <a:solidFill>
            <a:srgbClr val="1B6B93"/>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914400"/>
            <a:ext cx="8229600" cy="457200"/>
          </a:xfrm>
          <a:prstGeom prst="rect">
            <a:avLst/>
          </a:prstGeom>
          <a:solidFill>
            <a:srgbClr val="1E2A33"/>
          </a:solidFill>
          <a:ln/>
          <a:effectLst>
            <a:outerShdw blurRad="76200" dist="25400" dir="8100000" algn="bl" rotWithShape="0">
              <a:srgbClr val="000000">
                <a:alpha val="12000"/>
              </a:srgbClr>
            </a:outerShdw>
          </a:effectLst>
        </p:spPr>
        <p:txBody>
          <a:bodyPr/>
          <a:lstStyle/>
          <a:p>
            <a:endParaRPr lang="en-US"/>
          </a:p>
        </p:txBody>
      </p:sp>
      <p:sp>
        <p:nvSpPr>
          <p:cNvPr id="7" name="Text 3"/>
          <p:cNvSpPr/>
          <p:nvPr/>
        </p:nvSpPr>
        <p:spPr>
          <a:xfrm>
            <a:off x="640080" y="914400"/>
            <a:ext cx="7863840" cy="457200"/>
          </a:xfrm>
          <a:prstGeom prst="rect">
            <a:avLst/>
          </a:prstGeom>
          <a:noFill/>
          <a:ln/>
        </p:spPr>
        <p:txBody>
          <a:bodyPr wrap="square" lIns="0" tIns="0" rIns="0" bIns="0" rtlCol="0" anchor="ctr"/>
          <a:lstStyle/>
          <a:p>
            <a:pPr marL="0" indent="0">
              <a:buNone/>
            </a:pPr>
            <a:r>
              <a:rPr lang="en-US" sz="1000" i="1" dirty="0">
                <a:solidFill>
                  <a:srgbClr val="F5F0EB"/>
                </a:solidFill>
                <a:latin typeface="Calibri" pitchFamily="34" charset="0"/>
                <a:ea typeface="Calibri" pitchFamily="34" charset="-122"/>
                <a:cs typeface="Calibri" pitchFamily="34" charset="-120"/>
              </a:rPr>
              <a:t>Discovery calls fail when there’s no structure. PPO gives every call a beginning, middle, and end — so prospects feel guided, not sold to. Partnership is everything!</a:t>
            </a:r>
            <a:endParaRPr lang="en-US" sz="1000" dirty="0"/>
          </a:p>
        </p:txBody>
      </p:sp>
      <p:sp>
        <p:nvSpPr>
          <p:cNvPr id="8" name="Shape 4"/>
          <p:cNvSpPr/>
          <p:nvPr/>
        </p:nvSpPr>
        <p:spPr>
          <a:xfrm>
            <a:off x="320040" y="1508760"/>
            <a:ext cx="2743200" cy="3108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Shape 5"/>
          <p:cNvSpPr/>
          <p:nvPr/>
        </p:nvSpPr>
        <p:spPr>
          <a:xfrm>
            <a:off x="320040" y="1508760"/>
            <a:ext cx="2743200" cy="502920"/>
          </a:xfrm>
          <a:prstGeom prst="rect">
            <a:avLst/>
          </a:prstGeom>
          <a:solidFill>
            <a:srgbClr val="1B6B93"/>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429768" y="1600200"/>
            <a:ext cx="256032" cy="256032"/>
          </a:xfrm>
          <a:prstGeom prst="rect">
            <a:avLst/>
          </a:prstGeom>
        </p:spPr>
      </p:pic>
      <p:sp>
        <p:nvSpPr>
          <p:cNvPr id="11" name="Text 6"/>
          <p:cNvSpPr/>
          <p:nvPr/>
        </p:nvSpPr>
        <p:spPr>
          <a:xfrm>
            <a:off x="731520" y="1536192"/>
            <a:ext cx="2103120" cy="256032"/>
          </a:xfrm>
          <a:prstGeom prst="rect">
            <a:avLst/>
          </a:prstGeom>
          <a:noFill/>
          <a:ln/>
        </p:spPr>
        <p:txBody>
          <a:bodyPr wrap="square" lIns="0" tIns="0" rIns="0" bIns="0" rtlCol="0" anchor="ctr"/>
          <a:lstStyle/>
          <a:p>
            <a:pPr marL="0" indent="0">
              <a:buNone/>
            </a:pPr>
            <a:r>
              <a:rPr lang="en-US" sz="1400" b="1" kern="0" spc="300" dirty="0">
                <a:solidFill>
                  <a:srgbClr val="F5F0EB"/>
                </a:solidFill>
                <a:latin typeface="Trebuchet MS" pitchFamily="34" charset="0"/>
                <a:ea typeface="Trebuchet MS" pitchFamily="34" charset="-122"/>
                <a:cs typeface="Trebuchet MS" pitchFamily="34" charset="-120"/>
              </a:rPr>
              <a:t>PURPOSE</a:t>
            </a:r>
            <a:endParaRPr lang="en-US" sz="1400" dirty="0"/>
          </a:p>
        </p:txBody>
      </p:sp>
      <p:sp>
        <p:nvSpPr>
          <p:cNvPr id="12" name="Text 7"/>
          <p:cNvSpPr/>
          <p:nvPr/>
        </p:nvSpPr>
        <p:spPr>
          <a:xfrm>
            <a:off x="731520" y="1792224"/>
            <a:ext cx="2103120" cy="182880"/>
          </a:xfrm>
          <a:prstGeom prst="rect">
            <a:avLst/>
          </a:prstGeom>
          <a:noFill/>
          <a:ln/>
        </p:spPr>
        <p:txBody>
          <a:bodyPr wrap="square" lIns="0" tIns="0" rIns="0" bIns="0" rtlCol="0" anchor="ctr"/>
          <a:lstStyle/>
          <a:p>
            <a:pPr marL="0" indent="0">
              <a:buNone/>
            </a:pPr>
            <a:r>
              <a:rPr lang="en-US" sz="800" i="1" dirty="0">
                <a:solidFill>
                  <a:srgbClr val="F5F0EB"/>
                </a:solidFill>
                <a:latin typeface="Calibri" pitchFamily="34" charset="0"/>
                <a:ea typeface="Calibri" pitchFamily="34" charset="-122"/>
                <a:cs typeface="Calibri" pitchFamily="34" charset="-120"/>
              </a:rPr>
              <a:t>Earn respect in the first 90 seconds</a:t>
            </a:r>
            <a:endParaRPr lang="en-US" sz="800" dirty="0"/>
          </a:p>
        </p:txBody>
      </p:sp>
      <p:sp>
        <p:nvSpPr>
          <p:cNvPr id="13" name="Text 8"/>
          <p:cNvSpPr/>
          <p:nvPr/>
        </p:nvSpPr>
        <p:spPr>
          <a:xfrm>
            <a:off x="429768" y="2103120"/>
            <a:ext cx="2523744" cy="242316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Personalize your introduction — show you know their business</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Reference a trigger: e.g. website, Instagram, recent change</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Show you respect their time: jump straight into value, not small talk</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Key: “I noticed on your website you recently launched a membership program — congratulations!”</a:t>
            </a:r>
            <a:endParaRPr lang="en-US" sz="800" dirty="0"/>
          </a:p>
        </p:txBody>
      </p:sp>
      <p:sp>
        <p:nvSpPr>
          <p:cNvPr id="14" name="Shape 9"/>
          <p:cNvSpPr/>
          <p:nvPr/>
        </p:nvSpPr>
        <p:spPr>
          <a:xfrm>
            <a:off x="3246120" y="1508760"/>
            <a:ext cx="2743200" cy="3108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5" name="Shape 10"/>
          <p:cNvSpPr/>
          <p:nvPr/>
        </p:nvSpPr>
        <p:spPr>
          <a:xfrm>
            <a:off x="3246120" y="1508760"/>
            <a:ext cx="2743200" cy="502920"/>
          </a:xfrm>
          <a:prstGeom prst="rect">
            <a:avLst/>
          </a:prstGeom>
          <a:solidFill>
            <a:srgbClr val="C67B5C"/>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3355848" y="1600200"/>
            <a:ext cx="256032" cy="256032"/>
          </a:xfrm>
          <a:prstGeom prst="rect">
            <a:avLst/>
          </a:prstGeom>
        </p:spPr>
      </p:pic>
      <p:sp>
        <p:nvSpPr>
          <p:cNvPr id="17" name="Text 11"/>
          <p:cNvSpPr/>
          <p:nvPr/>
        </p:nvSpPr>
        <p:spPr>
          <a:xfrm>
            <a:off x="3657600" y="1536192"/>
            <a:ext cx="2103120" cy="256032"/>
          </a:xfrm>
          <a:prstGeom prst="rect">
            <a:avLst/>
          </a:prstGeom>
          <a:noFill/>
          <a:ln/>
        </p:spPr>
        <p:txBody>
          <a:bodyPr wrap="square" lIns="0" tIns="0" rIns="0" bIns="0" rtlCol="0" anchor="ctr"/>
          <a:lstStyle/>
          <a:p>
            <a:pPr marL="0" indent="0">
              <a:buNone/>
            </a:pPr>
            <a:r>
              <a:rPr lang="en-US" sz="1400" b="1" kern="0" spc="300" dirty="0">
                <a:solidFill>
                  <a:srgbClr val="F5F0EB"/>
                </a:solidFill>
                <a:latin typeface="Trebuchet MS" pitchFamily="34" charset="0"/>
                <a:ea typeface="Trebuchet MS" pitchFamily="34" charset="-122"/>
                <a:cs typeface="Trebuchet MS" pitchFamily="34" charset="-120"/>
              </a:rPr>
              <a:t>PLAN</a:t>
            </a:r>
            <a:endParaRPr lang="en-US" sz="1400" dirty="0"/>
          </a:p>
        </p:txBody>
      </p:sp>
      <p:sp>
        <p:nvSpPr>
          <p:cNvPr id="18" name="Text 12"/>
          <p:cNvSpPr/>
          <p:nvPr/>
        </p:nvSpPr>
        <p:spPr>
          <a:xfrm>
            <a:off x="3657600" y="1792224"/>
            <a:ext cx="2103120" cy="182880"/>
          </a:xfrm>
          <a:prstGeom prst="rect">
            <a:avLst/>
          </a:prstGeom>
          <a:noFill/>
          <a:ln/>
        </p:spPr>
        <p:txBody>
          <a:bodyPr wrap="square" lIns="0" tIns="0" rIns="0" bIns="0" rtlCol="0" anchor="ctr"/>
          <a:lstStyle/>
          <a:p>
            <a:pPr marL="0" indent="0">
              <a:buNone/>
            </a:pPr>
            <a:r>
              <a:rPr lang="en-US" sz="800" i="1" dirty="0">
                <a:solidFill>
                  <a:srgbClr val="F5F0EB"/>
                </a:solidFill>
                <a:latin typeface="Calibri" pitchFamily="34" charset="0"/>
                <a:ea typeface="Calibri" pitchFamily="34" charset="-122"/>
                <a:cs typeface="Calibri" pitchFamily="34" charset="-120"/>
              </a:rPr>
              <a:t>Set expectations &amp; invite collaboration</a:t>
            </a:r>
            <a:endParaRPr lang="en-US" sz="800" dirty="0"/>
          </a:p>
        </p:txBody>
      </p:sp>
      <p:sp>
        <p:nvSpPr>
          <p:cNvPr id="19" name="Text 13"/>
          <p:cNvSpPr/>
          <p:nvPr/>
        </p:nvSpPr>
        <p:spPr>
          <a:xfrm>
            <a:off x="3355848" y="2103120"/>
            <a:ext cx="2523744" cy="242316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Agree on how we can work together — set the goal</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Everyone aligned on who we are, who you are, and motivation for this call</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Use opt-out language: “if it’s not the right fit, that’s totally fine”</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Structure: learn about them → explore mutual fit → demo if aligned</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Key: “My goal is to learn about you and the business and see if there’s a mutual fit”</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TSE framing: “The reason your TSE is on this call is to hear in real time about your challenges and align the demo”</a:t>
            </a:r>
            <a:endParaRPr lang="en-US" sz="800" dirty="0"/>
          </a:p>
        </p:txBody>
      </p:sp>
      <p:sp>
        <p:nvSpPr>
          <p:cNvPr id="20" name="Shape 14"/>
          <p:cNvSpPr/>
          <p:nvPr/>
        </p:nvSpPr>
        <p:spPr>
          <a:xfrm>
            <a:off x="6172200" y="1508760"/>
            <a:ext cx="2743200" cy="3108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1" name="Shape 15"/>
          <p:cNvSpPr/>
          <p:nvPr/>
        </p:nvSpPr>
        <p:spPr>
          <a:xfrm>
            <a:off x="6172200" y="1508760"/>
            <a:ext cx="2743200" cy="502920"/>
          </a:xfrm>
          <a:prstGeom prst="rect">
            <a:avLst/>
          </a:prstGeom>
          <a:solidFill>
            <a:srgbClr val="7A9E7E"/>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6281928" y="1600200"/>
            <a:ext cx="256032" cy="256032"/>
          </a:xfrm>
          <a:prstGeom prst="rect">
            <a:avLst/>
          </a:prstGeom>
        </p:spPr>
      </p:pic>
      <p:sp>
        <p:nvSpPr>
          <p:cNvPr id="23" name="Text 16"/>
          <p:cNvSpPr/>
          <p:nvPr/>
        </p:nvSpPr>
        <p:spPr>
          <a:xfrm>
            <a:off x="6583680" y="1536192"/>
            <a:ext cx="2103120" cy="256032"/>
          </a:xfrm>
          <a:prstGeom prst="rect">
            <a:avLst/>
          </a:prstGeom>
          <a:noFill/>
          <a:ln/>
        </p:spPr>
        <p:txBody>
          <a:bodyPr wrap="square" lIns="0" tIns="0" rIns="0" bIns="0" rtlCol="0" anchor="ctr"/>
          <a:lstStyle/>
          <a:p>
            <a:pPr marL="0" indent="0">
              <a:buNone/>
            </a:pPr>
            <a:r>
              <a:rPr lang="en-US" sz="1400" b="1" kern="0" spc="300" dirty="0">
                <a:solidFill>
                  <a:srgbClr val="F5F0EB"/>
                </a:solidFill>
                <a:latin typeface="Trebuchet MS" pitchFamily="34" charset="0"/>
                <a:ea typeface="Trebuchet MS" pitchFamily="34" charset="-122"/>
                <a:cs typeface="Trebuchet MS" pitchFamily="34" charset="-120"/>
              </a:rPr>
              <a:t>OUTCOME</a:t>
            </a:r>
            <a:endParaRPr lang="en-US" sz="1400" dirty="0"/>
          </a:p>
        </p:txBody>
      </p:sp>
      <p:sp>
        <p:nvSpPr>
          <p:cNvPr id="24" name="Text 17"/>
          <p:cNvSpPr/>
          <p:nvPr/>
        </p:nvSpPr>
        <p:spPr>
          <a:xfrm>
            <a:off x="6583680" y="1792224"/>
            <a:ext cx="2103120" cy="182880"/>
          </a:xfrm>
          <a:prstGeom prst="rect">
            <a:avLst/>
          </a:prstGeom>
          <a:noFill/>
          <a:ln/>
        </p:spPr>
        <p:txBody>
          <a:bodyPr wrap="square" lIns="0" tIns="0" rIns="0" bIns="0" rtlCol="0" anchor="ctr"/>
          <a:lstStyle/>
          <a:p>
            <a:pPr marL="0" indent="0">
              <a:buNone/>
            </a:pPr>
            <a:r>
              <a:rPr lang="en-US" sz="800" i="1" dirty="0">
                <a:solidFill>
                  <a:srgbClr val="F5F0EB"/>
                </a:solidFill>
                <a:latin typeface="Calibri" pitchFamily="34" charset="0"/>
                <a:ea typeface="Calibri" pitchFamily="34" charset="-122"/>
                <a:cs typeface="Calibri" pitchFamily="34" charset="-120"/>
              </a:rPr>
              <a:t>Close with clarity and confidence</a:t>
            </a:r>
            <a:endParaRPr lang="en-US" sz="800" dirty="0"/>
          </a:p>
        </p:txBody>
      </p:sp>
      <p:sp>
        <p:nvSpPr>
          <p:cNvPr id="25" name="Text 18"/>
          <p:cNvSpPr/>
          <p:nvPr/>
        </p:nvSpPr>
        <p:spPr>
          <a:xfrm>
            <a:off x="6281928" y="2103120"/>
            <a:ext cx="2523744" cy="242316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Summarize clear, concise next steps before ending</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Set expectations for what happens after the call</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Confirm commitment: “Do you have your calendar handy?”</a:t>
            </a:r>
            <a:endParaRPr lang="en-US" sz="800" dirty="0"/>
          </a:p>
          <a:p>
            <a:pPr marL="342900" indent="-342900">
              <a:spcAft>
                <a:spcPts val="300"/>
              </a:spcAft>
              <a:buSzPct val="100000"/>
              <a:buChar char="•"/>
            </a:pPr>
            <a:r>
              <a:rPr lang="en-US" sz="800" dirty="0">
                <a:solidFill>
                  <a:srgbClr val="36454F"/>
                </a:solidFill>
                <a:latin typeface="Calibri" pitchFamily="34" charset="0"/>
                <a:ea typeface="Calibri" pitchFamily="34" charset="-122"/>
                <a:cs typeface="Calibri" pitchFamily="34" charset="-120"/>
              </a:rPr>
              <a:t>Key: “If we determine Meevo is the right fit, we’ll jump into a demonstration and wrap up with pricing”</a:t>
            </a:r>
            <a:endParaRPr lang="en-US" sz="800" dirty="0"/>
          </a:p>
        </p:txBody>
      </p:sp>
      <p:sp>
        <p:nvSpPr>
          <p:cNvPr id="26" name="Text 19"/>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27" name="Shape 20"/>
          <p:cNvSpPr/>
          <p:nvPr/>
        </p:nvSpPr>
        <p:spPr>
          <a:xfrm>
            <a:off x="6766560" y="4754880"/>
            <a:ext cx="502920" cy="320040"/>
          </a:xfrm>
          <a:prstGeom prst="rect">
            <a:avLst/>
          </a:prstGeom>
          <a:solidFill>
            <a:srgbClr val="1B6B93"/>
          </a:solidFill>
          <a:ln/>
        </p:spPr>
        <p:txBody>
          <a:bodyPr/>
          <a:lstStyle/>
          <a:p>
            <a:endParaRPr lang="en-US"/>
          </a:p>
        </p:txBody>
      </p:sp>
      <p:sp>
        <p:nvSpPr>
          <p:cNvPr id="28" name="Text 21"/>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28600"/>
            <a:ext cx="347472" cy="347472"/>
          </a:xfrm>
          <a:prstGeom prst="rect">
            <a:avLst/>
          </a:prstGeom>
        </p:spPr>
      </p:pic>
      <p:sp>
        <p:nvSpPr>
          <p:cNvPr id="3" name="Text 0"/>
          <p:cNvSpPr/>
          <p:nvPr/>
        </p:nvSpPr>
        <p:spPr>
          <a:xfrm>
            <a:off x="868680" y="182880"/>
            <a:ext cx="7315200" cy="548640"/>
          </a:xfrm>
          <a:prstGeom prst="rect">
            <a:avLst/>
          </a:prstGeom>
          <a:noFill/>
          <a:ln/>
        </p:spPr>
        <p:txBody>
          <a:bodyPr wrap="square" lIns="0" tIns="0" rIns="0" bIns="0" rtlCol="0" anchor="ctr"/>
          <a:lstStyle/>
          <a:p>
            <a:pPr marL="0" indent="0">
              <a:buNone/>
            </a:pPr>
            <a:r>
              <a:rPr lang="en-US" b="1" kern="0" spc="300" dirty="0">
                <a:solidFill>
                  <a:srgbClr val="36454F"/>
                </a:solidFill>
                <a:latin typeface="Trebuchet MS" pitchFamily="34" charset="0"/>
                <a:ea typeface="Trebuchet MS" pitchFamily="34" charset="-122"/>
                <a:cs typeface="Trebuchet MS" pitchFamily="34" charset="-120"/>
              </a:rPr>
              <a:t>  Compelling Disco/Demo Agenda — PPO in Action</a:t>
            </a:r>
            <a:endParaRPr lang="en-US" dirty="0"/>
          </a:p>
        </p:txBody>
      </p:sp>
      <p:sp>
        <p:nvSpPr>
          <p:cNvPr id="4" name="Shape 1"/>
          <p:cNvSpPr/>
          <p:nvPr/>
        </p:nvSpPr>
        <p:spPr>
          <a:xfrm>
            <a:off x="548640" y="777240"/>
            <a:ext cx="1645920" cy="36576"/>
          </a:xfrm>
          <a:prstGeom prst="rect">
            <a:avLst/>
          </a:prstGeom>
          <a:solidFill>
            <a:srgbClr val="C67B5C"/>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320040" y="960120"/>
            <a:ext cx="4251960" cy="3611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3"/>
          <p:cNvSpPr/>
          <p:nvPr/>
        </p:nvSpPr>
        <p:spPr>
          <a:xfrm>
            <a:off x="320040" y="960120"/>
            <a:ext cx="4251960" cy="411480"/>
          </a:xfrm>
          <a:prstGeom prst="rect">
            <a:avLst/>
          </a:prstGeom>
          <a:solidFill>
            <a:srgbClr val="1E2A33"/>
          </a:solidFill>
          <a:ln/>
        </p:spPr>
        <p:txBody>
          <a:bodyPr/>
          <a:lstStyle/>
          <a:p>
            <a:endParaRPr lang="en-US"/>
          </a:p>
        </p:txBody>
      </p:sp>
      <p:sp>
        <p:nvSpPr>
          <p:cNvPr id="8" name="Text 4"/>
          <p:cNvSpPr/>
          <p:nvPr/>
        </p:nvSpPr>
        <p:spPr>
          <a:xfrm>
            <a:off x="502920" y="960120"/>
            <a:ext cx="3886200" cy="411480"/>
          </a:xfrm>
          <a:prstGeom prst="rect">
            <a:avLst/>
          </a:prstGeom>
          <a:noFill/>
          <a:ln/>
        </p:spPr>
        <p:txBody>
          <a:bodyPr wrap="square" lIns="0" tIns="0" rIns="0" bIns="0" rtlCol="0" anchor="ctr"/>
          <a:lstStyle/>
          <a:p>
            <a:pPr marL="0" indent="0">
              <a:buNone/>
            </a:pPr>
            <a:r>
              <a:rPr lang="en-US" sz="1100" b="1" kern="0" spc="200" dirty="0">
                <a:solidFill>
                  <a:srgbClr val="F5F0EB"/>
                </a:solidFill>
                <a:latin typeface="Calibri" pitchFamily="34" charset="0"/>
                <a:ea typeface="Calibri" pitchFamily="34" charset="-122"/>
                <a:cs typeface="Calibri" pitchFamily="34" charset="-120"/>
              </a:rPr>
              <a:t>SAMPLE DISCO / DEMO AGENDA</a:t>
            </a:r>
            <a:endParaRPr lang="en-US" sz="1100" dirty="0"/>
          </a:p>
        </p:txBody>
      </p:sp>
      <p:sp>
        <p:nvSpPr>
          <p:cNvPr id="9" name="Shape 5"/>
          <p:cNvSpPr/>
          <p:nvPr/>
        </p:nvSpPr>
        <p:spPr>
          <a:xfrm>
            <a:off x="457200" y="1508760"/>
            <a:ext cx="274320" cy="274320"/>
          </a:xfrm>
          <a:prstGeom prst="ellipse">
            <a:avLst/>
          </a:prstGeom>
          <a:solidFill>
            <a:srgbClr val="1B6B93"/>
          </a:solidFill>
          <a:ln/>
        </p:spPr>
        <p:txBody>
          <a:bodyPr/>
          <a:lstStyle/>
          <a:p>
            <a:endParaRPr lang="en-US"/>
          </a:p>
        </p:txBody>
      </p:sp>
      <p:sp>
        <p:nvSpPr>
          <p:cNvPr id="10" name="Text 6"/>
          <p:cNvSpPr/>
          <p:nvPr/>
        </p:nvSpPr>
        <p:spPr>
          <a:xfrm>
            <a:off x="457200" y="15087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11" name="Text 7"/>
          <p:cNvSpPr/>
          <p:nvPr/>
        </p:nvSpPr>
        <p:spPr>
          <a:xfrm>
            <a:off x="804672" y="1463040"/>
            <a:ext cx="1371600" cy="164592"/>
          </a:xfrm>
          <a:prstGeom prst="rect">
            <a:avLst/>
          </a:prstGeom>
          <a:noFill/>
          <a:ln/>
        </p:spPr>
        <p:txBody>
          <a:bodyPr wrap="square" lIns="0" tIns="0" rIns="0" bIns="0" rtlCol="0" anchor="ctr"/>
          <a:lstStyle/>
          <a:p>
            <a:pPr marL="0" indent="0">
              <a:buNone/>
            </a:pPr>
            <a:r>
              <a:rPr lang="en-US" sz="900" b="1" dirty="0">
                <a:solidFill>
                  <a:srgbClr val="36454F"/>
                </a:solidFill>
                <a:latin typeface="Calibri" pitchFamily="34" charset="0"/>
                <a:ea typeface="Calibri" pitchFamily="34" charset="-122"/>
                <a:cs typeface="Calibri" pitchFamily="34" charset="-120"/>
              </a:rPr>
              <a:t>PPO Opening</a:t>
            </a:r>
            <a:endParaRPr lang="en-US" sz="900" dirty="0"/>
          </a:p>
        </p:txBody>
      </p:sp>
      <p:sp>
        <p:nvSpPr>
          <p:cNvPr id="12" name="Text 8"/>
          <p:cNvSpPr/>
          <p:nvPr/>
        </p:nvSpPr>
        <p:spPr>
          <a:xfrm>
            <a:off x="3474720" y="1463040"/>
            <a:ext cx="868680" cy="164592"/>
          </a:xfrm>
          <a:prstGeom prst="rect">
            <a:avLst/>
          </a:prstGeom>
          <a:noFill/>
          <a:ln/>
        </p:spPr>
        <p:txBody>
          <a:bodyPr wrap="square" lIns="0" tIns="0" rIns="0" bIns="0" rtlCol="0" anchor="ctr"/>
          <a:lstStyle/>
          <a:p>
            <a:pPr marL="0" indent="0" algn="r">
              <a:buNone/>
            </a:pPr>
            <a:r>
              <a:rPr lang="en-US" sz="750" dirty="0">
                <a:solidFill>
                  <a:srgbClr val="9CA3AF"/>
                </a:solidFill>
                <a:latin typeface="Calibri" pitchFamily="34" charset="0"/>
                <a:ea typeface="Calibri" pitchFamily="34" charset="-122"/>
                <a:cs typeface="Calibri" pitchFamily="34" charset="-120"/>
              </a:rPr>
              <a:t>0–2 min</a:t>
            </a:r>
            <a:endParaRPr lang="en-US" sz="750" dirty="0"/>
          </a:p>
        </p:txBody>
      </p:sp>
      <p:sp>
        <p:nvSpPr>
          <p:cNvPr id="13" name="Text 9"/>
          <p:cNvSpPr/>
          <p:nvPr/>
        </p:nvSpPr>
        <p:spPr>
          <a:xfrm>
            <a:off x="804672" y="1645920"/>
            <a:ext cx="3520440" cy="256032"/>
          </a:xfrm>
          <a:prstGeom prst="rect">
            <a:avLst/>
          </a:prstGeom>
          <a:noFill/>
          <a:ln/>
        </p:spPr>
        <p:txBody>
          <a:bodyPr wrap="square" lIns="0" tIns="0" rIns="0" bIns="0" rtlCol="0" anchor="ctr"/>
          <a:lstStyle/>
          <a:p>
            <a:pPr marL="0" indent="0">
              <a:buNone/>
            </a:pPr>
            <a:r>
              <a:rPr lang="en-US" sz="750" dirty="0">
                <a:solidFill>
                  <a:srgbClr val="9CA3AF"/>
                </a:solidFill>
                <a:latin typeface="Calibri" pitchFamily="34" charset="0"/>
                <a:ea typeface="Calibri" pitchFamily="34" charset="-122"/>
                <a:cs typeface="Calibri" pitchFamily="34" charset="-120"/>
              </a:rPr>
              <a:t>Personalize intro, reference trigger, set collaborative agenda, confirm opt-out</a:t>
            </a:r>
            <a:endParaRPr lang="en-US" sz="750" dirty="0"/>
          </a:p>
        </p:txBody>
      </p:sp>
      <p:sp>
        <p:nvSpPr>
          <p:cNvPr id="14" name="Shape 10"/>
          <p:cNvSpPr/>
          <p:nvPr/>
        </p:nvSpPr>
        <p:spPr>
          <a:xfrm>
            <a:off x="457200" y="2011680"/>
            <a:ext cx="274320" cy="274320"/>
          </a:xfrm>
          <a:prstGeom prst="ellipse">
            <a:avLst/>
          </a:prstGeom>
          <a:solidFill>
            <a:srgbClr val="36454F"/>
          </a:solidFill>
          <a:ln/>
        </p:spPr>
        <p:txBody>
          <a:bodyPr/>
          <a:lstStyle/>
          <a:p>
            <a:endParaRPr lang="en-US"/>
          </a:p>
        </p:txBody>
      </p:sp>
      <p:sp>
        <p:nvSpPr>
          <p:cNvPr id="15" name="Text 11"/>
          <p:cNvSpPr/>
          <p:nvPr/>
        </p:nvSpPr>
        <p:spPr>
          <a:xfrm>
            <a:off x="457200" y="2011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16" name="Text 12"/>
          <p:cNvSpPr/>
          <p:nvPr/>
        </p:nvSpPr>
        <p:spPr>
          <a:xfrm>
            <a:off x="804672" y="1965960"/>
            <a:ext cx="1371600" cy="164592"/>
          </a:xfrm>
          <a:prstGeom prst="rect">
            <a:avLst/>
          </a:prstGeom>
          <a:noFill/>
          <a:ln/>
        </p:spPr>
        <p:txBody>
          <a:bodyPr wrap="square" lIns="0" tIns="0" rIns="0" bIns="0" rtlCol="0" anchor="ctr"/>
          <a:lstStyle/>
          <a:p>
            <a:pPr marL="0" indent="0">
              <a:buNone/>
            </a:pPr>
            <a:r>
              <a:rPr lang="en-US" sz="900" b="1" dirty="0">
                <a:solidFill>
                  <a:srgbClr val="36454F"/>
                </a:solidFill>
                <a:latin typeface="Calibri" pitchFamily="34" charset="0"/>
                <a:ea typeface="Calibri" pitchFamily="34" charset="-122"/>
                <a:cs typeface="Calibri" pitchFamily="34" charset="-120"/>
              </a:rPr>
              <a:t>Situation &amp; Context</a:t>
            </a:r>
            <a:endParaRPr lang="en-US" sz="900" dirty="0"/>
          </a:p>
        </p:txBody>
      </p:sp>
      <p:sp>
        <p:nvSpPr>
          <p:cNvPr id="17" name="Text 13"/>
          <p:cNvSpPr/>
          <p:nvPr/>
        </p:nvSpPr>
        <p:spPr>
          <a:xfrm>
            <a:off x="3474720" y="1965960"/>
            <a:ext cx="868680" cy="164592"/>
          </a:xfrm>
          <a:prstGeom prst="rect">
            <a:avLst/>
          </a:prstGeom>
          <a:noFill/>
          <a:ln/>
        </p:spPr>
        <p:txBody>
          <a:bodyPr wrap="square" lIns="0" tIns="0" rIns="0" bIns="0" rtlCol="0" anchor="ctr"/>
          <a:lstStyle/>
          <a:p>
            <a:pPr marL="0" indent="0" algn="r">
              <a:buNone/>
            </a:pPr>
            <a:r>
              <a:rPr lang="en-US" sz="750" dirty="0">
                <a:solidFill>
                  <a:srgbClr val="9CA3AF"/>
                </a:solidFill>
                <a:latin typeface="Calibri" pitchFamily="34" charset="0"/>
                <a:ea typeface="Calibri" pitchFamily="34" charset="-122"/>
                <a:cs typeface="Calibri" pitchFamily="34" charset="-120"/>
              </a:rPr>
              <a:t>2–8 min</a:t>
            </a:r>
            <a:endParaRPr lang="en-US" sz="750" dirty="0"/>
          </a:p>
        </p:txBody>
      </p:sp>
      <p:sp>
        <p:nvSpPr>
          <p:cNvPr id="18" name="Text 14"/>
          <p:cNvSpPr/>
          <p:nvPr/>
        </p:nvSpPr>
        <p:spPr>
          <a:xfrm>
            <a:off x="804672" y="2148840"/>
            <a:ext cx="3520440" cy="256032"/>
          </a:xfrm>
          <a:prstGeom prst="rect">
            <a:avLst/>
          </a:prstGeom>
          <a:noFill/>
          <a:ln/>
        </p:spPr>
        <p:txBody>
          <a:bodyPr wrap="square" lIns="0" tIns="0" rIns="0" bIns="0" rtlCol="0" anchor="ctr"/>
          <a:lstStyle/>
          <a:p>
            <a:pPr marL="0" indent="0">
              <a:buNone/>
            </a:pPr>
            <a:r>
              <a:rPr lang="en-US" sz="750" dirty="0">
                <a:solidFill>
                  <a:srgbClr val="9CA3AF"/>
                </a:solidFill>
                <a:latin typeface="Calibri" pitchFamily="34" charset="0"/>
                <a:ea typeface="Calibri" pitchFamily="34" charset="-122"/>
                <a:cs typeface="Calibri" pitchFamily="34" charset="-120"/>
              </a:rPr>
              <a:t>Understand their business: software, providers, locations, goals for the year</a:t>
            </a:r>
            <a:endParaRPr lang="en-US" sz="750" dirty="0"/>
          </a:p>
        </p:txBody>
      </p:sp>
      <p:sp>
        <p:nvSpPr>
          <p:cNvPr id="19" name="Shape 15"/>
          <p:cNvSpPr/>
          <p:nvPr/>
        </p:nvSpPr>
        <p:spPr>
          <a:xfrm>
            <a:off x="457200" y="2514600"/>
            <a:ext cx="274320" cy="274320"/>
          </a:xfrm>
          <a:prstGeom prst="ellipse">
            <a:avLst/>
          </a:prstGeom>
          <a:solidFill>
            <a:srgbClr val="C67B5C"/>
          </a:solidFill>
          <a:ln/>
        </p:spPr>
        <p:txBody>
          <a:bodyPr/>
          <a:lstStyle/>
          <a:p>
            <a:endParaRPr lang="en-US"/>
          </a:p>
        </p:txBody>
      </p:sp>
      <p:sp>
        <p:nvSpPr>
          <p:cNvPr id="20" name="Text 16"/>
          <p:cNvSpPr/>
          <p:nvPr/>
        </p:nvSpPr>
        <p:spPr>
          <a:xfrm>
            <a:off x="457200" y="25146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3</a:t>
            </a:r>
            <a:endParaRPr lang="en-US" sz="1000" dirty="0"/>
          </a:p>
        </p:txBody>
      </p:sp>
      <p:sp>
        <p:nvSpPr>
          <p:cNvPr id="21" name="Text 17"/>
          <p:cNvSpPr/>
          <p:nvPr/>
        </p:nvSpPr>
        <p:spPr>
          <a:xfrm>
            <a:off x="804672" y="2468880"/>
            <a:ext cx="1371600" cy="164592"/>
          </a:xfrm>
          <a:prstGeom prst="rect">
            <a:avLst/>
          </a:prstGeom>
          <a:noFill/>
          <a:ln/>
        </p:spPr>
        <p:txBody>
          <a:bodyPr wrap="square" lIns="0" tIns="0" rIns="0" bIns="0" rtlCol="0" anchor="ctr"/>
          <a:lstStyle/>
          <a:p>
            <a:pPr marL="0" indent="0">
              <a:buNone/>
            </a:pPr>
            <a:r>
              <a:rPr lang="en-US" sz="900" b="1" dirty="0">
                <a:solidFill>
                  <a:srgbClr val="36454F"/>
                </a:solidFill>
                <a:latin typeface="Calibri" pitchFamily="34" charset="0"/>
                <a:ea typeface="Calibri" pitchFamily="34" charset="-122"/>
                <a:cs typeface="Calibri" pitchFamily="34" charset="-120"/>
              </a:rPr>
              <a:t>Deep Discovery</a:t>
            </a:r>
            <a:endParaRPr lang="en-US" sz="900" dirty="0"/>
          </a:p>
        </p:txBody>
      </p:sp>
      <p:sp>
        <p:nvSpPr>
          <p:cNvPr id="22" name="Text 18"/>
          <p:cNvSpPr/>
          <p:nvPr/>
        </p:nvSpPr>
        <p:spPr>
          <a:xfrm>
            <a:off x="3474720" y="2468880"/>
            <a:ext cx="868680" cy="164592"/>
          </a:xfrm>
          <a:prstGeom prst="rect">
            <a:avLst/>
          </a:prstGeom>
          <a:noFill/>
          <a:ln/>
        </p:spPr>
        <p:txBody>
          <a:bodyPr wrap="square" lIns="0" tIns="0" rIns="0" bIns="0" rtlCol="0" anchor="ctr"/>
          <a:lstStyle/>
          <a:p>
            <a:pPr marL="0" indent="0" algn="r">
              <a:buNone/>
            </a:pPr>
            <a:r>
              <a:rPr lang="en-US" sz="750" dirty="0">
                <a:solidFill>
                  <a:srgbClr val="9CA3AF"/>
                </a:solidFill>
                <a:latin typeface="Calibri" pitchFamily="34" charset="0"/>
                <a:ea typeface="Calibri" pitchFamily="34" charset="-122"/>
                <a:cs typeface="Calibri" pitchFamily="34" charset="-120"/>
              </a:rPr>
              <a:t>8–18 min</a:t>
            </a:r>
            <a:endParaRPr lang="en-US" sz="750" dirty="0"/>
          </a:p>
        </p:txBody>
      </p:sp>
      <p:sp>
        <p:nvSpPr>
          <p:cNvPr id="23" name="Text 19"/>
          <p:cNvSpPr/>
          <p:nvPr/>
        </p:nvSpPr>
        <p:spPr>
          <a:xfrm>
            <a:off x="804672" y="2651760"/>
            <a:ext cx="3520440" cy="256032"/>
          </a:xfrm>
          <a:prstGeom prst="rect">
            <a:avLst/>
          </a:prstGeom>
          <a:noFill/>
          <a:ln/>
        </p:spPr>
        <p:txBody>
          <a:bodyPr wrap="square" lIns="0" tIns="0" rIns="0" bIns="0" rtlCol="0" anchor="ctr"/>
          <a:lstStyle/>
          <a:p>
            <a:pPr marL="0" indent="0">
              <a:buNone/>
            </a:pPr>
            <a:r>
              <a:rPr lang="en-US" sz="750" dirty="0">
                <a:solidFill>
                  <a:srgbClr val="9CA3AF"/>
                </a:solidFill>
                <a:latin typeface="Calibri" pitchFamily="34" charset="0"/>
                <a:ea typeface="Calibri" pitchFamily="34" charset="-122"/>
                <a:cs typeface="Calibri" pitchFamily="34" charset="-120"/>
              </a:rPr>
              <a:t>Uncover problems → implications → business impact. Use deep dive questions</a:t>
            </a:r>
            <a:endParaRPr lang="en-US" sz="750" dirty="0"/>
          </a:p>
        </p:txBody>
      </p:sp>
      <p:sp>
        <p:nvSpPr>
          <p:cNvPr id="24" name="Shape 20"/>
          <p:cNvSpPr/>
          <p:nvPr/>
        </p:nvSpPr>
        <p:spPr>
          <a:xfrm>
            <a:off x="457200" y="3017520"/>
            <a:ext cx="274320" cy="274320"/>
          </a:xfrm>
          <a:prstGeom prst="ellipse">
            <a:avLst/>
          </a:prstGeom>
          <a:solidFill>
            <a:srgbClr val="8B6F7C"/>
          </a:solidFill>
          <a:ln/>
        </p:spPr>
        <p:txBody>
          <a:bodyPr/>
          <a:lstStyle/>
          <a:p>
            <a:endParaRPr lang="en-US"/>
          </a:p>
        </p:txBody>
      </p:sp>
      <p:sp>
        <p:nvSpPr>
          <p:cNvPr id="25" name="Text 21"/>
          <p:cNvSpPr/>
          <p:nvPr/>
        </p:nvSpPr>
        <p:spPr>
          <a:xfrm>
            <a:off x="457200" y="30175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4</a:t>
            </a:r>
            <a:endParaRPr lang="en-US" sz="1000" dirty="0"/>
          </a:p>
        </p:txBody>
      </p:sp>
      <p:sp>
        <p:nvSpPr>
          <p:cNvPr id="26" name="Text 22"/>
          <p:cNvSpPr/>
          <p:nvPr/>
        </p:nvSpPr>
        <p:spPr>
          <a:xfrm>
            <a:off x="804672" y="2971800"/>
            <a:ext cx="1371600" cy="164592"/>
          </a:xfrm>
          <a:prstGeom prst="rect">
            <a:avLst/>
          </a:prstGeom>
          <a:noFill/>
          <a:ln/>
        </p:spPr>
        <p:txBody>
          <a:bodyPr wrap="square" lIns="0" tIns="0" rIns="0" bIns="0" rtlCol="0" anchor="ctr"/>
          <a:lstStyle/>
          <a:p>
            <a:pPr marL="0" indent="0">
              <a:buNone/>
            </a:pPr>
            <a:r>
              <a:rPr lang="en-US" sz="900" b="1" dirty="0">
                <a:solidFill>
                  <a:srgbClr val="36454F"/>
                </a:solidFill>
                <a:latin typeface="Calibri" pitchFamily="34" charset="0"/>
                <a:ea typeface="Calibri" pitchFamily="34" charset="-122"/>
                <a:cs typeface="Calibri" pitchFamily="34" charset="-120"/>
              </a:rPr>
              <a:t>Tailored Demo</a:t>
            </a:r>
            <a:endParaRPr lang="en-US" sz="900" dirty="0"/>
          </a:p>
        </p:txBody>
      </p:sp>
      <p:sp>
        <p:nvSpPr>
          <p:cNvPr id="27" name="Text 23"/>
          <p:cNvSpPr/>
          <p:nvPr/>
        </p:nvSpPr>
        <p:spPr>
          <a:xfrm>
            <a:off x="3474720" y="2971800"/>
            <a:ext cx="868680" cy="164592"/>
          </a:xfrm>
          <a:prstGeom prst="rect">
            <a:avLst/>
          </a:prstGeom>
          <a:noFill/>
          <a:ln/>
        </p:spPr>
        <p:txBody>
          <a:bodyPr wrap="square" lIns="0" tIns="0" rIns="0" bIns="0" rtlCol="0" anchor="ctr"/>
          <a:lstStyle/>
          <a:p>
            <a:pPr marL="0" indent="0" algn="r">
              <a:buNone/>
            </a:pPr>
            <a:r>
              <a:rPr lang="en-US" sz="750" dirty="0">
                <a:solidFill>
                  <a:srgbClr val="9CA3AF"/>
                </a:solidFill>
                <a:latin typeface="Calibri" pitchFamily="34" charset="0"/>
                <a:ea typeface="Calibri" pitchFamily="34" charset="-122"/>
                <a:cs typeface="Calibri" pitchFamily="34" charset="-120"/>
              </a:rPr>
              <a:t>18–35 min</a:t>
            </a:r>
            <a:endParaRPr lang="en-US" sz="750" dirty="0"/>
          </a:p>
        </p:txBody>
      </p:sp>
      <p:sp>
        <p:nvSpPr>
          <p:cNvPr id="28" name="Text 24"/>
          <p:cNvSpPr/>
          <p:nvPr/>
        </p:nvSpPr>
        <p:spPr>
          <a:xfrm>
            <a:off x="804672" y="3154680"/>
            <a:ext cx="3520440" cy="256032"/>
          </a:xfrm>
          <a:prstGeom prst="rect">
            <a:avLst/>
          </a:prstGeom>
          <a:noFill/>
          <a:ln/>
        </p:spPr>
        <p:txBody>
          <a:bodyPr wrap="square" lIns="0" tIns="0" rIns="0" bIns="0" rtlCol="0" anchor="ctr"/>
          <a:lstStyle/>
          <a:p>
            <a:pPr marL="0" indent="0">
              <a:buNone/>
            </a:pPr>
            <a:r>
              <a:rPr lang="en-US" sz="750" dirty="0">
                <a:solidFill>
                  <a:srgbClr val="9CA3AF"/>
                </a:solidFill>
                <a:latin typeface="Calibri" pitchFamily="34" charset="0"/>
                <a:ea typeface="Calibri" pitchFamily="34" charset="-122"/>
                <a:cs typeface="Calibri" pitchFamily="34" charset="-120"/>
              </a:rPr>
              <a:t>Show only features that solve THEIR challenges. Connect each feature to their pain</a:t>
            </a:r>
            <a:endParaRPr lang="en-US" sz="750" dirty="0"/>
          </a:p>
        </p:txBody>
      </p:sp>
      <p:sp>
        <p:nvSpPr>
          <p:cNvPr id="29" name="Shape 25"/>
          <p:cNvSpPr/>
          <p:nvPr/>
        </p:nvSpPr>
        <p:spPr>
          <a:xfrm>
            <a:off x="457200" y="3520440"/>
            <a:ext cx="274320" cy="274320"/>
          </a:xfrm>
          <a:prstGeom prst="ellipse">
            <a:avLst/>
          </a:prstGeom>
          <a:solidFill>
            <a:srgbClr val="6B3A4A"/>
          </a:solidFill>
          <a:ln/>
        </p:spPr>
        <p:txBody>
          <a:bodyPr/>
          <a:lstStyle/>
          <a:p>
            <a:endParaRPr lang="en-US"/>
          </a:p>
        </p:txBody>
      </p:sp>
      <p:sp>
        <p:nvSpPr>
          <p:cNvPr id="30" name="Text 26"/>
          <p:cNvSpPr/>
          <p:nvPr/>
        </p:nvSpPr>
        <p:spPr>
          <a:xfrm>
            <a:off x="457200" y="3520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5</a:t>
            </a:r>
            <a:endParaRPr lang="en-US" sz="1000" dirty="0"/>
          </a:p>
        </p:txBody>
      </p:sp>
      <p:sp>
        <p:nvSpPr>
          <p:cNvPr id="31" name="Text 27"/>
          <p:cNvSpPr/>
          <p:nvPr/>
        </p:nvSpPr>
        <p:spPr>
          <a:xfrm>
            <a:off x="804672" y="3474720"/>
            <a:ext cx="1371600" cy="164592"/>
          </a:xfrm>
          <a:prstGeom prst="rect">
            <a:avLst/>
          </a:prstGeom>
          <a:noFill/>
          <a:ln/>
        </p:spPr>
        <p:txBody>
          <a:bodyPr wrap="square" lIns="0" tIns="0" rIns="0" bIns="0" rtlCol="0" anchor="ctr"/>
          <a:lstStyle/>
          <a:p>
            <a:pPr marL="0" indent="0">
              <a:buNone/>
            </a:pPr>
            <a:r>
              <a:rPr lang="en-US" sz="900" b="1" dirty="0">
                <a:solidFill>
                  <a:srgbClr val="36454F"/>
                </a:solidFill>
                <a:latin typeface="Calibri" pitchFamily="34" charset="0"/>
                <a:ea typeface="Calibri" pitchFamily="34" charset="-122"/>
                <a:cs typeface="Calibri" pitchFamily="34" charset="-120"/>
              </a:rPr>
              <a:t>Pricing &amp; Implementation</a:t>
            </a:r>
            <a:endParaRPr lang="en-US" sz="900" dirty="0"/>
          </a:p>
        </p:txBody>
      </p:sp>
      <p:sp>
        <p:nvSpPr>
          <p:cNvPr id="32" name="Text 28"/>
          <p:cNvSpPr/>
          <p:nvPr/>
        </p:nvSpPr>
        <p:spPr>
          <a:xfrm>
            <a:off x="3474720" y="3474720"/>
            <a:ext cx="868680" cy="164592"/>
          </a:xfrm>
          <a:prstGeom prst="rect">
            <a:avLst/>
          </a:prstGeom>
          <a:noFill/>
          <a:ln/>
        </p:spPr>
        <p:txBody>
          <a:bodyPr wrap="square" lIns="0" tIns="0" rIns="0" bIns="0" rtlCol="0" anchor="ctr"/>
          <a:lstStyle/>
          <a:p>
            <a:pPr marL="0" indent="0" algn="r">
              <a:buNone/>
            </a:pPr>
            <a:r>
              <a:rPr lang="en-US" sz="750" dirty="0">
                <a:solidFill>
                  <a:srgbClr val="9CA3AF"/>
                </a:solidFill>
                <a:latin typeface="Calibri" pitchFamily="34" charset="0"/>
                <a:ea typeface="Calibri" pitchFamily="34" charset="-122"/>
                <a:cs typeface="Calibri" pitchFamily="34" charset="-120"/>
              </a:rPr>
              <a:t>35–40 min</a:t>
            </a:r>
            <a:endParaRPr lang="en-US" sz="750" dirty="0"/>
          </a:p>
        </p:txBody>
      </p:sp>
      <p:sp>
        <p:nvSpPr>
          <p:cNvPr id="33" name="Text 29"/>
          <p:cNvSpPr/>
          <p:nvPr/>
        </p:nvSpPr>
        <p:spPr>
          <a:xfrm>
            <a:off x="804672" y="3657600"/>
            <a:ext cx="3520440" cy="256032"/>
          </a:xfrm>
          <a:prstGeom prst="rect">
            <a:avLst/>
          </a:prstGeom>
          <a:noFill/>
          <a:ln/>
        </p:spPr>
        <p:txBody>
          <a:bodyPr wrap="square" lIns="0" tIns="0" rIns="0" bIns="0" rtlCol="0" anchor="ctr"/>
          <a:lstStyle/>
          <a:p>
            <a:pPr marL="0" indent="0">
              <a:buNone/>
            </a:pPr>
            <a:r>
              <a:rPr lang="en-US" sz="750" dirty="0">
                <a:solidFill>
                  <a:srgbClr val="9CA3AF"/>
                </a:solidFill>
                <a:latin typeface="Calibri" pitchFamily="34" charset="0"/>
                <a:ea typeface="Calibri" pitchFamily="34" charset="-122"/>
                <a:cs typeface="Calibri" pitchFamily="34" charset="-120"/>
              </a:rPr>
              <a:t>Transparent pricing. Link back to your value prop</a:t>
            </a:r>
            <a:endParaRPr lang="en-US" sz="750" dirty="0"/>
          </a:p>
        </p:txBody>
      </p:sp>
      <p:sp>
        <p:nvSpPr>
          <p:cNvPr id="34" name="Shape 30"/>
          <p:cNvSpPr/>
          <p:nvPr/>
        </p:nvSpPr>
        <p:spPr>
          <a:xfrm>
            <a:off x="457200" y="4023360"/>
            <a:ext cx="274320" cy="274320"/>
          </a:xfrm>
          <a:prstGeom prst="ellipse">
            <a:avLst/>
          </a:prstGeom>
          <a:solidFill>
            <a:srgbClr val="7A9E7E"/>
          </a:solidFill>
          <a:ln/>
        </p:spPr>
        <p:txBody>
          <a:bodyPr/>
          <a:lstStyle/>
          <a:p>
            <a:endParaRPr lang="en-US"/>
          </a:p>
        </p:txBody>
      </p:sp>
      <p:sp>
        <p:nvSpPr>
          <p:cNvPr id="35" name="Text 31"/>
          <p:cNvSpPr/>
          <p:nvPr/>
        </p:nvSpPr>
        <p:spPr>
          <a:xfrm>
            <a:off x="457200" y="40233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6</a:t>
            </a:r>
            <a:endParaRPr lang="en-US" sz="1000" dirty="0"/>
          </a:p>
        </p:txBody>
      </p:sp>
      <p:sp>
        <p:nvSpPr>
          <p:cNvPr id="36" name="Text 32"/>
          <p:cNvSpPr/>
          <p:nvPr/>
        </p:nvSpPr>
        <p:spPr>
          <a:xfrm>
            <a:off x="804672" y="3977640"/>
            <a:ext cx="1371600" cy="164592"/>
          </a:xfrm>
          <a:prstGeom prst="rect">
            <a:avLst/>
          </a:prstGeom>
          <a:noFill/>
          <a:ln/>
        </p:spPr>
        <p:txBody>
          <a:bodyPr wrap="square" lIns="0" tIns="0" rIns="0" bIns="0" rtlCol="0" anchor="ctr"/>
          <a:lstStyle/>
          <a:p>
            <a:pPr marL="0" indent="0">
              <a:buNone/>
            </a:pPr>
            <a:r>
              <a:rPr lang="en-US" sz="900" b="1" dirty="0">
                <a:solidFill>
                  <a:srgbClr val="36454F"/>
                </a:solidFill>
                <a:latin typeface="Calibri" pitchFamily="34" charset="0"/>
                <a:ea typeface="Calibri" pitchFamily="34" charset="-122"/>
                <a:cs typeface="Calibri" pitchFamily="34" charset="-120"/>
              </a:rPr>
              <a:t>Outcome &amp; Next Steps</a:t>
            </a:r>
            <a:endParaRPr lang="en-US" sz="900" dirty="0"/>
          </a:p>
        </p:txBody>
      </p:sp>
      <p:sp>
        <p:nvSpPr>
          <p:cNvPr id="37" name="Text 33"/>
          <p:cNvSpPr/>
          <p:nvPr/>
        </p:nvSpPr>
        <p:spPr>
          <a:xfrm>
            <a:off x="3474720" y="3977640"/>
            <a:ext cx="868680" cy="164592"/>
          </a:xfrm>
          <a:prstGeom prst="rect">
            <a:avLst/>
          </a:prstGeom>
          <a:noFill/>
          <a:ln/>
        </p:spPr>
        <p:txBody>
          <a:bodyPr wrap="square" lIns="0" tIns="0" rIns="0" bIns="0" rtlCol="0" anchor="ctr"/>
          <a:lstStyle/>
          <a:p>
            <a:pPr marL="0" indent="0" algn="r">
              <a:buNone/>
            </a:pPr>
            <a:r>
              <a:rPr lang="en-US" sz="750" dirty="0">
                <a:solidFill>
                  <a:srgbClr val="9CA3AF"/>
                </a:solidFill>
                <a:latin typeface="Calibri" pitchFamily="34" charset="0"/>
                <a:ea typeface="Calibri" pitchFamily="34" charset="-122"/>
                <a:cs typeface="Calibri" pitchFamily="34" charset="-120"/>
              </a:rPr>
              <a:t>40–45 min</a:t>
            </a:r>
            <a:endParaRPr lang="en-US" sz="750" dirty="0"/>
          </a:p>
        </p:txBody>
      </p:sp>
      <p:sp>
        <p:nvSpPr>
          <p:cNvPr id="38" name="Text 34"/>
          <p:cNvSpPr/>
          <p:nvPr/>
        </p:nvSpPr>
        <p:spPr>
          <a:xfrm>
            <a:off x="804672" y="4160520"/>
            <a:ext cx="3520440" cy="256032"/>
          </a:xfrm>
          <a:prstGeom prst="rect">
            <a:avLst/>
          </a:prstGeom>
          <a:noFill/>
          <a:ln/>
        </p:spPr>
        <p:txBody>
          <a:bodyPr wrap="square" lIns="0" tIns="0" rIns="0" bIns="0" rtlCol="0" anchor="ctr"/>
          <a:lstStyle/>
          <a:p>
            <a:pPr marL="0" indent="0">
              <a:buNone/>
            </a:pPr>
            <a:r>
              <a:rPr lang="en-US" sz="750" dirty="0">
                <a:solidFill>
                  <a:srgbClr val="9CA3AF"/>
                </a:solidFill>
                <a:latin typeface="Calibri" pitchFamily="34" charset="0"/>
                <a:ea typeface="Calibri" pitchFamily="34" charset="-122"/>
                <a:cs typeface="Calibri" pitchFamily="34" charset="-120"/>
              </a:rPr>
              <a:t>Summarize, confirm mutual fit, book implementation call or send proposal</a:t>
            </a:r>
            <a:endParaRPr lang="en-US" sz="750" dirty="0"/>
          </a:p>
        </p:txBody>
      </p:sp>
      <p:sp>
        <p:nvSpPr>
          <p:cNvPr id="39" name="Shape 35"/>
          <p:cNvSpPr/>
          <p:nvPr/>
        </p:nvSpPr>
        <p:spPr>
          <a:xfrm>
            <a:off x="4709160" y="960120"/>
            <a:ext cx="4114800" cy="3611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0" name="Shape 36"/>
          <p:cNvSpPr/>
          <p:nvPr/>
        </p:nvSpPr>
        <p:spPr>
          <a:xfrm>
            <a:off x="4709160" y="960120"/>
            <a:ext cx="4114800" cy="411480"/>
          </a:xfrm>
          <a:prstGeom prst="rect">
            <a:avLst/>
          </a:prstGeom>
          <a:solidFill>
            <a:srgbClr val="C67B5C"/>
          </a:solidFill>
          <a:ln/>
        </p:spPr>
        <p:txBody>
          <a:bodyPr/>
          <a:lstStyle/>
          <a:p>
            <a:endParaRPr lang="en-US"/>
          </a:p>
        </p:txBody>
      </p:sp>
      <p:sp>
        <p:nvSpPr>
          <p:cNvPr id="41" name="Text 37"/>
          <p:cNvSpPr/>
          <p:nvPr/>
        </p:nvSpPr>
        <p:spPr>
          <a:xfrm>
            <a:off x="4892040" y="960120"/>
            <a:ext cx="3749040" cy="411480"/>
          </a:xfrm>
          <a:prstGeom prst="rect">
            <a:avLst/>
          </a:prstGeom>
          <a:noFill/>
          <a:ln/>
        </p:spPr>
        <p:txBody>
          <a:bodyPr wrap="square" lIns="0" tIns="0" rIns="0" bIns="0" rtlCol="0" anchor="ctr"/>
          <a:lstStyle/>
          <a:p>
            <a:pPr marL="0" indent="0">
              <a:buNone/>
            </a:pPr>
            <a:r>
              <a:rPr lang="en-US" sz="1100" b="1" kern="0" spc="200" dirty="0">
                <a:solidFill>
                  <a:srgbClr val="F5F0EB"/>
                </a:solidFill>
                <a:latin typeface="Calibri" pitchFamily="34" charset="0"/>
                <a:ea typeface="Calibri" pitchFamily="34" charset="-122"/>
                <a:cs typeface="Calibri" pitchFamily="34" charset="-120"/>
              </a:rPr>
              <a:t>FULL PPO SCRIPT EXAMPLE</a:t>
            </a:r>
            <a:endParaRPr lang="en-US" sz="1100" dirty="0"/>
          </a:p>
        </p:txBody>
      </p:sp>
      <p:sp>
        <p:nvSpPr>
          <p:cNvPr id="42" name="Shape 38"/>
          <p:cNvSpPr/>
          <p:nvPr/>
        </p:nvSpPr>
        <p:spPr>
          <a:xfrm>
            <a:off x="4800600" y="1463040"/>
            <a:ext cx="3931920" cy="182880"/>
          </a:xfrm>
          <a:prstGeom prst="rect">
            <a:avLst/>
          </a:prstGeom>
          <a:solidFill>
            <a:srgbClr val="1B6B93"/>
          </a:solidFill>
          <a:ln/>
        </p:spPr>
        <p:txBody>
          <a:bodyPr/>
          <a:lstStyle/>
          <a:p>
            <a:endParaRPr lang="en-US"/>
          </a:p>
        </p:txBody>
      </p:sp>
      <p:sp>
        <p:nvSpPr>
          <p:cNvPr id="43" name="Text 39"/>
          <p:cNvSpPr/>
          <p:nvPr/>
        </p:nvSpPr>
        <p:spPr>
          <a:xfrm>
            <a:off x="4800600" y="1463040"/>
            <a:ext cx="3931920" cy="182880"/>
          </a:xfrm>
          <a:prstGeom prst="rect">
            <a:avLst/>
          </a:prstGeom>
          <a:noFill/>
          <a:ln/>
        </p:spPr>
        <p:txBody>
          <a:bodyPr wrap="square" lIns="0" tIns="0" rIns="0" bIns="0" rtlCol="0" anchor="ctr"/>
          <a:lstStyle/>
          <a:p>
            <a:pPr marL="0" indent="0" algn="ctr">
              <a:buNone/>
            </a:pPr>
            <a:r>
              <a:rPr lang="en-US" sz="800" b="1" kern="0" spc="200" dirty="0">
                <a:solidFill>
                  <a:srgbClr val="F5F0EB"/>
                </a:solidFill>
                <a:latin typeface="Calibri" pitchFamily="34" charset="0"/>
                <a:ea typeface="Calibri" pitchFamily="34" charset="-122"/>
                <a:cs typeface="Calibri" pitchFamily="34" charset="-120"/>
              </a:rPr>
              <a:t>PURPOSE</a:t>
            </a:r>
            <a:endParaRPr lang="en-US" sz="800" dirty="0"/>
          </a:p>
        </p:txBody>
      </p:sp>
      <p:sp>
        <p:nvSpPr>
          <p:cNvPr id="44" name="Text 40"/>
          <p:cNvSpPr/>
          <p:nvPr/>
        </p:nvSpPr>
        <p:spPr>
          <a:xfrm>
            <a:off x="4800600" y="1691640"/>
            <a:ext cx="3931920" cy="777240"/>
          </a:xfrm>
          <a:prstGeom prst="rect">
            <a:avLst/>
          </a:prstGeom>
          <a:noFill/>
          <a:ln/>
        </p:spPr>
        <p:txBody>
          <a:bodyPr wrap="square" lIns="0" tIns="0" rIns="0" bIns="0" rtlCol="0" anchor="ctr"/>
          <a:lstStyle/>
          <a:p>
            <a:pPr marL="0" indent="0">
              <a:buNone/>
            </a:pPr>
            <a:r>
              <a:rPr lang="en-US" sz="800" i="1" dirty="0">
                <a:solidFill>
                  <a:srgbClr val="36454F"/>
                </a:solidFill>
                <a:latin typeface="Calibri" pitchFamily="34" charset="0"/>
                <a:ea typeface="Calibri" pitchFamily="34" charset="-122"/>
                <a:cs typeface="Calibri" pitchFamily="34" charset="-120"/>
              </a:rPr>
              <a:t>“Hello Jason, Melanie from Meevo. Thank you for taking my call. I noticed on your Instagram you recently launched a membership program — congratulations! Did you know we work with some of the largest organizations in the space that have built their business on membership revenue?”</a:t>
            </a:r>
            <a:endParaRPr lang="en-US" sz="800" dirty="0"/>
          </a:p>
        </p:txBody>
      </p:sp>
      <p:sp>
        <p:nvSpPr>
          <p:cNvPr id="45" name="Shape 41"/>
          <p:cNvSpPr/>
          <p:nvPr/>
        </p:nvSpPr>
        <p:spPr>
          <a:xfrm>
            <a:off x="4800600" y="2560320"/>
            <a:ext cx="3931920" cy="182880"/>
          </a:xfrm>
          <a:prstGeom prst="rect">
            <a:avLst/>
          </a:prstGeom>
          <a:solidFill>
            <a:srgbClr val="C67B5C"/>
          </a:solidFill>
          <a:ln/>
        </p:spPr>
        <p:txBody>
          <a:bodyPr/>
          <a:lstStyle/>
          <a:p>
            <a:endParaRPr lang="en-US"/>
          </a:p>
        </p:txBody>
      </p:sp>
      <p:sp>
        <p:nvSpPr>
          <p:cNvPr id="46" name="Text 42"/>
          <p:cNvSpPr/>
          <p:nvPr/>
        </p:nvSpPr>
        <p:spPr>
          <a:xfrm>
            <a:off x="4800600" y="2560320"/>
            <a:ext cx="3931920" cy="182880"/>
          </a:xfrm>
          <a:prstGeom prst="rect">
            <a:avLst/>
          </a:prstGeom>
          <a:noFill/>
          <a:ln/>
        </p:spPr>
        <p:txBody>
          <a:bodyPr wrap="square" lIns="0" tIns="0" rIns="0" bIns="0" rtlCol="0" anchor="ctr"/>
          <a:lstStyle/>
          <a:p>
            <a:pPr marL="0" indent="0" algn="ctr">
              <a:buNone/>
            </a:pPr>
            <a:r>
              <a:rPr lang="en-US" sz="800" b="1" kern="0" spc="200" dirty="0">
                <a:solidFill>
                  <a:srgbClr val="F5F0EB"/>
                </a:solidFill>
                <a:latin typeface="Calibri" pitchFamily="34" charset="0"/>
                <a:ea typeface="Calibri" pitchFamily="34" charset="-122"/>
                <a:cs typeface="Calibri" pitchFamily="34" charset="-120"/>
              </a:rPr>
              <a:t>PLAN</a:t>
            </a:r>
            <a:endParaRPr lang="en-US" sz="800" dirty="0"/>
          </a:p>
        </p:txBody>
      </p:sp>
      <p:sp>
        <p:nvSpPr>
          <p:cNvPr id="47" name="Text 43"/>
          <p:cNvSpPr/>
          <p:nvPr/>
        </p:nvSpPr>
        <p:spPr>
          <a:xfrm>
            <a:off x="4800600" y="2788920"/>
            <a:ext cx="3931920" cy="777240"/>
          </a:xfrm>
          <a:prstGeom prst="rect">
            <a:avLst/>
          </a:prstGeom>
          <a:noFill/>
          <a:ln/>
        </p:spPr>
        <p:txBody>
          <a:bodyPr wrap="square" lIns="0" tIns="0" rIns="0" bIns="0" rtlCol="0" anchor="ctr"/>
          <a:lstStyle/>
          <a:p>
            <a:pPr marL="0" indent="0">
              <a:buNone/>
            </a:pPr>
            <a:r>
              <a:rPr lang="en-US" sz="800" i="1" dirty="0">
                <a:solidFill>
                  <a:srgbClr val="36454F"/>
                </a:solidFill>
                <a:latin typeface="Calibri" pitchFamily="34" charset="0"/>
                <a:ea typeface="Calibri" pitchFamily="34" charset="-122"/>
                <a:cs typeface="Calibri" pitchFamily="34" charset="-120"/>
              </a:rPr>
              <a:t>“My goal for today is to learn more about you and the business and see if there’s a mutual fit. If we decide Meevo is the right fit, we’ll jump into a demonstration showcasing how we’re built for growth, and wrap up with implementation and pricing. How does that sound?”</a:t>
            </a:r>
            <a:endParaRPr lang="en-US" sz="800" dirty="0"/>
          </a:p>
        </p:txBody>
      </p:sp>
      <p:sp>
        <p:nvSpPr>
          <p:cNvPr id="48" name="Shape 44"/>
          <p:cNvSpPr/>
          <p:nvPr/>
        </p:nvSpPr>
        <p:spPr>
          <a:xfrm>
            <a:off x="4800600" y="3657600"/>
            <a:ext cx="3931920" cy="182880"/>
          </a:xfrm>
          <a:prstGeom prst="rect">
            <a:avLst/>
          </a:prstGeom>
          <a:solidFill>
            <a:srgbClr val="7A9E7E"/>
          </a:solidFill>
          <a:ln/>
        </p:spPr>
        <p:txBody>
          <a:bodyPr/>
          <a:lstStyle/>
          <a:p>
            <a:endParaRPr lang="en-US"/>
          </a:p>
        </p:txBody>
      </p:sp>
      <p:sp>
        <p:nvSpPr>
          <p:cNvPr id="49" name="Text 45"/>
          <p:cNvSpPr/>
          <p:nvPr/>
        </p:nvSpPr>
        <p:spPr>
          <a:xfrm>
            <a:off x="4800600" y="3657600"/>
            <a:ext cx="3931920" cy="182880"/>
          </a:xfrm>
          <a:prstGeom prst="rect">
            <a:avLst/>
          </a:prstGeom>
          <a:noFill/>
          <a:ln/>
        </p:spPr>
        <p:txBody>
          <a:bodyPr wrap="square" lIns="0" tIns="0" rIns="0" bIns="0" rtlCol="0" anchor="ctr"/>
          <a:lstStyle/>
          <a:p>
            <a:pPr marL="0" indent="0" algn="ctr">
              <a:buNone/>
            </a:pPr>
            <a:r>
              <a:rPr lang="en-US" sz="800" b="1" kern="0" spc="200" dirty="0">
                <a:solidFill>
                  <a:srgbClr val="F5F0EB"/>
                </a:solidFill>
                <a:latin typeface="Calibri" pitchFamily="34" charset="0"/>
                <a:ea typeface="Calibri" pitchFamily="34" charset="-122"/>
                <a:cs typeface="Calibri" pitchFamily="34" charset="-120"/>
              </a:rPr>
              <a:t>OUTCOME</a:t>
            </a:r>
            <a:endParaRPr lang="en-US" sz="800" dirty="0"/>
          </a:p>
        </p:txBody>
      </p:sp>
      <p:sp>
        <p:nvSpPr>
          <p:cNvPr id="50" name="Text 46"/>
          <p:cNvSpPr/>
          <p:nvPr/>
        </p:nvSpPr>
        <p:spPr>
          <a:xfrm>
            <a:off x="4800600" y="3886200"/>
            <a:ext cx="3931920" cy="777240"/>
          </a:xfrm>
          <a:prstGeom prst="rect">
            <a:avLst/>
          </a:prstGeom>
          <a:noFill/>
          <a:ln/>
        </p:spPr>
        <p:txBody>
          <a:bodyPr wrap="square" lIns="0" tIns="0" rIns="0" bIns="0" rtlCol="0" anchor="ctr"/>
          <a:lstStyle/>
          <a:p>
            <a:pPr marL="0" indent="0">
              <a:buNone/>
            </a:pPr>
            <a:r>
              <a:rPr lang="en-US" sz="800" i="1" dirty="0">
                <a:solidFill>
                  <a:srgbClr val="36454F"/>
                </a:solidFill>
                <a:latin typeface="Calibri" pitchFamily="34" charset="0"/>
                <a:ea typeface="Calibri" pitchFamily="34" charset="-122"/>
                <a:cs typeface="Calibri" pitchFamily="34" charset="-120"/>
              </a:rPr>
              <a:t>“Based on everything we discussed, it sounds like Meevo could be a great fit. Let’s get you set up with an implementation call — do you have your calendar handy? I’ll send a recap email with pricing and next steps today.”</a:t>
            </a:r>
            <a:endParaRPr lang="en-US" sz="800" dirty="0"/>
          </a:p>
        </p:txBody>
      </p:sp>
      <p:sp>
        <p:nvSpPr>
          <p:cNvPr id="51" name="Text 47"/>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52" name="Shape 48"/>
          <p:cNvSpPr/>
          <p:nvPr/>
        </p:nvSpPr>
        <p:spPr>
          <a:xfrm>
            <a:off x="6766560" y="4754880"/>
            <a:ext cx="502920" cy="320040"/>
          </a:xfrm>
          <a:prstGeom prst="rect">
            <a:avLst/>
          </a:prstGeom>
          <a:solidFill>
            <a:srgbClr val="1B6B93"/>
          </a:solidFill>
          <a:ln/>
        </p:spPr>
        <p:txBody>
          <a:bodyPr/>
          <a:lstStyle/>
          <a:p>
            <a:endParaRPr lang="en-US"/>
          </a:p>
        </p:txBody>
      </p:sp>
      <p:sp>
        <p:nvSpPr>
          <p:cNvPr id="53" name="Text 49"/>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28600"/>
            <a:ext cx="347472" cy="347472"/>
          </a:xfrm>
          <a:prstGeom prst="rect">
            <a:avLst/>
          </a:prstGeom>
        </p:spPr>
      </p:pic>
      <p:sp>
        <p:nvSpPr>
          <p:cNvPr id="3" name="Text 0"/>
          <p:cNvSpPr/>
          <p:nvPr/>
        </p:nvSpPr>
        <p:spPr>
          <a:xfrm>
            <a:off x="1005840" y="182880"/>
            <a:ext cx="7315200" cy="548640"/>
          </a:xfrm>
          <a:prstGeom prst="rect">
            <a:avLst/>
          </a:prstGeom>
          <a:noFill/>
          <a:ln/>
        </p:spPr>
        <p:txBody>
          <a:bodyPr wrap="square" lIns="0" tIns="0" rIns="0" bIns="0" rtlCol="0" anchor="ctr"/>
          <a:lstStyle/>
          <a:p>
            <a:pPr marL="0" indent="0">
              <a:buNone/>
            </a:pPr>
            <a:r>
              <a:rPr lang="en-US" sz="1600" b="1" kern="0" spc="300" dirty="0">
                <a:solidFill>
                  <a:srgbClr val="36454F"/>
                </a:solidFill>
                <a:latin typeface="Trebuchet MS" pitchFamily="34" charset="0"/>
                <a:ea typeface="Trebuchet MS" pitchFamily="34" charset="-122"/>
                <a:cs typeface="Trebuchet MS" pitchFamily="34" charset="-120"/>
              </a:rPr>
              <a:t> Discovering Needs — Implicit vs. Explicit &amp; How to Ask</a:t>
            </a:r>
            <a:endParaRPr lang="en-US" sz="1600" dirty="0"/>
          </a:p>
        </p:txBody>
      </p:sp>
      <p:sp>
        <p:nvSpPr>
          <p:cNvPr id="4" name="Shape 1"/>
          <p:cNvSpPr/>
          <p:nvPr/>
        </p:nvSpPr>
        <p:spPr>
          <a:xfrm>
            <a:off x="548640" y="777240"/>
            <a:ext cx="1645920" cy="36576"/>
          </a:xfrm>
          <a:prstGeom prst="rect">
            <a:avLst/>
          </a:prstGeom>
          <a:solidFill>
            <a:srgbClr val="1B6B93"/>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320040" y="960120"/>
            <a:ext cx="4160520" cy="14173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7" name="Shape 3"/>
          <p:cNvSpPr/>
          <p:nvPr/>
        </p:nvSpPr>
        <p:spPr>
          <a:xfrm>
            <a:off x="320040" y="960120"/>
            <a:ext cx="4160520" cy="347472"/>
          </a:xfrm>
          <a:prstGeom prst="rect">
            <a:avLst/>
          </a:prstGeom>
          <a:solidFill>
            <a:srgbClr val="C67B5C"/>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411480" y="1005840"/>
            <a:ext cx="201168" cy="201168"/>
          </a:xfrm>
          <a:prstGeom prst="rect">
            <a:avLst/>
          </a:prstGeom>
        </p:spPr>
      </p:pic>
      <p:sp>
        <p:nvSpPr>
          <p:cNvPr id="9" name="Text 4"/>
          <p:cNvSpPr/>
          <p:nvPr/>
        </p:nvSpPr>
        <p:spPr>
          <a:xfrm>
            <a:off x="658368" y="960120"/>
            <a:ext cx="3639312" cy="347472"/>
          </a:xfrm>
          <a:prstGeom prst="rect">
            <a:avLst/>
          </a:prstGeom>
          <a:noFill/>
          <a:ln/>
        </p:spPr>
        <p:txBody>
          <a:bodyPr wrap="square" lIns="0" tIns="0" rIns="0" bIns="0" rtlCol="0" anchor="ctr"/>
          <a:lstStyle/>
          <a:p>
            <a:pPr marL="0" indent="0">
              <a:buNone/>
            </a:pPr>
            <a:r>
              <a:rPr lang="en-US" sz="900" b="1" dirty="0">
                <a:solidFill>
                  <a:srgbClr val="F5F0EB"/>
                </a:solidFill>
                <a:latin typeface="Calibri" pitchFamily="34" charset="0"/>
                <a:ea typeface="Calibri" pitchFamily="34" charset="-122"/>
                <a:cs typeface="Calibri" pitchFamily="34" charset="-120"/>
              </a:rPr>
              <a:t>IMPLICIT NEEDS — Problems They Haven’t Fully Articulated</a:t>
            </a:r>
            <a:endParaRPr lang="en-US" sz="900" dirty="0"/>
          </a:p>
        </p:txBody>
      </p:sp>
      <p:sp>
        <p:nvSpPr>
          <p:cNvPr id="10" name="Text 5"/>
          <p:cNvSpPr/>
          <p:nvPr/>
        </p:nvSpPr>
        <p:spPr>
          <a:xfrm>
            <a:off x="411480" y="1371600"/>
            <a:ext cx="3931920" cy="320040"/>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Frustrations that live below the surface. The prospect knows something is wrong but hasn’t connected it to business impact yet.</a:t>
            </a:r>
            <a:endParaRPr lang="en-US" sz="800" dirty="0"/>
          </a:p>
        </p:txBody>
      </p:sp>
      <p:sp>
        <p:nvSpPr>
          <p:cNvPr id="11" name="Text 6"/>
          <p:cNvSpPr/>
          <p:nvPr/>
        </p:nvSpPr>
        <p:spPr>
          <a:xfrm>
            <a:off x="411480" y="1691640"/>
            <a:ext cx="3931920" cy="594360"/>
          </a:xfrm>
          <a:prstGeom prst="rect">
            <a:avLst/>
          </a:prstGeom>
          <a:noFill/>
          <a:ln/>
        </p:spPr>
        <p:txBody>
          <a:bodyPr wrap="square" lIns="0" tIns="0" rIns="0" bIns="0" rtlCol="0" anchor="ctr"/>
          <a:lstStyle/>
          <a:p>
            <a:pPr marL="342900" indent="-342900">
              <a:spcAft>
                <a:spcPts val="200"/>
              </a:spcAft>
              <a:buSzPct val="100000"/>
              <a:buChar char="•"/>
            </a:pPr>
            <a:r>
              <a:rPr lang="en-US" sz="800" i="1" dirty="0">
                <a:latin typeface="Calibri" pitchFamily="34" charset="0"/>
                <a:ea typeface="Calibri" pitchFamily="34" charset="-122"/>
                <a:cs typeface="Calibri" pitchFamily="34" charset="-120"/>
              </a:rPr>
              <a:t>“Our reporting is a bit clunky”</a:t>
            </a:r>
            <a:endParaRPr lang="en-US" sz="800" dirty="0"/>
          </a:p>
          <a:p>
            <a:pPr marL="342900" indent="-342900">
              <a:spcAft>
                <a:spcPts val="200"/>
              </a:spcAft>
              <a:buSzPct val="100000"/>
              <a:buChar char="•"/>
            </a:pPr>
            <a:r>
              <a:rPr lang="en-US" sz="800" i="1" dirty="0">
                <a:latin typeface="Calibri" pitchFamily="34" charset="0"/>
                <a:ea typeface="Calibri" pitchFamily="34" charset="-122"/>
                <a:cs typeface="Calibri" pitchFamily="34" charset="-120"/>
              </a:rPr>
              <a:t>“The front desk gets overwhelmed sometimes”</a:t>
            </a:r>
            <a:endParaRPr lang="en-US" sz="800" dirty="0"/>
          </a:p>
          <a:p>
            <a:pPr marL="342900" indent="-342900">
              <a:spcAft>
                <a:spcPts val="200"/>
              </a:spcAft>
              <a:buSzPct val="100000"/>
              <a:buChar char="•"/>
            </a:pPr>
            <a:r>
              <a:rPr lang="en-US" sz="800" i="1" dirty="0">
                <a:latin typeface="Calibri" pitchFamily="34" charset="0"/>
                <a:ea typeface="Calibri" pitchFamily="34" charset="-122"/>
                <a:cs typeface="Calibri" pitchFamily="34" charset="-120"/>
              </a:rPr>
              <a:t>“Inventory is a headache”</a:t>
            </a:r>
            <a:endParaRPr lang="en-US" sz="800" dirty="0"/>
          </a:p>
          <a:p>
            <a:pPr marL="342900" indent="-342900">
              <a:buSzPct val="100000"/>
              <a:buChar char="•"/>
            </a:pPr>
            <a:r>
              <a:rPr lang="en-US" sz="800" i="1" dirty="0">
                <a:latin typeface="Calibri" pitchFamily="34" charset="0"/>
                <a:ea typeface="Calibri" pitchFamily="34" charset="-122"/>
                <a:cs typeface="Calibri" pitchFamily="34" charset="-120"/>
              </a:rPr>
              <a:t>“Constant fear of providers leaving”</a:t>
            </a:r>
            <a:endParaRPr lang="en-US" sz="800" dirty="0"/>
          </a:p>
        </p:txBody>
      </p:sp>
      <p:sp>
        <p:nvSpPr>
          <p:cNvPr id="12" name="Shape 7"/>
          <p:cNvSpPr/>
          <p:nvPr/>
        </p:nvSpPr>
        <p:spPr>
          <a:xfrm>
            <a:off x="320040" y="2514600"/>
            <a:ext cx="4160520" cy="14173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3" name="Shape 8"/>
          <p:cNvSpPr/>
          <p:nvPr/>
        </p:nvSpPr>
        <p:spPr>
          <a:xfrm>
            <a:off x="320040" y="2514600"/>
            <a:ext cx="4160520" cy="347472"/>
          </a:xfrm>
          <a:prstGeom prst="rect">
            <a:avLst/>
          </a:prstGeom>
          <a:solidFill>
            <a:srgbClr val="7A9E7E"/>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411480" y="2560320"/>
            <a:ext cx="201168" cy="201168"/>
          </a:xfrm>
          <a:prstGeom prst="rect">
            <a:avLst/>
          </a:prstGeom>
        </p:spPr>
      </p:pic>
      <p:sp>
        <p:nvSpPr>
          <p:cNvPr id="15" name="Text 9"/>
          <p:cNvSpPr/>
          <p:nvPr/>
        </p:nvSpPr>
        <p:spPr>
          <a:xfrm>
            <a:off x="658368" y="2514600"/>
            <a:ext cx="3639312" cy="347472"/>
          </a:xfrm>
          <a:prstGeom prst="rect">
            <a:avLst/>
          </a:prstGeom>
          <a:noFill/>
          <a:ln/>
        </p:spPr>
        <p:txBody>
          <a:bodyPr wrap="square" lIns="0" tIns="0" rIns="0" bIns="0" rtlCol="0" anchor="ctr"/>
          <a:lstStyle/>
          <a:p>
            <a:pPr marL="0" indent="0">
              <a:buNone/>
            </a:pPr>
            <a:r>
              <a:rPr lang="en-US" sz="900" b="1" dirty="0">
                <a:solidFill>
                  <a:srgbClr val="F5F0EB"/>
                </a:solidFill>
                <a:latin typeface="Calibri" pitchFamily="34" charset="0"/>
                <a:ea typeface="Calibri" pitchFamily="34" charset="-122"/>
                <a:cs typeface="Calibri" pitchFamily="34" charset="-120"/>
              </a:rPr>
              <a:t>EXPLICIT NEEDS — Clear Wants &amp; Desires for a Solution</a:t>
            </a:r>
            <a:endParaRPr lang="en-US" sz="900" dirty="0"/>
          </a:p>
        </p:txBody>
      </p:sp>
      <p:sp>
        <p:nvSpPr>
          <p:cNvPr id="16" name="Text 10"/>
          <p:cNvSpPr/>
          <p:nvPr/>
        </p:nvSpPr>
        <p:spPr>
          <a:xfrm>
            <a:off x="411480" y="2926080"/>
            <a:ext cx="3931920" cy="320040"/>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The prospect has connected their problem to a need. They can articulate what they want. This is when you shift to Need-Payoff questions.</a:t>
            </a:r>
            <a:endParaRPr lang="en-US" sz="800" dirty="0"/>
          </a:p>
        </p:txBody>
      </p:sp>
      <p:sp>
        <p:nvSpPr>
          <p:cNvPr id="17" name="Text 11"/>
          <p:cNvSpPr/>
          <p:nvPr/>
        </p:nvSpPr>
        <p:spPr>
          <a:xfrm>
            <a:off x="411480" y="3246120"/>
            <a:ext cx="3931920" cy="594360"/>
          </a:xfrm>
          <a:prstGeom prst="rect">
            <a:avLst/>
          </a:prstGeom>
          <a:noFill/>
          <a:ln/>
        </p:spPr>
        <p:txBody>
          <a:bodyPr wrap="square" lIns="0" tIns="0" rIns="0" bIns="0" rtlCol="0" anchor="ctr"/>
          <a:lstStyle/>
          <a:p>
            <a:pPr marL="342900" indent="-342900">
              <a:spcAft>
                <a:spcPts val="200"/>
              </a:spcAft>
              <a:buSzPct val="100000"/>
              <a:buChar char="•"/>
            </a:pPr>
            <a:r>
              <a:rPr lang="en-US" sz="800" i="1" dirty="0">
                <a:latin typeface="Calibri" pitchFamily="34" charset="0"/>
                <a:ea typeface="Calibri" pitchFamily="34" charset="-122"/>
                <a:cs typeface="Calibri" pitchFamily="34" charset="-120"/>
              </a:rPr>
              <a:t>“We need real-time dashboards our managers can see remotely”</a:t>
            </a:r>
            <a:endParaRPr lang="en-US" sz="800" dirty="0"/>
          </a:p>
          <a:p>
            <a:pPr marL="342900" indent="-342900">
              <a:spcAft>
                <a:spcPts val="200"/>
              </a:spcAft>
              <a:buSzPct val="100000"/>
              <a:buChar char="•"/>
            </a:pPr>
            <a:r>
              <a:rPr lang="en-US" sz="800" i="1" dirty="0">
                <a:latin typeface="Calibri" pitchFamily="34" charset="0"/>
                <a:ea typeface="Calibri" pitchFamily="34" charset="-122"/>
                <a:cs typeface="Calibri" pitchFamily="34" charset="-120"/>
              </a:rPr>
              <a:t>“I want automated inventory so we stop losing money”</a:t>
            </a:r>
            <a:endParaRPr lang="en-US" sz="800" dirty="0"/>
          </a:p>
          <a:p>
            <a:pPr marL="342900" indent="-342900">
              <a:buSzPct val="100000"/>
              <a:buChar char="•"/>
            </a:pPr>
            <a:r>
              <a:rPr lang="en-US" sz="800" i="1" dirty="0">
                <a:latin typeface="Calibri" pitchFamily="34" charset="0"/>
                <a:ea typeface="Calibri" pitchFamily="34" charset="-122"/>
                <a:cs typeface="Calibri" pitchFamily="34" charset="-120"/>
              </a:rPr>
              <a:t>“We need a system that tracks frequency of visit and sets provider goals”</a:t>
            </a:r>
            <a:endParaRPr lang="en-US" sz="800" dirty="0"/>
          </a:p>
        </p:txBody>
      </p:sp>
      <p:sp>
        <p:nvSpPr>
          <p:cNvPr id="18" name="Shape 12"/>
          <p:cNvSpPr/>
          <p:nvPr/>
        </p:nvSpPr>
        <p:spPr>
          <a:xfrm>
            <a:off x="320040" y="4069080"/>
            <a:ext cx="4160520" cy="411480"/>
          </a:xfrm>
          <a:prstGeom prst="rect">
            <a:avLst/>
          </a:prstGeom>
          <a:solidFill>
            <a:srgbClr val="1E2A33"/>
          </a:solidFill>
          <a:ln/>
        </p:spPr>
        <p:txBody>
          <a:bodyPr/>
          <a:lstStyle/>
          <a:p>
            <a:endParaRPr lang="en-US"/>
          </a:p>
        </p:txBody>
      </p:sp>
      <p:sp>
        <p:nvSpPr>
          <p:cNvPr id="19" name="Text 13"/>
          <p:cNvSpPr/>
          <p:nvPr/>
        </p:nvSpPr>
        <p:spPr>
          <a:xfrm>
            <a:off x="411480" y="4069080"/>
            <a:ext cx="3931920" cy="411480"/>
          </a:xfrm>
          <a:prstGeom prst="rect">
            <a:avLst/>
          </a:prstGeom>
          <a:noFill/>
          <a:ln/>
        </p:spPr>
        <p:txBody>
          <a:bodyPr wrap="square" lIns="0" tIns="0" rIns="0" bIns="0" rtlCol="0" anchor="ctr"/>
          <a:lstStyle/>
          <a:p>
            <a:pPr marL="0" indent="0">
              <a:buNone/>
            </a:pPr>
            <a:r>
              <a:rPr lang="en-US" sz="800" b="1" i="1" dirty="0">
                <a:solidFill>
                  <a:schemeClr val="bg1"/>
                </a:solidFill>
                <a:latin typeface="Calibri" pitchFamily="34" charset="0"/>
                <a:ea typeface="Calibri" pitchFamily="34" charset="-122"/>
                <a:cs typeface="Calibri" pitchFamily="34" charset="-120"/>
              </a:rPr>
              <a:t>Your job: move implicit needs to explicit needs using Implication questions. Sanity check! Only demo once they’ve expressed explicit needs.</a:t>
            </a:r>
            <a:endParaRPr lang="en-US" sz="800" dirty="0">
              <a:solidFill>
                <a:schemeClr val="bg1"/>
              </a:solidFill>
            </a:endParaRPr>
          </a:p>
        </p:txBody>
      </p:sp>
      <p:sp>
        <p:nvSpPr>
          <p:cNvPr id="20" name="Shape 14"/>
          <p:cNvSpPr/>
          <p:nvPr/>
        </p:nvSpPr>
        <p:spPr>
          <a:xfrm>
            <a:off x="4663440" y="960120"/>
            <a:ext cx="4160520" cy="3520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1" name="Shape 15"/>
          <p:cNvSpPr/>
          <p:nvPr/>
        </p:nvSpPr>
        <p:spPr>
          <a:xfrm>
            <a:off x="4663440" y="960120"/>
            <a:ext cx="4160520" cy="347472"/>
          </a:xfrm>
          <a:prstGeom prst="rect">
            <a:avLst/>
          </a:prstGeom>
          <a:solidFill>
            <a:srgbClr val="1E2A33"/>
          </a:solidFill>
          <a:ln/>
        </p:spPr>
        <p:txBody>
          <a:bodyPr/>
          <a:lstStyle/>
          <a:p>
            <a:endParaRPr lang="en-US"/>
          </a:p>
        </p:txBody>
      </p:sp>
      <p:sp>
        <p:nvSpPr>
          <p:cNvPr id="22" name="Text 16"/>
          <p:cNvSpPr/>
          <p:nvPr/>
        </p:nvSpPr>
        <p:spPr>
          <a:xfrm>
            <a:off x="4754880" y="960120"/>
            <a:ext cx="3977640" cy="347472"/>
          </a:xfrm>
          <a:prstGeom prst="rect">
            <a:avLst/>
          </a:prstGeom>
          <a:noFill/>
          <a:ln/>
        </p:spPr>
        <p:txBody>
          <a:bodyPr wrap="square" lIns="0" tIns="0" rIns="0" bIns="0" rtlCol="0" anchor="ctr"/>
          <a:lstStyle/>
          <a:p>
            <a:pPr marL="0" indent="0">
              <a:buNone/>
            </a:pPr>
            <a:r>
              <a:rPr lang="en-US" sz="850" b="1" kern="0" spc="100" dirty="0">
                <a:solidFill>
                  <a:srgbClr val="F5F0EB"/>
                </a:solidFill>
                <a:latin typeface="Calibri" pitchFamily="34" charset="0"/>
                <a:ea typeface="Calibri" pitchFamily="34" charset="-122"/>
                <a:cs typeface="Calibri" pitchFamily="34" charset="-120"/>
              </a:rPr>
              <a:t>MOVING IMPLICIT → EXPLICIT: QUESTION TECHNIQUES</a:t>
            </a:r>
            <a:endParaRPr lang="en-US" sz="850" dirty="0"/>
          </a:p>
        </p:txBody>
      </p:sp>
      <p:sp>
        <p:nvSpPr>
          <p:cNvPr id="23" name="Shape 17"/>
          <p:cNvSpPr/>
          <p:nvPr/>
        </p:nvSpPr>
        <p:spPr>
          <a:xfrm>
            <a:off x="4754880" y="1389888"/>
            <a:ext cx="3977640" cy="548640"/>
          </a:xfrm>
          <a:prstGeom prst="rect">
            <a:avLst/>
          </a:prstGeom>
          <a:solidFill>
            <a:srgbClr val="F5F0EB"/>
          </a:solidFill>
          <a:ln/>
        </p:spPr>
        <p:txBody>
          <a:bodyPr/>
          <a:lstStyle/>
          <a:p>
            <a:endParaRPr lang="en-US"/>
          </a:p>
        </p:txBody>
      </p:sp>
      <p:sp>
        <p:nvSpPr>
          <p:cNvPr id="24" name="Shape 18"/>
          <p:cNvSpPr/>
          <p:nvPr/>
        </p:nvSpPr>
        <p:spPr>
          <a:xfrm>
            <a:off x="4754880" y="1389888"/>
            <a:ext cx="54864" cy="548640"/>
          </a:xfrm>
          <a:prstGeom prst="rect">
            <a:avLst/>
          </a:prstGeom>
          <a:solidFill>
            <a:srgbClr val="C67B5C"/>
          </a:solidFill>
          <a:ln/>
        </p:spPr>
        <p:txBody>
          <a:bodyPr/>
          <a:lstStyle/>
          <a:p>
            <a:endParaRPr lang="en-US"/>
          </a:p>
        </p:txBody>
      </p:sp>
      <p:sp>
        <p:nvSpPr>
          <p:cNvPr id="25" name="Text 19"/>
          <p:cNvSpPr/>
          <p:nvPr/>
        </p:nvSpPr>
        <p:spPr>
          <a:xfrm>
            <a:off x="4892040" y="1408176"/>
            <a:ext cx="2286000" cy="146304"/>
          </a:xfrm>
          <a:prstGeom prst="rect">
            <a:avLst/>
          </a:prstGeom>
          <a:noFill/>
          <a:ln/>
        </p:spPr>
        <p:txBody>
          <a:bodyPr wrap="square" lIns="0" tIns="0" rIns="0" bIns="0" rtlCol="0" anchor="ctr"/>
          <a:lstStyle/>
          <a:p>
            <a:pPr marL="0" indent="0">
              <a:buNone/>
            </a:pPr>
            <a:r>
              <a:rPr lang="en-US" sz="850" b="1" dirty="0">
                <a:solidFill>
                  <a:srgbClr val="36454F"/>
                </a:solidFill>
                <a:latin typeface="Calibri" pitchFamily="34" charset="0"/>
                <a:ea typeface="Calibri" pitchFamily="34" charset="-122"/>
                <a:cs typeface="Calibri" pitchFamily="34" charset="-120"/>
              </a:rPr>
              <a:t>Implication Questions</a:t>
            </a:r>
            <a:endParaRPr lang="en-US" sz="850" dirty="0"/>
          </a:p>
        </p:txBody>
      </p:sp>
      <p:sp>
        <p:nvSpPr>
          <p:cNvPr id="26" name="Text 20"/>
          <p:cNvSpPr/>
          <p:nvPr/>
        </p:nvSpPr>
        <p:spPr>
          <a:xfrm>
            <a:off x="4892040" y="1554480"/>
            <a:ext cx="3749040" cy="128016"/>
          </a:xfrm>
          <a:prstGeom prst="rect">
            <a:avLst/>
          </a:prstGeom>
          <a:noFill/>
          <a:ln/>
        </p:spPr>
        <p:txBody>
          <a:bodyPr wrap="square" lIns="0" tIns="0" rIns="0" bIns="0" rtlCol="0" anchor="ctr"/>
          <a:lstStyle/>
          <a:p>
            <a:pPr marL="0" indent="0">
              <a:buNone/>
            </a:pPr>
            <a:r>
              <a:rPr lang="en-US" sz="700" dirty="0">
                <a:latin typeface="Calibri" pitchFamily="34" charset="0"/>
                <a:ea typeface="Calibri" pitchFamily="34" charset="-122"/>
                <a:cs typeface="Calibri" pitchFamily="34" charset="-120"/>
              </a:rPr>
              <a:t>Develop the downstream business impact of leaving problems unsolved</a:t>
            </a:r>
            <a:r>
              <a:rPr lang="en-US" sz="700" dirty="0">
                <a:solidFill>
                  <a:srgbClr val="9CA3AF"/>
                </a:solidFill>
                <a:latin typeface="Calibri" pitchFamily="34" charset="0"/>
                <a:ea typeface="Calibri" pitchFamily="34" charset="-122"/>
                <a:cs typeface="Calibri" pitchFamily="34" charset="-120"/>
              </a:rPr>
              <a:t>.</a:t>
            </a:r>
            <a:endParaRPr lang="en-US" sz="700" dirty="0"/>
          </a:p>
        </p:txBody>
      </p:sp>
      <p:sp>
        <p:nvSpPr>
          <p:cNvPr id="27" name="Text 21"/>
          <p:cNvSpPr/>
          <p:nvPr/>
        </p:nvSpPr>
        <p:spPr>
          <a:xfrm>
            <a:off x="4892040" y="1700784"/>
            <a:ext cx="3749040" cy="201168"/>
          </a:xfrm>
          <a:prstGeom prst="rect">
            <a:avLst/>
          </a:prstGeom>
          <a:noFill/>
          <a:ln/>
        </p:spPr>
        <p:txBody>
          <a:bodyPr wrap="square" lIns="0" tIns="0" rIns="0" bIns="0" rtlCol="0" anchor="ctr"/>
          <a:lstStyle/>
          <a:p>
            <a:pPr marL="0" indent="0">
              <a:buNone/>
            </a:pPr>
            <a:r>
              <a:rPr lang="en-US" sz="700" i="1" dirty="0">
                <a:solidFill>
                  <a:srgbClr val="36454F"/>
                </a:solidFill>
                <a:latin typeface="Calibri" pitchFamily="34" charset="0"/>
                <a:ea typeface="Calibri" pitchFamily="34" charset="-122"/>
                <a:cs typeface="Calibri" pitchFamily="34" charset="-120"/>
              </a:rPr>
              <a:t>“I’d love to hear an example of why a provider would leave. How do you feel about that, and what does turnover cost you?”</a:t>
            </a:r>
            <a:endParaRPr lang="en-US" sz="700" dirty="0"/>
          </a:p>
        </p:txBody>
      </p:sp>
      <p:sp>
        <p:nvSpPr>
          <p:cNvPr id="28" name="Shape 22"/>
          <p:cNvSpPr/>
          <p:nvPr/>
        </p:nvSpPr>
        <p:spPr>
          <a:xfrm>
            <a:off x="4754880" y="2002536"/>
            <a:ext cx="3977640" cy="548640"/>
          </a:xfrm>
          <a:prstGeom prst="rect">
            <a:avLst/>
          </a:prstGeom>
          <a:solidFill>
            <a:srgbClr val="FFFFFF"/>
          </a:solidFill>
          <a:ln/>
        </p:spPr>
        <p:txBody>
          <a:bodyPr/>
          <a:lstStyle/>
          <a:p>
            <a:endParaRPr lang="en-US"/>
          </a:p>
        </p:txBody>
      </p:sp>
      <p:sp>
        <p:nvSpPr>
          <p:cNvPr id="29" name="Shape 23"/>
          <p:cNvSpPr/>
          <p:nvPr/>
        </p:nvSpPr>
        <p:spPr>
          <a:xfrm>
            <a:off x="4754880" y="2002536"/>
            <a:ext cx="54864" cy="548640"/>
          </a:xfrm>
          <a:prstGeom prst="rect">
            <a:avLst/>
          </a:prstGeom>
          <a:solidFill>
            <a:srgbClr val="1B6B93"/>
          </a:solidFill>
          <a:ln/>
        </p:spPr>
        <p:txBody>
          <a:bodyPr/>
          <a:lstStyle/>
          <a:p>
            <a:endParaRPr lang="en-US"/>
          </a:p>
        </p:txBody>
      </p:sp>
      <p:sp>
        <p:nvSpPr>
          <p:cNvPr id="30" name="Text 24"/>
          <p:cNvSpPr/>
          <p:nvPr/>
        </p:nvSpPr>
        <p:spPr>
          <a:xfrm>
            <a:off x="4892040" y="2020824"/>
            <a:ext cx="2286000" cy="146304"/>
          </a:xfrm>
          <a:prstGeom prst="rect">
            <a:avLst/>
          </a:prstGeom>
          <a:noFill/>
          <a:ln/>
        </p:spPr>
        <p:txBody>
          <a:bodyPr wrap="square" lIns="0" tIns="0" rIns="0" bIns="0" rtlCol="0" anchor="ctr"/>
          <a:lstStyle/>
          <a:p>
            <a:pPr marL="0" indent="0">
              <a:buNone/>
            </a:pPr>
            <a:r>
              <a:rPr lang="en-US" sz="850" b="1" dirty="0">
                <a:solidFill>
                  <a:srgbClr val="36454F"/>
                </a:solidFill>
                <a:latin typeface="Calibri" pitchFamily="34" charset="0"/>
                <a:ea typeface="Calibri" pitchFamily="34" charset="-122"/>
                <a:cs typeface="Calibri" pitchFamily="34" charset="-120"/>
              </a:rPr>
              <a:t>Vertical Questions</a:t>
            </a:r>
            <a:endParaRPr lang="en-US" sz="850" dirty="0"/>
          </a:p>
        </p:txBody>
      </p:sp>
      <p:sp>
        <p:nvSpPr>
          <p:cNvPr id="31" name="Text 25"/>
          <p:cNvSpPr/>
          <p:nvPr/>
        </p:nvSpPr>
        <p:spPr>
          <a:xfrm>
            <a:off x="4892040" y="2167128"/>
            <a:ext cx="3749040" cy="128016"/>
          </a:xfrm>
          <a:prstGeom prst="rect">
            <a:avLst/>
          </a:prstGeom>
          <a:noFill/>
          <a:ln/>
        </p:spPr>
        <p:txBody>
          <a:bodyPr wrap="square" lIns="0" tIns="0" rIns="0" bIns="0" rtlCol="0" anchor="ctr"/>
          <a:lstStyle/>
          <a:p>
            <a:pPr marL="0" indent="0">
              <a:buNone/>
            </a:pPr>
            <a:r>
              <a:rPr lang="en-US" sz="700" dirty="0">
                <a:latin typeface="Calibri" pitchFamily="34" charset="0"/>
                <a:ea typeface="Calibri" pitchFamily="34" charset="-122"/>
                <a:cs typeface="Calibri" pitchFamily="34" charset="-120"/>
              </a:rPr>
              <a:t>Use their previous answers to build depth. Surface → problem → impact</a:t>
            </a:r>
            <a:r>
              <a:rPr lang="en-US" sz="700" dirty="0">
                <a:solidFill>
                  <a:srgbClr val="9CA3AF"/>
                </a:solidFill>
                <a:latin typeface="Calibri" pitchFamily="34" charset="0"/>
                <a:ea typeface="Calibri" pitchFamily="34" charset="-122"/>
                <a:cs typeface="Calibri" pitchFamily="34" charset="-120"/>
              </a:rPr>
              <a:t>.</a:t>
            </a:r>
            <a:endParaRPr lang="en-US" sz="700" dirty="0"/>
          </a:p>
        </p:txBody>
      </p:sp>
      <p:sp>
        <p:nvSpPr>
          <p:cNvPr id="32" name="Text 26"/>
          <p:cNvSpPr/>
          <p:nvPr/>
        </p:nvSpPr>
        <p:spPr>
          <a:xfrm>
            <a:off x="4892040" y="2313432"/>
            <a:ext cx="3749040" cy="201168"/>
          </a:xfrm>
          <a:prstGeom prst="rect">
            <a:avLst/>
          </a:prstGeom>
          <a:noFill/>
          <a:ln/>
        </p:spPr>
        <p:txBody>
          <a:bodyPr wrap="square" lIns="0" tIns="0" rIns="0" bIns="0" rtlCol="0" anchor="ctr"/>
          <a:lstStyle/>
          <a:p>
            <a:pPr marL="0" indent="0">
              <a:buNone/>
            </a:pPr>
            <a:r>
              <a:rPr lang="en-US" sz="700" i="1" dirty="0">
                <a:solidFill>
                  <a:srgbClr val="36454F"/>
                </a:solidFill>
                <a:latin typeface="Calibri" pitchFamily="34" charset="0"/>
                <a:ea typeface="Calibri" pitchFamily="34" charset="-122"/>
                <a:cs typeface="Calibri" pitchFamily="34" charset="-120"/>
              </a:rPr>
              <a:t>“You mentioned reporting is clunky — I’d love to hear examples. Typically I hear it leads to missed payroll projections or revenue surprises?”</a:t>
            </a:r>
            <a:endParaRPr lang="en-US" sz="700" dirty="0"/>
          </a:p>
        </p:txBody>
      </p:sp>
      <p:sp>
        <p:nvSpPr>
          <p:cNvPr id="33" name="Shape 27"/>
          <p:cNvSpPr/>
          <p:nvPr/>
        </p:nvSpPr>
        <p:spPr>
          <a:xfrm>
            <a:off x="4754880" y="2615184"/>
            <a:ext cx="3977640" cy="548640"/>
          </a:xfrm>
          <a:prstGeom prst="rect">
            <a:avLst/>
          </a:prstGeom>
          <a:solidFill>
            <a:srgbClr val="F5F0EB"/>
          </a:solidFill>
          <a:ln/>
        </p:spPr>
        <p:txBody>
          <a:bodyPr/>
          <a:lstStyle/>
          <a:p>
            <a:endParaRPr lang="en-US"/>
          </a:p>
        </p:txBody>
      </p:sp>
      <p:sp>
        <p:nvSpPr>
          <p:cNvPr id="34" name="Shape 28"/>
          <p:cNvSpPr/>
          <p:nvPr/>
        </p:nvSpPr>
        <p:spPr>
          <a:xfrm>
            <a:off x="4754880" y="2615184"/>
            <a:ext cx="54864" cy="548640"/>
          </a:xfrm>
          <a:prstGeom prst="rect">
            <a:avLst/>
          </a:prstGeom>
          <a:solidFill>
            <a:srgbClr val="8B6F7C"/>
          </a:solidFill>
          <a:ln/>
        </p:spPr>
        <p:txBody>
          <a:bodyPr/>
          <a:lstStyle/>
          <a:p>
            <a:endParaRPr lang="en-US"/>
          </a:p>
        </p:txBody>
      </p:sp>
      <p:sp>
        <p:nvSpPr>
          <p:cNvPr id="35" name="Text 29"/>
          <p:cNvSpPr/>
          <p:nvPr/>
        </p:nvSpPr>
        <p:spPr>
          <a:xfrm>
            <a:off x="4892040" y="2633472"/>
            <a:ext cx="2286000" cy="146304"/>
          </a:xfrm>
          <a:prstGeom prst="rect">
            <a:avLst/>
          </a:prstGeom>
          <a:noFill/>
          <a:ln/>
        </p:spPr>
        <p:txBody>
          <a:bodyPr wrap="square" lIns="0" tIns="0" rIns="0" bIns="0" rtlCol="0" anchor="ctr"/>
          <a:lstStyle/>
          <a:p>
            <a:pPr marL="0" indent="0">
              <a:buNone/>
            </a:pPr>
            <a:r>
              <a:rPr lang="en-US" sz="850" b="1" dirty="0">
                <a:solidFill>
                  <a:srgbClr val="36454F"/>
                </a:solidFill>
                <a:latin typeface="Calibri" pitchFamily="34" charset="0"/>
                <a:ea typeface="Calibri" pitchFamily="34" charset="-122"/>
                <a:cs typeface="Calibri" pitchFamily="34" charset="-120"/>
              </a:rPr>
              <a:t>Playbacks</a:t>
            </a:r>
            <a:endParaRPr lang="en-US" sz="850" dirty="0"/>
          </a:p>
        </p:txBody>
      </p:sp>
      <p:sp>
        <p:nvSpPr>
          <p:cNvPr id="36" name="Text 30"/>
          <p:cNvSpPr/>
          <p:nvPr/>
        </p:nvSpPr>
        <p:spPr>
          <a:xfrm>
            <a:off x="4892040" y="2779776"/>
            <a:ext cx="3749040" cy="128016"/>
          </a:xfrm>
          <a:prstGeom prst="rect">
            <a:avLst/>
          </a:prstGeom>
          <a:noFill/>
          <a:ln/>
        </p:spPr>
        <p:txBody>
          <a:bodyPr wrap="square" lIns="0" tIns="0" rIns="0" bIns="0" rtlCol="0" anchor="ctr"/>
          <a:lstStyle/>
          <a:p>
            <a:pPr marL="0" indent="0">
              <a:buNone/>
            </a:pPr>
            <a:r>
              <a:rPr lang="en-US" sz="700" dirty="0">
                <a:latin typeface="Calibri" pitchFamily="34" charset="0"/>
                <a:ea typeface="Calibri" pitchFamily="34" charset="-122"/>
                <a:cs typeface="Calibri" pitchFamily="34" charset="-120"/>
              </a:rPr>
              <a:t>Repeat what they said to show you listened. Use when they share 2+ problems.</a:t>
            </a:r>
            <a:endParaRPr lang="en-US" sz="700" dirty="0"/>
          </a:p>
        </p:txBody>
      </p:sp>
      <p:sp>
        <p:nvSpPr>
          <p:cNvPr id="37" name="Text 31"/>
          <p:cNvSpPr/>
          <p:nvPr/>
        </p:nvSpPr>
        <p:spPr>
          <a:xfrm>
            <a:off x="4892040" y="2926080"/>
            <a:ext cx="3749040" cy="201168"/>
          </a:xfrm>
          <a:prstGeom prst="rect">
            <a:avLst/>
          </a:prstGeom>
          <a:noFill/>
          <a:ln/>
        </p:spPr>
        <p:txBody>
          <a:bodyPr wrap="square" lIns="0" tIns="0" rIns="0" bIns="0" rtlCol="0" anchor="ctr"/>
          <a:lstStyle/>
          <a:p>
            <a:pPr marL="0" indent="0">
              <a:buNone/>
            </a:pPr>
            <a:r>
              <a:rPr lang="en-US" sz="700" i="1" dirty="0">
                <a:solidFill>
                  <a:srgbClr val="36454F"/>
                </a:solidFill>
                <a:latin typeface="Calibri" pitchFamily="34" charset="0"/>
                <a:ea typeface="Calibri" pitchFamily="34" charset="-122"/>
                <a:cs typeface="Calibri" pitchFamily="34" charset="-120"/>
              </a:rPr>
              <a:t>“So if I’m hearing you right, the front desk is overwhelmed AND inventory is a headache. Why does this happen?”</a:t>
            </a:r>
            <a:endParaRPr lang="en-US" sz="700" dirty="0"/>
          </a:p>
        </p:txBody>
      </p:sp>
      <p:sp>
        <p:nvSpPr>
          <p:cNvPr id="38" name="Shape 32"/>
          <p:cNvSpPr/>
          <p:nvPr/>
        </p:nvSpPr>
        <p:spPr>
          <a:xfrm>
            <a:off x="4754880" y="3227832"/>
            <a:ext cx="3977640" cy="548640"/>
          </a:xfrm>
          <a:prstGeom prst="rect">
            <a:avLst/>
          </a:prstGeom>
          <a:solidFill>
            <a:srgbClr val="FFFFFF"/>
          </a:solidFill>
          <a:ln/>
        </p:spPr>
        <p:txBody>
          <a:bodyPr/>
          <a:lstStyle/>
          <a:p>
            <a:endParaRPr lang="en-US"/>
          </a:p>
        </p:txBody>
      </p:sp>
      <p:sp>
        <p:nvSpPr>
          <p:cNvPr id="39" name="Shape 33"/>
          <p:cNvSpPr/>
          <p:nvPr/>
        </p:nvSpPr>
        <p:spPr>
          <a:xfrm>
            <a:off x="4754880" y="3227832"/>
            <a:ext cx="54864" cy="548640"/>
          </a:xfrm>
          <a:prstGeom prst="rect">
            <a:avLst/>
          </a:prstGeom>
          <a:solidFill>
            <a:srgbClr val="6B3A4A"/>
          </a:solidFill>
          <a:ln/>
        </p:spPr>
        <p:txBody>
          <a:bodyPr/>
          <a:lstStyle/>
          <a:p>
            <a:endParaRPr lang="en-US"/>
          </a:p>
        </p:txBody>
      </p:sp>
      <p:sp>
        <p:nvSpPr>
          <p:cNvPr id="40" name="Text 34"/>
          <p:cNvSpPr/>
          <p:nvPr/>
        </p:nvSpPr>
        <p:spPr>
          <a:xfrm>
            <a:off x="4892040" y="3246120"/>
            <a:ext cx="2286000" cy="146304"/>
          </a:xfrm>
          <a:prstGeom prst="rect">
            <a:avLst/>
          </a:prstGeom>
          <a:noFill/>
          <a:ln/>
        </p:spPr>
        <p:txBody>
          <a:bodyPr wrap="square" lIns="0" tIns="0" rIns="0" bIns="0" rtlCol="0" anchor="ctr"/>
          <a:lstStyle/>
          <a:p>
            <a:pPr marL="0" indent="0">
              <a:buNone/>
            </a:pPr>
            <a:r>
              <a:rPr lang="en-US" sz="850" b="1" dirty="0">
                <a:solidFill>
                  <a:srgbClr val="36454F"/>
                </a:solidFill>
                <a:latin typeface="Calibri" pitchFamily="34" charset="0"/>
                <a:ea typeface="Calibri" pitchFamily="34" charset="-122"/>
                <a:cs typeface="Calibri" pitchFamily="34" charset="-120"/>
              </a:rPr>
              <a:t>Multiple Choice</a:t>
            </a:r>
            <a:endParaRPr lang="en-US" sz="850" dirty="0"/>
          </a:p>
        </p:txBody>
      </p:sp>
      <p:sp>
        <p:nvSpPr>
          <p:cNvPr id="41" name="Text 35"/>
          <p:cNvSpPr/>
          <p:nvPr/>
        </p:nvSpPr>
        <p:spPr>
          <a:xfrm>
            <a:off x="4892040" y="3392424"/>
            <a:ext cx="3749040" cy="128016"/>
          </a:xfrm>
          <a:prstGeom prst="rect">
            <a:avLst/>
          </a:prstGeom>
          <a:noFill/>
          <a:ln/>
        </p:spPr>
        <p:txBody>
          <a:bodyPr wrap="square" lIns="0" tIns="0" rIns="0" bIns="0" rtlCol="0" anchor="ctr"/>
          <a:lstStyle/>
          <a:p>
            <a:pPr marL="0" indent="0">
              <a:buNone/>
            </a:pPr>
            <a:r>
              <a:rPr lang="en-US" sz="700" dirty="0">
                <a:latin typeface="Calibri" pitchFamily="34" charset="0"/>
                <a:ea typeface="Calibri" pitchFamily="34" charset="-122"/>
                <a:cs typeface="Calibri" pitchFamily="34" charset="-120"/>
              </a:rPr>
              <a:t>Give them options that surface hidden pain. Frame as peer comparison.</a:t>
            </a:r>
            <a:endParaRPr lang="en-US" sz="700" dirty="0"/>
          </a:p>
        </p:txBody>
      </p:sp>
      <p:sp>
        <p:nvSpPr>
          <p:cNvPr id="42" name="Text 36"/>
          <p:cNvSpPr/>
          <p:nvPr/>
        </p:nvSpPr>
        <p:spPr>
          <a:xfrm>
            <a:off x="4892040" y="3538728"/>
            <a:ext cx="3749040" cy="201168"/>
          </a:xfrm>
          <a:prstGeom prst="rect">
            <a:avLst/>
          </a:prstGeom>
          <a:noFill/>
          <a:ln/>
        </p:spPr>
        <p:txBody>
          <a:bodyPr wrap="square" lIns="0" tIns="0" rIns="0" bIns="0" rtlCol="0" anchor="ctr"/>
          <a:lstStyle/>
          <a:p>
            <a:pPr marL="0" indent="0">
              <a:buNone/>
            </a:pPr>
            <a:r>
              <a:rPr lang="en-US" sz="700" i="1" dirty="0">
                <a:solidFill>
                  <a:srgbClr val="36454F"/>
                </a:solidFill>
                <a:latin typeface="Calibri" pitchFamily="34" charset="0"/>
                <a:ea typeface="Calibri" pitchFamily="34" charset="-122"/>
                <a:cs typeface="Calibri" pitchFamily="34" charset="-120"/>
              </a:rPr>
              <a:t>“Typically, Vagaro clients I speak to are experiencing X, Y, and Z. Which is the biggest issue in your business and why?”</a:t>
            </a:r>
            <a:endParaRPr lang="en-US" sz="700" dirty="0"/>
          </a:p>
        </p:txBody>
      </p:sp>
      <p:sp>
        <p:nvSpPr>
          <p:cNvPr id="43" name="Shape 37"/>
          <p:cNvSpPr/>
          <p:nvPr/>
        </p:nvSpPr>
        <p:spPr>
          <a:xfrm>
            <a:off x="4754880" y="3840480"/>
            <a:ext cx="3977640" cy="548640"/>
          </a:xfrm>
          <a:prstGeom prst="rect">
            <a:avLst/>
          </a:prstGeom>
          <a:solidFill>
            <a:srgbClr val="F5F0EB"/>
          </a:solidFill>
          <a:ln/>
        </p:spPr>
        <p:txBody>
          <a:bodyPr/>
          <a:lstStyle/>
          <a:p>
            <a:endParaRPr lang="en-US"/>
          </a:p>
        </p:txBody>
      </p:sp>
      <p:sp>
        <p:nvSpPr>
          <p:cNvPr id="44" name="Shape 38"/>
          <p:cNvSpPr/>
          <p:nvPr/>
        </p:nvSpPr>
        <p:spPr>
          <a:xfrm>
            <a:off x="4754880" y="3840480"/>
            <a:ext cx="54864" cy="548640"/>
          </a:xfrm>
          <a:prstGeom prst="rect">
            <a:avLst/>
          </a:prstGeom>
          <a:solidFill>
            <a:srgbClr val="7A9E7E"/>
          </a:solidFill>
          <a:ln/>
        </p:spPr>
        <p:txBody>
          <a:bodyPr/>
          <a:lstStyle/>
          <a:p>
            <a:endParaRPr lang="en-US"/>
          </a:p>
        </p:txBody>
      </p:sp>
      <p:sp>
        <p:nvSpPr>
          <p:cNvPr id="45" name="Text 39"/>
          <p:cNvSpPr/>
          <p:nvPr/>
        </p:nvSpPr>
        <p:spPr>
          <a:xfrm>
            <a:off x="4892040" y="3858768"/>
            <a:ext cx="2286000" cy="146304"/>
          </a:xfrm>
          <a:prstGeom prst="rect">
            <a:avLst/>
          </a:prstGeom>
          <a:noFill/>
          <a:ln/>
        </p:spPr>
        <p:txBody>
          <a:bodyPr wrap="square" lIns="0" tIns="0" rIns="0" bIns="0" rtlCol="0" anchor="ctr"/>
          <a:lstStyle/>
          <a:p>
            <a:pPr marL="0" indent="0">
              <a:buNone/>
            </a:pPr>
            <a:r>
              <a:rPr lang="en-US" sz="850" b="1" dirty="0">
                <a:solidFill>
                  <a:srgbClr val="36454F"/>
                </a:solidFill>
                <a:latin typeface="Calibri" pitchFamily="34" charset="0"/>
                <a:ea typeface="Calibri" pitchFamily="34" charset="-122"/>
                <a:cs typeface="Calibri" pitchFamily="34" charset="-120"/>
              </a:rPr>
              <a:t>Magic Moment</a:t>
            </a:r>
            <a:endParaRPr lang="en-US" sz="850" dirty="0"/>
          </a:p>
        </p:txBody>
      </p:sp>
      <p:sp>
        <p:nvSpPr>
          <p:cNvPr id="46" name="Text 40"/>
          <p:cNvSpPr/>
          <p:nvPr/>
        </p:nvSpPr>
        <p:spPr>
          <a:xfrm>
            <a:off x="4892040" y="4005072"/>
            <a:ext cx="3749040" cy="128016"/>
          </a:xfrm>
          <a:prstGeom prst="rect">
            <a:avLst/>
          </a:prstGeom>
          <a:noFill/>
          <a:ln/>
        </p:spPr>
        <p:txBody>
          <a:bodyPr wrap="square" lIns="0" tIns="0" rIns="0" bIns="0" rtlCol="0" anchor="ctr"/>
          <a:lstStyle/>
          <a:p>
            <a:pPr marL="0" indent="0">
              <a:buNone/>
            </a:pPr>
            <a:r>
              <a:rPr lang="en-US" sz="700" dirty="0">
                <a:latin typeface="Calibri" pitchFamily="34" charset="0"/>
                <a:ea typeface="Calibri" pitchFamily="34" charset="-122"/>
                <a:cs typeface="Calibri" pitchFamily="34" charset="-120"/>
              </a:rPr>
              <a:t>Pinpoint the trigger that made the problem feel urgent</a:t>
            </a:r>
            <a:r>
              <a:rPr lang="en-US" sz="700" dirty="0">
                <a:solidFill>
                  <a:srgbClr val="9CA3AF"/>
                </a:solidFill>
                <a:latin typeface="Calibri" pitchFamily="34" charset="0"/>
                <a:ea typeface="Calibri" pitchFamily="34" charset="-122"/>
                <a:cs typeface="Calibri" pitchFamily="34" charset="-120"/>
              </a:rPr>
              <a:t>.</a:t>
            </a:r>
            <a:endParaRPr lang="en-US" sz="700" dirty="0"/>
          </a:p>
        </p:txBody>
      </p:sp>
      <p:sp>
        <p:nvSpPr>
          <p:cNvPr id="47" name="Text 41"/>
          <p:cNvSpPr/>
          <p:nvPr/>
        </p:nvSpPr>
        <p:spPr>
          <a:xfrm>
            <a:off x="4892040" y="4151376"/>
            <a:ext cx="3749040" cy="201168"/>
          </a:xfrm>
          <a:prstGeom prst="rect">
            <a:avLst/>
          </a:prstGeom>
          <a:noFill/>
          <a:ln/>
        </p:spPr>
        <p:txBody>
          <a:bodyPr wrap="square" lIns="0" tIns="0" rIns="0" bIns="0" rtlCol="0" anchor="ctr"/>
          <a:lstStyle/>
          <a:p>
            <a:pPr marL="0" indent="0">
              <a:buNone/>
            </a:pPr>
            <a:r>
              <a:rPr lang="en-US" sz="700" i="1" dirty="0">
                <a:solidFill>
                  <a:srgbClr val="36454F"/>
                </a:solidFill>
                <a:latin typeface="Calibri" pitchFamily="34" charset="0"/>
                <a:ea typeface="Calibri" pitchFamily="34" charset="-122"/>
                <a:cs typeface="Calibri" pitchFamily="34" charset="-120"/>
              </a:rPr>
              <a:t>“When did you realize this was an issue? Was there a moment that made you start looking?”</a:t>
            </a:r>
            <a:endParaRPr lang="en-US" sz="700" dirty="0"/>
          </a:p>
        </p:txBody>
      </p:sp>
      <p:sp>
        <p:nvSpPr>
          <p:cNvPr id="48" name="Text 42"/>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49" name="Shape 43"/>
          <p:cNvSpPr/>
          <p:nvPr/>
        </p:nvSpPr>
        <p:spPr>
          <a:xfrm>
            <a:off x="6766560" y="4754880"/>
            <a:ext cx="502920" cy="320040"/>
          </a:xfrm>
          <a:prstGeom prst="rect">
            <a:avLst/>
          </a:prstGeom>
          <a:solidFill>
            <a:srgbClr val="1B6B93"/>
          </a:solidFill>
          <a:ln/>
        </p:spPr>
        <p:txBody>
          <a:bodyPr/>
          <a:lstStyle/>
          <a:p>
            <a:endParaRPr lang="en-US"/>
          </a:p>
        </p:txBody>
      </p:sp>
      <p:sp>
        <p:nvSpPr>
          <p:cNvPr id="50" name="Text 44"/>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28600"/>
            <a:ext cx="347472" cy="347472"/>
          </a:xfrm>
          <a:prstGeom prst="rect">
            <a:avLst/>
          </a:prstGeom>
        </p:spPr>
      </p:pic>
      <p:sp>
        <p:nvSpPr>
          <p:cNvPr id="3" name="Text 0"/>
          <p:cNvSpPr/>
          <p:nvPr/>
        </p:nvSpPr>
        <p:spPr>
          <a:xfrm>
            <a:off x="868680" y="182880"/>
            <a:ext cx="7315200" cy="548640"/>
          </a:xfrm>
          <a:prstGeom prst="rect">
            <a:avLst/>
          </a:prstGeom>
          <a:noFill/>
          <a:ln/>
        </p:spPr>
        <p:txBody>
          <a:bodyPr wrap="square" lIns="0" tIns="0" rIns="0" bIns="0" rtlCol="0" anchor="ctr"/>
          <a:lstStyle/>
          <a:p>
            <a:pPr marL="0" indent="0">
              <a:buNone/>
            </a:pPr>
            <a:r>
              <a:rPr lang="en-US" b="1" kern="0" spc="300" dirty="0">
                <a:solidFill>
                  <a:srgbClr val="36454F"/>
                </a:solidFill>
                <a:latin typeface="Trebuchet MS" pitchFamily="34" charset="0"/>
                <a:ea typeface="Trebuchet MS" pitchFamily="34" charset="-122"/>
                <a:cs typeface="Trebuchet MS" pitchFamily="34" charset="-120"/>
              </a:rPr>
              <a:t>               PPO Applied — SDR vs. TSE</a:t>
            </a:r>
            <a:endParaRPr lang="en-US" dirty="0"/>
          </a:p>
        </p:txBody>
      </p:sp>
      <p:sp>
        <p:nvSpPr>
          <p:cNvPr id="4" name="Shape 1"/>
          <p:cNvSpPr/>
          <p:nvPr/>
        </p:nvSpPr>
        <p:spPr>
          <a:xfrm>
            <a:off x="548640" y="777240"/>
            <a:ext cx="1645920" cy="36576"/>
          </a:xfrm>
          <a:prstGeom prst="rect">
            <a:avLst/>
          </a:prstGeom>
          <a:solidFill>
            <a:srgbClr val="1B6B93"/>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320040" y="960120"/>
            <a:ext cx="4160520" cy="3611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3"/>
          <p:cNvSpPr/>
          <p:nvPr/>
        </p:nvSpPr>
        <p:spPr>
          <a:xfrm>
            <a:off x="320040" y="960120"/>
            <a:ext cx="4160520" cy="457200"/>
          </a:xfrm>
          <a:prstGeom prst="rect">
            <a:avLst/>
          </a:prstGeom>
          <a:solidFill>
            <a:srgbClr val="1B6B93"/>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411480" y="1051560"/>
            <a:ext cx="256032" cy="256032"/>
          </a:xfrm>
          <a:prstGeom prst="rect">
            <a:avLst/>
          </a:prstGeom>
        </p:spPr>
      </p:pic>
      <p:sp>
        <p:nvSpPr>
          <p:cNvPr id="9" name="Text 4"/>
          <p:cNvSpPr/>
          <p:nvPr/>
        </p:nvSpPr>
        <p:spPr>
          <a:xfrm>
            <a:off x="731520" y="960120"/>
            <a:ext cx="3566160" cy="457200"/>
          </a:xfrm>
          <a:prstGeom prst="rect">
            <a:avLst/>
          </a:prstGeom>
          <a:noFill/>
          <a:ln/>
        </p:spPr>
        <p:txBody>
          <a:bodyPr wrap="square" lIns="0" tIns="0" rIns="0" bIns="0" rtlCol="0" anchor="ctr"/>
          <a:lstStyle/>
          <a:p>
            <a:pPr marL="0" indent="0">
              <a:buNone/>
            </a:pPr>
            <a:r>
              <a:rPr lang="en-US" sz="1200" b="1" kern="0" spc="100" dirty="0">
                <a:solidFill>
                  <a:srgbClr val="F5F0EB"/>
                </a:solidFill>
                <a:latin typeface="Calibri" pitchFamily="34" charset="0"/>
                <a:ea typeface="Calibri" pitchFamily="34" charset="-122"/>
                <a:cs typeface="Calibri" pitchFamily="34" charset="-120"/>
              </a:rPr>
              <a:t>SDR — COLD CALL / PROSPECTING</a:t>
            </a:r>
            <a:endParaRPr lang="en-US" sz="1200" dirty="0"/>
          </a:p>
        </p:txBody>
      </p:sp>
      <p:sp>
        <p:nvSpPr>
          <p:cNvPr id="10" name="Shape 5"/>
          <p:cNvSpPr/>
          <p:nvPr/>
        </p:nvSpPr>
        <p:spPr>
          <a:xfrm>
            <a:off x="457200" y="1508760"/>
            <a:ext cx="685800" cy="182880"/>
          </a:xfrm>
          <a:prstGeom prst="rect">
            <a:avLst/>
          </a:prstGeom>
          <a:solidFill>
            <a:srgbClr val="1B6B93"/>
          </a:solidFill>
          <a:ln/>
        </p:spPr>
        <p:txBody>
          <a:bodyPr/>
          <a:lstStyle/>
          <a:p>
            <a:endParaRPr lang="en-US"/>
          </a:p>
        </p:txBody>
      </p:sp>
      <p:sp>
        <p:nvSpPr>
          <p:cNvPr id="11" name="Text 6"/>
          <p:cNvSpPr/>
          <p:nvPr/>
        </p:nvSpPr>
        <p:spPr>
          <a:xfrm>
            <a:off x="457200" y="1508760"/>
            <a:ext cx="685800" cy="182880"/>
          </a:xfrm>
          <a:prstGeom prst="rect">
            <a:avLst/>
          </a:prstGeom>
          <a:noFill/>
          <a:ln/>
        </p:spPr>
        <p:txBody>
          <a:bodyPr wrap="square" lIns="0" tIns="0" rIns="0" bIns="0" rtlCol="0" anchor="ctr"/>
          <a:lstStyle/>
          <a:p>
            <a:pPr marL="0" indent="0" algn="ctr">
              <a:buNone/>
            </a:pPr>
            <a:r>
              <a:rPr lang="en-US" sz="750" b="1" kern="0" spc="200" dirty="0">
                <a:solidFill>
                  <a:srgbClr val="F5F0EB"/>
                </a:solidFill>
                <a:latin typeface="Calibri" pitchFamily="34" charset="0"/>
                <a:ea typeface="Calibri" pitchFamily="34" charset="-122"/>
                <a:cs typeface="Calibri" pitchFamily="34" charset="-120"/>
              </a:rPr>
              <a:t>PURPOSE</a:t>
            </a:r>
            <a:endParaRPr lang="en-US" sz="750" dirty="0"/>
          </a:p>
        </p:txBody>
      </p:sp>
      <p:sp>
        <p:nvSpPr>
          <p:cNvPr id="12" name="Text 7"/>
          <p:cNvSpPr/>
          <p:nvPr/>
        </p:nvSpPr>
        <p:spPr>
          <a:xfrm>
            <a:off x="457200" y="1737360"/>
            <a:ext cx="3840480" cy="7132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Earn the right to their time in 30 seconds. Reference their software, a competitor pain point, or a trigger from research.</a:t>
            </a:r>
            <a:endParaRPr lang="en-US" sz="800" dirty="0"/>
          </a:p>
          <a:p>
            <a:pPr marL="0" indent="0">
              <a:buNone/>
            </a:pPr>
            <a:r>
              <a:rPr lang="en-US" sz="800" dirty="0">
                <a:solidFill>
                  <a:srgbClr val="36454F"/>
                </a:solidFill>
                <a:latin typeface="Calibri" pitchFamily="34" charset="0"/>
                <a:ea typeface="Calibri" pitchFamily="34" charset="-122"/>
                <a:cs typeface="Calibri" pitchFamily="34" charset="-120"/>
              </a:rPr>
              <a:t>“Hey Nicole, Terry from Meevo. I’m calling salon owners like yourself who are using Boulevard — we’ve been hearing a lot of feedback lately from businesses making a switch.”</a:t>
            </a:r>
            <a:endParaRPr lang="en-US" sz="800" dirty="0"/>
          </a:p>
        </p:txBody>
      </p:sp>
      <p:sp>
        <p:nvSpPr>
          <p:cNvPr id="13" name="Shape 8"/>
          <p:cNvSpPr/>
          <p:nvPr/>
        </p:nvSpPr>
        <p:spPr>
          <a:xfrm>
            <a:off x="457200" y="2496312"/>
            <a:ext cx="685800" cy="182880"/>
          </a:xfrm>
          <a:prstGeom prst="rect">
            <a:avLst/>
          </a:prstGeom>
          <a:solidFill>
            <a:srgbClr val="C67B5C"/>
          </a:solidFill>
          <a:ln/>
        </p:spPr>
        <p:txBody>
          <a:bodyPr/>
          <a:lstStyle/>
          <a:p>
            <a:endParaRPr lang="en-US"/>
          </a:p>
        </p:txBody>
      </p:sp>
      <p:sp>
        <p:nvSpPr>
          <p:cNvPr id="14" name="Text 9"/>
          <p:cNvSpPr/>
          <p:nvPr/>
        </p:nvSpPr>
        <p:spPr>
          <a:xfrm>
            <a:off x="457200" y="2496312"/>
            <a:ext cx="685800" cy="182880"/>
          </a:xfrm>
          <a:prstGeom prst="rect">
            <a:avLst/>
          </a:prstGeom>
          <a:noFill/>
          <a:ln/>
        </p:spPr>
        <p:txBody>
          <a:bodyPr wrap="square" lIns="0" tIns="0" rIns="0" bIns="0" rtlCol="0" anchor="ctr"/>
          <a:lstStyle/>
          <a:p>
            <a:pPr marL="0" indent="0" algn="ctr">
              <a:buNone/>
            </a:pPr>
            <a:r>
              <a:rPr lang="en-US" sz="750" b="1" kern="0" spc="200" dirty="0">
                <a:solidFill>
                  <a:srgbClr val="F5F0EB"/>
                </a:solidFill>
                <a:latin typeface="Calibri" pitchFamily="34" charset="0"/>
                <a:ea typeface="Calibri" pitchFamily="34" charset="-122"/>
                <a:cs typeface="Calibri" pitchFamily="34" charset="-120"/>
              </a:rPr>
              <a:t>PLAN</a:t>
            </a:r>
            <a:endParaRPr lang="en-US" sz="750" dirty="0"/>
          </a:p>
        </p:txBody>
      </p:sp>
      <p:sp>
        <p:nvSpPr>
          <p:cNvPr id="15" name="Text 10"/>
          <p:cNvSpPr/>
          <p:nvPr/>
        </p:nvSpPr>
        <p:spPr>
          <a:xfrm>
            <a:off x="457200" y="2724912"/>
            <a:ext cx="3840480" cy="7132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Set a micro-agenda for the cold call. Frame the conversation, not a pitch.</a:t>
            </a:r>
            <a:endParaRPr lang="en-US" sz="800" dirty="0"/>
          </a:p>
          <a:p>
            <a:pPr marL="0" indent="0">
              <a:buNone/>
            </a:pPr>
            <a:r>
              <a:rPr lang="en-US" sz="800" dirty="0">
                <a:solidFill>
                  <a:srgbClr val="36454F"/>
                </a:solidFill>
                <a:latin typeface="Calibri" pitchFamily="34" charset="0"/>
                <a:ea typeface="Calibri" pitchFamily="34" charset="-122"/>
                <a:cs typeface="Calibri" pitchFamily="34" charset="-120"/>
              </a:rPr>
              <a:t>“I’d love to ask a couple of quick questions to see if it’s worth exploring further — and if not, no worries at all.”</a:t>
            </a:r>
            <a:endParaRPr lang="en-US" sz="800" dirty="0"/>
          </a:p>
        </p:txBody>
      </p:sp>
      <p:sp>
        <p:nvSpPr>
          <p:cNvPr id="16" name="Shape 11"/>
          <p:cNvSpPr/>
          <p:nvPr/>
        </p:nvSpPr>
        <p:spPr>
          <a:xfrm>
            <a:off x="457200" y="3483864"/>
            <a:ext cx="685800" cy="182880"/>
          </a:xfrm>
          <a:prstGeom prst="rect">
            <a:avLst/>
          </a:prstGeom>
          <a:solidFill>
            <a:srgbClr val="7A9E7E"/>
          </a:solidFill>
          <a:ln/>
        </p:spPr>
        <p:txBody>
          <a:bodyPr/>
          <a:lstStyle/>
          <a:p>
            <a:endParaRPr lang="en-US"/>
          </a:p>
        </p:txBody>
      </p:sp>
      <p:sp>
        <p:nvSpPr>
          <p:cNvPr id="17" name="Text 12"/>
          <p:cNvSpPr/>
          <p:nvPr/>
        </p:nvSpPr>
        <p:spPr>
          <a:xfrm>
            <a:off x="457200" y="3483864"/>
            <a:ext cx="685800" cy="182880"/>
          </a:xfrm>
          <a:prstGeom prst="rect">
            <a:avLst/>
          </a:prstGeom>
          <a:noFill/>
          <a:ln/>
        </p:spPr>
        <p:txBody>
          <a:bodyPr wrap="square" lIns="0" tIns="0" rIns="0" bIns="0" rtlCol="0" anchor="ctr"/>
          <a:lstStyle/>
          <a:p>
            <a:pPr marL="0" indent="0" algn="ctr">
              <a:buNone/>
            </a:pPr>
            <a:r>
              <a:rPr lang="en-US" sz="750" b="1" kern="0" spc="200" dirty="0">
                <a:solidFill>
                  <a:srgbClr val="F5F0EB"/>
                </a:solidFill>
                <a:latin typeface="Calibri" pitchFamily="34" charset="0"/>
                <a:ea typeface="Calibri" pitchFamily="34" charset="-122"/>
                <a:cs typeface="Calibri" pitchFamily="34" charset="-120"/>
              </a:rPr>
              <a:t>OUTCOME</a:t>
            </a:r>
            <a:endParaRPr lang="en-US" sz="750" dirty="0"/>
          </a:p>
        </p:txBody>
      </p:sp>
      <p:sp>
        <p:nvSpPr>
          <p:cNvPr id="18" name="Text 13"/>
          <p:cNvSpPr/>
          <p:nvPr/>
        </p:nvSpPr>
        <p:spPr>
          <a:xfrm>
            <a:off x="457200" y="3712464"/>
            <a:ext cx="3840480" cy="7132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Book the meeting. Confirm next step before hanging up.</a:t>
            </a:r>
            <a:endParaRPr lang="en-US" sz="800" dirty="0"/>
          </a:p>
          <a:p>
            <a:pPr marL="0" indent="0">
              <a:buNone/>
            </a:pPr>
            <a:r>
              <a:rPr lang="en-US" sz="800" dirty="0">
                <a:solidFill>
                  <a:srgbClr val="36454F"/>
                </a:solidFill>
                <a:latin typeface="Calibri" pitchFamily="34" charset="0"/>
                <a:ea typeface="Calibri" pitchFamily="34" charset="-122"/>
                <a:cs typeface="Calibri" pitchFamily="34" charset="-120"/>
              </a:rPr>
              <a:t>“It sounds like it’s worth a quick look. Do you have your calendar handy? I’ll send a confirmation with some info to review beforehand.”</a:t>
            </a:r>
            <a:endParaRPr lang="en-US" sz="800" dirty="0"/>
          </a:p>
        </p:txBody>
      </p:sp>
      <p:sp>
        <p:nvSpPr>
          <p:cNvPr id="19" name="Shape 14"/>
          <p:cNvSpPr/>
          <p:nvPr/>
        </p:nvSpPr>
        <p:spPr>
          <a:xfrm>
            <a:off x="4663440" y="960120"/>
            <a:ext cx="4160520" cy="3611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0" name="Shape 15"/>
          <p:cNvSpPr/>
          <p:nvPr/>
        </p:nvSpPr>
        <p:spPr>
          <a:xfrm>
            <a:off x="4663440" y="960120"/>
            <a:ext cx="4160520" cy="457200"/>
          </a:xfrm>
          <a:prstGeom prst="rect">
            <a:avLst/>
          </a:prstGeom>
          <a:solidFill>
            <a:srgbClr val="C67B5C"/>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754880" y="1051560"/>
            <a:ext cx="256032" cy="256032"/>
          </a:xfrm>
          <a:prstGeom prst="rect">
            <a:avLst/>
          </a:prstGeom>
        </p:spPr>
      </p:pic>
      <p:sp>
        <p:nvSpPr>
          <p:cNvPr id="22" name="Text 16"/>
          <p:cNvSpPr/>
          <p:nvPr/>
        </p:nvSpPr>
        <p:spPr>
          <a:xfrm>
            <a:off x="5074920" y="960120"/>
            <a:ext cx="3566160" cy="457200"/>
          </a:xfrm>
          <a:prstGeom prst="rect">
            <a:avLst/>
          </a:prstGeom>
          <a:noFill/>
          <a:ln/>
        </p:spPr>
        <p:txBody>
          <a:bodyPr wrap="square" lIns="0" tIns="0" rIns="0" bIns="0" rtlCol="0" anchor="ctr"/>
          <a:lstStyle/>
          <a:p>
            <a:pPr marL="0" indent="0">
              <a:buNone/>
            </a:pPr>
            <a:r>
              <a:rPr lang="en-US" sz="1200" b="1" kern="0" spc="100" dirty="0">
                <a:solidFill>
                  <a:srgbClr val="F5F0EB"/>
                </a:solidFill>
                <a:latin typeface="Calibri" pitchFamily="34" charset="0"/>
                <a:ea typeface="Calibri" pitchFamily="34" charset="-122"/>
                <a:cs typeface="Calibri" pitchFamily="34" charset="-120"/>
              </a:rPr>
              <a:t>TSE — DEMO / CLIENT ENGAGEMENT</a:t>
            </a:r>
            <a:endParaRPr lang="en-US" sz="1200" dirty="0"/>
          </a:p>
        </p:txBody>
      </p:sp>
      <p:sp>
        <p:nvSpPr>
          <p:cNvPr id="23" name="Shape 17"/>
          <p:cNvSpPr/>
          <p:nvPr/>
        </p:nvSpPr>
        <p:spPr>
          <a:xfrm>
            <a:off x="4800600" y="1508760"/>
            <a:ext cx="685800" cy="182880"/>
          </a:xfrm>
          <a:prstGeom prst="rect">
            <a:avLst/>
          </a:prstGeom>
          <a:solidFill>
            <a:srgbClr val="1B6B93"/>
          </a:solidFill>
          <a:ln/>
        </p:spPr>
        <p:txBody>
          <a:bodyPr/>
          <a:lstStyle/>
          <a:p>
            <a:endParaRPr lang="en-US"/>
          </a:p>
        </p:txBody>
      </p:sp>
      <p:sp>
        <p:nvSpPr>
          <p:cNvPr id="24" name="Text 18"/>
          <p:cNvSpPr/>
          <p:nvPr/>
        </p:nvSpPr>
        <p:spPr>
          <a:xfrm>
            <a:off x="4800600" y="1508760"/>
            <a:ext cx="685800" cy="182880"/>
          </a:xfrm>
          <a:prstGeom prst="rect">
            <a:avLst/>
          </a:prstGeom>
          <a:noFill/>
          <a:ln/>
        </p:spPr>
        <p:txBody>
          <a:bodyPr wrap="square" lIns="0" tIns="0" rIns="0" bIns="0" rtlCol="0" anchor="ctr"/>
          <a:lstStyle/>
          <a:p>
            <a:pPr marL="0" indent="0" algn="ctr">
              <a:buNone/>
            </a:pPr>
            <a:r>
              <a:rPr lang="en-US" sz="750" b="1" kern="0" spc="200" dirty="0">
                <a:solidFill>
                  <a:srgbClr val="F5F0EB"/>
                </a:solidFill>
                <a:latin typeface="Calibri" pitchFamily="34" charset="0"/>
                <a:ea typeface="Calibri" pitchFamily="34" charset="-122"/>
                <a:cs typeface="Calibri" pitchFamily="34" charset="-120"/>
              </a:rPr>
              <a:t>PURPOSE</a:t>
            </a:r>
            <a:endParaRPr lang="en-US" sz="750" dirty="0"/>
          </a:p>
        </p:txBody>
      </p:sp>
      <p:sp>
        <p:nvSpPr>
          <p:cNvPr id="25" name="Text 19"/>
          <p:cNvSpPr/>
          <p:nvPr/>
        </p:nvSpPr>
        <p:spPr>
          <a:xfrm>
            <a:off x="4800600" y="1737360"/>
            <a:ext cx="3840480" cy="7132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Open with credibility and personalization. Reference SDR notes, their pain points, and why this meeting matters.</a:t>
            </a:r>
            <a:endParaRPr lang="en-US" sz="800" dirty="0"/>
          </a:p>
          <a:p>
            <a:pPr marL="0" indent="0">
              <a:buNone/>
            </a:pPr>
            <a:r>
              <a:rPr lang="en-US" sz="800" dirty="0">
                <a:solidFill>
                  <a:srgbClr val="36454F"/>
                </a:solidFill>
                <a:latin typeface="Calibri" pitchFamily="34" charset="0"/>
                <a:ea typeface="Calibri" pitchFamily="34" charset="-122"/>
                <a:cs typeface="Calibri" pitchFamily="34" charset="-120"/>
              </a:rPr>
              <a:t>“Thanks for joining, Jason. I understand from our team that you’ve been exploring ways to improve retention and get better visibility into provider performance.”</a:t>
            </a:r>
            <a:endParaRPr lang="en-US" sz="800" dirty="0"/>
          </a:p>
        </p:txBody>
      </p:sp>
      <p:sp>
        <p:nvSpPr>
          <p:cNvPr id="26" name="Shape 20"/>
          <p:cNvSpPr/>
          <p:nvPr/>
        </p:nvSpPr>
        <p:spPr>
          <a:xfrm>
            <a:off x="4800600" y="2496312"/>
            <a:ext cx="685800" cy="182880"/>
          </a:xfrm>
          <a:prstGeom prst="rect">
            <a:avLst/>
          </a:prstGeom>
          <a:solidFill>
            <a:srgbClr val="C67B5C"/>
          </a:solidFill>
          <a:ln/>
        </p:spPr>
        <p:txBody>
          <a:bodyPr/>
          <a:lstStyle/>
          <a:p>
            <a:endParaRPr lang="en-US"/>
          </a:p>
        </p:txBody>
      </p:sp>
      <p:sp>
        <p:nvSpPr>
          <p:cNvPr id="27" name="Text 21"/>
          <p:cNvSpPr/>
          <p:nvPr/>
        </p:nvSpPr>
        <p:spPr>
          <a:xfrm>
            <a:off x="4800600" y="2496312"/>
            <a:ext cx="685800" cy="182880"/>
          </a:xfrm>
          <a:prstGeom prst="rect">
            <a:avLst/>
          </a:prstGeom>
          <a:noFill/>
          <a:ln/>
        </p:spPr>
        <p:txBody>
          <a:bodyPr wrap="square" lIns="0" tIns="0" rIns="0" bIns="0" rtlCol="0" anchor="ctr"/>
          <a:lstStyle/>
          <a:p>
            <a:pPr marL="0" indent="0" algn="ctr">
              <a:buNone/>
            </a:pPr>
            <a:r>
              <a:rPr lang="en-US" sz="750" b="1" kern="0" spc="200" dirty="0">
                <a:solidFill>
                  <a:srgbClr val="F5F0EB"/>
                </a:solidFill>
                <a:latin typeface="Calibri" pitchFamily="34" charset="0"/>
                <a:ea typeface="Calibri" pitchFamily="34" charset="-122"/>
                <a:cs typeface="Calibri" pitchFamily="34" charset="-120"/>
              </a:rPr>
              <a:t>PLAN</a:t>
            </a:r>
            <a:endParaRPr lang="en-US" sz="750" dirty="0"/>
          </a:p>
        </p:txBody>
      </p:sp>
      <p:sp>
        <p:nvSpPr>
          <p:cNvPr id="28" name="Text 22"/>
          <p:cNvSpPr/>
          <p:nvPr/>
        </p:nvSpPr>
        <p:spPr>
          <a:xfrm>
            <a:off x="4800600" y="2724912"/>
            <a:ext cx="3840480" cy="7132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Set a full demo agenda. Frame discovery first, demo second, pricing last. Get permission.</a:t>
            </a:r>
            <a:endParaRPr lang="en-US" sz="800" dirty="0"/>
          </a:p>
          <a:p>
            <a:pPr marL="0" indent="0">
              <a:buNone/>
            </a:pPr>
            <a:r>
              <a:rPr lang="en-US" sz="800" dirty="0">
                <a:solidFill>
                  <a:srgbClr val="36454F"/>
                </a:solidFill>
                <a:latin typeface="Calibri" pitchFamily="34" charset="0"/>
                <a:ea typeface="Calibri" pitchFamily="34" charset="-122"/>
                <a:cs typeface="Calibri" pitchFamily="34" charset="-120"/>
              </a:rPr>
              <a:t>“We’ll spend the first few minutes getting to know your business, then I’ll tailor the demo to your specific needs. We’ll wrap with pricing and next steps. If it’s not the right fit — totally fine.”</a:t>
            </a:r>
            <a:endParaRPr lang="en-US" sz="800" dirty="0"/>
          </a:p>
        </p:txBody>
      </p:sp>
      <p:sp>
        <p:nvSpPr>
          <p:cNvPr id="29" name="Shape 23"/>
          <p:cNvSpPr/>
          <p:nvPr/>
        </p:nvSpPr>
        <p:spPr>
          <a:xfrm>
            <a:off x="4800600" y="3483864"/>
            <a:ext cx="685800" cy="182880"/>
          </a:xfrm>
          <a:prstGeom prst="rect">
            <a:avLst/>
          </a:prstGeom>
          <a:solidFill>
            <a:srgbClr val="7A9E7E"/>
          </a:solidFill>
          <a:ln/>
        </p:spPr>
        <p:txBody>
          <a:bodyPr/>
          <a:lstStyle/>
          <a:p>
            <a:endParaRPr lang="en-US"/>
          </a:p>
        </p:txBody>
      </p:sp>
      <p:sp>
        <p:nvSpPr>
          <p:cNvPr id="30" name="Text 24"/>
          <p:cNvSpPr/>
          <p:nvPr/>
        </p:nvSpPr>
        <p:spPr>
          <a:xfrm>
            <a:off x="4800600" y="3483864"/>
            <a:ext cx="685800" cy="182880"/>
          </a:xfrm>
          <a:prstGeom prst="rect">
            <a:avLst/>
          </a:prstGeom>
          <a:noFill/>
          <a:ln/>
        </p:spPr>
        <p:txBody>
          <a:bodyPr wrap="square" lIns="0" tIns="0" rIns="0" bIns="0" rtlCol="0" anchor="ctr"/>
          <a:lstStyle/>
          <a:p>
            <a:pPr marL="0" indent="0" algn="ctr">
              <a:buNone/>
            </a:pPr>
            <a:r>
              <a:rPr lang="en-US" sz="750" b="1" kern="0" spc="200" dirty="0">
                <a:solidFill>
                  <a:srgbClr val="F5F0EB"/>
                </a:solidFill>
                <a:latin typeface="Calibri" pitchFamily="34" charset="0"/>
                <a:ea typeface="Calibri" pitchFamily="34" charset="-122"/>
                <a:cs typeface="Calibri" pitchFamily="34" charset="-120"/>
              </a:rPr>
              <a:t>OUTCOME</a:t>
            </a:r>
            <a:endParaRPr lang="en-US" sz="750" dirty="0"/>
          </a:p>
        </p:txBody>
      </p:sp>
      <p:sp>
        <p:nvSpPr>
          <p:cNvPr id="31" name="Text 25"/>
          <p:cNvSpPr/>
          <p:nvPr/>
        </p:nvSpPr>
        <p:spPr>
          <a:xfrm>
            <a:off x="4800600" y="3712464"/>
            <a:ext cx="3840480" cy="7132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Summarize what you showed, confirm value, and close to next step.</a:t>
            </a:r>
            <a:endParaRPr lang="en-US" sz="800" dirty="0"/>
          </a:p>
          <a:p>
            <a:pPr marL="0" indent="0">
              <a:buNone/>
            </a:pPr>
            <a:r>
              <a:rPr lang="en-US" sz="800" dirty="0">
                <a:solidFill>
                  <a:srgbClr val="36454F"/>
                </a:solidFill>
                <a:latin typeface="Calibri" pitchFamily="34" charset="0"/>
                <a:ea typeface="Calibri" pitchFamily="34" charset="-122"/>
                <a:cs typeface="Calibri" pitchFamily="34" charset="-120"/>
              </a:rPr>
              <a:t>“Based on what we covered — the dashboards, FOV tracking, and automated marketing — it sounds like these solve the exact gaps you mentioned. Let’s book your implementation call.”</a:t>
            </a:r>
            <a:endParaRPr lang="en-US" sz="800" dirty="0"/>
          </a:p>
        </p:txBody>
      </p:sp>
      <p:sp>
        <p:nvSpPr>
          <p:cNvPr id="32" name="Text 26"/>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33" name="Shape 27"/>
          <p:cNvSpPr/>
          <p:nvPr/>
        </p:nvSpPr>
        <p:spPr>
          <a:xfrm>
            <a:off x="6766560" y="4754880"/>
            <a:ext cx="502920" cy="320040"/>
          </a:xfrm>
          <a:prstGeom prst="rect">
            <a:avLst/>
          </a:prstGeom>
          <a:solidFill>
            <a:srgbClr val="1B6B93"/>
          </a:solidFill>
          <a:ln/>
        </p:spPr>
        <p:txBody>
          <a:bodyPr/>
          <a:lstStyle/>
          <a:p>
            <a:endParaRPr lang="en-US"/>
          </a:p>
        </p:txBody>
      </p:sp>
      <p:sp>
        <p:nvSpPr>
          <p:cNvPr id="34" name="Text 28"/>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1359</Words>
  <Application>Microsoft Office PowerPoint</Application>
  <PresentationFormat>On-screen Show (16:9)</PresentationFormat>
  <Paragraphs>126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Terry Moorehead</cp:lastModifiedBy>
  <cp:revision>1</cp:revision>
  <dcterms:created xsi:type="dcterms:W3CDTF">2026-03-05T14:50:25Z</dcterms:created>
  <dcterms:modified xsi:type="dcterms:W3CDTF">2026-03-05T14:55:31Z</dcterms:modified>
</cp:coreProperties>
</file>