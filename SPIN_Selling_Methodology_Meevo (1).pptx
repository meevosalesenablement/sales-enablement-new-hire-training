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9B5C1-BE80-951B-01D1-AAC768E6BFE0}" v="3" dt="2026-03-10T23:02:44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Wiser" userId="S::dwiser@meevo.com::93d99437-071e-4001-98dc-6d45a8c6749a" providerId="AD" clId="Web-{4A19B5C1-BE80-951B-01D1-AAC768E6BFE0}"/>
    <pc:docChg chg="modSld">
      <pc:chgData name="Dan Wiser" userId="S::dwiser@meevo.com::93d99437-071e-4001-98dc-6d45a8c6749a" providerId="AD" clId="Web-{4A19B5C1-BE80-951B-01D1-AAC768E6BFE0}" dt="2026-03-10T23:02:44.229" v="2" actId="20577"/>
      <pc:docMkLst>
        <pc:docMk/>
      </pc:docMkLst>
      <pc:sldChg chg="modSp">
        <pc:chgData name="Dan Wiser" userId="S::dwiser@meevo.com::93d99437-071e-4001-98dc-6d45a8c6749a" providerId="AD" clId="Web-{4A19B5C1-BE80-951B-01D1-AAC768E6BFE0}" dt="2026-03-10T23:02:44.229" v="2" actId="20577"/>
        <pc:sldMkLst>
          <pc:docMk/>
          <pc:sldMk cId="0" sldId="269"/>
        </pc:sldMkLst>
        <pc:spChg chg="mod">
          <ac:chgData name="Dan Wiser" userId="S::dwiser@meevo.com::93d99437-071e-4001-98dc-6d45a8c6749a" providerId="AD" clId="Web-{4A19B5C1-BE80-951B-01D1-AAC768E6BFE0}" dt="2026-03-10T23:02:44.229" v="2" actId="20577"/>
          <ac:spMkLst>
            <pc:docMk/>
            <pc:sldMk cId="0" sldId="269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638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A6C1C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SPIN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4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SELLING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Meevo Sales Training  |  New Hire Foundations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C1C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Production Over Potential. </a:t>
            </a:r>
            <a:r>
              <a:rPr lang="en-US" sz="1600" b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Character Over Resume.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WHY A SALES METHODOLOGY?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framework — not a script. It anchors the team on a pathway to standardize our sales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0" y="1965960"/>
            <a:ext cx="914400" cy="91440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Consistent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Everybody on the same wavelength — from SDR to AE to close.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17373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914400" cy="91440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94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Know What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Works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Standardize what's working and diagnose what's not across the team.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17373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223760" y="1965960"/>
            <a:ext cx="914400" cy="91440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1945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Buyer-Centric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836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is about the buyer's journey — not our pitch. Solve, don't sell.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SPIN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Created by Neil Rackham. Four question types that guide the buyer from surface-level awareness to explicit commitment.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749808"/>
          </a:xfrm>
          <a:prstGeom prst="rect">
            <a:avLst/>
          </a:prstGeom>
          <a:solidFill>
            <a:srgbClr val="F8F7F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609344"/>
            <a:ext cx="548640" cy="54864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892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Understand their current operations, tools, and business context.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749808"/>
          </a:xfrm>
          <a:prstGeom prst="rect">
            <a:avLst/>
          </a:prstGeom>
          <a:solidFill>
            <a:srgbClr val="F8F7F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478024"/>
            <a:ext cx="548640" cy="548640"/>
          </a:xfrm>
          <a:prstGeom prst="ellipse">
            <a:avLst/>
          </a:prstGeom>
          <a:solidFill>
            <a:srgbClr val="A75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478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PROBLEM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761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Uncover the difficulties, frustrations, and pain they're experiencing.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7680960" cy="749808"/>
          </a:xfrm>
          <a:prstGeom prst="rect">
            <a:avLst/>
          </a:prstGeom>
          <a:solidFill>
            <a:srgbClr val="F8F7F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346704"/>
            <a:ext cx="548640" cy="548640"/>
          </a:xfrm>
          <a:prstGeom prst="ellipse">
            <a:avLst/>
          </a:prstGeom>
          <a:solidFill>
            <a:srgbClr val="806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319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630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 the downstream business impact of leaving problems unsolved.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680960" cy="749808"/>
          </a:xfrm>
          <a:prstGeom prst="rect">
            <a:avLst/>
          </a:prstGeom>
          <a:solidFill>
            <a:srgbClr val="F8F7F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4215384"/>
            <a:ext cx="548640" cy="548640"/>
          </a:xfrm>
          <a:prstGeom prst="ellipse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NEED-PAYOFF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44988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Shift focus to the value and outcomes of solving the problem.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457200"/>
            <a:ext cx="1371600" cy="1371600"/>
          </a:xfrm>
          <a:prstGeom prst="ellipse">
            <a:avLst/>
          </a:prstGeom>
          <a:solidFill>
            <a:srgbClr val="A6C1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SITUATION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D6C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Understand their current operations and establish credibility. Do your homework first — you should already have 3-5 go-to situation questions.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114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 research before the call.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Don't waste time on questions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 could find online.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MEEVO EXAMPLE QUESTIONS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868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822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Tell me about your business — how long have you been at this location?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2704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4813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Walk me through a typical day. Where are things getting bottlenecked?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185416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21396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software are you currently using to manage your salon/spa?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43784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27980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 do you currently monitor your financial health when you're not in the building?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502152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3456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are your top goals for 2026? What steps are you taking to get there?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60520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66344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 many service providers do you have, and what does your booking flow look like?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A75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457200"/>
            <a:ext cx="1371600" cy="1371600"/>
          </a:xfrm>
          <a:prstGeom prst="ellipse">
            <a:avLst/>
          </a:prstGeom>
          <a:solidFill>
            <a:srgbClr val="E29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PROBLEM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C2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Get to the meat and potatoes. Identify the difficulties, frustrations, and dissatisfactions with their current situation.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114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Problem questions reveal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implied needs — frustrations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buyer hasn't fully articulated yet.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MEEVO EXAMPLE QUESTIONS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868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822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Are you satisfied with the reporting you're getting — especially around revenue, performance, and staff productivity?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59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600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What's your biggest challenge when it comes to retaining stylists and keeping their books full?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42316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23774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 are you handling inventory tracking today? Are you running into issues with stock levels or reorders?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0040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3154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frustrations does your front desk deal with on a daily basis?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97764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3931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What's limiting your growth right now — is it staffing, technology, visibility into the numbers?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806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457200"/>
            <a:ext cx="1371600" cy="1371600"/>
          </a:xfrm>
          <a:prstGeom prst="ellipse">
            <a:avLst/>
          </a:prstGeom>
          <a:solidFill>
            <a:srgbClr val="CCC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IMPLICATION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4C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is the game changer. Most junior salespeople miss this step. Help the buyer understand the downstream business impact of their problems.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114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Soften it: "A lot of businesses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 talk to struggle with this..."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You're not calling them out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you're showing they're not alone.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MEEVO EXAMPLE QUESTIONS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868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822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 reporting is inconsistent across locations, does that make it harder to track performance, manage staff, or make decisions quickly?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59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600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new providers can't fill their books, what does that do to your ability to keep them — and what does turnover cost you?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42316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23774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Has the lack of accurate reporting led to missed payroll projections or revenue surprises?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0040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3154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happens to client trust and retention when your online booking creates confusion?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97764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3931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the front desk is buried in manual tasks, how does that impact the client experience when they walk in?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457200"/>
            <a:ext cx="1371600" cy="1371600"/>
          </a:xfrm>
          <a:prstGeom prst="ellipse">
            <a:avLst/>
          </a:prstGeom>
          <a:solidFill>
            <a:srgbClr val="9A9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NEED-PAYOFF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D6C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Shift focus from the problem to the solution value. Ask these once the prospect has clearly expressed explicit needs — wants and desires for a solution.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114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Explicit need = trigger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need-payoff. "I need better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reporting" → "What does better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reporting do for your business?"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MEEVO EXAMPLE QUESTIONS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868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822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you could automate front desk tasks like confirmations, deposits, and rescheduling — how much time would that free up for your staff?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59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600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 what ways could improving online booking adoption help you increase bookings, reduce phone volume, and boost revenue per provider?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42316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23774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automated membership billing shortened your month-end reconciliation, what other areas would benefit from reducing manual work?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0040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3154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you had real-time visibility into provider productivity and revenue, how would that change the way you coach your team?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97764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3931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Can you see how a consolidated dashboard would help you hit your 2026 goals for growth and profitability?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IMPLIED vs. EXPLICIT NEEDS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is the key unlock. If it's implied, we dig more. If it's explicit, they know what they want — game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794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794760" cy="502920"/>
          </a:xfrm>
          <a:prstGeom prst="rect">
            <a:avLst/>
          </a:prstGeom>
          <a:solidFill>
            <a:srgbClr val="A75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IMPLIED NEEDS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Surface-level. Problems, frustrations, and difficulties — but the buyer hasn't fully committed to solving them.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"Our current software is slow and creates bottlenecks."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"We keep losing front desk people."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"I have a problem with inventory."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2062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688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5F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Ask implication questions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1371600"/>
            <a:ext cx="3794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00600" y="1371600"/>
            <a:ext cx="3794760" cy="502920"/>
          </a:xfrm>
          <a:prstGeom prst="rect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00600" y="1371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EXPLICIT NEEDS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Deep-rooted. Clear wants and stronger desires for a specific solution. They've mentally committed to change.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74920" y="2743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"We need customizable reports, scalable workflows, and multi-location tools."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74920" y="3246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"I need the capability to track restock levels and set auto-reorders."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74920" y="3749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"I want my providers to see their own goals dashboard in real time."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0624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08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8C6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Ask need-payoff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CONVERSION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Implied Needs → Implication Questions → Explicit Needs → Need-Payoff → Benefits → Commitment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554480" cy="1097280"/>
          </a:xfrm>
          <a:prstGeom prst="rect">
            <a:avLst/>
          </a:prstGeom>
          <a:solidFill>
            <a:srgbClr val="A75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"Our software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is slow."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B4B4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1463040"/>
            <a:ext cx="1554480" cy="1097280"/>
          </a:xfrm>
          <a:prstGeom prst="rect">
            <a:avLst/>
          </a:prstGeom>
          <a:solidFill>
            <a:srgbClr val="806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"How is that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impacting 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business?"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B4B4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86200" y="1463040"/>
            <a:ext cx="1554480" cy="1097280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8620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EXPLICIT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"I need real-time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reporting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automation."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B4B4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0" y="1463040"/>
            <a:ext cx="1554480" cy="1097280"/>
          </a:xfrm>
          <a:prstGeom prst="rect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PAYOFF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"If you had this,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 would that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change things?"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4B4B4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1554480" cy="1097280"/>
          </a:xfrm>
          <a:prstGeom prst="rect">
            <a:avLst/>
          </a:prstGeom>
          <a:solidFill>
            <a:srgbClr val="E29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14630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BENEFIT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&amp; COMMIT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 solution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their stated need.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Gain commitment.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93192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828800" y="3886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6C1C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Scuba dive to the real problems. Don't play at the surface level. The more benefits we get, the fewer objections we face.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82880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— Meevo Sales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DON'T TAKE THE BAIT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Features and advantages — when poorly timed — create objections. Solve at the demo, not during discovery.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794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794760" cy="502920"/>
          </a:xfrm>
          <a:prstGeom prst="rect">
            <a:avLst/>
          </a:prstGeom>
          <a:solidFill>
            <a:srgbClr val="C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FEATURE DUMPING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630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Prospect says "I need better reporting" and you immediately show 10 reports.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Answering every "Does it do that?" with a full feature walkthrough.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Presenting features that don't tie back to their stated problems.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977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90% feature parity means features alone won't close the deal.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1371600"/>
            <a:ext cx="3794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1371600"/>
            <a:ext cx="3794760" cy="502920"/>
          </a:xfrm>
          <a:prstGeom prst="rect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1371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BENEFIT SELLING</a:t>
            </a:r>
            <a:endParaRPr lang="en-US" sz="15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4630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"Better reporting for what? Help me understand the 3-4 reports that impact your business."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74920" y="2697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Acknowledge briefly ("Yes, we do that") then redirect to deeper questions.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74920" y="33375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Stack wins in the demo — tie each feature back to their explicit needs.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74920" y="3977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"Remember when you said X was costing you? Can you see how this helps?"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OBJECTION PREVENTION &gt; OBJECTION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Contrary to common belief, objections are more often created by the seller than the customer.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Strong Implication Questions  +  Need-Payoff Questions  =  </a:t>
            </a:r>
            <a:r>
              <a:rPr lang="en-US" sz="1600" b="1" dirty="0">
                <a:solidFill>
                  <a:srgbClr val="E29D6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Fewer Objections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C1C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 the buyer understands the cost of staying the same, price objections shrink. When benefits tie to explicit needs, the deal closes itself.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SPIN RULES FOR OBJECTIONS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Never respond to objections with features.  </a:t>
            </a: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Features without context create more questions, not fewer.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0448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858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more features you present, the more objections you'll face.  </a:t>
            </a: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Feature parity means you're giving them reasons to stay with what they have.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8853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42428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Benefits that tie to explicit needs drive commitment.  </a:t>
            </a: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 they've told you what they need and you show it, they sell themselves.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7258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46268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Price resistance = you haven't built enough value.  </a:t>
            </a: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 deeper on implications. Make the cost of inaction bigger than the cost of change.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BUILDING THE MUSCLE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SPIN is a new muscle. You will be awkward for a while. Stay with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1920240" cy="1645920"/>
          </a:xfrm>
          <a:prstGeom prst="rect">
            <a:avLst/>
          </a:prstGeom>
          <a:solidFill>
            <a:srgbClr val="B4B4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Unconscious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Incompetent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 don't know what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 don't know.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286000"/>
            <a:ext cx="1920240" cy="2103120"/>
          </a:xfrm>
          <a:prstGeom prst="rect">
            <a:avLst/>
          </a:prstGeom>
          <a:solidFill>
            <a:srgbClr val="A75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Conscious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Incompetent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 know the framework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but it feels unnatural.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1920240" cy="2560320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Conscious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Competent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You're thinking through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each question type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mid-conversation.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20240" cy="3017520"/>
          </a:xfrm>
          <a:prstGeom prst="rect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Unconscious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Competent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It's second nature.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Like driving a car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after years of practice.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 ARE HERE 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YOUR DISCOVERY CALL BLUEPRINT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411480" cy="411480"/>
          </a:xfrm>
          <a:prstGeom prst="ellipse">
            <a:avLst/>
          </a:prstGeom>
          <a:solidFill>
            <a:srgbClr val="2324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BUILD RAPPORT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2-3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914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Research them first. Lead with your 30-second highlight reel — why this matters to you. Find something personal from their website or social media.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411480" cy="41148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5-7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5819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 go-to questions. Understand current operations, software, goals, and team structure. Confirm what you already researched.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95144"/>
            <a:ext cx="411480" cy="411480"/>
          </a:xfrm>
          <a:prstGeom prst="ellipse">
            <a:avLst/>
          </a:prstGeom>
          <a:solidFill>
            <a:srgbClr val="A75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523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5-10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22494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Dig into difficulties and frustrations. Target the big 5: reporting, booking, retention, front desk efficiency, and growth barriers.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62656"/>
            <a:ext cx="411480" cy="411480"/>
          </a:xfrm>
          <a:prstGeom prst="ellipse">
            <a:avLst/>
          </a:prstGeom>
          <a:solidFill>
            <a:srgbClr val="806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916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191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5-10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91693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Make problems bigger. Ask how issues impact revenue, time, retention, and growth. Use "A lot of businesses I talk to..." to soften.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411480" cy="411480"/>
          </a:xfrm>
          <a:prstGeom prst="ellipse">
            <a:avLst/>
          </a:prstGeom>
          <a:solidFill>
            <a:srgbClr val="4B8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NEED-PAYOFF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3-5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5844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 they express explicit needs, shift to the value of solving. Get them envisioning the outcome. Tie it to their 2026 goals.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E29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42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647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2-3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4251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Gain a strong next step — not just a calendar invite. Mutual agreement based on the value they've articulated. Set up the demo to stack wins.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TIME TO GET IN THE GAME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20240" cy="2286000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011680"/>
            <a:ext cx="731520" cy="73152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1762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Read the Book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SPIN Selling by Neil Rackham. We go chapter by chapter as a team.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97480" y="1828800"/>
            <a:ext cx="1920240" cy="2286000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2011680"/>
            <a:ext cx="731520" cy="73152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1762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Write Your Questions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8892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Draft 5 Situation, 3 Problem, 3 Implication, and 2 Need-Payoff questions for our market.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46320" y="1828800"/>
            <a:ext cx="1920240" cy="2286000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40680" y="2011680"/>
            <a:ext cx="731520" cy="73152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1762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Apply on Every Call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3776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Have the SPIN framework open. It will feel awkward — that's the conscious competent stage.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95160" y="1828800"/>
            <a:ext cx="1920240" cy="2286000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89520" y="2011680"/>
            <a:ext cx="731520" cy="731520"/>
          </a:xfrm>
          <a:prstGeom prst="ellipse">
            <a:avLst/>
          </a:prstGeom>
          <a:solidFill>
            <a:srgbClr val="2164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17627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Debrief &amp; Iterate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8660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4B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After every call, identify: Where did I dig deep enough? Where did I take the bait?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3891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297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0000"/>
                </a:solidFill>
                <a:latin typeface="Source Sans Pro"/>
                <a:ea typeface="Source Sans Pro"/>
                <a:cs typeface="Source Sans Pro" pitchFamily="34" charset="-120"/>
              </a:rPr>
              <a:t>I promise you, if we do the work, we'll see the results.</a:t>
            </a:r>
            <a:r>
              <a:rPr lang="en-US" sz="1400" i="1" dirty="0">
                <a:solidFill>
                  <a:srgbClr val="D9C2B4"/>
                </a:solidFill>
                <a:latin typeface="Source Sans Pro"/>
                <a:ea typeface="Source Sans Pro"/>
                <a:cs typeface="Source Sans Pro" pitchFamily="34" charset="-120"/>
              </a:rPr>
              <a:t> </a:t>
            </a:r>
            <a:r>
              <a:rPr lang="en-US" sz="1400" i="1" dirty="0">
                <a:solidFill>
                  <a:srgbClr val="A6C1C9"/>
                </a:solidFill>
                <a:latin typeface="Source Sans Pro"/>
                <a:ea typeface="Source Sans Pro"/>
                <a:cs typeface="Source Sans Pro" pitchFamily="34" charset="-120"/>
              </a:rPr>
              <a:t>Time is the essence of great salespeople. Get in, get out, find it, solve it, close it, win it.</a:t>
            </a:r>
            <a:endParaRPr lang="en-US" sz="1400" dirty="0">
              <a:latin typeface="Source Sans Pro"/>
              <a:ea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1709</Words>
  <Application>Microsoft Office PowerPoint</Application>
  <PresentationFormat>On-screen Show (16:9)</PresentationFormat>
  <Paragraphs>225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 Selling Methodology — Meevo Sales Training</dc:title>
  <dc:subject>PptxGenJS Presentation</dc:subject>
  <dc:creator>Meevo Sales Enablement</dc:creator>
  <cp:lastModifiedBy>Terry Moorehead</cp:lastModifiedBy>
  <cp:revision>4</cp:revision>
  <dcterms:created xsi:type="dcterms:W3CDTF">2026-02-25T20:27:29Z</dcterms:created>
  <dcterms:modified xsi:type="dcterms:W3CDTF">2026-03-10T23:02:49Z</dcterms:modified>
</cp:coreProperties>
</file>