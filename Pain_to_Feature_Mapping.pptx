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1E7934-E6FB-1D33-8504-2A6C8B6AFA75}" v="49" dt="2026-03-10T16:24:25.5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ry Moorehead" userId="S::tmoorehead@meevo.com::a2a6df63-b8e3-4cea-aa6c-ded8cdcb5bd7" providerId="AD" clId="Web-{7C1E7934-E6FB-1D33-8504-2A6C8B6AFA75}"/>
    <pc:docChg chg="modSld">
      <pc:chgData name="Terry Moorehead" userId="S::tmoorehead@meevo.com::a2a6df63-b8e3-4cea-aa6c-ded8cdcb5bd7" providerId="AD" clId="Web-{7C1E7934-E6FB-1D33-8504-2A6C8B6AFA75}" dt="2026-03-10T16:24:25.565" v="48" actId="1076"/>
      <pc:docMkLst>
        <pc:docMk/>
      </pc:docMkLst>
      <pc:sldChg chg="delSp modSp">
        <pc:chgData name="Terry Moorehead" userId="S::tmoorehead@meevo.com::a2a6df63-b8e3-4cea-aa6c-ded8cdcb5bd7" providerId="AD" clId="Web-{7C1E7934-E6FB-1D33-8504-2A6C8B6AFA75}" dt="2026-03-10T16:08:35.167" v="1"/>
        <pc:sldMkLst>
          <pc:docMk/>
          <pc:sldMk cId="0" sldId="256"/>
        </pc:sldMkLst>
        <pc:spChg chg="mod">
          <ac:chgData name="Terry Moorehead" userId="S::tmoorehead@meevo.com::a2a6df63-b8e3-4cea-aa6c-ded8cdcb5bd7" providerId="AD" clId="Web-{7C1E7934-E6FB-1D33-8504-2A6C8B6AFA75}" dt="2026-03-10T16:08:31.308" v="0" actId="1076"/>
          <ac:spMkLst>
            <pc:docMk/>
            <pc:sldMk cId="0" sldId="256"/>
            <ac:spMk id="8" creationId="{00000000-0000-0000-0000-000000000000}"/>
          </ac:spMkLst>
        </pc:spChg>
        <pc:spChg chg="del">
          <ac:chgData name="Terry Moorehead" userId="S::tmoorehead@meevo.com::a2a6df63-b8e3-4cea-aa6c-ded8cdcb5bd7" providerId="AD" clId="Web-{7C1E7934-E6FB-1D33-8504-2A6C8B6AFA75}" dt="2026-03-10T16:08:35.167" v="1"/>
          <ac:spMkLst>
            <pc:docMk/>
            <pc:sldMk cId="0" sldId="256"/>
            <ac:spMk id="12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7C1E7934-E6FB-1D33-8504-2A6C8B6AFA75}" dt="2026-03-10T16:09:14.278" v="8" actId="20577"/>
        <pc:sldMkLst>
          <pc:docMk/>
          <pc:sldMk cId="0" sldId="257"/>
        </pc:sldMkLst>
        <pc:spChg chg="mod">
          <ac:chgData name="Terry Moorehead" userId="S::tmoorehead@meevo.com::a2a6df63-b8e3-4cea-aa6c-ded8cdcb5bd7" providerId="AD" clId="Web-{7C1E7934-E6FB-1D33-8504-2A6C8B6AFA75}" dt="2026-03-10T16:09:04.684" v="5" actId="20577"/>
          <ac:spMkLst>
            <pc:docMk/>
            <pc:sldMk cId="0" sldId="257"/>
            <ac:spMk id="30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09:10.059" v="6" actId="20577"/>
          <ac:spMkLst>
            <pc:docMk/>
            <pc:sldMk cId="0" sldId="257"/>
            <ac:spMk id="37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09:14.278" v="8" actId="20577"/>
          <ac:spMkLst>
            <pc:docMk/>
            <pc:sldMk cId="0" sldId="257"/>
            <ac:spMk id="44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08:49.340" v="3" actId="20577"/>
          <ac:spMkLst>
            <pc:docMk/>
            <pc:sldMk cId="0" sldId="257"/>
            <ac:spMk id="46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7C1E7934-E6FB-1D33-8504-2A6C8B6AFA75}" dt="2026-03-10T16:21:15.658" v="15" actId="20577"/>
        <pc:sldMkLst>
          <pc:docMk/>
          <pc:sldMk cId="0" sldId="258"/>
        </pc:sldMkLst>
        <pc:spChg chg="mod">
          <ac:chgData name="Terry Moorehead" userId="S::tmoorehead@meevo.com::a2a6df63-b8e3-4cea-aa6c-ded8cdcb5bd7" providerId="AD" clId="Web-{7C1E7934-E6FB-1D33-8504-2A6C8B6AFA75}" dt="2026-03-10T16:21:15.658" v="15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0:32.439" v="9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0:36.470" v="10" actId="20577"/>
          <ac:spMkLst>
            <pc:docMk/>
            <pc:sldMk cId="0" sldId="258"/>
            <ac:spMk id="25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0:47.751" v="12" actId="20577"/>
          <ac:spMkLst>
            <pc:docMk/>
            <pc:sldMk cId="0" sldId="258"/>
            <ac:spMk id="34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0:52.189" v="13" actId="20577"/>
          <ac:spMkLst>
            <pc:docMk/>
            <pc:sldMk cId="0" sldId="258"/>
            <ac:spMk id="43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7C1E7934-E6FB-1D33-8504-2A6C8B6AFA75}" dt="2026-03-10T16:21:42.580" v="19" actId="20577"/>
        <pc:sldMkLst>
          <pc:docMk/>
          <pc:sldMk cId="0" sldId="259"/>
        </pc:sldMkLst>
        <pc:spChg chg="mod">
          <ac:chgData name="Terry Moorehead" userId="S::tmoorehead@meevo.com::a2a6df63-b8e3-4cea-aa6c-ded8cdcb5bd7" providerId="AD" clId="Web-{7C1E7934-E6FB-1D33-8504-2A6C8B6AFA75}" dt="2026-03-10T16:21:25.252" v="16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1:03.533" v="14" actId="2057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1:31.673" v="17" actId="20577"/>
          <ac:spMkLst>
            <pc:docMk/>
            <pc:sldMk cId="0" sldId="259"/>
            <ac:spMk id="25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1:38.127" v="18" actId="20577"/>
          <ac:spMkLst>
            <pc:docMk/>
            <pc:sldMk cId="0" sldId="259"/>
            <ac:spMk id="34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1:42.580" v="19" actId="20577"/>
          <ac:spMkLst>
            <pc:docMk/>
            <pc:sldMk cId="0" sldId="259"/>
            <ac:spMk id="43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7C1E7934-E6FB-1D33-8504-2A6C8B6AFA75}" dt="2026-03-10T16:22:35.611" v="25" actId="20577"/>
        <pc:sldMkLst>
          <pc:docMk/>
          <pc:sldMk cId="0" sldId="260"/>
        </pc:sldMkLst>
        <pc:spChg chg="mod">
          <ac:chgData name="Terry Moorehead" userId="S::tmoorehead@meevo.com::a2a6df63-b8e3-4cea-aa6c-ded8cdcb5bd7" providerId="AD" clId="Web-{7C1E7934-E6FB-1D33-8504-2A6C8B6AFA75}" dt="2026-03-10T16:21:53.002" v="20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1:59.345" v="21" actId="2057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2:20.049" v="23" actId="20577"/>
          <ac:spMkLst>
            <pc:docMk/>
            <pc:sldMk cId="0" sldId="260"/>
            <ac:spMk id="25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2:25.658" v="24" actId="20577"/>
          <ac:spMkLst>
            <pc:docMk/>
            <pc:sldMk cId="0" sldId="260"/>
            <ac:spMk id="34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2:35.611" v="25" actId="20577"/>
          <ac:spMkLst>
            <pc:docMk/>
            <pc:sldMk cId="0" sldId="260"/>
            <ac:spMk id="43" creationId="{00000000-0000-0000-0000-000000000000}"/>
          </ac:spMkLst>
        </pc:spChg>
      </pc:sldChg>
      <pc:sldChg chg="delSp">
        <pc:chgData name="Terry Moorehead" userId="S::tmoorehead@meevo.com::a2a6df63-b8e3-4cea-aa6c-ded8cdcb5bd7" providerId="AD" clId="Web-{7C1E7934-E6FB-1D33-8504-2A6C8B6AFA75}" dt="2026-03-10T16:22:45.767" v="26"/>
        <pc:sldMkLst>
          <pc:docMk/>
          <pc:sldMk cId="0" sldId="261"/>
        </pc:sldMkLst>
        <pc:spChg chg="del">
          <ac:chgData name="Terry Moorehead" userId="S::tmoorehead@meevo.com::a2a6df63-b8e3-4cea-aa6c-ded8cdcb5bd7" providerId="AD" clId="Web-{7C1E7934-E6FB-1D33-8504-2A6C8B6AFA75}" dt="2026-03-10T16:22:45.767" v="26"/>
          <ac:spMkLst>
            <pc:docMk/>
            <pc:sldMk cId="0" sldId="261"/>
            <ac:spMk id="9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7C1E7934-E6FB-1D33-8504-2A6C8B6AFA75}" dt="2026-03-10T16:23:13.736" v="31" actId="20577"/>
        <pc:sldMkLst>
          <pc:docMk/>
          <pc:sldMk cId="0" sldId="262"/>
        </pc:sldMkLst>
        <pc:spChg chg="mod">
          <ac:chgData name="Terry Moorehead" userId="S::tmoorehead@meevo.com::a2a6df63-b8e3-4cea-aa6c-ded8cdcb5bd7" providerId="AD" clId="Web-{7C1E7934-E6FB-1D33-8504-2A6C8B6AFA75}" dt="2026-03-10T16:22:54.627" v="27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2:59.377" v="28" actId="2057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3:04.580" v="29" actId="20577"/>
          <ac:spMkLst>
            <pc:docMk/>
            <pc:sldMk cId="0" sldId="262"/>
            <ac:spMk id="25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3:09.424" v="30" actId="20577"/>
          <ac:spMkLst>
            <pc:docMk/>
            <pc:sldMk cId="0" sldId="262"/>
            <ac:spMk id="34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3:13.736" v="31" actId="20577"/>
          <ac:spMkLst>
            <pc:docMk/>
            <pc:sldMk cId="0" sldId="262"/>
            <ac:spMk id="43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7C1E7934-E6FB-1D33-8504-2A6C8B6AFA75}" dt="2026-03-10T16:23:47.299" v="38" actId="20577"/>
        <pc:sldMkLst>
          <pc:docMk/>
          <pc:sldMk cId="0" sldId="263"/>
        </pc:sldMkLst>
        <pc:spChg chg="mod">
          <ac:chgData name="Terry Moorehead" userId="S::tmoorehead@meevo.com::a2a6df63-b8e3-4cea-aa6c-ded8cdcb5bd7" providerId="AD" clId="Web-{7C1E7934-E6FB-1D33-8504-2A6C8B6AFA75}" dt="2026-03-10T16:23:36.580" v="36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3:21.064" v="32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3:24.408" v="33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3:28.049" v="34" actId="20577"/>
          <ac:spMkLst>
            <pc:docMk/>
            <pc:sldMk cId="0" sldId="263"/>
            <ac:spMk id="25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3:42.408" v="37" actId="20577"/>
          <ac:spMkLst>
            <pc:docMk/>
            <pc:sldMk cId="0" sldId="263"/>
            <ac:spMk id="31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3:47.299" v="38" actId="20577"/>
          <ac:spMkLst>
            <pc:docMk/>
            <pc:sldMk cId="0" sldId="263"/>
            <ac:spMk id="37" creationId="{00000000-0000-0000-0000-000000000000}"/>
          </ac:spMkLst>
        </pc:spChg>
      </pc:sldChg>
      <pc:sldChg chg="delSp modSp">
        <pc:chgData name="Terry Moorehead" userId="S::tmoorehead@meevo.com::a2a6df63-b8e3-4cea-aa6c-ded8cdcb5bd7" providerId="AD" clId="Web-{7C1E7934-E6FB-1D33-8504-2A6C8B6AFA75}" dt="2026-03-10T16:24:17.799" v="46"/>
        <pc:sldMkLst>
          <pc:docMk/>
          <pc:sldMk cId="0" sldId="264"/>
        </pc:sldMkLst>
        <pc:spChg chg="mod">
          <ac:chgData name="Terry Moorehead" userId="S::tmoorehead@meevo.com::a2a6df63-b8e3-4cea-aa6c-ded8cdcb5bd7" providerId="AD" clId="Web-{7C1E7934-E6FB-1D33-8504-2A6C8B6AFA75}" dt="2026-03-10T16:23:53.549" v="39" actId="1076"/>
          <ac:spMkLst>
            <pc:docMk/>
            <pc:sldMk cId="0" sldId="264"/>
            <ac:spMk id="9" creationId="{00000000-0000-0000-0000-000000000000}"/>
          </ac:spMkLst>
        </pc:spChg>
        <pc:spChg chg="del">
          <ac:chgData name="Terry Moorehead" userId="S::tmoorehead@meevo.com::a2a6df63-b8e3-4cea-aa6c-ded8cdcb5bd7" providerId="AD" clId="Web-{7C1E7934-E6FB-1D33-8504-2A6C8B6AFA75}" dt="2026-03-10T16:23:57.502" v="40"/>
          <ac:spMkLst>
            <pc:docMk/>
            <pc:sldMk cId="0" sldId="264"/>
            <ac:spMk id="16" creationId="{00000000-0000-0000-0000-000000000000}"/>
          </ac:spMkLst>
        </pc:spChg>
        <pc:spChg chg="del">
          <ac:chgData name="Terry Moorehead" userId="S::tmoorehead@meevo.com::a2a6df63-b8e3-4cea-aa6c-ded8cdcb5bd7" providerId="AD" clId="Web-{7C1E7934-E6FB-1D33-8504-2A6C8B6AFA75}" dt="2026-03-10T16:24:01.502" v="41"/>
          <ac:spMkLst>
            <pc:docMk/>
            <pc:sldMk cId="0" sldId="264"/>
            <ac:spMk id="20" creationId="{00000000-0000-0000-0000-000000000000}"/>
          </ac:spMkLst>
        </pc:spChg>
        <pc:spChg chg="del">
          <ac:chgData name="Terry Moorehead" userId="S::tmoorehead@meevo.com::a2a6df63-b8e3-4cea-aa6c-ded8cdcb5bd7" providerId="AD" clId="Web-{7C1E7934-E6FB-1D33-8504-2A6C8B6AFA75}" dt="2026-03-10T16:24:03.096" v="42"/>
          <ac:spMkLst>
            <pc:docMk/>
            <pc:sldMk cId="0" sldId="264"/>
            <ac:spMk id="24" creationId="{00000000-0000-0000-0000-000000000000}"/>
          </ac:spMkLst>
        </pc:spChg>
        <pc:spChg chg="del">
          <ac:chgData name="Terry Moorehead" userId="S::tmoorehead@meevo.com::a2a6df63-b8e3-4cea-aa6c-ded8cdcb5bd7" providerId="AD" clId="Web-{7C1E7934-E6FB-1D33-8504-2A6C8B6AFA75}" dt="2026-03-10T16:24:05.580" v="43"/>
          <ac:spMkLst>
            <pc:docMk/>
            <pc:sldMk cId="0" sldId="264"/>
            <ac:spMk id="28" creationId="{00000000-0000-0000-0000-000000000000}"/>
          </ac:spMkLst>
        </pc:spChg>
        <pc:spChg chg="del mod">
          <ac:chgData name="Terry Moorehead" userId="S::tmoorehead@meevo.com::a2a6df63-b8e3-4cea-aa6c-ded8cdcb5bd7" providerId="AD" clId="Web-{7C1E7934-E6FB-1D33-8504-2A6C8B6AFA75}" dt="2026-03-10T16:24:17.799" v="46"/>
          <ac:spMkLst>
            <pc:docMk/>
            <pc:sldMk cId="0" sldId="264"/>
            <ac:spMk id="36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4:14.002" v="44" actId="1076"/>
          <ac:spMkLst>
            <pc:docMk/>
            <pc:sldMk cId="0" sldId="264"/>
            <ac:spMk id="37" creationId="{00000000-0000-0000-0000-000000000000}"/>
          </ac:spMkLst>
        </pc:spChg>
      </pc:sldChg>
      <pc:sldChg chg="delSp modSp">
        <pc:chgData name="Terry Moorehead" userId="S::tmoorehead@meevo.com::a2a6df63-b8e3-4cea-aa6c-ded8cdcb5bd7" providerId="AD" clId="Web-{7C1E7934-E6FB-1D33-8504-2A6C8B6AFA75}" dt="2026-03-10T16:24:25.565" v="48" actId="1076"/>
        <pc:sldMkLst>
          <pc:docMk/>
          <pc:sldMk cId="0" sldId="265"/>
        </pc:sldMkLst>
        <pc:spChg chg="del">
          <ac:chgData name="Terry Moorehead" userId="S::tmoorehead@meevo.com::a2a6df63-b8e3-4cea-aa6c-ded8cdcb5bd7" providerId="AD" clId="Web-{7C1E7934-E6FB-1D33-8504-2A6C8B6AFA75}" dt="2026-03-10T16:24:21.721" v="47"/>
          <ac:spMkLst>
            <pc:docMk/>
            <pc:sldMk cId="0" sldId="265"/>
            <ac:spMk id="23" creationId="{00000000-0000-0000-0000-000000000000}"/>
          </ac:spMkLst>
        </pc:spChg>
        <pc:spChg chg="mod">
          <ac:chgData name="Terry Moorehead" userId="S::tmoorehead@meevo.com::a2a6df63-b8e3-4cea-aa6c-ded8cdcb5bd7" providerId="AD" clId="Web-{7C1E7934-E6FB-1D33-8504-2A6C8B6AFA75}" dt="2026-03-10T16:24:25.565" v="48" actId="1076"/>
          <ac:spMkLst>
            <pc:docMk/>
            <pc:sldMk cId="0" sldId="265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8B2878-5E0C-40FC-B2DA-8C170D85FB02}" type="datetimeFigureOut"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0B3B2-047F-4B70-8C62-7C785B71649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70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0" y="365760"/>
            <a:ext cx="1188720" cy="1188720"/>
          </a:xfrm>
          <a:prstGeom prst="ellipse">
            <a:avLst/>
          </a:prstGeom>
          <a:solidFill>
            <a:srgbClr val="2A3A4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594360"/>
            <a:ext cx="685800" cy="685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Pain-to-Feature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Mapping</a:t>
            </a:r>
            <a:endParaRPr lang="en-US" sz="4200" dirty="0"/>
          </a:p>
        </p:txBody>
      </p:sp>
      <p:sp>
        <p:nvSpPr>
          <p:cNvPr id="8" name="Text 4"/>
          <p:cNvSpPr/>
          <p:nvPr/>
        </p:nvSpPr>
        <p:spPr>
          <a:xfrm>
            <a:off x="723691" y="267775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kern="0" spc="400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Meevo Value Props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Every Feature to a Business Outcome They Care About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188720" y="3566160"/>
            <a:ext cx="6766560" cy="502920"/>
          </a:xfrm>
          <a:prstGeom prst="rect">
            <a:avLst/>
          </a:prstGeom>
          <a:solidFill>
            <a:srgbClr val="2A3A4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371600" y="3566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→ Feature → Value → Question  |  Revenue  •  Retention  •  Efficiency  •  Growth  •  Compliance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31520" y="45262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Pain-to-Feature Mapping Matters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1E2A3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don’t close deals. Outcomes close deals. Every feature you demo must connect to a pain they’ve already expressed — or it’s just noise.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627632"/>
            <a:ext cx="1645920" cy="548640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1627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PAIN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48640" y="18836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told you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discovery</a:t>
            </a:r>
            <a:endParaRPr lang="en-US" sz="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1783080"/>
            <a:ext cx="164592" cy="16459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606040" y="1627632"/>
            <a:ext cx="1645920" cy="5486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4" name="Text 9"/>
          <p:cNvSpPr/>
          <p:nvPr/>
        </p:nvSpPr>
        <p:spPr>
          <a:xfrm>
            <a:off x="2606040" y="1627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FEATURE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2606040" y="18836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that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it</a:t>
            </a:r>
            <a:endParaRPr lang="en-US" sz="8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783080"/>
            <a:ext cx="164592" cy="16459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663440" y="1627632"/>
            <a:ext cx="1645920" cy="54864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18" name="Text 12"/>
          <p:cNvSpPr/>
          <p:nvPr/>
        </p:nvSpPr>
        <p:spPr>
          <a:xfrm>
            <a:off x="4663440" y="1627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4663440" y="18836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drives</a:t>
            </a:r>
            <a:endParaRPr lang="en-US" sz="8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783080"/>
            <a:ext cx="164592" cy="16459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720840" y="1627632"/>
            <a:ext cx="1645920" cy="54864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2" name="Text 15"/>
          <p:cNvSpPr/>
          <p:nvPr/>
        </p:nvSpPr>
        <p:spPr>
          <a:xfrm>
            <a:off x="6720840" y="1627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QUESTION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6720840" y="18836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it back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their world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457200" y="2514600"/>
            <a:ext cx="32004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57200" y="2514600"/>
            <a:ext cx="54864" cy="475488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26" name="Text 19"/>
          <p:cNvSpPr/>
          <p:nvPr/>
        </p:nvSpPr>
        <p:spPr>
          <a:xfrm>
            <a:off x="594360" y="25146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Feature-dump the full platform</a:t>
            </a:r>
            <a:endParaRPr lang="en-US" sz="9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2651760"/>
            <a:ext cx="146304" cy="14630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114800" y="2514600"/>
            <a:ext cx="45720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4114800" y="2514600"/>
            <a:ext cx="54864" cy="47548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0" name="Text 22"/>
          <p:cNvSpPr/>
          <p:nvPr/>
        </p:nvSpPr>
        <p:spPr>
          <a:xfrm>
            <a:off x="4251960" y="251460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/>
                <a:ea typeface="Calibri"/>
                <a:cs typeface="Calibri"/>
              </a:rPr>
              <a:t>Show only features that solve THEIR stated pain</a:t>
            </a:r>
            <a:endParaRPr lang="en-US" sz="900" dirty="0">
              <a:latin typeface="Calibri"/>
              <a:ea typeface="Calibri"/>
              <a:cs typeface="Calibri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457200" y="3108960"/>
            <a:ext cx="32004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457200" y="3108960"/>
            <a:ext cx="54864" cy="475488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33" name="Text 25"/>
          <p:cNvSpPr/>
          <p:nvPr/>
        </p:nvSpPr>
        <p:spPr>
          <a:xfrm>
            <a:off x="594360" y="31089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the same way every time</a:t>
            </a:r>
            <a:endParaRPr lang="en-US" sz="9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246120"/>
            <a:ext cx="146304" cy="146304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4114800" y="3108960"/>
            <a:ext cx="45720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4114800" y="3108960"/>
            <a:ext cx="54864" cy="47548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7" name="Text 28"/>
          <p:cNvSpPr/>
          <p:nvPr/>
        </p:nvSpPr>
        <p:spPr>
          <a:xfrm>
            <a:off x="4251960" y="310896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/>
                <a:ea typeface="Calibri"/>
                <a:cs typeface="Calibri"/>
              </a:rPr>
              <a:t>Tailor every demo to what they told you in discovery</a:t>
            </a:r>
            <a:endParaRPr lang="en-US" sz="900" dirty="0">
              <a:latin typeface="Calibri"/>
              <a:ea typeface="Calibri"/>
              <a:cs typeface="Calibri"/>
            </a:endParaRPr>
          </a:p>
        </p:txBody>
      </p:sp>
      <p:sp>
        <p:nvSpPr>
          <p:cNvPr id="38" name="Shape 29"/>
          <p:cNvSpPr/>
          <p:nvPr/>
        </p:nvSpPr>
        <p:spPr>
          <a:xfrm>
            <a:off x="457200" y="3703320"/>
            <a:ext cx="32004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457200" y="3703320"/>
            <a:ext cx="54864" cy="475488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40" name="Text 31"/>
          <p:cNvSpPr/>
          <p:nvPr/>
        </p:nvSpPr>
        <p:spPr>
          <a:xfrm>
            <a:off x="594360" y="37033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on after showing a feature</a:t>
            </a:r>
            <a:endParaRPr lang="en-US" sz="9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840480"/>
            <a:ext cx="146304" cy="146304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4114800" y="3703320"/>
            <a:ext cx="45720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4114800" y="3703320"/>
            <a:ext cx="54864" cy="47548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44" name="Text 34"/>
          <p:cNvSpPr/>
          <p:nvPr/>
        </p:nvSpPr>
        <p:spPr>
          <a:xfrm>
            <a:off x="4251960" y="370332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Calibri"/>
                <a:ea typeface="Calibri"/>
                <a:cs typeface="Calibri"/>
              </a:rPr>
              <a:t>Ask a bridge question that connects it back to their world</a:t>
            </a:r>
            <a:endParaRPr lang="en-US" sz="900" dirty="0">
              <a:latin typeface="Calibri"/>
              <a:ea typeface="Calibri"/>
              <a:cs typeface="Calibri"/>
            </a:endParaRPr>
          </a:p>
        </p:txBody>
      </p:sp>
      <p:sp>
        <p:nvSpPr>
          <p:cNvPr id="45" name="Shape 35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solidFill>
            <a:srgbClr val="2A3A44"/>
          </a:solidFill>
          <a:ln/>
        </p:spPr>
      </p:sp>
      <p:sp>
        <p:nvSpPr>
          <p:cNvPr id="46" name="Text 36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We’re not here to take orders — we’re here to diagnose and teach. Pain-to-feature mapping is how we do that.</a:t>
            </a:r>
            <a:endParaRPr lang="en-US" sz="95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Text 37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9" name="Text 39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Revenue Optimization &amp; Client Retention</a:t>
            </a:r>
            <a:endParaRPr lang="en-US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8412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Pain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2926080" y="841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Feature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2697480" y="84124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074920" y="84124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+ Bridge Question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7200" y="123444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1234440"/>
            <a:ext cx="54864" cy="841248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12618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rebook rates — clients not coming back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1325880"/>
            <a:ext cx="146304" cy="1463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26080" y="1261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Rebooking automation at checkout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40080" y="16002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Value: Prompts rebooking before client leaves. Increases recurring visits per provider.</a:t>
            </a:r>
          </a:p>
        </p:txBody>
      </p:sp>
      <p:sp>
        <p:nvSpPr>
          <p:cNvPr id="17" name="Shape 12"/>
          <p:cNvSpPr/>
          <p:nvPr/>
        </p:nvSpPr>
        <p:spPr>
          <a:xfrm>
            <a:off x="5074920" y="1280160"/>
            <a:ext cx="36576" cy="749808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8" name="Text 13"/>
          <p:cNvSpPr/>
          <p:nvPr/>
        </p:nvSpPr>
        <p:spPr>
          <a:xfrm>
            <a:off x="5212080" y="12618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after demo:</a:t>
            </a:r>
            <a:endParaRPr lang="en-US" sz="700" dirty="0"/>
          </a:p>
        </p:txBody>
      </p:sp>
      <p:sp>
        <p:nvSpPr>
          <p:cNvPr id="19" name="Text 14"/>
          <p:cNvSpPr/>
          <p:nvPr/>
        </p:nvSpPr>
        <p:spPr>
          <a:xfrm>
            <a:off x="5212080" y="1444752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mentioned rebooking was a challenge — how much revenue do you estimate you’re losing per month from clients who don’t rebook?”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57200" y="2103120"/>
            <a:ext cx="8229600" cy="841248"/>
          </a:xfrm>
          <a:prstGeom prst="rect">
            <a:avLst/>
          </a:prstGeom>
          <a:solidFill>
            <a:srgbClr val="F5F0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2103120"/>
            <a:ext cx="54864" cy="841248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2" name="Text 17"/>
          <p:cNvSpPr/>
          <p:nvPr/>
        </p:nvSpPr>
        <p:spPr>
          <a:xfrm>
            <a:off x="640080" y="2130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membership revenue or low adoption</a:t>
            </a:r>
            <a:endParaRPr lang="en-US" sz="9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2194560"/>
            <a:ext cx="146304" cy="1463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926080" y="21305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management + loyalty programs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40080" y="24688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Value: Automated billing, upgrades, swaps. Drives predictable monthly recurring revenue.</a:t>
            </a:r>
          </a:p>
        </p:txBody>
      </p:sp>
      <p:sp>
        <p:nvSpPr>
          <p:cNvPr id="26" name="Shape 20"/>
          <p:cNvSpPr/>
          <p:nvPr/>
        </p:nvSpPr>
        <p:spPr>
          <a:xfrm>
            <a:off x="5074920" y="2148840"/>
            <a:ext cx="36576" cy="749808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7" name="Text 21"/>
          <p:cNvSpPr/>
          <p:nvPr/>
        </p:nvSpPr>
        <p:spPr>
          <a:xfrm>
            <a:off x="5212080" y="21305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after demo:</a:t>
            </a: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5212080" y="2313432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could grow membership revenue by 20% this year without adding more chairs, what would that mean for your bottom line?”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457200" y="297180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57200" y="2971800"/>
            <a:ext cx="54864" cy="84124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1" name="Text 25"/>
          <p:cNvSpPr/>
          <p:nvPr/>
        </p:nvSpPr>
        <p:spPr>
          <a:xfrm>
            <a:off x="640080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No-shows costing $200–$500+ per slot</a:t>
            </a:r>
            <a:endParaRPr lang="en-US" sz="9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3063240"/>
            <a:ext cx="146304" cy="14630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926080" y="2999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Deposits, card-on-file, cancellation policies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663566" y="3392361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Value: Reduces no-shows by 60–80%. Recovers lost revenue automatically.</a:t>
            </a:r>
          </a:p>
        </p:txBody>
      </p:sp>
      <p:sp>
        <p:nvSpPr>
          <p:cNvPr id="35" name="Shape 28"/>
          <p:cNvSpPr/>
          <p:nvPr/>
        </p:nvSpPr>
        <p:spPr>
          <a:xfrm>
            <a:off x="5074920" y="3017520"/>
            <a:ext cx="36576" cy="74980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6" name="Text 29"/>
          <p:cNvSpPr/>
          <p:nvPr/>
        </p:nvSpPr>
        <p:spPr>
          <a:xfrm>
            <a:off x="5212080" y="2999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after demo:</a:t>
            </a:r>
            <a:endParaRPr lang="en-US" sz="700" dirty="0"/>
          </a:p>
        </p:txBody>
      </p:sp>
      <p:sp>
        <p:nvSpPr>
          <p:cNvPr id="37" name="Text 30"/>
          <p:cNvSpPr/>
          <p:nvPr/>
        </p:nvSpPr>
        <p:spPr>
          <a:xfrm>
            <a:off x="5212080" y="3182112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no-shows do you get per week? At $300 average per treatment, what does that add up to monthly?”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457200" y="3840480"/>
            <a:ext cx="8229600" cy="841248"/>
          </a:xfrm>
          <a:prstGeom prst="rect">
            <a:avLst/>
          </a:prstGeom>
          <a:solidFill>
            <a:srgbClr val="F5F0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457200" y="3840480"/>
            <a:ext cx="54864" cy="841248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40" name="Text 33"/>
          <p:cNvSpPr/>
          <p:nvPr/>
        </p:nvSpPr>
        <p:spPr>
          <a:xfrm>
            <a:off x="640080" y="3867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track frequency of visit</a:t>
            </a:r>
            <a:endParaRPr lang="en-US" sz="9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3931920"/>
            <a:ext cx="146304" cy="14630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926080" y="3867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 tracking + automated rebook reminders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640080" y="4206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Value: See which clients are overdue. Trigger targeted outreach to bring them back.</a:t>
            </a:r>
          </a:p>
        </p:txBody>
      </p:sp>
      <p:sp>
        <p:nvSpPr>
          <p:cNvPr id="44" name="Shape 36"/>
          <p:cNvSpPr/>
          <p:nvPr/>
        </p:nvSpPr>
        <p:spPr>
          <a:xfrm>
            <a:off x="5074920" y="3886200"/>
            <a:ext cx="36576" cy="749808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45" name="Text 37"/>
          <p:cNvSpPr/>
          <p:nvPr/>
        </p:nvSpPr>
        <p:spPr>
          <a:xfrm>
            <a:off x="5212080" y="38679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after demo:</a:t>
            </a:r>
            <a:endParaRPr lang="en-US" sz="700" dirty="0"/>
          </a:p>
        </p:txBody>
      </p:sp>
      <p:sp>
        <p:nvSpPr>
          <p:cNvPr id="46" name="Text 38"/>
          <p:cNvSpPr/>
          <p:nvPr/>
        </p:nvSpPr>
        <p:spPr>
          <a:xfrm>
            <a:off x="5212080" y="4050792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a client who visits every 4 weeks stretches to every 8 — do you even know that’s happening right now?”</a:t>
            </a:r>
            <a:endParaRPr lang="en-US" sz="800" dirty="0"/>
          </a:p>
        </p:txBody>
      </p:sp>
      <p:sp>
        <p:nvSpPr>
          <p:cNvPr id="47" name="Text 39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9" name="Text 41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Operational Efficiency &amp; Staff Empowerment</a:t>
            </a:r>
            <a:endParaRPr lang="en-US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8412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Pain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2926080" y="841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Feature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2697480" y="84124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074920" y="84124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+ Bridge Question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7200" y="123444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1234440"/>
            <a:ext cx="54864" cy="841248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12618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 overwhelmed with phone calls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1325880"/>
            <a:ext cx="146304" cy="1463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26080" y="1261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online booking + self check-in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40080" y="16002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Value: Cuts phone volume 40–50%. Clients book 24/7. Front desk freed for high-value tasks.</a:t>
            </a:r>
          </a:p>
        </p:txBody>
      </p:sp>
      <p:sp>
        <p:nvSpPr>
          <p:cNvPr id="17" name="Shape 12"/>
          <p:cNvSpPr/>
          <p:nvPr/>
        </p:nvSpPr>
        <p:spPr>
          <a:xfrm>
            <a:off x="5074920" y="1280160"/>
            <a:ext cx="36576" cy="749808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8" name="Text 13"/>
          <p:cNvSpPr/>
          <p:nvPr/>
        </p:nvSpPr>
        <p:spPr>
          <a:xfrm>
            <a:off x="5212080" y="12618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after demo:</a:t>
            </a:r>
            <a:endParaRPr lang="en-US" sz="700" dirty="0"/>
          </a:p>
        </p:txBody>
      </p:sp>
      <p:sp>
        <p:nvSpPr>
          <p:cNvPr id="19" name="Text 14"/>
          <p:cNvSpPr/>
          <p:nvPr/>
        </p:nvSpPr>
        <p:spPr>
          <a:xfrm>
            <a:off x="5212080" y="1444752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calls per day are just for booking? What would your front desk do with that time back?”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57200" y="2103120"/>
            <a:ext cx="8229600" cy="841248"/>
          </a:xfrm>
          <a:prstGeom prst="rect">
            <a:avLst/>
          </a:prstGeom>
          <a:solidFill>
            <a:srgbClr val="F5F0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2103120"/>
            <a:ext cx="54864" cy="841248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2" name="Text 17"/>
          <p:cNvSpPr/>
          <p:nvPr/>
        </p:nvSpPr>
        <p:spPr>
          <a:xfrm>
            <a:off x="640080" y="2130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not getting fair tips / cash hassle</a:t>
            </a:r>
            <a:endParaRPr lang="en-US" sz="9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2194560"/>
            <a:ext cx="146304" cy="1463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926080" y="21305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MeevoTips (digital tipping)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40080" y="24688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Value: Cashless tipping at checkout. Higher tip amounts. Providers love it. No competitor has this.</a:t>
            </a:r>
          </a:p>
        </p:txBody>
      </p:sp>
      <p:sp>
        <p:nvSpPr>
          <p:cNvPr id="26" name="Shape 20"/>
          <p:cNvSpPr/>
          <p:nvPr/>
        </p:nvSpPr>
        <p:spPr>
          <a:xfrm>
            <a:off x="5074920" y="2148840"/>
            <a:ext cx="36576" cy="749808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7" name="Text 21"/>
          <p:cNvSpPr/>
          <p:nvPr/>
        </p:nvSpPr>
        <p:spPr>
          <a:xfrm>
            <a:off x="5212080" y="21305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after demo:</a:t>
            </a: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5212080" y="2313432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“Are your providers happy with how tipping works today? What if they could see 15–20% higher tips without asking?”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457200" y="297180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57200" y="2971800"/>
            <a:ext cx="54864" cy="84124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1" name="Text 25"/>
          <p:cNvSpPr/>
          <p:nvPr/>
        </p:nvSpPr>
        <p:spPr>
          <a:xfrm>
            <a:off x="640080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takes 6+ hours every cycle</a:t>
            </a:r>
            <a:endParaRPr lang="en-US" sz="9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3063240"/>
            <a:ext cx="146304" cy="14630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926080" y="2999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payroll + commission tracking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640080" y="33375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Value: Automates commission calculations across service, retail, and tips. Hours back every pay period</a:t>
            </a:r>
            <a:r>
              <a:rPr lang="en-US" sz="800" dirty="0">
                <a:solidFill>
                  <a:srgbClr val="7A9E7E"/>
                </a:solidFill>
                <a:latin typeface="Calibri"/>
                <a:ea typeface="Calibri"/>
                <a:cs typeface="Calibri"/>
              </a:rPr>
              <a:t>.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35" name="Shape 28"/>
          <p:cNvSpPr/>
          <p:nvPr/>
        </p:nvSpPr>
        <p:spPr>
          <a:xfrm>
            <a:off x="5074920" y="3017520"/>
            <a:ext cx="36576" cy="74980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6" name="Text 29"/>
          <p:cNvSpPr/>
          <p:nvPr/>
        </p:nvSpPr>
        <p:spPr>
          <a:xfrm>
            <a:off x="5212080" y="2999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after demo:</a:t>
            </a:r>
            <a:endParaRPr lang="en-US" sz="700" dirty="0"/>
          </a:p>
        </p:txBody>
      </p:sp>
      <p:sp>
        <p:nvSpPr>
          <p:cNvPr id="37" name="Text 30"/>
          <p:cNvSpPr/>
          <p:nvPr/>
        </p:nvSpPr>
        <p:spPr>
          <a:xfrm>
            <a:off x="5212080" y="3182112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hours does payroll take you right now? What if it calculated commissions automatically?”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457200" y="3840480"/>
            <a:ext cx="8229600" cy="841248"/>
          </a:xfrm>
          <a:prstGeom prst="rect">
            <a:avLst/>
          </a:prstGeom>
          <a:solidFill>
            <a:srgbClr val="F5F0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457200" y="3840480"/>
            <a:ext cx="54864" cy="841248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40" name="Text 33"/>
          <p:cNvSpPr/>
          <p:nvPr/>
        </p:nvSpPr>
        <p:spPr>
          <a:xfrm>
            <a:off x="640080" y="3867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shrinkage / manual counting</a:t>
            </a:r>
            <a:endParaRPr lang="en-US" sz="9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3931920"/>
            <a:ext cx="146304" cy="14630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926080" y="3867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inventory management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640080" y="4206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Value: Real-time stock levels, smart reorder alerts, checkout product recommendations.</a:t>
            </a:r>
          </a:p>
        </p:txBody>
      </p:sp>
      <p:sp>
        <p:nvSpPr>
          <p:cNvPr id="44" name="Shape 36"/>
          <p:cNvSpPr/>
          <p:nvPr/>
        </p:nvSpPr>
        <p:spPr>
          <a:xfrm>
            <a:off x="5074920" y="3886200"/>
            <a:ext cx="36576" cy="749808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45" name="Text 37"/>
          <p:cNvSpPr/>
          <p:nvPr/>
        </p:nvSpPr>
        <p:spPr>
          <a:xfrm>
            <a:off x="5212080" y="38679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after demo:</a:t>
            </a:r>
            <a:endParaRPr lang="en-US" sz="700" dirty="0"/>
          </a:p>
        </p:txBody>
      </p:sp>
      <p:sp>
        <p:nvSpPr>
          <p:cNvPr id="46" name="Text 38"/>
          <p:cNvSpPr/>
          <p:nvPr/>
        </p:nvSpPr>
        <p:spPr>
          <a:xfrm>
            <a:off x="5212080" y="4050792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you run out of a key product on a Saturday, what does that cost you in lost retail revenue?”</a:t>
            </a:r>
            <a:endParaRPr lang="en-US" sz="800" dirty="0"/>
          </a:p>
        </p:txBody>
      </p:sp>
      <p:sp>
        <p:nvSpPr>
          <p:cNvPr id="47" name="Text 39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9" name="Text 41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Growth, Scalability &amp; Data-Driven Decisions</a:t>
            </a:r>
            <a:endParaRPr lang="en-US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7A9E7E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8412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Pain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2926080" y="841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Feature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2697480" y="84124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074920" y="84124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+ Bridge Question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7200" y="123444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1234440"/>
            <a:ext cx="54864" cy="841248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12618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provider performance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1325880"/>
            <a:ext cx="146304" cy="1463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26080" y="1261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goals + Smart Center dashboards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40080" y="16002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Value: Every provider sees their targets, actuals, and gap. Real accountability without confrontation.</a:t>
            </a:r>
          </a:p>
        </p:txBody>
      </p:sp>
      <p:sp>
        <p:nvSpPr>
          <p:cNvPr id="17" name="Shape 12"/>
          <p:cNvSpPr/>
          <p:nvPr/>
        </p:nvSpPr>
        <p:spPr>
          <a:xfrm>
            <a:off x="5074920" y="1280160"/>
            <a:ext cx="36576" cy="749808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8" name="Text 13"/>
          <p:cNvSpPr/>
          <p:nvPr/>
        </p:nvSpPr>
        <p:spPr>
          <a:xfrm>
            <a:off x="5212080" y="12618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after demo:</a:t>
            </a:r>
            <a:endParaRPr lang="en-US" sz="700" dirty="0"/>
          </a:p>
        </p:txBody>
      </p:sp>
      <p:sp>
        <p:nvSpPr>
          <p:cNvPr id="19" name="Text 14"/>
          <p:cNvSpPr/>
          <p:nvPr/>
        </p:nvSpPr>
        <p:spPr>
          <a:xfrm>
            <a:off x="5212080" y="1444752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every provider could see their own numbers in real time — would that change how you coach them?”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57200" y="2103120"/>
            <a:ext cx="8229600" cy="841248"/>
          </a:xfrm>
          <a:prstGeom prst="rect">
            <a:avLst/>
          </a:prstGeom>
          <a:solidFill>
            <a:srgbClr val="F5F0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2103120"/>
            <a:ext cx="54864" cy="841248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2" name="Text 17"/>
          <p:cNvSpPr/>
          <p:nvPr/>
        </p:nvSpPr>
        <p:spPr>
          <a:xfrm>
            <a:off x="640080" y="2130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maximizing revenue per chair hour</a:t>
            </a:r>
            <a:endParaRPr lang="en-US" sz="9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2194560"/>
            <a:ext cx="146304" cy="1463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926080" y="21305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Pricing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40080" y="24688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Value: Dynamic pricing based on demand, provider level, and time slot. Automatic revenue optimization.</a:t>
            </a:r>
          </a:p>
        </p:txBody>
      </p:sp>
      <p:sp>
        <p:nvSpPr>
          <p:cNvPr id="26" name="Shape 20"/>
          <p:cNvSpPr/>
          <p:nvPr/>
        </p:nvSpPr>
        <p:spPr>
          <a:xfrm>
            <a:off x="5074920" y="2148840"/>
            <a:ext cx="36576" cy="749808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7" name="Text 21"/>
          <p:cNvSpPr/>
          <p:nvPr/>
        </p:nvSpPr>
        <p:spPr>
          <a:xfrm>
            <a:off x="5212080" y="21305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after demo:</a:t>
            </a: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5212080" y="2313432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you charge the same rate at 10 AM Tuesday as 5 PM Friday? What if pricing adjusted automatically based on demand?”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457200" y="297180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57200" y="2971800"/>
            <a:ext cx="54864" cy="84124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1" name="Text 25"/>
          <p:cNvSpPr/>
          <p:nvPr/>
        </p:nvSpPr>
        <p:spPr>
          <a:xfrm>
            <a:off x="640080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view across locations</a:t>
            </a:r>
            <a:endParaRPr lang="en-US" sz="9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3063240"/>
            <a:ext cx="146304" cy="14630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926080" y="2999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Office + multi-location reporting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640080" y="33375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Value: One dashboard for all locations. Consolidated payroll, benchmarking, standardized processes</a:t>
            </a:r>
            <a:r>
              <a:rPr lang="en-US" sz="800" dirty="0">
                <a:solidFill>
                  <a:srgbClr val="7A9E7E"/>
                </a:solidFill>
                <a:latin typeface="Calibri"/>
                <a:ea typeface="Calibri"/>
                <a:cs typeface="Calibri"/>
              </a:rPr>
              <a:t>.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35" name="Shape 28"/>
          <p:cNvSpPr/>
          <p:nvPr/>
        </p:nvSpPr>
        <p:spPr>
          <a:xfrm>
            <a:off x="5074920" y="3017520"/>
            <a:ext cx="36576" cy="74980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6" name="Text 29"/>
          <p:cNvSpPr/>
          <p:nvPr/>
        </p:nvSpPr>
        <p:spPr>
          <a:xfrm>
            <a:off x="5212080" y="2999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after demo:</a:t>
            </a:r>
            <a:endParaRPr lang="en-US" sz="700" dirty="0"/>
          </a:p>
        </p:txBody>
      </p:sp>
      <p:sp>
        <p:nvSpPr>
          <p:cNvPr id="37" name="Text 30"/>
          <p:cNvSpPr/>
          <p:nvPr/>
        </p:nvSpPr>
        <p:spPr>
          <a:xfrm>
            <a:off x="5212080" y="3182112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your board or partners ask for performance data across all locations — how fast can you produce it?”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457200" y="3840480"/>
            <a:ext cx="8229600" cy="841248"/>
          </a:xfrm>
          <a:prstGeom prst="rect">
            <a:avLst/>
          </a:prstGeom>
          <a:solidFill>
            <a:srgbClr val="F5F0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457200" y="3840480"/>
            <a:ext cx="54864" cy="841248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40" name="Text 33"/>
          <p:cNvSpPr/>
          <p:nvPr/>
        </p:nvSpPr>
        <p:spPr>
          <a:xfrm>
            <a:off x="640080" y="3867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costs extra or doesn’t exist</a:t>
            </a:r>
            <a:endParaRPr lang="en-US" sz="9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3931920"/>
            <a:ext cx="146304" cy="14630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926080" y="3867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suite (email, SMS, OPM, social)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640080" y="4206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Value: Included at no extra cost. Automated campaigns by segment. Social posting + review managemen</a:t>
            </a:r>
            <a:r>
              <a:rPr lang="en-US" sz="800" dirty="0">
                <a:solidFill>
                  <a:srgbClr val="7A9E7E"/>
                </a:solidFill>
                <a:latin typeface="Calibri"/>
                <a:ea typeface="Calibri"/>
                <a:cs typeface="Calibri"/>
              </a:rPr>
              <a:t>t.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5074920" y="3886200"/>
            <a:ext cx="36576" cy="749808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45" name="Text 37"/>
          <p:cNvSpPr/>
          <p:nvPr/>
        </p:nvSpPr>
        <p:spPr>
          <a:xfrm>
            <a:off x="5212080" y="38679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after demo:</a:t>
            </a:r>
            <a:endParaRPr lang="en-US" sz="700" dirty="0"/>
          </a:p>
        </p:txBody>
      </p:sp>
      <p:sp>
        <p:nvSpPr>
          <p:cNvPr id="46" name="Text 38"/>
          <p:cNvSpPr/>
          <p:nvPr/>
        </p:nvSpPr>
        <p:spPr>
          <a:xfrm>
            <a:off x="5212080" y="4050792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much are you paying for marketing tools on top of your software? What if it was all included?”</a:t>
            </a:r>
            <a:endParaRPr lang="en-US" sz="800" dirty="0"/>
          </a:p>
        </p:txBody>
      </p:sp>
      <p:sp>
        <p:nvSpPr>
          <p:cNvPr id="47" name="Text 39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9" name="Text 41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500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Compliance, MedSpa</a:t>
            </a:r>
            <a:endParaRPr lang="en-US" sz="3600" dirty="0"/>
          </a:p>
          <a:p>
            <a:pPr marL="0" indent="0">
              <a:buNone/>
            </a:pPr>
            <a:r>
              <a:rPr lang="en-US" sz="36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The Bridge Question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Segment-specific mappings and the technique that ties it all together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C67B5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MedSpa &amp; Compliance Pain-to-Feature Mapping</a:t>
            </a:r>
            <a:endParaRPr lang="en-US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6B3A4A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8412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MedSpa Pain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2926080" y="841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Feature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2697480" y="84124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074920" y="84124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+ Bridge Question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7200" y="123444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1234440"/>
            <a:ext cx="54864" cy="841248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12618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compliance gaps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1325880"/>
            <a:ext cx="146304" cy="1463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26080" y="1261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HIPAA-compliant platform + security controls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40080" y="16002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Value: Built-in compliance. Role-based access. Audit-ready. No bolt-on needed.</a:t>
            </a:r>
          </a:p>
        </p:txBody>
      </p:sp>
      <p:sp>
        <p:nvSpPr>
          <p:cNvPr id="17" name="Shape 12"/>
          <p:cNvSpPr/>
          <p:nvPr/>
        </p:nvSpPr>
        <p:spPr>
          <a:xfrm>
            <a:off x="5074920" y="1280160"/>
            <a:ext cx="36576" cy="749808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18" name="Text 13"/>
          <p:cNvSpPr/>
          <p:nvPr/>
        </p:nvSpPr>
        <p:spPr>
          <a:xfrm>
            <a:off x="5212080" y="12618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after demo:</a:t>
            </a:r>
            <a:endParaRPr lang="en-US" sz="700" dirty="0"/>
          </a:p>
        </p:txBody>
      </p:sp>
      <p:sp>
        <p:nvSpPr>
          <p:cNvPr id="19" name="Text 14"/>
          <p:cNvSpPr/>
          <p:nvPr/>
        </p:nvSpPr>
        <p:spPr>
          <a:xfrm>
            <a:off x="5212080" y="1444752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confident are you that your current system would pass a HIPAA audit tomorrow?”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57200" y="2103120"/>
            <a:ext cx="8229600" cy="841248"/>
          </a:xfrm>
          <a:prstGeom prst="rect">
            <a:avLst/>
          </a:prstGeom>
          <a:solidFill>
            <a:srgbClr val="F5F0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2103120"/>
            <a:ext cx="54864" cy="841248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22" name="Text 17"/>
          <p:cNvSpPr/>
          <p:nvPr/>
        </p:nvSpPr>
        <p:spPr>
          <a:xfrm>
            <a:off x="640080" y="2130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 scattered across systems</a:t>
            </a:r>
            <a:endParaRPr lang="en-US" sz="9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2194560"/>
            <a:ext cx="146304" cy="1463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926080" y="21305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MeevoMD clinical documentation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40080" y="24688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Value: Treatment notes, photos, annotations in one clinical timeline. Connected to scheduling.</a:t>
            </a:r>
          </a:p>
        </p:txBody>
      </p:sp>
      <p:sp>
        <p:nvSpPr>
          <p:cNvPr id="26" name="Shape 20"/>
          <p:cNvSpPr/>
          <p:nvPr/>
        </p:nvSpPr>
        <p:spPr>
          <a:xfrm>
            <a:off x="5074920" y="2148840"/>
            <a:ext cx="36576" cy="749808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27" name="Text 21"/>
          <p:cNvSpPr/>
          <p:nvPr/>
        </p:nvSpPr>
        <p:spPr>
          <a:xfrm>
            <a:off x="5212080" y="21305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after demo:</a:t>
            </a: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5212080" y="2313432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do your treatment notes live today? Can you pull a client’s full history in under 30 seconds?”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457200" y="297180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57200" y="2971800"/>
            <a:ext cx="54864" cy="841248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1" name="Text 25"/>
          <p:cNvSpPr/>
          <p:nvPr/>
        </p:nvSpPr>
        <p:spPr>
          <a:xfrm>
            <a:off x="640080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intake or consent forms</a:t>
            </a:r>
            <a:endParaRPr lang="en-US" sz="9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3063240"/>
            <a:ext cx="146304" cy="14630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926080" y="2999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intake + e-signature consents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640080" y="33375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Value: Paperless intake. Auto-filed to client record. Reduces admin time and compliance risk.</a:t>
            </a:r>
          </a:p>
        </p:txBody>
      </p:sp>
      <p:sp>
        <p:nvSpPr>
          <p:cNvPr id="35" name="Shape 28"/>
          <p:cNvSpPr/>
          <p:nvPr/>
        </p:nvSpPr>
        <p:spPr>
          <a:xfrm>
            <a:off x="5074920" y="3017520"/>
            <a:ext cx="36576" cy="749808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6" name="Text 29"/>
          <p:cNvSpPr/>
          <p:nvPr/>
        </p:nvSpPr>
        <p:spPr>
          <a:xfrm>
            <a:off x="5212080" y="2999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after demo:</a:t>
            </a:r>
            <a:endParaRPr lang="en-US" sz="700" dirty="0"/>
          </a:p>
        </p:txBody>
      </p:sp>
      <p:sp>
        <p:nvSpPr>
          <p:cNvPr id="37" name="Text 30"/>
          <p:cNvSpPr/>
          <p:nvPr/>
        </p:nvSpPr>
        <p:spPr>
          <a:xfrm>
            <a:off x="5212080" y="3182112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minutes does paper intake add to every new client visit? What if it was done before they walk in?”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457200" y="3840480"/>
            <a:ext cx="8229600" cy="841248"/>
          </a:xfrm>
          <a:prstGeom prst="rect">
            <a:avLst/>
          </a:prstGeom>
          <a:solidFill>
            <a:srgbClr val="F5F0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457200" y="3840480"/>
            <a:ext cx="54864" cy="84124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40" name="Text 33"/>
          <p:cNvSpPr/>
          <p:nvPr/>
        </p:nvSpPr>
        <p:spPr>
          <a:xfrm>
            <a:off x="640080" y="3867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track treatment revenue per provider</a:t>
            </a:r>
            <a:endParaRPr lang="en-US" sz="9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3931920"/>
            <a:ext cx="146304" cy="14630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926080" y="3867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Provider-level reporting + revenue dashboards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640080" y="4206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Value: See revenue, rebooking, and product sales per injector/aesthetician. Coach from data.</a:t>
            </a:r>
          </a:p>
        </p:txBody>
      </p:sp>
      <p:sp>
        <p:nvSpPr>
          <p:cNvPr id="44" name="Shape 36"/>
          <p:cNvSpPr/>
          <p:nvPr/>
        </p:nvSpPr>
        <p:spPr>
          <a:xfrm>
            <a:off x="5074920" y="3886200"/>
            <a:ext cx="36576" cy="74980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45" name="Text 37"/>
          <p:cNvSpPr/>
          <p:nvPr/>
        </p:nvSpPr>
        <p:spPr>
          <a:xfrm>
            <a:off x="5212080" y="38679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after demo:</a:t>
            </a:r>
            <a:endParaRPr lang="en-US" sz="700" dirty="0"/>
          </a:p>
        </p:txBody>
      </p:sp>
      <p:sp>
        <p:nvSpPr>
          <p:cNvPr id="46" name="Text 38"/>
          <p:cNvSpPr/>
          <p:nvPr/>
        </p:nvSpPr>
        <p:spPr>
          <a:xfrm>
            <a:off x="5212080" y="4050792"/>
            <a:ext cx="3337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could see which providers are driving the most treatment revenue — would that change your staffing decisions?”</a:t>
            </a:r>
            <a:endParaRPr lang="en-US" sz="800" dirty="0"/>
          </a:p>
        </p:txBody>
      </p:sp>
      <p:sp>
        <p:nvSpPr>
          <p:cNvPr id="47" name="Text 39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9" name="Text 41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The Bridge Question — Tying Features Back to Pain</a:t>
            </a:r>
            <a:endParaRPr lang="en-US" sz="1600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1E2A3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feature you show, ask a question that connects it back to something they told you in discovery. This is the move that separates feature-dumping from consultative selling.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40080" y="1508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“You mentioned [their pain]. With [feature], you could [outcome]. How would that impact [their specific situation]?”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224028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" y="2240280"/>
            <a:ext cx="54864" cy="438912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2" name="Text 8"/>
          <p:cNvSpPr/>
          <p:nvPr/>
        </p:nvSpPr>
        <p:spPr>
          <a:xfrm>
            <a:off x="594360" y="22585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Showed: Rebooking automation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94360" y="2441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Pain: Clients not rebooking</a:t>
            </a:r>
          </a:p>
        </p:txBody>
      </p:sp>
      <p:sp>
        <p:nvSpPr>
          <p:cNvPr id="14" name="Shape 10"/>
          <p:cNvSpPr/>
          <p:nvPr/>
        </p:nvSpPr>
        <p:spPr>
          <a:xfrm>
            <a:off x="2514600" y="2286000"/>
            <a:ext cx="36576" cy="347472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5" name="Text 11"/>
          <p:cNvSpPr/>
          <p:nvPr/>
        </p:nvSpPr>
        <p:spPr>
          <a:xfrm>
            <a:off x="2651760" y="2258568"/>
            <a:ext cx="5897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mentioned rebooking was your biggest challenge. With this, every client gets prompted before they leave. How much revenue do you think that recovers monthly?”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57200" y="2743200"/>
            <a:ext cx="8229600" cy="438912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7" name="Shape 13"/>
          <p:cNvSpPr/>
          <p:nvPr/>
        </p:nvSpPr>
        <p:spPr>
          <a:xfrm>
            <a:off x="457200" y="2743200"/>
            <a:ext cx="54864" cy="438912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8" name="Text 14"/>
          <p:cNvSpPr/>
          <p:nvPr/>
        </p:nvSpPr>
        <p:spPr>
          <a:xfrm>
            <a:off x="594360" y="27614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Showed: Smart Pricing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94360" y="2944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Pain: Flat pricing across all time slots</a:t>
            </a:r>
          </a:p>
        </p:txBody>
      </p:sp>
      <p:sp>
        <p:nvSpPr>
          <p:cNvPr id="20" name="Shape 16"/>
          <p:cNvSpPr/>
          <p:nvPr/>
        </p:nvSpPr>
        <p:spPr>
          <a:xfrm>
            <a:off x="2514600" y="2788920"/>
            <a:ext cx="36576" cy="347472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1" name="Text 17"/>
          <p:cNvSpPr/>
          <p:nvPr/>
        </p:nvSpPr>
        <p:spPr>
          <a:xfrm>
            <a:off x="2651760" y="2761488"/>
            <a:ext cx="5897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said you charge the same rate all day. Smart Pricing would automatically adjust for demand — higher rates during peak, promos during slow times. What would even a 5% lift in revenue per chair hour mean for you?”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57200" y="324612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9"/>
          <p:cNvSpPr/>
          <p:nvPr/>
        </p:nvSpPr>
        <p:spPr>
          <a:xfrm>
            <a:off x="457200" y="3246120"/>
            <a:ext cx="54864" cy="438912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4" name="Text 20"/>
          <p:cNvSpPr/>
          <p:nvPr/>
        </p:nvSpPr>
        <p:spPr>
          <a:xfrm>
            <a:off x="594360" y="32644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Showed: Provider goal dashboards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594360" y="3447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Pain: Can’t tell who’s performing</a:t>
            </a:r>
          </a:p>
        </p:txBody>
      </p:sp>
      <p:sp>
        <p:nvSpPr>
          <p:cNvPr id="26" name="Shape 22"/>
          <p:cNvSpPr/>
          <p:nvPr/>
        </p:nvSpPr>
        <p:spPr>
          <a:xfrm>
            <a:off x="2514600" y="3291840"/>
            <a:ext cx="36576" cy="347472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7" name="Text 23"/>
          <p:cNvSpPr/>
          <p:nvPr/>
        </p:nvSpPr>
        <p:spPr>
          <a:xfrm>
            <a:off x="2651760" y="3264408"/>
            <a:ext cx="5897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“Earlier you said it’s hard to have performance conversations without data. With this, every provider sees their own numbers. Would that make those conversations easier?”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457200" y="3749040"/>
            <a:ext cx="8229600" cy="438912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9" name="Shape 25"/>
          <p:cNvSpPr/>
          <p:nvPr/>
        </p:nvSpPr>
        <p:spPr>
          <a:xfrm>
            <a:off x="457200" y="3749040"/>
            <a:ext cx="54864" cy="438912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30" name="Text 26"/>
          <p:cNvSpPr/>
          <p:nvPr/>
        </p:nvSpPr>
        <p:spPr>
          <a:xfrm>
            <a:off x="594360" y="37673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Showed: Marketing suite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94360" y="3950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Pain: Paying $200/</a:t>
            </a:r>
            <a:r>
              <a:rPr lang="en-US" sz="750" dirty="0" err="1">
                <a:latin typeface="Calibri"/>
                <a:ea typeface="Calibri"/>
                <a:cs typeface="Calibri"/>
              </a:rPr>
              <a:t>mo</a:t>
            </a:r>
            <a:r>
              <a:rPr lang="en-US" sz="750" dirty="0">
                <a:latin typeface="Calibri"/>
                <a:ea typeface="Calibri"/>
                <a:cs typeface="Calibri"/>
              </a:rPr>
              <a:t> extra for Mailchimp</a:t>
            </a:r>
          </a:p>
        </p:txBody>
      </p:sp>
      <p:sp>
        <p:nvSpPr>
          <p:cNvPr id="32" name="Shape 28"/>
          <p:cNvSpPr/>
          <p:nvPr/>
        </p:nvSpPr>
        <p:spPr>
          <a:xfrm>
            <a:off x="2514600" y="3794760"/>
            <a:ext cx="36576" cy="347472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33" name="Text 29"/>
          <p:cNvSpPr/>
          <p:nvPr/>
        </p:nvSpPr>
        <p:spPr>
          <a:xfrm>
            <a:off x="2651760" y="3767328"/>
            <a:ext cx="5897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mentioned you’re paying $200 a month for Mailchimp on top of your software. This is all included. That’s $2,400 back in your pocket this year — and it’s built into the same system. Worth a look?”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457200" y="425196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1"/>
          <p:cNvSpPr/>
          <p:nvPr/>
        </p:nvSpPr>
        <p:spPr>
          <a:xfrm>
            <a:off x="457200" y="4251960"/>
            <a:ext cx="54864" cy="438912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36" name="Text 32"/>
          <p:cNvSpPr/>
          <p:nvPr/>
        </p:nvSpPr>
        <p:spPr>
          <a:xfrm>
            <a:off x="594360" y="4270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Showed: Central Office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594360" y="44531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Pain: Running 3 locations like 3 businesses</a:t>
            </a:r>
          </a:p>
        </p:txBody>
      </p:sp>
      <p:sp>
        <p:nvSpPr>
          <p:cNvPr id="38" name="Shape 34"/>
          <p:cNvSpPr/>
          <p:nvPr/>
        </p:nvSpPr>
        <p:spPr>
          <a:xfrm>
            <a:off x="2514600" y="4297680"/>
            <a:ext cx="36576" cy="347472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39" name="Text 35"/>
          <p:cNvSpPr/>
          <p:nvPr/>
        </p:nvSpPr>
        <p:spPr>
          <a:xfrm>
            <a:off x="2651760" y="4270248"/>
            <a:ext cx="5897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told me managing 3 locations feels like running 3 separate businesses. Central Office puts all of them on one screen. What decisions would that unlock for you?”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2" name="Text 38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&amp; Self-Assessment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7A9E7E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8686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65760" y="868680"/>
            <a:ext cx="4114800" cy="4114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PRACTICE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935271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5 Meevo features you demo most. For each, write: the feature, the business value, and a bridge question. Memorize them.</a:t>
            </a:r>
            <a:endParaRPr lang="en-US" sz="8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last 3 demos in Attention. Count how many times you showed a feature WITHOUT asking a bridge question after. Set a target to cut that in half.</a:t>
            </a:r>
            <a:endParaRPr lang="en-US" sz="8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segment-specific mapping sheet: 4 pains + 4 features + 4 bridge questions for Salons, Spas, MedSpas, and Enterprise.</a:t>
            </a:r>
            <a:endParaRPr lang="en-US" sz="8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Role-play: Partner states a pain. You name the feature, the value, and deliver a bridge question in under 15 seconds.</a:t>
            </a:r>
            <a:endParaRPr lang="en-US" sz="8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your next demo, write a pre-demo plan that maps their stated pains to the features you’ll show — and the bridge questions you’ll ask.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663440" y="8686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63440" y="868680"/>
            <a:ext cx="4114800" cy="41148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2" name="Text 8"/>
          <p:cNvSpPr/>
          <p:nvPr/>
        </p:nvSpPr>
        <p:spPr>
          <a:xfrm>
            <a:off x="484632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 (1–5 SCALE)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4" name="Shape 10"/>
          <p:cNvSpPr/>
          <p:nvPr/>
        </p:nvSpPr>
        <p:spPr>
          <a:xfrm>
            <a:off x="4754880" y="1371600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5" name="Text 11"/>
          <p:cNvSpPr/>
          <p:nvPr/>
        </p:nvSpPr>
        <p:spPr>
          <a:xfrm>
            <a:off x="4892040" y="13898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name the Meevo feature that solves each of the top 10 prospect pains from memory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754880" y="1883664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4754880" y="1883664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9" name="Text 15"/>
          <p:cNvSpPr/>
          <p:nvPr/>
        </p:nvSpPr>
        <p:spPr>
          <a:xfrm>
            <a:off x="4892040" y="19019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show only features connected to pain they’ve stated — not the whole platform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4754880" y="2395728"/>
            <a:ext cx="3931920" cy="4572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2" name="Shape 18"/>
          <p:cNvSpPr/>
          <p:nvPr/>
        </p:nvSpPr>
        <p:spPr>
          <a:xfrm>
            <a:off x="4754880" y="2395728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3" name="Text 19"/>
          <p:cNvSpPr/>
          <p:nvPr/>
        </p:nvSpPr>
        <p:spPr>
          <a:xfrm>
            <a:off x="4892040" y="24140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feature I demo, I ask a bridge question that ties back to their specific situation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4754880" y="2907792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4754880" y="2907792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7" name="Text 23"/>
          <p:cNvSpPr/>
          <p:nvPr/>
        </p:nvSpPr>
        <p:spPr>
          <a:xfrm>
            <a:off x="4892040" y="29260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articulate the business VALUE of a feature, not just what it does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4754880" y="3419856"/>
            <a:ext cx="3931920" cy="4572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0" name="Shape 26"/>
          <p:cNvSpPr/>
          <p:nvPr/>
        </p:nvSpPr>
        <p:spPr>
          <a:xfrm>
            <a:off x="4754880" y="3419856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1" name="Text 27"/>
          <p:cNvSpPr/>
          <p:nvPr/>
        </p:nvSpPr>
        <p:spPr>
          <a:xfrm>
            <a:off x="4892040" y="34381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adapt my demo based on segment: salon vs. spa vs. medspa vs. enterprise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892040" y="3712464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 Knowledge #9]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4754880" y="3931920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0"/>
          <p:cNvSpPr/>
          <p:nvPr/>
        </p:nvSpPr>
        <p:spPr>
          <a:xfrm>
            <a:off x="4754880" y="3931920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5" name="Text 31"/>
          <p:cNvSpPr/>
          <p:nvPr/>
        </p:nvSpPr>
        <p:spPr>
          <a:xfrm>
            <a:off x="4892040" y="39502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a pre-demo mapping before every demo linking their pains to features I’ll show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846320" y="4527219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yourself 1–5. Below 3 = your coaching focus for next 2 weeks.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0" name="Text 36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1097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don’t close deals. Outcomes close deals. Every feature must connect to a stated pain.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" y="1536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80160" y="15361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formula: Pain → Feature → Value → Bridge Question. Memorize it. Use it on every demo.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1975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80160" y="19751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Retention: Rebooking, memberships, deposits, FOV tracking. These are your money features.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24140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80160" y="241401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Efficiency: Online booking, MeevoTips, payroll automation, inventory management. Time back = value.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1520" y="2852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80160" y="28529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Scale: Provider goals, Smart Pricing, Central Office, included marketing. These are your “why switch” weapons.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3152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80160" y="3291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MedSpa: HIPAA compliance, MeevoMD, digital intake, provider-level treatment revenue. Lead with compliance.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31520" y="3730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80160" y="37307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question is the move. After every feature: “You mentioned [pain]. How would [outcome] change things for you?”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31520" y="41696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80160" y="416966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demo the whole platform. Demo THEIR solution. Pain-to-feature mapping is how you earn the close.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31520" y="4593921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37</cp:revision>
  <dcterms:created xsi:type="dcterms:W3CDTF">2026-03-10T16:06:22Z</dcterms:created>
  <dcterms:modified xsi:type="dcterms:W3CDTF">2026-03-10T16:24:27Z</dcterms:modified>
</cp:coreProperties>
</file>