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a2a6df63-b8e3-4cea-aa6c-ded8cdcb5bd7" providerId="ADAL" clId="{1DB60B36-D7D3-4578-BB50-9DD269F0B249}"/>
    <pc:docChg chg="modSld">
      <pc:chgData name="Terry Moorehead" userId="a2a6df63-b8e3-4cea-aa6c-ded8cdcb5bd7" providerId="ADAL" clId="{1DB60B36-D7D3-4578-BB50-9DD269F0B249}" dt="2026-03-10T14:40:56.453" v="150" actId="207"/>
      <pc:docMkLst>
        <pc:docMk/>
      </pc:docMkLst>
      <pc:sldChg chg="modSp mod">
        <pc:chgData name="Terry Moorehead" userId="a2a6df63-b8e3-4cea-aa6c-ded8cdcb5bd7" providerId="ADAL" clId="{1DB60B36-D7D3-4578-BB50-9DD269F0B249}" dt="2026-03-10T14:24:16.800" v="13" actId="255"/>
        <pc:sldMkLst>
          <pc:docMk/>
          <pc:sldMk cId="0" sldId="257"/>
        </pc:sldMkLst>
        <pc:spChg chg="mod">
          <ac:chgData name="Terry Moorehead" userId="a2a6df63-b8e3-4cea-aa6c-ded8cdcb5bd7" providerId="ADAL" clId="{1DB60B36-D7D3-4578-BB50-9DD269F0B249}" dt="2026-03-10T14:22:41.939" v="1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3:15.754" v="5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3:58.184" v="9" actId="20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4:08.889" v="11" actId="20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2:56.807" v="3" actId="20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3:24.167" v="7" actId="255"/>
          <ac:spMkLst>
            <pc:docMk/>
            <pc:sldMk cId="0" sldId="257"/>
            <ac:spMk id="4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4:16.800" v="13" actId="255"/>
          <ac:spMkLst>
            <pc:docMk/>
            <pc:sldMk cId="0" sldId="257"/>
            <ac:spMk id="49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28:43.107" v="46" actId="1076"/>
        <pc:sldMkLst>
          <pc:docMk/>
          <pc:sldMk cId="0" sldId="258"/>
        </pc:sldMkLst>
        <pc:spChg chg="mod">
          <ac:chgData name="Terry Moorehead" userId="a2a6df63-b8e3-4cea-aa6c-ded8cdcb5bd7" providerId="ADAL" clId="{1DB60B36-D7D3-4578-BB50-9DD269F0B249}" dt="2026-03-10T14:28:39.236" v="4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8:43.107" v="4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4:36.089" v="14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50.681" v="40" actId="25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5:05.352" v="17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45.294" v="30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43.119" v="29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38.082" v="28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35.577" v="27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29.465" v="26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27.198" v="25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56.969" v="41" actId="255"/>
          <ac:spMkLst>
            <pc:docMk/>
            <pc:sldMk cId="0" sldId="258"/>
            <ac:spMk id="42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5:27.741" v="20" actId="1076"/>
          <ac:spMkLst>
            <pc:docMk/>
            <pc:sldMk cId="0" sldId="258"/>
            <ac:spMk id="4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5:36.015" v="21" actId="1076"/>
          <ac:spMkLst>
            <pc:docMk/>
            <pc:sldMk cId="0" sldId="258"/>
            <ac:spMk id="5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13.745" v="35" actId="1076"/>
          <ac:spMkLst>
            <pc:docMk/>
            <pc:sldMk cId="0" sldId="258"/>
            <ac:spMk id="5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09.461" v="34" actId="1076"/>
          <ac:spMkLst>
            <pc:docMk/>
            <pc:sldMk cId="0" sldId="258"/>
            <ac:spMk id="5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04.475" v="33" actId="1076"/>
          <ac:spMkLst>
            <pc:docMk/>
            <pc:sldMk cId="0" sldId="258"/>
            <ac:spMk id="5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58.219" v="32" actId="1076"/>
          <ac:spMkLst>
            <pc:docMk/>
            <pc:sldMk cId="0" sldId="258"/>
            <ac:spMk id="5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6:54.710" v="31" actId="1076"/>
          <ac:spMkLst>
            <pc:docMk/>
            <pc:sldMk cId="0" sldId="258"/>
            <ac:spMk id="5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8:06.851" v="42" actId="255"/>
          <ac:spMkLst>
            <pc:docMk/>
            <pc:sldMk cId="0" sldId="258"/>
            <ac:spMk id="5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5:53.581" v="23" actId="1076"/>
          <ac:spMkLst>
            <pc:docMk/>
            <pc:sldMk cId="0" sldId="258"/>
            <ac:spMk id="6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5:59.248" v="24" actId="1076"/>
          <ac:spMkLst>
            <pc:docMk/>
            <pc:sldMk cId="0" sldId="258"/>
            <ac:spMk id="6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28.604" v="39" actId="1076"/>
          <ac:spMkLst>
            <pc:docMk/>
            <pc:sldMk cId="0" sldId="258"/>
            <ac:spMk id="7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24.980" v="38" actId="1076"/>
          <ac:spMkLst>
            <pc:docMk/>
            <pc:sldMk cId="0" sldId="258"/>
            <ac:spMk id="72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20.622" v="37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7:18.471" v="36" actId="1076"/>
          <ac:spMkLst>
            <pc:docMk/>
            <pc:sldMk cId="0" sldId="258"/>
            <ac:spMk id="7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28:15.329" v="43" actId="255"/>
          <ac:spMkLst>
            <pc:docMk/>
            <pc:sldMk cId="0" sldId="258"/>
            <ac:spMk id="76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29:28.339" v="50" actId="255"/>
        <pc:sldMkLst>
          <pc:docMk/>
          <pc:sldMk cId="0" sldId="259"/>
        </pc:sldMkLst>
        <pc:spChg chg="mod">
          <ac:chgData name="Terry Moorehead" userId="a2a6df63-b8e3-4cea-aa6c-ded8cdcb5bd7" providerId="ADAL" clId="{1DB60B36-D7D3-4578-BB50-9DD269F0B249}" dt="2026-03-10T14:29:28.339" v="50" actId="255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33:02.872" v="79" actId="1076"/>
        <pc:sldMkLst>
          <pc:docMk/>
          <pc:sldMk cId="0" sldId="260"/>
        </pc:sldMkLst>
        <pc:spChg chg="mod">
          <ac:chgData name="Terry Moorehead" userId="a2a6df63-b8e3-4cea-aa6c-ded8cdcb5bd7" providerId="ADAL" clId="{1DB60B36-D7D3-4578-BB50-9DD269F0B249}" dt="2026-03-10T14:30:00.936" v="51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0:58.692" v="5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1:51.796" v="64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2:37.973" v="73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0:31.317" v="56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2:10.085" v="68" actId="255"/>
          <ac:spMkLst>
            <pc:docMk/>
            <pc:sldMk cId="0" sldId="260"/>
            <ac:spMk id="4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2:49.651" v="76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1:20.046" v="62" actId="1076"/>
          <ac:spMkLst>
            <pc:docMk/>
            <pc:sldMk cId="0" sldId="260"/>
            <ac:spMk id="5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2:21.839" v="70" actId="255"/>
          <ac:spMkLst>
            <pc:docMk/>
            <pc:sldMk cId="0" sldId="260"/>
            <ac:spMk id="5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3:02.872" v="79" actId="1076"/>
          <ac:spMkLst>
            <pc:docMk/>
            <pc:sldMk cId="0" sldId="260"/>
            <ac:spMk id="64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35:37.852" v="105" actId="255"/>
        <pc:sldMkLst>
          <pc:docMk/>
          <pc:sldMk cId="0" sldId="261"/>
        </pc:sldMkLst>
        <pc:spChg chg="mod">
          <ac:chgData name="Terry Moorehead" userId="a2a6df63-b8e3-4cea-aa6c-ded8cdcb5bd7" providerId="ADAL" clId="{1DB60B36-D7D3-4578-BB50-9DD269F0B249}" dt="2026-03-10T14:33:23.143" v="82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4:14.891" v="91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4:59.943" v="99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3:31.807" v="84" actId="255"/>
          <ac:spMkLst>
            <pc:docMk/>
            <pc:sldMk cId="0" sldId="261"/>
            <ac:spMk id="3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4:27.184" v="93" actId="255"/>
          <ac:spMkLst>
            <pc:docMk/>
            <pc:sldMk cId="0" sldId="261"/>
            <ac:spMk id="4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5:13.853" v="102" actId="1076"/>
          <ac:spMkLst>
            <pc:docMk/>
            <pc:sldMk cId="0" sldId="261"/>
            <ac:spMk id="4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3:51.961" v="88" actId="255"/>
          <ac:spMkLst>
            <pc:docMk/>
            <pc:sldMk cId="0" sldId="261"/>
            <ac:spMk id="5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4:44.410" v="96" actId="1076"/>
          <ac:spMkLst>
            <pc:docMk/>
            <pc:sldMk cId="0" sldId="261"/>
            <ac:spMk id="5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5:20.943" v="104" actId="255"/>
          <ac:spMkLst>
            <pc:docMk/>
            <pc:sldMk cId="0" sldId="261"/>
            <ac:spMk id="6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5:37.852" v="105" actId="255"/>
          <ac:spMkLst>
            <pc:docMk/>
            <pc:sldMk cId="0" sldId="261"/>
            <ac:spMk id="66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37:55.449" v="130" actId="255"/>
        <pc:sldMkLst>
          <pc:docMk/>
          <pc:sldMk cId="0" sldId="262"/>
        </pc:sldMkLst>
        <pc:spChg chg="mod">
          <ac:chgData name="Terry Moorehead" userId="a2a6df63-b8e3-4cea-aa6c-ded8cdcb5bd7" providerId="ADAL" clId="{1DB60B36-D7D3-4578-BB50-9DD269F0B249}" dt="2026-03-10T14:36:13.521" v="108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6:52.973" v="117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24.406" v="124" actId="25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6:25.803" v="111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02.229" v="119" actId="255"/>
          <ac:spMkLst>
            <pc:docMk/>
            <pc:sldMk cId="0" sldId="262"/>
            <ac:spMk id="4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39.367" v="127" actId="1076"/>
          <ac:spMkLst>
            <pc:docMk/>
            <pc:sldMk cId="0" sldId="262"/>
            <ac:spMk id="46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6:38.708" v="114" actId="1076"/>
          <ac:spMkLst>
            <pc:docMk/>
            <pc:sldMk cId="0" sldId="262"/>
            <ac:spMk id="5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16.696" v="122" actId="1076"/>
          <ac:spMkLst>
            <pc:docMk/>
            <pc:sldMk cId="0" sldId="262"/>
            <ac:spMk id="5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46.125" v="129" actId="255"/>
          <ac:spMkLst>
            <pc:docMk/>
            <pc:sldMk cId="0" sldId="262"/>
            <ac:spMk id="6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7:55.449" v="130" actId="255"/>
          <ac:spMkLst>
            <pc:docMk/>
            <pc:sldMk cId="0" sldId="262"/>
            <ac:spMk id="66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40:12.036" v="146" actId="255"/>
        <pc:sldMkLst>
          <pc:docMk/>
          <pc:sldMk cId="0" sldId="263"/>
        </pc:sldMkLst>
        <pc:spChg chg="mod">
          <ac:chgData name="Terry Moorehead" userId="a2a6df63-b8e3-4cea-aa6c-ded8cdcb5bd7" providerId="ADAL" clId="{1DB60B36-D7D3-4578-BB50-9DD269F0B249}" dt="2026-03-10T14:38:22.256" v="132" actId="25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8:55.855" v="136" actId="25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34.292" v="141" actId="25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8:12.178" v="131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01.098" v="137" actId="255"/>
          <ac:spMkLst>
            <pc:docMk/>
            <pc:sldMk cId="0" sldId="263"/>
            <ac:spMk id="32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40.203" v="142" actId="255"/>
          <ac:spMkLst>
            <pc:docMk/>
            <pc:sldMk cId="0" sldId="263"/>
            <ac:spMk id="34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8:29.614" v="133" actId="255"/>
          <ac:spMkLst>
            <pc:docMk/>
            <pc:sldMk cId="0" sldId="263"/>
            <ac:spMk id="3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07.379" v="138" actId="255"/>
          <ac:spMkLst>
            <pc:docMk/>
            <pc:sldMk cId="0" sldId="263"/>
            <ac:spMk id="41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51.016" v="144" actId="255"/>
          <ac:spMkLst>
            <pc:docMk/>
            <pc:sldMk cId="0" sldId="263"/>
            <ac:spMk id="43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8:36.709" v="134" actId="255"/>
          <ac:spMkLst>
            <pc:docMk/>
            <pc:sldMk cId="0" sldId="263"/>
            <ac:spMk id="48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18.836" v="139" actId="255"/>
          <ac:spMkLst>
            <pc:docMk/>
            <pc:sldMk cId="0" sldId="263"/>
            <ac:spMk id="5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40:05.729" v="145" actId="255"/>
          <ac:spMkLst>
            <pc:docMk/>
            <pc:sldMk cId="0" sldId="263"/>
            <ac:spMk id="52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8:48.409" v="135" actId="255"/>
          <ac:spMkLst>
            <pc:docMk/>
            <pc:sldMk cId="0" sldId="263"/>
            <ac:spMk id="57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39:28.061" v="140" actId="255"/>
          <ac:spMkLst>
            <pc:docMk/>
            <pc:sldMk cId="0" sldId="263"/>
            <ac:spMk id="59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40:12.036" v="146" actId="255"/>
          <ac:spMkLst>
            <pc:docMk/>
            <pc:sldMk cId="0" sldId="263"/>
            <ac:spMk id="61" creationId="{00000000-0000-0000-0000-000000000000}"/>
          </ac:spMkLst>
        </pc:spChg>
      </pc:sldChg>
      <pc:sldChg chg="modSp mod">
        <pc:chgData name="Terry Moorehead" userId="a2a6df63-b8e3-4cea-aa6c-ded8cdcb5bd7" providerId="ADAL" clId="{1DB60B36-D7D3-4578-BB50-9DD269F0B249}" dt="2026-03-10T14:40:56.453" v="150" actId="207"/>
        <pc:sldMkLst>
          <pc:docMk/>
          <pc:sldMk cId="0" sldId="264"/>
        </pc:sldMkLst>
        <pc:spChg chg="mod">
          <ac:chgData name="Terry Moorehead" userId="a2a6df63-b8e3-4cea-aa6c-ded8cdcb5bd7" providerId="ADAL" clId="{1DB60B36-D7D3-4578-BB50-9DD269F0B249}" dt="2026-03-10T14:40:37.684" v="147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40:50.921" v="149" actId="20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erry Moorehead" userId="a2a6df63-b8e3-4cea-aa6c-ded8cdcb5bd7" providerId="ADAL" clId="{1DB60B36-D7D3-4578-BB50-9DD269F0B249}" dt="2026-03-10T14:40:56.453" v="150" actId="207"/>
          <ac:spMkLst>
            <pc:docMk/>
            <pc:sldMk cId="0" sldId="264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49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011680"/>
            <a:ext cx="6583680" cy="6583680"/>
          </a:xfrm>
          <a:prstGeom prst="ellipse">
            <a:avLst/>
          </a:prstGeom>
          <a:solidFill>
            <a:srgbClr val="0D7A8E"/>
          </a:solidFill>
          <a:ln w="12700">
            <a:solidFill>
              <a:srgbClr val="0D7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926080" y="2926080"/>
            <a:ext cx="6035040" cy="6035040"/>
          </a:xfrm>
          <a:prstGeom prst="ellipse">
            <a:avLst/>
          </a:prstGeom>
          <a:solidFill>
            <a:srgbClr val="0EA896">
              <a:alpha val="14000"/>
            </a:srgbClr>
          </a:solidFill>
          <a:ln w="12700">
            <a:solidFill>
              <a:srgbClr val="0EA896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71820"/>
          </a:solidFill>
          <a:ln w="12700">
            <a:solidFill>
              <a:srgbClr val="071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91440" cy="27432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4572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Training: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804672"/>
            <a:ext cx="6949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ICP &amp; Persona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Training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76656" y="2542032"/>
            <a:ext cx="6583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you're calling. Know why they'll buy. Know how to talk to each of them.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2779776" cy="987552"/>
          </a:xfrm>
          <a:prstGeom prst="rect">
            <a:avLst/>
          </a:prstGeom>
          <a:solidFill>
            <a:srgbClr val="1A7A8C"/>
          </a:solidFill>
          <a:ln w="12700">
            <a:solidFill>
              <a:srgbClr val="1A7A8C"/>
            </a:solidFill>
            <a:prstDash val="solid"/>
          </a:ln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ICP 101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Meevo is built for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3054096"/>
            <a:ext cx="2779776" cy="987552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Account Ranking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C, D fit framework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3054096"/>
            <a:ext cx="2779776" cy="987552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Buyer Personas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2512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Front Desk · Provider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" y="41513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SDRs &amp; AEs  ·  Meevo Sales Enablement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101 — What Is the Ideal Client Profile?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every Meevo rep needs to know it cold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768096"/>
          </a:xfrm>
          <a:prstGeom prst="rect">
            <a:avLst/>
          </a:prstGeom>
          <a:solidFill>
            <a:srgbClr val="0A5C6E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768096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84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Ideal Client Profile (ICP) defines the perfect customer for what Meevo solves for — the specific type of business where we win consistently, deliver real ROI, and build long-term relationships.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206240" cy="3072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47088"/>
            <a:ext cx="4206240" cy="4206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865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420624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2478024"/>
            <a:ext cx="292608" cy="29260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23774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on every 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your ICP deeply, you go into every conversation knowing you have the right solution for that person's specific pain — not guessing</a:t>
            </a:r>
            <a:r>
              <a:rPr lang="en-US" sz="115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099816"/>
            <a:ext cx="292608" cy="29260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2999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sales cycles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Reps who target the right accounts spend less time on bad-fit prospects and more time on deals that close. ICP knowledge is efficiency.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20624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721608"/>
            <a:ext cx="292608" cy="29260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36210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win rates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right product to the right problem at the right business isn't luck — it's preparation. ICP is the foundation of every great discovery call.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4343400"/>
            <a:ext cx="292608" cy="292608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4242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retention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Clients who are truly in the ICP stay longer, expand more, and refer more. Bad-fit clients churn — and that reflects on the rep who sold them.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847088"/>
            <a:ext cx="4206240" cy="307238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847088"/>
            <a:ext cx="4206240" cy="420624"/>
          </a:xfrm>
          <a:prstGeom prst="rect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865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Meevo's ICP — Three Dimensions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2340864"/>
            <a:ext cx="4206240" cy="786384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340864"/>
            <a:ext cx="54864" cy="78638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395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BUSINESS SIZE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91456" y="25968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locations  ·  1–59 staff members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791456" y="28346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to have real operational complexity, small enough that Meevo is the right scale of solution. Multi-location enterprise accounts need a different product</a:t>
            </a: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182112"/>
            <a:ext cx="4206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182112"/>
            <a:ext cx="54864" cy="786384"/>
          </a:xfrm>
          <a:prstGeom prst="rect">
            <a:avLst/>
          </a:prstGeom>
          <a:solidFill>
            <a:srgbClr val="0D8A7A"/>
          </a:solidFill>
          <a:ln w="12700">
            <a:solidFill>
              <a:srgbClr val="0D8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3236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91456" y="34381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 ·  Day Spas  ·  Med-Spas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791456" y="3675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wellness and beauty businesses. Not solo booth renters, not EMR-heavy medical practices requiring e-prescribe. Know the line.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023360"/>
            <a:ext cx="4206240" cy="786384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023360"/>
            <a:ext cx="54864" cy="78638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91456" y="4078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WE SPEAK TO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1456" y="4279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Front Desk Manager · GM · Service Provider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791456" y="45171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has a different lens, different pain, and different level of influence. You'll need to speak each person's language — not one generic pitch.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97433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Every call starts with a hypothesis about ICP fit. Your discovery either confirms or disqualifies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101 — Ranking Accounts: A, B, C, 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prospect is equal. Know the fit before you invest the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8595360" cy="493776"/>
          </a:xfrm>
          <a:prstGeom prst="rect">
            <a:avLst/>
          </a:prstGeom>
          <a:solidFill>
            <a:srgbClr val="071820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493776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3139" y="1012171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wins when we're in the right fight. Qualifying accounts early saves time, improves close rates, and protects against churn.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993392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1993392" cy="5669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45920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1664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1993392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57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3408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salon or spa — 10+ employees, full-service, onsite owner and manager present.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017520"/>
            <a:ext cx="164592" cy="16459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9626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and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328416"/>
            <a:ext cx="164592" cy="16459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2735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and productivity reporting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639312"/>
            <a:ext cx="164592" cy="16459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retention and loyalty programs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828032"/>
            <a:ext cx="1993392" cy="5669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82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close probability. Prioritize. These accounts expand and refer</a:t>
            </a: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5728" y="1572768"/>
            <a:ext cx="1993392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95728" y="1572768"/>
            <a:ext cx="1993392" cy="56692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05456" y="1645920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05456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035808" y="1664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Good Fit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95728" y="2139696"/>
            <a:ext cx="1993392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7168" y="2157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87168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day spa opening second location. Concerned about bringing over thousands of members.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87168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05456" y="3189146"/>
            <a:ext cx="164592" cy="16459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Clunky membership management in current system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05456" y="3593592"/>
            <a:ext cx="164592" cy="16459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35478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anxiety — clients and history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05456" y="3931920"/>
            <a:ext cx="164592" cy="164592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3913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coordination as they scale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395728" y="4828032"/>
            <a:ext cx="1993392" cy="56692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7168" y="4882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with the right guidance. Address migration concern head-on early.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17136" y="1572768"/>
            <a:ext cx="1993392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17136" y="1572768"/>
            <a:ext cx="1993392" cy="566928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1645920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157216" y="1664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With Workarounds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17136" y="2139696"/>
            <a:ext cx="1993392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08576" y="2090459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99432" y="2243797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salon — 2–3 employees. Owner works behind the chair. Team uses phones and personal calendars</a:t>
            </a:r>
            <a:r>
              <a:rPr lang="en-US" sz="11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08576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26864" y="3017520"/>
            <a:ext cx="164592" cy="164592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017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tech-savvy — implementation feels overwhelming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45152" y="3586558"/>
            <a:ext cx="164592" cy="164592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55464" y="3483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admin; everyone does everything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23347" y="3964979"/>
            <a:ext cx="164592" cy="164592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913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time-to-value and learning curve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17136" y="4828032"/>
            <a:ext cx="1993392" cy="566928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08576" y="4882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win this — but needs managed expectations and a strong onboarding story. Watch for churn risk.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638544" y="1572768"/>
            <a:ext cx="1993392" cy="38587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638544" y="1572768"/>
            <a:ext cx="1993392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48272" y="1645920"/>
            <a:ext cx="438912" cy="43891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7278624" y="16642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Right Fit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638544" y="2139696"/>
            <a:ext cx="1993392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2106637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748272" y="2280373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booth renters, single-service providers, or med-spas requiring full EMR and e-prescribe capabilities.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729984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48272" y="3017520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86016" y="296265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capabilities Meevo doesn't offer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748272" y="3450805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86016" y="3410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EMR, e-prescribe, or clinical documentation requirements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757416" y="3959352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86016" y="3919259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a single provider with no real scheduling complexity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638544" y="4828032"/>
            <a:ext cx="1993392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29984" y="4882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Disqualify cleanly. A bad-fit sale is worse than no sale — it churns, takes support resources, and wastes onboarding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5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6217920" cy="6217920"/>
          </a:xfrm>
          <a:prstGeom prst="ellipse">
            <a:avLst/>
          </a:prstGeom>
          <a:solidFill>
            <a:srgbClr val="0D7A8E"/>
          </a:solidFill>
          <a:ln w="12700">
            <a:solidFill>
              <a:srgbClr val="0D7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108960"/>
            <a:ext cx="5486400" cy="5486400"/>
          </a:xfrm>
          <a:prstGeom prst="ellipse">
            <a:avLst/>
          </a:prstGeom>
          <a:solidFill>
            <a:srgbClr val="0EA896">
              <a:alpha val="12000"/>
            </a:srgbClr>
          </a:solidFill>
          <a:ln w="12700">
            <a:solidFill>
              <a:srgbClr val="0EA89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71820"/>
          </a:solidFill>
          <a:ln w="12700">
            <a:solidFill>
              <a:srgbClr val="071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People. Three Lenses. One Sale.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the room has different stakes. If you pitch the same story to all three, you'll connect with none of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4048" y="1755648"/>
            <a:ext cx="2779776" cy="2743200"/>
          </a:xfrm>
          <a:prstGeom prst="rect">
            <a:avLst/>
          </a:prstGeom>
          <a:solidFill>
            <a:srgbClr val="0A4F5E"/>
          </a:solidFill>
          <a:ln/>
          <a:effectLst>
            <a:outerShdw blurRad="508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55648"/>
            <a:ext cx="2779776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Owner / Manager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" y="2523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growth, profitability, control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" y="2834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Final decision maker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 when: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36576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Outgrown current solution. Wants more control, better reporting, and the ability to scale without adding headcount.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10128" y="1755648"/>
            <a:ext cx="2779776" cy="2743200"/>
          </a:xfrm>
          <a:prstGeom prst="rect">
            <a:avLst/>
          </a:prstGeom>
          <a:solidFill>
            <a:srgbClr val="086B5C"/>
          </a:solidFill>
          <a:ln/>
          <a:effectLst>
            <a:outerShdw blurRad="508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755648"/>
            <a:ext cx="2779776" cy="512064"/>
          </a:xfrm>
          <a:prstGeom prst="rect">
            <a:avLst/>
          </a:prstGeom>
          <a:solidFill>
            <a:srgbClr val="0D8A7A"/>
          </a:solidFill>
          <a:ln w="12700">
            <a:solidFill>
              <a:srgbClr val="0D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 Desk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19856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9856" y="2523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efficiency, ease of 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9856" y="2834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purchasing power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day-to-day feedback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19856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 when: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9856" y="36576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Hates manual tasks. Overwhelmed by too many steps. Actively looks for tools that make their daily workflow faster and simpler.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6208" y="1755648"/>
            <a:ext cx="2779776" cy="2743200"/>
          </a:xfrm>
          <a:prstGeom prst="rect">
            <a:avLst/>
          </a:prstGeom>
          <a:solidFill>
            <a:srgbClr val="7A4A08"/>
          </a:solidFill>
          <a:ln/>
          <a:effectLst>
            <a:outerShdw blurRad="508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1755648"/>
            <a:ext cx="2779776" cy="51206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Service Provider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45936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523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booking, mobile access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45936" y="2834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purchasing power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influence on tech adoption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45936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 when: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365760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remote access, fast systems, and tools to fill their book and increase their income. Will quietly tank adoption if the tool doesn't work for them.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8912" y="47685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Tailor your language to whoever is in the room. The owner wants ROI. The front desk wants relief. The provider wants freedom.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 Deep Dive — Front Desk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engine of every salon and spa — and your most vocal internal advocate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566928"/>
          </a:xfrm>
          <a:prstGeom prst="rect">
            <a:avLst/>
          </a:prstGeom>
          <a:solidFill>
            <a:srgbClr val="0D8A7A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042416"/>
            <a:ext cx="420624" cy="42062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1042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Manager / Coordinator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33502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 MEDIUM — purchasing power  ·  HIGH — day-to-day feedback  ·  They make the tool work or not work.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45920"/>
            <a:ext cx="2724912" cy="402336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Responsibilities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128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appointments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514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full calendar — new bookings, reschedules, confirmations.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272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clients in and 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3467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and last client touchpoint every single visit.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0416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product &amp; add-on services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4343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Upselling at checkout — product recommendations, retail, next appointments.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63824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1645920"/>
            <a:ext cx="2724912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Pain Points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63824" y="21031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22128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94176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cancellations &amp; waitlists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94176" y="2501939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Manual sticky notes, texts, calls — chaotic and unreliable. Things fall through cracks constantly.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63824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31272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94176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Glitches &amp; support issues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94176" y="33467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the system goes down or errors appear, the front desk takes the heat — from clients and from the owner.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63824" y="39319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40416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94176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to increase average ticket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94176" y="43251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prompts. No reminders. Trying to upsell mentally while managing a busy lobby is impossible.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53328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53328" y="1645920"/>
            <a:ext cx="2724912" cy="402336"/>
          </a:xfrm>
          <a:prstGeom prst="rect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Meevo Solves This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53328" y="21031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2128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83680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Waitlist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83680" y="2385881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texts clients when a slot opens. Prioritize VIPs. Books the appointment automatically when they respond. Zero manual work.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53328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3056" y="31272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63056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83680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Reliability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83680" y="33467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Meevo runs on Amazon Web Services — one of the world's top cloud platforms. When they've been burned by unreliable software, this matters.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53328" y="39319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63056" y="40416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3056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583680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Reminders &amp; Add-On Prompts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83680" y="42793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 surface when a client is running low on a product. Checkout becomes a natural upsell moment, not a scramble.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0D8A7A"/>
          </a:solidFill>
          <a:ln w="12700">
            <a:solidFill>
              <a:srgbClr val="0D8A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" y="49377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hook: "If your front desk could fill every cancellation automatically and get a checkout prompt every time — what would that do for your average ticket?"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 Deep Dive — Owner / Manager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maker, the revenue owner, and the person who signs the contract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566928"/>
          </a:xfrm>
          <a:prstGeom prst="rect">
            <a:avLst/>
          </a:prstGeom>
          <a:solidFill>
            <a:srgbClr val="0A5C6E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042416"/>
            <a:ext cx="420624" cy="42062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1042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General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33502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 HIGH — Final decision maker. No one buys without their approval. Pitch to business growth, not operational convenience.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45920"/>
            <a:ext cx="2724912" cy="402336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Responsibilities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128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reports &amp; managing revenue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4963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Owners live in data. They want to know where revenue is coming from, what's growing, and what's at risk.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272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commission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3924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Complex comp structures — hourly, commission, tips — managed manually in many salons today</a:t>
            </a:r>
            <a:r>
              <a:rPr lang="en-US" sz="115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0416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&amp; client retention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4317375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Promos, email campaigns, OPM, loyalty programs — the owner is responsible for keeping the chairs full.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63824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1645920"/>
            <a:ext cx="2724912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Pain Points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63824" y="21031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22128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94176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&amp; ordering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94176" y="2432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Over-ordering, under-ordering, missing product. Manual inventory is a major time drain and profit </a:t>
            </a:r>
            <a:r>
              <a:rPr lang="en-US" sz="115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163824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31272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94176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&amp; cancellations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94176" y="33467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Empty chairs = lost revenue. Without deposits or cancellation fees built in, owners absorb the full cost.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63824" y="39319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40416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94176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promos, OPM, client retention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94176" y="4324409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measure it, you can't improve it. Owners want visibility into what's working and what's not.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53328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53328" y="1645920"/>
            <a:ext cx="2724912" cy="402336"/>
          </a:xfrm>
          <a:prstGeom prst="rect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Meevo Solves This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53328" y="21031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2128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83680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Reports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83680" y="2432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Meevo offers over 200 reports — client retention, retail performance, average ticket, referrals, revenue by provider. Owners get full visibility instantly.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53328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3056" y="31272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63056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83680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&amp; Cancellation Policies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83680" y="3410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Service add-ons and deposits secure the transaction before the appointment. Reduces no-shows and protects revenue.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53328" y="39319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63056" y="40416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3056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583680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 / Emma Marketing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83680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email campaigns, A/B testing, review management, Google and Facebook integration. Owners can market without a marketing team.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" y="49377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hook: "If you could cut no-shows by 40% and see in real-time which providers are driving the most revenue — what would that change about how you run the business?"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 Deep Dive — Service Provider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purchasing power, high adoption influence — win them and the sale sticks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566928"/>
          </a:xfrm>
          <a:prstGeom prst="rect">
            <a:avLst/>
          </a:prstGeom>
          <a:solidFill>
            <a:srgbClr val="E8920A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042416"/>
            <a:ext cx="420624" cy="42062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42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1042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Stylist / Aesthetician / Injector / Massage Therapist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33502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Influence: LOW purchasing power  ·  HIGH adoption influence. If they hate the tool, it quietly fails — even after the sale closes.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45920"/>
            <a:ext cx="2724912" cy="402336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Responsibilities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2128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services &amp; building a book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5328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Their income is entirely tied to how full their calendar is. Every empty slot costs them money.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272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a 5-star client experience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446585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product. Their relationship with clients is what drives retention and referrals.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2724912" cy="859536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041648"/>
            <a:ext cx="329184" cy="329184"/>
          </a:xfrm>
          <a:prstGeom prst="ellipse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more money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Tips, commission, retail — service providers are entrepreneurial even as employees. They think like business owners about their own book.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63824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1645920"/>
            <a:ext cx="2724912" cy="40233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Pain Points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163824" y="21031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3552" y="22128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94176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 desk to manage bookings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94176" y="25054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Many work at boutique salons or chair-rental situations. They're the stylist AND the scheduler. That's exhausting.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63824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31272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94176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or unreliable systems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94176" y="33467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the POS is slow at checkout or crashes mid-visit, the provider bears the embarrassment in front of their client.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63824" y="3931920"/>
            <a:ext cx="2724912" cy="859536"/>
          </a:xfrm>
          <a:prstGeom prst="rect">
            <a:avLst/>
          </a:prstGeom>
          <a:solidFill>
            <a:srgbClr val="FEF2F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4041648"/>
            <a:ext cx="329184" cy="32918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94176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time to sell and grow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94176" y="4306121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behind the chair for 6 hours straight, there's zero mental bandwidth to think about filling the next open slot.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53328" y="1645920"/>
            <a:ext cx="2724912" cy="32186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53328" y="1645920"/>
            <a:ext cx="2724912" cy="402336"/>
          </a:xfrm>
          <a:prstGeom prst="rect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16642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Meevo Solves This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53328" y="21031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2128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83680" y="2176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&amp; Rebooking Prompts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83680" y="24963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self-book 24/7. Automatic rebooking prompts at checkout. Text and email confirmations — no admin required.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53328" y="3017520"/>
            <a:ext cx="272491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63056" y="31272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63056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83680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Access — Anywhere, Any Device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83680" y="34198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means providers can check their schedule, reports, and appointments from their phone at home, in their car, anywhere.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53328" y="3931920"/>
            <a:ext cx="2724912" cy="859536"/>
          </a:xfrm>
          <a:prstGeom prst="rect">
            <a:avLst/>
          </a:prstGeom>
          <a:solidFill>
            <a:srgbClr val="D8F5F0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63056" y="4041648"/>
            <a:ext cx="329184" cy="329184"/>
          </a:xfrm>
          <a:prstGeom prst="ellipse">
            <a:avLst/>
          </a:prstGeom>
          <a:solidFill>
            <a:srgbClr val="0EA896"/>
          </a:solidFill>
          <a:ln w="12700">
            <a:solidFill>
              <a:srgbClr val="0EA8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3056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583680" y="40050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Productivity Reports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583680" y="4261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can see bookable hours, filled vs. open slots, cancellation patterns, and personal revenue goals. They become their own business managers.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" y="49377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hook: "If you could check your full schedule from your phone Sunday night and know exactly which slots to fill by Monday — how would that change your week?"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7782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87782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 — Persona Pitch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38912" y="49377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product. Three different conversations. Know which one you're 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475488"/>
          </a:xfrm>
          <a:prstGeom prst="rect">
            <a:avLst/>
          </a:prstGeom>
          <a:solidFill>
            <a:srgbClr val="071820"/>
          </a:solidFill>
          <a:ln/>
          <a:effectLst>
            <a:outerShdw blurRad="508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9264"/>
            <a:ext cx="109728" cy="475488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call: identify who will be in the room. Adjust your SPIN questions, your value framing, and your close to match that person's language.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2029968" cy="329184"/>
          </a:xfrm>
          <a:prstGeom prst="rect">
            <a:avLst/>
          </a:prstGeom>
          <a:solidFill>
            <a:srgbClr val="D0DDE2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1517904"/>
            <a:ext cx="2139696" cy="32918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Owner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517904"/>
            <a:ext cx="2139696" cy="329184"/>
          </a:xfrm>
          <a:prstGeom prst="rect">
            <a:avLst/>
          </a:prstGeom>
          <a:solidFill>
            <a:srgbClr val="0D8A7A"/>
          </a:solidFill>
          <a:ln w="12700">
            <a:solidFill>
              <a:srgbClr val="0D8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 Desk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1517904"/>
            <a:ext cx="2139696" cy="329184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5361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Service Provider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2029968" cy="512064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901952"/>
            <a:ext cx="54864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195681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care most about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95728" y="1901952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1938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profitability, staff performance, business scalability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26864" y="1901952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938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use, fewer manual steps, reliability, not being overwhelmed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1901952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9385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their book, mobile access, making more money, ease of 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468880"/>
            <a:ext cx="20299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468880"/>
            <a:ext cx="54864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5237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395728" y="2468880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2505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noticed your second location opened recently — how are you managing operations across both sites?"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2468880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505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your morning look like before the first client walks in? Walk me through it."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468880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5054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could check your full schedule and fill open slots from your phone — would that change things for you?"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035808"/>
            <a:ext cx="2029968" cy="512064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035808"/>
            <a:ext cx="54864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090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#1 fear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395728" y="3035808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87168" y="3072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a system that doesn't deliver ROI or disrupts their team.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3035808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072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creates more work than it solves or goes down at the worst moment.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072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clunky system they can't use quickly that makes their already-busy day harder.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602736"/>
            <a:ext cx="20299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602736"/>
            <a:ext cx="54864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SPIN hook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95728" y="3602736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87168" y="36393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'If you're losing 5 no-shows a week at $120 avg — what does that add up to over a year?'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26864" y="3602736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6393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'How much time is your front desk spending manually managing the waitlist each day?'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3602736"/>
            <a:ext cx="213969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6393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Need-Payoff: 'If rebooking happened automatically at checkout — what would that free up for you?'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169664"/>
            <a:ext cx="2029968" cy="512064"/>
          </a:xfrm>
          <a:prstGeom prst="rect">
            <a:avLst/>
          </a:prstGeom>
          <a:solidFill>
            <a:srgbClr val="E8F4F6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169664"/>
            <a:ext cx="54864" cy="512064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" y="4224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feature to lead with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95728" y="4169664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87168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Reports + OPM / Emma + Deposits &amp; Cancellation Fees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26864" y="4169664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Waitlist + AWS Reliability + Retail Prompts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58000" y="4169664"/>
            <a:ext cx="2139696" cy="512064"/>
          </a:xfrm>
          <a:prstGeom prst="rect">
            <a:avLst/>
          </a:prstGeom>
          <a:solidFill>
            <a:srgbClr val="F6FAFB"/>
          </a:solidFill>
          <a:ln w="12700">
            <a:solidFill>
              <a:srgbClr val="D0DD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+ Mobile Access + Productivity Goals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A5C6E"/>
          </a:solidFill>
          <a:ln w="12700">
            <a:solidFill>
              <a:srgbClr val="0A5C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knows all three personas and can switch languages mid-call is the rep who closes multi-stakeholder deals.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5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828800"/>
            <a:ext cx="6217920" cy="6217920"/>
          </a:xfrm>
          <a:prstGeom prst="ellipse">
            <a:avLst/>
          </a:prstGeom>
          <a:solidFill>
            <a:srgbClr val="0D7A8E"/>
          </a:solidFill>
          <a:ln w="12700">
            <a:solidFill>
              <a:srgbClr val="0D7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108960"/>
            <a:ext cx="5486400" cy="5486400"/>
          </a:xfrm>
          <a:prstGeom prst="ellipse">
            <a:avLst/>
          </a:prstGeom>
          <a:solidFill>
            <a:srgbClr val="0EA896">
              <a:alpha val="12000"/>
            </a:srgbClr>
          </a:solidFill>
          <a:ln w="12700">
            <a:solidFill>
              <a:srgbClr val="0EA89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71820"/>
          </a:solidFill>
          <a:ln w="12700">
            <a:solidFill>
              <a:srgbClr val="071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+  Homework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4974336" cy="3529584"/>
          </a:xfrm>
          <a:prstGeom prst="rect">
            <a:avLst/>
          </a:prstGeom>
          <a:solidFill>
            <a:srgbClr val="071E28"/>
          </a:solidFill>
          <a:ln/>
          <a:effectLst>
            <a:outerShdw blurRad="508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32688"/>
            <a:ext cx="4974336" cy="457200"/>
          </a:xfrm>
          <a:prstGeom prst="rect">
            <a:avLst/>
          </a:prstGeom>
          <a:solidFill>
            <a:srgbClr val="1A7A8C"/>
          </a:solidFill>
          <a:ln w="12700">
            <a:solidFill>
              <a:srgbClr val="1A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5097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ICP Fit Evaluation — Homework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1444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 groups, review these three real business profiles: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" y="1737360"/>
            <a:ext cx="4754880" cy="347472"/>
          </a:xfrm>
          <a:prstGeom prst="rect">
            <a:avLst/>
          </a:prstGeom>
          <a:solidFill>
            <a:srgbClr val="0D3A4A"/>
          </a:solidFill>
          <a:ln w="12700">
            <a:solidFill>
              <a:srgbClr val="1A5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819656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1792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Hairanoia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82112" y="1810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hairanoia.net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" y="2139696"/>
            <a:ext cx="4754880" cy="347472"/>
          </a:xfrm>
          <a:prstGeom prst="rect">
            <a:avLst/>
          </a:prstGeom>
          <a:solidFill>
            <a:srgbClr val="071E28"/>
          </a:solidFill>
          <a:ln w="12700">
            <a:solidFill>
              <a:srgbClr val="1A5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221992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 Stage Salon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82112" y="2212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manestagesalon.com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2064" y="2542032"/>
            <a:ext cx="4754880" cy="347472"/>
          </a:xfrm>
          <a:prstGeom prst="rect">
            <a:avLst/>
          </a:prstGeom>
          <a:solidFill>
            <a:srgbClr val="0D3A4A"/>
          </a:solidFill>
          <a:ln w="12700">
            <a:solidFill>
              <a:srgbClr val="1A5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624328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624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596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Philly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82112" y="2615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revivephilly.com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0352" y="29809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business, evaluate and be ready to discuss: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30352" y="3364992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31012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account: Perfect fit / Good fit / Poor fit — and explain why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30352" y="3730752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67588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1 feature or pain point you would highlight in your outreach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30352" y="4096512"/>
            <a:ext cx="201168" cy="201168"/>
          </a:xfrm>
          <a:prstGeom prst="ellipse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096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4041648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1 likely objection and how you'd respond to it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522976" y="932688"/>
            <a:ext cx="3255264" cy="3529584"/>
          </a:xfrm>
          <a:prstGeom prst="rect">
            <a:avLst/>
          </a:prstGeom>
          <a:solidFill>
            <a:srgbClr val="E8920A"/>
          </a:solidFill>
          <a:ln/>
          <a:effectLst>
            <a:outerShdw blurRad="508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22976" y="932688"/>
            <a:ext cx="3255264" cy="457200"/>
          </a:xfrm>
          <a:prstGeom prst="rect">
            <a:avLst/>
          </a:prstGeom>
          <a:solidFill>
            <a:srgbClr val="071820"/>
          </a:solidFill>
          <a:ln w="12700">
            <a:solidFill>
              <a:srgbClr val="0718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9509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522976" y="1463040"/>
            <a:ext cx="3255264" cy="676656"/>
          </a:xfrm>
          <a:prstGeom prst="rect">
            <a:avLst/>
          </a:prstGeom>
          <a:solidFill>
            <a:srgbClr val="C8700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ICP = confidence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650992" y="1792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profile, go into every call knowing you have the right answer.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522976" y="2194560"/>
            <a:ext cx="3255264" cy="676656"/>
          </a:xfrm>
          <a:prstGeom prst="rect">
            <a:avLst/>
          </a:prstGeom>
          <a:solidFill>
            <a:srgbClr val="7A4A08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2249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Rank before you pitch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650992" y="25237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C, D — know your fit before you invest your time.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522976" y="2926080"/>
            <a:ext cx="3255264" cy="676656"/>
          </a:xfrm>
          <a:prstGeom prst="rect">
            <a:avLst/>
          </a:prstGeom>
          <a:solidFill>
            <a:srgbClr val="C8700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Three personas, three languages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650992" y="3255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= ROI. Front Desk = relief. Provider = freedom.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522976" y="3657600"/>
            <a:ext cx="3255264" cy="676656"/>
          </a:xfrm>
          <a:prstGeom prst="rect">
            <a:avLst/>
          </a:prstGeom>
          <a:solidFill>
            <a:srgbClr val="7A4A08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Research before every call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650992" y="3986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their site, Google, Instagram. Know their world before they pick up.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4773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 Sales Enablement  ·  ICP &amp; Persona Training  ·  Proprietary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2410</Words>
  <Application>Microsoft Office PowerPoint</Application>
  <PresentationFormat>On-screen Show (16:9)</PresentationFormat>
  <Paragraphs>280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ICP and Persona Training — Meevo Sales</dc:title>
  <dc:subject>PptxGenJS Presentation</dc:subject>
  <dc:creator>PptxGenJS</dc:creator>
  <cp:lastModifiedBy>Terry Moorehead</cp:lastModifiedBy>
  <cp:revision>1</cp:revision>
  <dcterms:created xsi:type="dcterms:W3CDTF">2026-02-24T18:41:47Z</dcterms:created>
  <dcterms:modified xsi:type="dcterms:W3CDTF">2026-03-10T14:40:56Z</dcterms:modified>
</cp:coreProperties>
</file>