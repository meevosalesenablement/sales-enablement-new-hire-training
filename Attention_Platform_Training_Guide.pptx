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B14168-3A20-AA02-BCDE-77B058C63B34}" v="40" dt="2026-03-13T14:33:04.9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rry Moorehead" userId="S::tmoorehead@meevo.com::a2a6df63-b8e3-4cea-aa6c-ded8cdcb5bd7" providerId="AD" clId="Web-{F7B14168-3A20-AA02-BCDE-77B058C63B34}"/>
    <pc:docChg chg="modSld">
      <pc:chgData name="Terry Moorehead" userId="S::tmoorehead@meevo.com::a2a6df63-b8e3-4cea-aa6c-ded8cdcb5bd7" providerId="AD" clId="Web-{F7B14168-3A20-AA02-BCDE-77B058C63B34}" dt="2026-03-13T14:33:04.990" v="39" actId="20577"/>
      <pc:docMkLst>
        <pc:docMk/>
      </pc:docMkLst>
      <pc:sldChg chg="modSp">
        <pc:chgData name="Terry Moorehead" userId="S::tmoorehead@meevo.com::a2a6df63-b8e3-4cea-aa6c-ded8cdcb5bd7" providerId="AD" clId="Web-{F7B14168-3A20-AA02-BCDE-77B058C63B34}" dt="2026-03-13T14:28:58.817" v="1" actId="20577"/>
        <pc:sldMkLst>
          <pc:docMk/>
          <pc:sldMk cId="0" sldId="256"/>
        </pc:sldMkLst>
        <pc:spChg chg="mod">
          <ac:chgData name="Terry Moorehead" userId="S::tmoorehead@meevo.com::a2a6df63-b8e3-4cea-aa6c-ded8cdcb5bd7" providerId="AD" clId="Web-{F7B14168-3A20-AA02-BCDE-77B058C63B34}" dt="2026-03-13T14:28:55.208" v="0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Terry Moorehead" userId="S::tmoorehead@meevo.com::a2a6df63-b8e3-4cea-aa6c-ded8cdcb5bd7" providerId="AD" clId="Web-{F7B14168-3A20-AA02-BCDE-77B058C63B34}" dt="2026-03-13T14:28:58.817" v="1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F7B14168-3A20-AA02-BCDE-77B058C63B34}" dt="2026-03-13T14:29:26.396" v="8" actId="20577"/>
        <pc:sldMkLst>
          <pc:docMk/>
          <pc:sldMk cId="0" sldId="257"/>
        </pc:sldMkLst>
        <pc:spChg chg="mod">
          <ac:chgData name="Terry Moorehead" userId="S::tmoorehead@meevo.com::a2a6df63-b8e3-4cea-aa6c-ded8cdcb5bd7" providerId="AD" clId="Web-{F7B14168-3A20-AA02-BCDE-77B058C63B34}" dt="2026-03-13T14:29:09.036" v="3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Terry Moorehead" userId="S::tmoorehead@meevo.com::a2a6df63-b8e3-4cea-aa6c-ded8cdcb5bd7" providerId="AD" clId="Web-{F7B14168-3A20-AA02-BCDE-77B058C63B34}" dt="2026-03-13T14:29:13.895" v="5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Terry Moorehead" userId="S::tmoorehead@meevo.com::a2a6df63-b8e3-4cea-aa6c-ded8cdcb5bd7" providerId="AD" clId="Web-{F7B14168-3A20-AA02-BCDE-77B058C63B34}" dt="2026-03-13T14:29:18.083" v="6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Terry Moorehead" userId="S::tmoorehead@meevo.com::a2a6df63-b8e3-4cea-aa6c-ded8cdcb5bd7" providerId="AD" clId="Web-{F7B14168-3A20-AA02-BCDE-77B058C63B34}" dt="2026-03-13T14:29:21.739" v="7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Terry Moorehead" userId="S::tmoorehead@meevo.com::a2a6df63-b8e3-4cea-aa6c-ded8cdcb5bd7" providerId="AD" clId="Web-{F7B14168-3A20-AA02-BCDE-77B058C63B34}" dt="2026-03-13T14:29:26.396" v="8" actId="20577"/>
          <ac:spMkLst>
            <pc:docMk/>
            <pc:sldMk cId="0" sldId="257"/>
            <ac:spMk id="28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F7B14168-3A20-AA02-BCDE-77B058C63B34}" dt="2026-03-13T14:29:44.724" v="13" actId="20577"/>
        <pc:sldMkLst>
          <pc:docMk/>
          <pc:sldMk cId="0" sldId="258"/>
        </pc:sldMkLst>
        <pc:spChg chg="mod">
          <ac:chgData name="Terry Moorehead" userId="S::tmoorehead@meevo.com::a2a6df63-b8e3-4cea-aa6c-ded8cdcb5bd7" providerId="AD" clId="Web-{F7B14168-3A20-AA02-BCDE-77B058C63B34}" dt="2026-03-13T14:29:33.661" v="9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Terry Moorehead" userId="S::tmoorehead@meevo.com::a2a6df63-b8e3-4cea-aa6c-ded8cdcb5bd7" providerId="AD" clId="Web-{F7B14168-3A20-AA02-BCDE-77B058C63B34}" dt="2026-03-13T14:29:39.224" v="11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Terry Moorehead" userId="S::tmoorehead@meevo.com::a2a6df63-b8e3-4cea-aa6c-ded8cdcb5bd7" providerId="AD" clId="Web-{F7B14168-3A20-AA02-BCDE-77B058C63B34}" dt="2026-03-13T14:29:44.724" v="13" actId="20577"/>
          <ac:spMkLst>
            <pc:docMk/>
            <pc:sldMk cId="0" sldId="258"/>
            <ac:spMk id="20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F7B14168-3A20-AA02-BCDE-77B058C63B34}" dt="2026-03-13T14:31:45.224" v="20" actId="20577"/>
        <pc:sldMkLst>
          <pc:docMk/>
          <pc:sldMk cId="0" sldId="260"/>
        </pc:sldMkLst>
        <pc:spChg chg="mod">
          <ac:chgData name="Terry Moorehead" userId="S::tmoorehead@meevo.com::a2a6df63-b8e3-4cea-aa6c-ded8cdcb5bd7" providerId="AD" clId="Web-{F7B14168-3A20-AA02-BCDE-77B058C63B34}" dt="2026-03-13T14:31:45.224" v="20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Terry Moorehead" userId="S::tmoorehead@meevo.com::a2a6df63-b8e3-4cea-aa6c-ded8cdcb5bd7" providerId="AD" clId="Web-{F7B14168-3A20-AA02-BCDE-77B058C63B34}" dt="2026-03-13T14:31:11.411" v="14" actId="20577"/>
          <ac:spMkLst>
            <pc:docMk/>
            <pc:sldMk cId="0" sldId="260"/>
            <ac:spMk id="9" creationId="{00000000-0000-0000-0000-000000000000}"/>
          </ac:spMkLst>
        </pc:spChg>
        <pc:spChg chg="mod">
          <ac:chgData name="Terry Moorehead" userId="S::tmoorehead@meevo.com::a2a6df63-b8e3-4cea-aa6c-ded8cdcb5bd7" providerId="AD" clId="Web-{F7B14168-3A20-AA02-BCDE-77B058C63B34}" dt="2026-03-13T14:31:15.177" v="15" actId="20577"/>
          <ac:spMkLst>
            <pc:docMk/>
            <pc:sldMk cId="0" sldId="260"/>
            <ac:spMk id="15" creationId="{00000000-0000-0000-0000-000000000000}"/>
          </ac:spMkLst>
        </pc:spChg>
        <pc:spChg chg="mod">
          <ac:chgData name="Terry Moorehead" userId="S::tmoorehead@meevo.com::a2a6df63-b8e3-4cea-aa6c-ded8cdcb5bd7" providerId="AD" clId="Web-{F7B14168-3A20-AA02-BCDE-77B058C63B34}" dt="2026-03-13T14:31:19.755" v="16" actId="20577"/>
          <ac:spMkLst>
            <pc:docMk/>
            <pc:sldMk cId="0" sldId="260"/>
            <ac:spMk id="21" creationId="{00000000-0000-0000-0000-000000000000}"/>
          </ac:spMkLst>
        </pc:spChg>
        <pc:spChg chg="mod">
          <ac:chgData name="Terry Moorehead" userId="S::tmoorehead@meevo.com::a2a6df63-b8e3-4cea-aa6c-ded8cdcb5bd7" providerId="AD" clId="Web-{F7B14168-3A20-AA02-BCDE-77B058C63B34}" dt="2026-03-13T14:31:24.427" v="18" actId="20577"/>
          <ac:spMkLst>
            <pc:docMk/>
            <pc:sldMk cId="0" sldId="260"/>
            <ac:spMk id="27" creationId="{00000000-0000-0000-0000-000000000000}"/>
          </ac:spMkLst>
        </pc:spChg>
        <pc:spChg chg="mod">
          <ac:chgData name="Terry Moorehead" userId="S::tmoorehead@meevo.com::a2a6df63-b8e3-4cea-aa6c-ded8cdcb5bd7" providerId="AD" clId="Web-{F7B14168-3A20-AA02-BCDE-77B058C63B34}" dt="2026-03-13T14:31:28.083" v="19" actId="20577"/>
          <ac:spMkLst>
            <pc:docMk/>
            <pc:sldMk cId="0" sldId="260"/>
            <ac:spMk id="33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F7B14168-3A20-AA02-BCDE-77B058C63B34}" dt="2026-03-13T14:32:24.849" v="29" actId="20577"/>
        <pc:sldMkLst>
          <pc:docMk/>
          <pc:sldMk cId="0" sldId="262"/>
        </pc:sldMkLst>
        <pc:spChg chg="mod">
          <ac:chgData name="Terry Moorehead" userId="S::tmoorehead@meevo.com::a2a6df63-b8e3-4cea-aa6c-ded8cdcb5bd7" providerId="AD" clId="Web-{F7B14168-3A20-AA02-BCDE-77B058C63B34}" dt="2026-03-13T14:32:05.099" v="22" actId="20577"/>
          <ac:spMkLst>
            <pc:docMk/>
            <pc:sldMk cId="0" sldId="262"/>
            <ac:spMk id="8" creationId="{00000000-0000-0000-0000-000000000000}"/>
          </ac:spMkLst>
        </pc:spChg>
        <pc:spChg chg="mod">
          <ac:chgData name="Terry Moorehead" userId="S::tmoorehead@meevo.com::a2a6df63-b8e3-4cea-aa6c-ded8cdcb5bd7" providerId="AD" clId="Web-{F7B14168-3A20-AA02-BCDE-77B058C63B34}" dt="2026-03-13T14:32:07.849" v="23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Terry Moorehead" userId="S::tmoorehead@meevo.com::a2a6df63-b8e3-4cea-aa6c-ded8cdcb5bd7" providerId="AD" clId="Web-{F7B14168-3A20-AA02-BCDE-77B058C63B34}" dt="2026-03-13T14:32:11.490" v="24" actId="20577"/>
          <ac:spMkLst>
            <pc:docMk/>
            <pc:sldMk cId="0" sldId="262"/>
            <ac:spMk id="14" creationId="{00000000-0000-0000-0000-000000000000}"/>
          </ac:spMkLst>
        </pc:spChg>
        <pc:spChg chg="mod">
          <ac:chgData name="Terry Moorehead" userId="S::tmoorehead@meevo.com::a2a6df63-b8e3-4cea-aa6c-ded8cdcb5bd7" providerId="AD" clId="Web-{F7B14168-3A20-AA02-BCDE-77B058C63B34}" dt="2026-03-13T14:32:15.943" v="25" actId="20577"/>
          <ac:spMkLst>
            <pc:docMk/>
            <pc:sldMk cId="0" sldId="262"/>
            <ac:spMk id="20" creationId="{00000000-0000-0000-0000-000000000000}"/>
          </ac:spMkLst>
        </pc:spChg>
        <pc:spChg chg="mod">
          <ac:chgData name="Terry Moorehead" userId="S::tmoorehead@meevo.com::a2a6df63-b8e3-4cea-aa6c-ded8cdcb5bd7" providerId="AD" clId="Web-{F7B14168-3A20-AA02-BCDE-77B058C63B34}" dt="2026-03-13T14:32:20.646" v="27" actId="20577"/>
          <ac:spMkLst>
            <pc:docMk/>
            <pc:sldMk cId="0" sldId="262"/>
            <ac:spMk id="23" creationId="{00000000-0000-0000-0000-000000000000}"/>
          </ac:spMkLst>
        </pc:spChg>
        <pc:spChg chg="mod">
          <ac:chgData name="Terry Moorehead" userId="S::tmoorehead@meevo.com::a2a6df63-b8e3-4cea-aa6c-ded8cdcb5bd7" providerId="AD" clId="Web-{F7B14168-3A20-AA02-BCDE-77B058C63B34}" dt="2026-03-13T14:32:24.849" v="29" actId="20577"/>
          <ac:spMkLst>
            <pc:docMk/>
            <pc:sldMk cId="0" sldId="262"/>
            <ac:spMk id="26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F7B14168-3A20-AA02-BCDE-77B058C63B34}" dt="2026-03-13T14:33:04.990" v="39" actId="20577"/>
        <pc:sldMkLst>
          <pc:docMk/>
          <pc:sldMk cId="0" sldId="263"/>
        </pc:sldMkLst>
        <pc:spChg chg="mod">
          <ac:chgData name="Terry Moorehead" userId="S::tmoorehead@meevo.com::a2a6df63-b8e3-4cea-aa6c-ded8cdcb5bd7" providerId="AD" clId="Web-{F7B14168-3A20-AA02-BCDE-77B058C63B34}" dt="2026-03-13T14:32:36.912" v="30" actId="20577"/>
          <ac:spMkLst>
            <pc:docMk/>
            <pc:sldMk cId="0" sldId="263"/>
            <ac:spMk id="8" creationId="{00000000-0000-0000-0000-000000000000}"/>
          </ac:spMkLst>
        </pc:spChg>
        <pc:spChg chg="mod">
          <ac:chgData name="Terry Moorehead" userId="S::tmoorehead@meevo.com::a2a6df63-b8e3-4cea-aa6c-ded8cdcb5bd7" providerId="AD" clId="Web-{F7B14168-3A20-AA02-BCDE-77B058C63B34}" dt="2026-03-13T14:32:39.615" v="31" actId="2057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Terry Moorehead" userId="S::tmoorehead@meevo.com::a2a6df63-b8e3-4cea-aa6c-ded8cdcb5bd7" providerId="AD" clId="Web-{F7B14168-3A20-AA02-BCDE-77B058C63B34}" dt="2026-03-13T14:32:43.802" v="32" actId="20577"/>
          <ac:spMkLst>
            <pc:docMk/>
            <pc:sldMk cId="0" sldId="263"/>
            <ac:spMk id="14" creationId="{00000000-0000-0000-0000-000000000000}"/>
          </ac:spMkLst>
        </pc:spChg>
        <pc:spChg chg="mod">
          <ac:chgData name="Terry Moorehead" userId="S::tmoorehead@meevo.com::a2a6df63-b8e3-4cea-aa6c-ded8cdcb5bd7" providerId="AD" clId="Web-{F7B14168-3A20-AA02-BCDE-77B058C63B34}" dt="2026-03-13T14:32:47.646" v="33" actId="20577"/>
          <ac:spMkLst>
            <pc:docMk/>
            <pc:sldMk cId="0" sldId="263"/>
            <ac:spMk id="17" creationId="{00000000-0000-0000-0000-000000000000}"/>
          </ac:spMkLst>
        </pc:spChg>
        <pc:spChg chg="mod">
          <ac:chgData name="Terry Moorehead" userId="S::tmoorehead@meevo.com::a2a6df63-b8e3-4cea-aa6c-ded8cdcb5bd7" providerId="AD" clId="Web-{F7B14168-3A20-AA02-BCDE-77B058C63B34}" dt="2026-03-13T14:32:54.974" v="34" actId="20577"/>
          <ac:spMkLst>
            <pc:docMk/>
            <pc:sldMk cId="0" sldId="263"/>
            <ac:spMk id="23" creationId="{00000000-0000-0000-0000-000000000000}"/>
          </ac:spMkLst>
        </pc:spChg>
        <pc:spChg chg="mod">
          <ac:chgData name="Terry Moorehead" userId="S::tmoorehead@meevo.com::a2a6df63-b8e3-4cea-aa6c-ded8cdcb5bd7" providerId="AD" clId="Web-{F7B14168-3A20-AA02-BCDE-77B058C63B34}" dt="2026-03-13T14:32:59.459" v="36" actId="20577"/>
          <ac:spMkLst>
            <pc:docMk/>
            <pc:sldMk cId="0" sldId="263"/>
            <ac:spMk id="26" creationId="{00000000-0000-0000-0000-000000000000}"/>
          </ac:spMkLst>
        </pc:spChg>
        <pc:spChg chg="mod">
          <ac:chgData name="Terry Moorehead" userId="S::tmoorehead@meevo.com::a2a6df63-b8e3-4cea-aa6c-ded8cdcb5bd7" providerId="AD" clId="Web-{F7B14168-3A20-AA02-BCDE-77B058C63B34}" dt="2026-03-13T14:33:04.990" v="39" actId="20577"/>
          <ac:spMkLst>
            <pc:docMk/>
            <pc:sldMk cId="0" sldId="263"/>
            <ac:spMk id="2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6256BD-7A12-4CD2-9932-D807A566EFAC}" type="datetimeFigureOut">
              <a:t>3/13/2026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1BF0E3-28B8-4B7A-837D-7D81F47AC5D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475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A3A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457200"/>
            <a:ext cx="3200400" cy="4114800"/>
          </a:xfrm>
          <a:prstGeom prst="rect">
            <a:avLst/>
          </a:prstGeom>
          <a:solidFill>
            <a:srgbClr val="2D1B6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0" y="457200"/>
            <a:ext cx="3200400" cy="73152"/>
          </a:xfrm>
          <a:prstGeom prst="rect">
            <a:avLst/>
          </a:prstGeom>
          <a:solidFill>
            <a:srgbClr val="38E8C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28016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0" y="2651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300" dirty="0">
                <a:solidFill>
                  <a:srgbClr val="38E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 •  ANALYZE  •  COACH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9144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Attention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40080" y="1737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bg1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Platform Training Guide</a:t>
            </a:r>
            <a:endParaRPr lang="en-US" sz="2600" dirty="0">
              <a:solidFill>
                <a:schemeClr val="bg1"/>
              </a:solidFill>
              <a:latin typeface="Trebuchet MS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" y="2468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Your AI-powered sales assistant for call recording,</a:t>
            </a:r>
            <a:endParaRPr lang="en-US" sz="14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coaching, and revenue intelligence</a:t>
            </a:r>
          </a:p>
        </p:txBody>
      </p:sp>
      <p:sp>
        <p:nvSpPr>
          <p:cNvPr id="10" name="Text 7"/>
          <p:cNvSpPr/>
          <p:nvPr/>
        </p:nvSpPr>
        <p:spPr>
          <a:xfrm>
            <a:off x="64008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9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Sales Enablement  |  New Hire Training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Attention?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9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Meevo's conversational and revenue intelligence platform that automatically records, transcribes, and analyzes your sales calls.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54864" cy="548640"/>
          </a:xfrm>
          <a:prstGeom prst="rect">
            <a:avLst/>
          </a:prstGeom>
          <a:solidFill>
            <a:srgbClr val="4A3A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7276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48132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Records &amp; Transcribes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749040" y="148132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/>
                <a:ea typeface="Calibri"/>
                <a:cs typeface="Calibri"/>
              </a:rPr>
              <a:t>Auto-joins Zoom, Google Meet, Teams &amp; Webex with real-time transcription</a:t>
            </a:r>
          </a:p>
        </p:txBody>
      </p:sp>
      <p:sp>
        <p:nvSpPr>
          <p:cNvPr id="9" name="Shape 6"/>
          <p:cNvSpPr/>
          <p:nvPr/>
        </p:nvSpPr>
        <p:spPr>
          <a:xfrm>
            <a:off x="640080" y="2121408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121408"/>
            <a:ext cx="54864" cy="548640"/>
          </a:xfrm>
          <a:prstGeom prst="rect">
            <a:avLst/>
          </a:prstGeom>
          <a:solidFill>
            <a:srgbClr val="4A3A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231136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13969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Syncs to Salesforce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749040" y="213969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/>
                <a:ea typeface="Calibri"/>
                <a:cs typeface="Calibri"/>
              </a:rPr>
              <a:t>Extracts 31 key fields from every call and writes them directly to your CRM</a:t>
            </a:r>
          </a:p>
        </p:txBody>
      </p:sp>
      <p:sp>
        <p:nvSpPr>
          <p:cNvPr id="14" name="Shape 10"/>
          <p:cNvSpPr/>
          <p:nvPr/>
        </p:nvSpPr>
        <p:spPr>
          <a:xfrm>
            <a:off x="640080" y="2779776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779776"/>
            <a:ext cx="54864" cy="548640"/>
          </a:xfrm>
          <a:prstGeom prst="rect">
            <a:avLst/>
          </a:prstGeom>
          <a:solidFill>
            <a:srgbClr val="4A3A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889504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279806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Scores Your Calls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749040" y="279806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/>
                <a:ea typeface="Calibri"/>
                <a:cs typeface="Calibri"/>
              </a:rPr>
              <a:t>Evaluates performance against coaching scorecards for every call type</a:t>
            </a:r>
          </a:p>
        </p:txBody>
      </p:sp>
      <p:sp>
        <p:nvSpPr>
          <p:cNvPr id="19" name="Shape 14"/>
          <p:cNvSpPr/>
          <p:nvPr/>
        </p:nvSpPr>
        <p:spPr>
          <a:xfrm>
            <a:off x="640080" y="3438144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438144"/>
            <a:ext cx="54864" cy="548640"/>
          </a:xfrm>
          <a:prstGeom prst="rect">
            <a:avLst/>
          </a:prstGeom>
          <a:solidFill>
            <a:srgbClr val="4A3A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54787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45643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Surfaces Insights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3749040" y="345643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/>
                <a:ea typeface="Calibri"/>
                <a:cs typeface="Calibri"/>
              </a:rPr>
              <a:t>Identifies pain points, objections, competitors, and next steps automatically</a:t>
            </a:r>
          </a:p>
        </p:txBody>
      </p:sp>
      <p:sp>
        <p:nvSpPr>
          <p:cNvPr id="24" name="Shape 18"/>
          <p:cNvSpPr/>
          <p:nvPr/>
        </p:nvSpPr>
        <p:spPr>
          <a:xfrm>
            <a:off x="640080" y="4096512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0080" y="4096512"/>
            <a:ext cx="54864" cy="548640"/>
          </a:xfrm>
          <a:prstGeom prst="rect">
            <a:avLst/>
          </a:prstGeom>
          <a:solidFill>
            <a:srgbClr val="4A3AF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0624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11480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Enables Coaching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3749040" y="411480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/>
                <a:ea typeface="Calibri"/>
                <a:cs typeface="Calibri"/>
              </a:rPr>
              <a:t>Helps managers coach reps and identify trends across the sales org</a:t>
            </a:r>
          </a:p>
        </p:txBody>
      </p:sp>
      <p:sp>
        <p:nvSpPr>
          <p:cNvPr id="29" name="Shape 22"/>
          <p:cNvSpPr/>
          <p:nvPr/>
        </p:nvSpPr>
        <p:spPr>
          <a:xfrm>
            <a:off x="640080" y="4663440"/>
            <a:ext cx="7863840" cy="36576"/>
          </a:xfrm>
          <a:prstGeom prst="rect">
            <a:avLst/>
          </a:prstGeom>
          <a:solidFill>
            <a:srgbClr val="4A3AF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Features You'll Use Daily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291840"/>
          </a:xfrm>
          <a:prstGeom prst="rect">
            <a:avLst/>
          </a:prstGeom>
          <a:solidFill>
            <a:srgbClr val="25254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64008"/>
          </a:xfrm>
          <a:prstGeom prst="rect">
            <a:avLst/>
          </a:prstGeom>
          <a:solidFill>
            <a:srgbClr val="4A3AFF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1371600"/>
            <a:ext cx="640080" cy="640080"/>
          </a:xfrm>
          <a:prstGeom prst="ellipse">
            <a:avLst/>
          </a:prstGeom>
          <a:solidFill>
            <a:srgbClr val="4A3A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" y="148132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94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 Recording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Transcription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2926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Bot joins all scheduled meetings. Real-time transcription with speaker ID. Search keywords, jump to moments.</a:t>
            </a:r>
          </a:p>
        </p:txBody>
      </p:sp>
      <p:sp>
        <p:nvSpPr>
          <p:cNvPr id="9" name="Shape 6"/>
          <p:cNvSpPr/>
          <p:nvPr/>
        </p:nvSpPr>
        <p:spPr>
          <a:xfrm>
            <a:off x="3337560" y="1097280"/>
            <a:ext cx="2651760" cy="3291840"/>
          </a:xfrm>
          <a:prstGeom prst="rect">
            <a:avLst/>
          </a:prstGeom>
          <a:solidFill>
            <a:srgbClr val="25254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1097280"/>
            <a:ext cx="2651760" cy="64008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1" name="Shape 8"/>
          <p:cNvSpPr/>
          <p:nvPr/>
        </p:nvSpPr>
        <p:spPr>
          <a:xfrm>
            <a:off x="4297680" y="1371600"/>
            <a:ext cx="640080" cy="640080"/>
          </a:xfrm>
          <a:prstGeom prst="ellipse">
            <a:avLst/>
          </a:prstGeom>
          <a:solidFill>
            <a:srgbClr val="7B61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148132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2194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CRM Auto-Sync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(Salesforce)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66160" y="2926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31 fields extracted and synced after every call. No manual logging required — Attention does it for you.</a:t>
            </a:r>
          </a:p>
        </p:txBody>
      </p:sp>
      <p:sp>
        <p:nvSpPr>
          <p:cNvPr id="15" name="Shape 11"/>
          <p:cNvSpPr/>
          <p:nvPr/>
        </p:nvSpPr>
        <p:spPr>
          <a:xfrm>
            <a:off x="6217920" y="1097280"/>
            <a:ext cx="2651760" cy="3291840"/>
          </a:xfrm>
          <a:prstGeom prst="rect">
            <a:avLst/>
          </a:prstGeom>
          <a:solidFill>
            <a:srgbClr val="25254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097280"/>
            <a:ext cx="2651760" cy="64008"/>
          </a:xfrm>
          <a:prstGeom prst="rect">
            <a:avLst/>
          </a:prstGeom>
          <a:solidFill>
            <a:srgbClr val="FF7849"/>
          </a:solidFill>
          <a:ln/>
        </p:spPr>
      </p:sp>
      <p:sp>
        <p:nvSpPr>
          <p:cNvPr id="17" name="Shape 13"/>
          <p:cNvSpPr/>
          <p:nvPr/>
        </p:nvSpPr>
        <p:spPr>
          <a:xfrm>
            <a:off x="7178040" y="1371600"/>
            <a:ext cx="640080" cy="640080"/>
          </a:xfrm>
          <a:prstGeom prst="ellipse">
            <a:avLst/>
          </a:prstGeom>
          <a:solidFill>
            <a:srgbClr val="FF7849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768" y="1481328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0" y="2194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 Scoring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Coaching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46520" y="2926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Scorecards evaluate every call type. Managers review scores in 1-on-1s to identify coaching opportunities.</a:t>
            </a:r>
          </a:p>
        </p:txBody>
      </p:sp>
      <p:sp>
        <p:nvSpPr>
          <p:cNvPr id="21" name="Shape 16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22" name="Text 17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8E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your calls:  app.attention.tech/conversations/all-calls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CRM Auto-Sync: 31 Fields to Salesforce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9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call, Attention extracts and syncs these fields automatically — no manual logging needed.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2651760" cy="411480"/>
          </a:xfrm>
          <a:prstGeom prst="rect">
            <a:avLst/>
          </a:prstGeom>
          <a:solidFill>
            <a:srgbClr val="4A3A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 &amp; Qualification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Software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&amp; Goals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Timeline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&amp; Econ. Buyer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Criteria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32588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325880"/>
            <a:ext cx="2651760" cy="41148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3258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&amp; Objections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18745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Notes (+/- reactions)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Objections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 Objections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Concerns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Stop vs. Soft Concerns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325880"/>
            <a:ext cx="2651760" cy="411480"/>
          </a:xfrm>
          <a:prstGeom prst="rect">
            <a:avLst/>
          </a:prstGeom>
          <a:solidFill>
            <a:srgbClr val="FF7849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3258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 &amp; Strategy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18745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Meevo / Why Now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Referred By Info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Setup Notes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/ SE / General Notes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E8E4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manually log call notes — Attention does it for you!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 Scorecards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Attention evaluates your performance on every call type. Your manager reviews scores with you in 1-on-1s.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1417320"/>
          </a:xfrm>
          <a:prstGeom prst="rect">
            <a:avLst/>
          </a:prstGeom>
          <a:solidFill>
            <a:srgbClr val="25254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4A3A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Cold Call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822960" cy="228600"/>
          </a:xfrm>
          <a:prstGeom prst="rect">
            <a:avLst/>
          </a:prstGeom>
          <a:solidFill>
            <a:srgbClr val="4A3A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criteria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Opener, Discovery Hook, Objection Handling, Storytelling, Tone &amp; Energy</a:t>
            </a:r>
          </a:p>
        </p:txBody>
      </p:sp>
      <p:sp>
        <p:nvSpPr>
          <p:cNvPr id="10" name="Shape 8"/>
          <p:cNvSpPr/>
          <p:nvPr/>
        </p:nvSpPr>
        <p:spPr>
          <a:xfrm>
            <a:off x="3337560" y="1325880"/>
            <a:ext cx="2651760" cy="1417320"/>
          </a:xfrm>
          <a:prstGeom prst="rect">
            <a:avLst/>
          </a:prstGeom>
          <a:solidFill>
            <a:srgbClr val="25254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325880"/>
            <a:ext cx="2651760" cy="54864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Gatekeeper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20440" y="1783080"/>
            <a:ext cx="822960" cy="22860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783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criteria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Connecting to Contact, Info Gleaning, Professional Rapport</a:t>
            </a:r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2651760" cy="1417320"/>
          </a:xfrm>
          <a:prstGeom prst="rect">
            <a:avLst/>
          </a:prstGeom>
          <a:solidFill>
            <a:srgbClr val="25254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325880"/>
            <a:ext cx="2651760" cy="54864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Owner/Manager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0" y="1783080"/>
            <a:ext cx="822960" cy="22860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783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criteria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Personalization Hook, Tone, Objection Navigation, Active Listening, Next Step</a:t>
            </a:r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3977640" cy="1417320"/>
          </a:xfrm>
          <a:prstGeom prst="rect">
            <a:avLst/>
          </a:prstGeom>
          <a:solidFill>
            <a:srgbClr val="25254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926080"/>
            <a:ext cx="3977640" cy="54864"/>
          </a:xfrm>
          <a:prstGeom prst="rect">
            <a:avLst/>
          </a:prstGeom>
          <a:solidFill>
            <a:srgbClr val="38E8C6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0632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3383280"/>
            <a:ext cx="822960" cy="228600"/>
          </a:xfrm>
          <a:prstGeom prst="rect">
            <a:avLst/>
          </a:prstGeom>
          <a:solidFill>
            <a:srgbClr val="38E8C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3832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criteria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370332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Current State, Top Priority, Implications, Identifying Goals, Next Steps</a:t>
            </a:r>
          </a:p>
        </p:txBody>
      </p:sp>
      <p:sp>
        <p:nvSpPr>
          <p:cNvPr id="28" name="Shape 26"/>
          <p:cNvSpPr/>
          <p:nvPr/>
        </p:nvSpPr>
        <p:spPr>
          <a:xfrm>
            <a:off x="4709160" y="2926080"/>
            <a:ext cx="3977640" cy="1417320"/>
          </a:xfrm>
          <a:prstGeom prst="rect">
            <a:avLst/>
          </a:prstGeom>
          <a:solidFill>
            <a:srgbClr val="25254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926080"/>
            <a:ext cx="3977640" cy="54864"/>
          </a:xfrm>
          <a:prstGeom prst="rect">
            <a:avLst/>
          </a:prstGeom>
          <a:solidFill>
            <a:srgbClr val="FF7849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30632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 Demo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892040" y="3383280"/>
            <a:ext cx="822960" cy="228600"/>
          </a:xfrm>
          <a:prstGeom prst="rect">
            <a:avLst/>
          </a:prstGeom>
          <a:solidFill>
            <a:srgbClr val="FF7849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33832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criteria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70332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Features vs. Value, Competitor Differentiation, Pricing, </a:t>
            </a:r>
            <a:r>
              <a:rPr lang="en-US" sz="11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MeevoPay</a:t>
            </a:r>
            <a:r>
              <a:rPr lang="en-US" sz="11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, Next Steps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 Labels &amp; Categories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9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auto-tags every call to help organize and analyze your conversations.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2651760" cy="365760"/>
          </a:xfrm>
          <a:prstGeom prst="rect">
            <a:avLst/>
          </a:prstGeom>
          <a:solidFill>
            <a:srgbClr val="4A3A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 Type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Call  •  Discovery Call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Call  •  Closing Call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23444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234440"/>
            <a:ext cx="2651760" cy="36576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 Result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1691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Answer - Voicemail Left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Answer - No Voicemail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23444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234440"/>
            <a:ext cx="2651760" cy="36576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Cold Call Duration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1691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2 min (&lt;200 words)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2 min (200-300+ words)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26080"/>
            <a:ext cx="2651760" cy="365760"/>
          </a:xfrm>
          <a:prstGeom prst="rect">
            <a:avLst/>
          </a:prstGeom>
          <a:solidFill>
            <a:srgbClr val="38E8C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Cold Call Recipient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Gatekeeper  •  Manager/Owner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(voicemail)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37560" y="292608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37560" y="2926080"/>
            <a:ext cx="2651760" cy="365760"/>
          </a:xfrm>
          <a:prstGeom prst="rect">
            <a:avLst/>
          </a:prstGeom>
          <a:solidFill>
            <a:srgbClr val="FF7849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Feedback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20440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 friction, requests, or gaps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- no feedback provided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292608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926080"/>
            <a:ext cx="2651760" cy="365760"/>
          </a:xfrm>
          <a:prstGeom prst="rect">
            <a:avLst/>
          </a:prstGeom>
          <a:solidFill>
            <a:srgbClr val="B07BFF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Show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show - attendee didn't join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was attended - as planned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Daily Workflow with Attention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3566160"/>
          </a:xfrm>
          <a:prstGeom prst="rect">
            <a:avLst/>
          </a:prstGeom>
          <a:solidFill>
            <a:srgbClr val="25254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3977640" cy="457200"/>
          </a:xfrm>
          <a:prstGeom prst="rect">
            <a:avLst/>
          </a:prstGeom>
          <a:solidFill>
            <a:srgbClr val="4A3A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CALLS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664208"/>
            <a:ext cx="320040" cy="320040"/>
          </a:xfrm>
          <a:prstGeom prst="ellipse">
            <a:avLst/>
          </a:prstGeom>
          <a:solidFill>
            <a:srgbClr val="4A3AF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64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600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Review previous conversations with the prospect</a:t>
            </a:r>
          </a:p>
        </p:txBody>
      </p:sp>
      <p:sp>
        <p:nvSpPr>
          <p:cNvPr id="9" name="Shape 7"/>
          <p:cNvSpPr/>
          <p:nvPr/>
        </p:nvSpPr>
        <p:spPr>
          <a:xfrm>
            <a:off x="685800" y="2441448"/>
            <a:ext cx="320040" cy="320040"/>
          </a:xfrm>
          <a:prstGeom prst="ellipse">
            <a:avLst/>
          </a:prstGeom>
          <a:solidFill>
            <a:srgbClr val="4A3AF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41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3774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Check what was discussed, objections raised, and commitments made</a:t>
            </a:r>
          </a:p>
        </p:txBody>
      </p:sp>
      <p:sp>
        <p:nvSpPr>
          <p:cNvPr id="12" name="Shape 10"/>
          <p:cNvSpPr/>
          <p:nvPr/>
        </p:nvSpPr>
        <p:spPr>
          <a:xfrm>
            <a:off x="685800" y="3218688"/>
            <a:ext cx="320040" cy="320040"/>
          </a:xfrm>
          <a:prstGeom prst="ellipse">
            <a:avLst/>
          </a:prstGeom>
          <a:solidFill>
            <a:srgbClr val="4A3A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218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1546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Prepare personalized talking points based on past interactions</a:t>
            </a:r>
          </a:p>
        </p:txBody>
      </p:sp>
      <p:sp>
        <p:nvSpPr>
          <p:cNvPr id="15" name="Shape 13"/>
          <p:cNvSpPr/>
          <p:nvPr/>
        </p:nvSpPr>
        <p:spPr>
          <a:xfrm>
            <a:off x="4709160" y="1005840"/>
            <a:ext cx="3977640" cy="3566160"/>
          </a:xfrm>
          <a:prstGeom prst="rect">
            <a:avLst/>
          </a:prstGeom>
          <a:solidFill>
            <a:srgbClr val="25254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005840"/>
            <a:ext cx="3977640" cy="457200"/>
          </a:xfrm>
          <a:prstGeom prst="rect">
            <a:avLst/>
          </a:prstGeom>
          <a:solidFill>
            <a:srgbClr val="38E8C6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DURING CALLS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1664208"/>
            <a:ext cx="320040" cy="320040"/>
          </a:xfrm>
          <a:prstGeom prst="ellipse">
            <a:avLst/>
          </a:prstGeom>
          <a:solidFill>
            <a:srgbClr val="38E8C6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664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94960" y="1600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Focus on the conversation — Attention is recording everything</a:t>
            </a:r>
          </a:p>
        </p:txBody>
      </p:sp>
      <p:sp>
        <p:nvSpPr>
          <p:cNvPr id="21" name="Shape 19"/>
          <p:cNvSpPr/>
          <p:nvPr/>
        </p:nvSpPr>
        <p:spPr>
          <a:xfrm>
            <a:off x="4937760" y="2441448"/>
            <a:ext cx="320040" cy="320040"/>
          </a:xfrm>
          <a:prstGeom prst="ellipse">
            <a:avLst/>
          </a:prstGeom>
          <a:solidFill>
            <a:srgbClr val="38E8C6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441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23774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Don't worry about taking detailed notes</a:t>
            </a:r>
          </a:p>
        </p:txBody>
      </p:sp>
      <p:sp>
        <p:nvSpPr>
          <p:cNvPr id="24" name="Shape 22"/>
          <p:cNvSpPr/>
          <p:nvPr/>
        </p:nvSpPr>
        <p:spPr>
          <a:xfrm>
            <a:off x="4937760" y="3218688"/>
            <a:ext cx="320040" cy="320040"/>
          </a:xfrm>
          <a:prstGeom prst="ellipse">
            <a:avLst/>
          </a:prstGeom>
          <a:solidFill>
            <a:srgbClr val="38E8C6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218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31546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Be natural and authentic (you're scored on methodology, not perfection)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Calls &amp; Weekly Habits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3566160"/>
          </a:xfrm>
          <a:prstGeom prst="rect">
            <a:avLst/>
          </a:prstGeom>
          <a:solidFill>
            <a:srgbClr val="25254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3977640" cy="45720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CALLS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292608" cy="292608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581912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Review auto-generated Salesforce fields — verify accura</a:t>
            </a:r>
            <a:r>
              <a:rPr lang="en-US" sz="1200" dirty="0">
                <a:solidFill>
                  <a:srgbClr val="9090A7"/>
                </a:solidFill>
                <a:latin typeface="Calibri"/>
                <a:ea typeface="Calibri"/>
                <a:cs typeface="Calibri"/>
              </a:rPr>
              <a:t>cy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85800" y="2331720"/>
            <a:ext cx="292608" cy="292608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331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2267712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Check your scorecard results to see how you performed</a:t>
            </a:r>
          </a:p>
        </p:txBody>
      </p:sp>
      <p:sp>
        <p:nvSpPr>
          <p:cNvPr id="12" name="Shape 10"/>
          <p:cNvSpPr/>
          <p:nvPr/>
        </p:nvSpPr>
        <p:spPr>
          <a:xfrm>
            <a:off x="685800" y="3017520"/>
            <a:ext cx="292608" cy="292608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2953512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Watch moments where you handled objections or closed for next steps</a:t>
            </a:r>
          </a:p>
        </p:txBody>
      </p:sp>
      <p:sp>
        <p:nvSpPr>
          <p:cNvPr id="15" name="Shape 13"/>
          <p:cNvSpPr/>
          <p:nvPr/>
        </p:nvSpPr>
        <p:spPr>
          <a:xfrm>
            <a:off x="685800" y="3703320"/>
            <a:ext cx="292608" cy="292608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15568" y="3639312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Share wins with your manager or request coaching</a:t>
            </a:r>
          </a:p>
        </p:txBody>
      </p:sp>
      <p:sp>
        <p:nvSpPr>
          <p:cNvPr id="18" name="Shape 16"/>
          <p:cNvSpPr/>
          <p:nvPr/>
        </p:nvSpPr>
        <p:spPr>
          <a:xfrm>
            <a:off x="4709160" y="1005840"/>
            <a:ext cx="3977640" cy="3566160"/>
          </a:xfrm>
          <a:prstGeom prst="rect">
            <a:avLst/>
          </a:prstGeom>
          <a:solidFill>
            <a:srgbClr val="25254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005840"/>
            <a:ext cx="3977640" cy="457200"/>
          </a:xfrm>
          <a:prstGeom prst="rect">
            <a:avLst/>
          </a:prstGeom>
          <a:solidFill>
            <a:srgbClr val="FF7849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 HABITS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37760" y="1645920"/>
            <a:ext cx="292608" cy="292608"/>
          </a:xfrm>
          <a:prstGeom prst="ellipse">
            <a:avLst/>
          </a:prstGeom>
          <a:solidFill>
            <a:srgbClr val="FF7849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67528" y="1581912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Review scorecard trends with your manager</a:t>
            </a:r>
          </a:p>
        </p:txBody>
      </p:sp>
      <p:sp>
        <p:nvSpPr>
          <p:cNvPr id="24" name="Shape 22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FF7849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67528" y="2359152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Identify 1-2 skills to focus on improving</a:t>
            </a:r>
          </a:p>
        </p:txBody>
      </p:sp>
      <p:sp>
        <p:nvSpPr>
          <p:cNvPr id="27" name="Shape 25"/>
          <p:cNvSpPr/>
          <p:nvPr/>
        </p:nvSpPr>
        <p:spPr>
          <a:xfrm>
            <a:off x="4937760" y="3200400"/>
            <a:ext cx="292608" cy="292608"/>
          </a:xfrm>
          <a:prstGeom prst="ellipse">
            <a:avLst/>
          </a:prstGeom>
          <a:solidFill>
            <a:srgbClr val="FF7849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200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67528" y="3136392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Listen to top-performing calls from peers to learn best practices</a:t>
            </a:r>
            <a:endParaRPr lang="en-US" sz="1200" u="sng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Tips for Success with Attention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3977640" cy="411480"/>
          </a:xfrm>
          <a:prstGeom prst="rect">
            <a:avLst/>
          </a:prstGeom>
          <a:solidFill>
            <a:srgbClr val="38E8C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DO'S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7276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5270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system — focus on the conversation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0312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2057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your calls regularly to self-coach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33472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25877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how you've handled similar objections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6382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311810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great call moments with your team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94176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51560" y="364845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manager to review specific calls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4709160" y="1005840"/>
            <a:ext cx="397764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4709160" y="1005840"/>
            <a:ext cx="3977640" cy="411480"/>
          </a:xfrm>
          <a:prstGeom prst="rect">
            <a:avLst/>
          </a:prstGeom>
          <a:solidFill>
            <a:srgbClr val="FF7849"/>
          </a:solidFill>
          <a:ln/>
        </p:spPr>
      </p:sp>
      <p:sp>
        <p:nvSpPr>
          <p:cNvPr id="18" name="Text 11"/>
          <p:cNvSpPr/>
          <p:nvPr/>
        </p:nvSpPr>
        <p:spPr>
          <a:xfrm>
            <a:off x="489204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DON'TS</a:t>
            </a:r>
            <a:endParaRPr lang="en-US" sz="14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572768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303520" y="152704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log everything in Salesforce — let Attention handle it</a:t>
            </a:r>
            <a:endParaRPr lang="en-US" sz="12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167128"/>
            <a:ext cx="256032" cy="25603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303520" y="212140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scorecard feedback — it's designed to help you improve</a:t>
            </a:r>
            <a:endParaRPr lang="en-US" sz="12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761488"/>
            <a:ext cx="256032" cy="25603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303520" y="271576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afraid of being recorded — everyone is learning and growing</a:t>
            </a:r>
            <a:endParaRPr lang="en-US" sz="12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355848"/>
            <a:ext cx="256032" cy="256032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303520" y="331012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reviewing calls after tough conversations — that's where growth happens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Getting Help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64008" cy="1005840"/>
          </a:xfrm>
          <a:prstGeom prst="rect">
            <a:avLst/>
          </a:prstGeom>
          <a:solidFill>
            <a:srgbClr val="4A3AF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457200" cy="457200"/>
          </a:xfrm>
          <a:prstGeom prst="ellipse">
            <a:avLst/>
          </a:prstGeom>
          <a:solidFill>
            <a:srgbClr val="4A3A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09728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Issues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14630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9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IT or Attention support if the bot doesn't join calls. Check your calendar integration settings.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194560"/>
            <a:ext cx="64008" cy="100584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2468880"/>
            <a:ext cx="457200" cy="457200"/>
          </a:xfrm>
          <a:prstGeom prst="ellipse">
            <a:avLst/>
          </a:prstGeom>
          <a:solidFill>
            <a:srgbClr val="7B61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5603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28600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Scorecard Questions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417320" y="26517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9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manager to explain specific criteria. Request example calls that scored well.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33832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383280"/>
            <a:ext cx="64008" cy="1005840"/>
          </a:xfrm>
          <a:prstGeom prst="rect">
            <a:avLst/>
          </a:prstGeom>
          <a:solidFill>
            <a:srgbClr val="FF7849"/>
          </a:solidFill>
          <a:ln/>
        </p:spPr>
      </p:sp>
      <p:sp>
        <p:nvSpPr>
          <p:cNvPr id="17" name="Shape 13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FF7849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74904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4747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CRM Sync Issues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417320" y="38404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9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Salesforce fields are mapping correctly. Report consistent errors to your sales operations team.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your AI sales assistant that: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solidFill>
            <a:srgbClr val="25254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54864" cy="594360"/>
          </a:xfrm>
          <a:prstGeom prst="rect">
            <a:avLst/>
          </a:prstGeom>
          <a:solidFill>
            <a:srgbClr val="38E8C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087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38988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manual note-taking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103120"/>
            <a:ext cx="7863840" cy="594360"/>
          </a:xfrm>
          <a:prstGeom prst="rect">
            <a:avLst/>
          </a:prstGeom>
          <a:solidFill>
            <a:srgbClr val="25254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103120"/>
            <a:ext cx="54864" cy="594360"/>
          </a:xfrm>
          <a:prstGeom prst="rect">
            <a:avLst/>
          </a:prstGeom>
          <a:solidFill>
            <a:srgbClr val="38E8C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2402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12140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objective coaching feedback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" y="2834640"/>
            <a:ext cx="7863840" cy="594360"/>
          </a:xfrm>
          <a:prstGeom prst="rect">
            <a:avLst/>
          </a:prstGeom>
          <a:solidFill>
            <a:srgbClr val="25254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0080" y="2834640"/>
            <a:ext cx="54864" cy="594360"/>
          </a:xfrm>
          <a:prstGeom prst="rect">
            <a:avLst/>
          </a:prstGeom>
          <a:solidFill>
            <a:srgbClr val="38E8C6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97180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285292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you learn from every conversation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40080" y="3566160"/>
            <a:ext cx="7863840" cy="594360"/>
          </a:xfrm>
          <a:prstGeom prst="rect">
            <a:avLst/>
          </a:prstGeom>
          <a:solidFill>
            <a:srgbClr val="25254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0080" y="3566160"/>
            <a:ext cx="54864" cy="594360"/>
          </a:xfrm>
          <a:prstGeom prst="rect">
            <a:avLst/>
          </a:prstGeom>
          <a:solidFill>
            <a:srgbClr val="38E8C6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70332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358444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managers visibility to support your growth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21" name="Text 15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E8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goal isn't perfection — it's continuous improvement.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0"/>
            <a:ext cx="6400800" cy="5143500"/>
          </a:xfrm>
          <a:prstGeom prst="rect">
            <a:avLst/>
          </a:prstGeom>
          <a:solidFill>
            <a:srgbClr val="4A3A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91440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0" y="182880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Welcome to</a:t>
            </a:r>
            <a:endParaRPr lang="en-US" sz="4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Team!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2743200" y="32004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Attention to become a better, more effective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professional every single day.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743200" y="4206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Sales Enablement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Attention Platform Training Guide</dc:title>
  <dc:subject>PptxGenJS Presentation</dc:subject>
  <dc:creator>Meevo Sales Enablement</dc:creator>
  <cp:lastModifiedBy>Meevo Sales Enablement</cp:lastModifiedBy>
  <cp:revision>23</cp:revision>
  <dcterms:created xsi:type="dcterms:W3CDTF">2026-03-13T14:11:02Z</dcterms:created>
  <dcterms:modified xsi:type="dcterms:W3CDTF">2026-03-13T14:33:11Z</dcterms:modified>
</cp:coreProperties>
</file>