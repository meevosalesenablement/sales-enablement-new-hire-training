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rry Moorehead" userId="a2a6df63-b8e3-4cea-aa6c-ded8cdcb5bd7" providerId="ADAL" clId="{1DB60B36-D7D3-4578-BB50-9DD269F0B249}"/>
    <pc:docChg chg="custSel modSld">
      <pc:chgData name="Terry Moorehead" userId="a2a6df63-b8e3-4cea-aa6c-ded8cdcb5bd7" providerId="ADAL" clId="{1DB60B36-D7D3-4578-BB50-9DD269F0B249}" dt="2026-03-11T14:11:06.447" v="99" actId="1076"/>
      <pc:docMkLst>
        <pc:docMk/>
      </pc:docMkLst>
      <pc:sldChg chg="delSp modSp mod">
        <pc:chgData name="Terry Moorehead" userId="a2a6df63-b8e3-4cea-aa6c-ded8cdcb5bd7" providerId="ADAL" clId="{1DB60B36-D7D3-4578-BB50-9DD269F0B249}" dt="2026-03-11T14:01:00.249" v="1" actId="1076"/>
        <pc:sldMkLst>
          <pc:docMk/>
          <pc:sldMk cId="0" sldId="256"/>
        </pc:sldMkLst>
        <pc:spChg chg="mod">
          <ac:chgData name="Terry Moorehead" userId="a2a6df63-b8e3-4cea-aa6c-ded8cdcb5bd7" providerId="ADAL" clId="{1DB60B36-D7D3-4578-BB50-9DD269F0B249}" dt="2026-03-11T14:01:00.249" v="1" actId="1076"/>
          <ac:spMkLst>
            <pc:docMk/>
            <pc:sldMk cId="0" sldId="256"/>
            <ac:spMk id="8" creationId="{00000000-0000-0000-0000-000000000000}"/>
          </ac:spMkLst>
        </pc:spChg>
        <pc:spChg chg="del">
          <ac:chgData name="Terry Moorehead" userId="a2a6df63-b8e3-4cea-aa6c-ded8cdcb5bd7" providerId="ADAL" clId="{1DB60B36-D7D3-4578-BB50-9DD269F0B249}" dt="2026-03-11T14:00:50.471" v="0" actId="478"/>
          <ac:spMkLst>
            <pc:docMk/>
            <pc:sldMk cId="0" sldId="256"/>
            <ac:spMk id="12" creationId="{00000000-0000-0000-0000-000000000000}"/>
          </ac:spMkLst>
        </pc:spChg>
      </pc:sldChg>
      <pc:sldChg chg="modSp mod">
        <pc:chgData name="Terry Moorehead" userId="a2a6df63-b8e3-4cea-aa6c-ded8cdcb5bd7" providerId="ADAL" clId="{1DB60B36-D7D3-4578-BB50-9DD269F0B249}" dt="2026-03-11T14:01:50.128" v="7" actId="207"/>
        <pc:sldMkLst>
          <pc:docMk/>
          <pc:sldMk cId="0" sldId="257"/>
        </pc:sldMkLst>
        <pc:spChg chg="mod">
          <ac:chgData name="Terry Moorehead" userId="a2a6df63-b8e3-4cea-aa6c-ded8cdcb5bd7" providerId="ADAL" clId="{1DB60B36-D7D3-4578-BB50-9DD269F0B249}" dt="2026-03-11T14:01:14.910" v="3" actId="255"/>
          <ac:spMkLst>
            <pc:docMk/>
            <pc:sldMk cId="0" sldId="257"/>
            <ac:spMk id="3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1T14:01:28.139" v="4" actId="20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1T14:01:37.122" v="5" actId="20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1T14:01:41.639" v="6" actId="207"/>
          <ac:spMkLst>
            <pc:docMk/>
            <pc:sldMk cId="0" sldId="257"/>
            <ac:spMk id="19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1T14:01:50.128" v="7" actId="207"/>
          <ac:spMkLst>
            <pc:docMk/>
            <pc:sldMk cId="0" sldId="257"/>
            <ac:spMk id="23" creationId="{00000000-0000-0000-0000-000000000000}"/>
          </ac:spMkLst>
        </pc:spChg>
      </pc:sldChg>
      <pc:sldChg chg="modSp mod">
        <pc:chgData name="Terry Moorehead" userId="a2a6df63-b8e3-4cea-aa6c-ded8cdcb5bd7" providerId="ADAL" clId="{1DB60B36-D7D3-4578-BB50-9DD269F0B249}" dt="2026-03-11T14:05:22.664" v="49" actId="20577"/>
        <pc:sldMkLst>
          <pc:docMk/>
          <pc:sldMk cId="0" sldId="258"/>
        </pc:sldMkLst>
        <pc:spChg chg="mod">
          <ac:chgData name="Terry Moorehead" userId="a2a6df63-b8e3-4cea-aa6c-ded8cdcb5bd7" providerId="ADAL" clId="{1DB60B36-D7D3-4578-BB50-9DD269F0B249}" dt="2026-03-11T14:02:18.667" v="8" actId="255"/>
          <ac:spMkLst>
            <pc:docMk/>
            <pc:sldMk cId="0" sldId="258"/>
            <ac:spMk id="3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1T14:05:22.664" v="49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1T14:04:58.279" v="39" actId="20577"/>
          <ac:spMkLst>
            <pc:docMk/>
            <pc:sldMk cId="0" sldId="258"/>
            <ac:spMk id="30" creationId="{00000000-0000-0000-0000-000000000000}"/>
          </ac:spMkLst>
        </pc:spChg>
      </pc:sldChg>
      <pc:sldChg chg="delSp modSp mod">
        <pc:chgData name="Terry Moorehead" userId="a2a6df63-b8e3-4cea-aa6c-ded8cdcb5bd7" providerId="ADAL" clId="{1DB60B36-D7D3-4578-BB50-9DD269F0B249}" dt="2026-03-11T14:05:36.626" v="59" actId="20577"/>
        <pc:sldMkLst>
          <pc:docMk/>
          <pc:sldMk cId="0" sldId="259"/>
        </pc:sldMkLst>
        <pc:spChg chg="mod">
          <ac:chgData name="Terry Moorehead" userId="a2a6df63-b8e3-4cea-aa6c-ded8cdcb5bd7" providerId="ADAL" clId="{1DB60B36-D7D3-4578-BB50-9DD269F0B249}" dt="2026-03-11T14:02:43.678" v="9" actId="207"/>
          <ac:spMkLst>
            <pc:docMk/>
            <pc:sldMk cId="0" sldId="259"/>
            <ac:spMk id="17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1T14:05:36.626" v="59" actId="20577"/>
          <ac:spMkLst>
            <pc:docMk/>
            <pc:sldMk cId="0" sldId="259"/>
            <ac:spMk id="24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1T14:02:54.455" v="11" actId="207"/>
          <ac:spMkLst>
            <pc:docMk/>
            <pc:sldMk cId="0" sldId="259"/>
            <ac:spMk id="31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1T14:03:01.599" v="12" actId="207"/>
          <ac:spMkLst>
            <pc:docMk/>
            <pc:sldMk cId="0" sldId="259"/>
            <ac:spMk id="38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1T14:03:09.211" v="13" actId="207"/>
          <ac:spMkLst>
            <pc:docMk/>
            <pc:sldMk cId="0" sldId="259"/>
            <ac:spMk id="43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1T14:03:13.875" v="14" actId="207"/>
          <ac:spMkLst>
            <pc:docMk/>
            <pc:sldMk cId="0" sldId="259"/>
            <ac:spMk id="50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1T14:03:19.176" v="15" actId="207"/>
          <ac:spMkLst>
            <pc:docMk/>
            <pc:sldMk cId="0" sldId="259"/>
            <ac:spMk id="57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1T14:03:24.913" v="16" actId="207"/>
          <ac:spMkLst>
            <pc:docMk/>
            <pc:sldMk cId="0" sldId="259"/>
            <ac:spMk id="64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1T14:03:30.082" v="17" actId="207"/>
          <ac:spMkLst>
            <pc:docMk/>
            <pc:sldMk cId="0" sldId="259"/>
            <ac:spMk id="71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1T14:04:01.007" v="21" actId="207"/>
          <ac:spMkLst>
            <pc:docMk/>
            <pc:sldMk cId="0" sldId="259"/>
            <ac:spMk id="78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1T14:04:23.782" v="24" actId="20577"/>
          <ac:spMkLst>
            <pc:docMk/>
            <pc:sldMk cId="0" sldId="259"/>
            <ac:spMk id="85" creationId="{00000000-0000-0000-0000-000000000000}"/>
          </ac:spMkLst>
        </pc:spChg>
        <pc:spChg chg="del mod">
          <ac:chgData name="Terry Moorehead" userId="a2a6df63-b8e3-4cea-aa6c-ded8cdcb5bd7" providerId="ADAL" clId="{1DB60B36-D7D3-4578-BB50-9DD269F0B249}" dt="2026-03-11T14:03:48.383" v="19" actId="478"/>
          <ac:spMkLst>
            <pc:docMk/>
            <pc:sldMk cId="0" sldId="259"/>
            <ac:spMk id="86" creationId="{00000000-0000-0000-0000-000000000000}"/>
          </ac:spMkLst>
        </pc:spChg>
        <pc:spChg chg="del">
          <ac:chgData name="Terry Moorehead" userId="a2a6df63-b8e3-4cea-aa6c-ded8cdcb5bd7" providerId="ADAL" clId="{1DB60B36-D7D3-4578-BB50-9DD269F0B249}" dt="2026-03-11T14:03:53.952" v="20" actId="478"/>
          <ac:spMkLst>
            <pc:docMk/>
            <pc:sldMk cId="0" sldId="259"/>
            <ac:spMk id="87" creationId="{00000000-0000-0000-0000-000000000000}"/>
          </ac:spMkLst>
        </pc:spChg>
      </pc:sldChg>
      <pc:sldChg chg="delSp modSp mod">
        <pc:chgData name="Terry Moorehead" userId="a2a6df63-b8e3-4cea-aa6c-ded8cdcb5bd7" providerId="ADAL" clId="{1DB60B36-D7D3-4578-BB50-9DD269F0B249}" dt="2026-03-11T14:11:06.447" v="99" actId="1076"/>
        <pc:sldMkLst>
          <pc:docMk/>
          <pc:sldMk cId="0" sldId="260"/>
        </pc:sldMkLst>
        <pc:spChg chg="mod">
          <ac:chgData name="Terry Moorehead" userId="a2a6df63-b8e3-4cea-aa6c-ded8cdcb5bd7" providerId="ADAL" clId="{1DB60B36-D7D3-4578-BB50-9DD269F0B249}" dt="2026-03-11T14:11:06.447" v="99" actId="1076"/>
          <ac:spMkLst>
            <pc:docMk/>
            <pc:sldMk cId="0" sldId="260"/>
            <ac:spMk id="7" creationId="{00000000-0000-0000-0000-000000000000}"/>
          </ac:spMkLst>
        </pc:spChg>
        <pc:spChg chg="del">
          <ac:chgData name="Terry Moorehead" userId="a2a6df63-b8e3-4cea-aa6c-ded8cdcb5bd7" providerId="ADAL" clId="{1DB60B36-D7D3-4578-BB50-9DD269F0B249}" dt="2026-03-11T14:05:56.004" v="60" actId="478"/>
          <ac:spMkLst>
            <pc:docMk/>
            <pc:sldMk cId="0" sldId="260"/>
            <ac:spMk id="9" creationId="{00000000-0000-0000-0000-000000000000}"/>
          </ac:spMkLst>
        </pc:spChg>
      </pc:sldChg>
      <pc:sldChg chg="modSp mod">
        <pc:chgData name="Terry Moorehead" userId="a2a6df63-b8e3-4cea-aa6c-ded8cdcb5bd7" providerId="ADAL" clId="{1DB60B36-D7D3-4578-BB50-9DD269F0B249}" dt="2026-03-11T14:06:38.369" v="66" actId="207"/>
        <pc:sldMkLst>
          <pc:docMk/>
          <pc:sldMk cId="0" sldId="261"/>
        </pc:sldMkLst>
        <pc:spChg chg="mod">
          <ac:chgData name="Terry Moorehead" userId="a2a6df63-b8e3-4cea-aa6c-ded8cdcb5bd7" providerId="ADAL" clId="{1DB60B36-D7D3-4578-BB50-9DD269F0B249}" dt="2026-03-11T14:06:12.953" v="61" actId="207"/>
          <ac:spMkLst>
            <pc:docMk/>
            <pc:sldMk cId="0" sldId="261"/>
            <ac:spMk id="12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1T14:06:17.718" v="62" actId="207"/>
          <ac:spMkLst>
            <pc:docMk/>
            <pc:sldMk cId="0" sldId="261"/>
            <ac:spMk id="16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1T14:06:22.789" v="63" actId="207"/>
          <ac:spMkLst>
            <pc:docMk/>
            <pc:sldMk cId="0" sldId="261"/>
            <ac:spMk id="20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1T14:06:27.189" v="64" actId="207"/>
          <ac:spMkLst>
            <pc:docMk/>
            <pc:sldMk cId="0" sldId="261"/>
            <ac:spMk id="24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1T14:06:32.067" v="65" actId="207"/>
          <ac:spMkLst>
            <pc:docMk/>
            <pc:sldMk cId="0" sldId="261"/>
            <ac:spMk id="28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1T14:06:38.369" v="66" actId="207"/>
          <ac:spMkLst>
            <pc:docMk/>
            <pc:sldMk cId="0" sldId="261"/>
            <ac:spMk id="32" creationId="{00000000-0000-0000-0000-000000000000}"/>
          </ac:spMkLst>
        </pc:spChg>
      </pc:sldChg>
      <pc:sldChg chg="delSp modSp mod">
        <pc:chgData name="Terry Moorehead" userId="a2a6df63-b8e3-4cea-aa6c-ded8cdcb5bd7" providerId="ADAL" clId="{1DB60B36-D7D3-4578-BB50-9DD269F0B249}" dt="2026-03-11T14:07:49.468" v="70" actId="478"/>
        <pc:sldMkLst>
          <pc:docMk/>
          <pc:sldMk cId="0" sldId="262"/>
        </pc:sldMkLst>
        <pc:spChg chg="mod">
          <ac:chgData name="Terry Moorehead" userId="a2a6df63-b8e3-4cea-aa6c-ded8cdcb5bd7" providerId="ADAL" clId="{1DB60B36-D7D3-4578-BB50-9DD269F0B249}" dt="2026-03-11T14:07:25.525" v="67" actId="255"/>
          <ac:spMkLst>
            <pc:docMk/>
            <pc:sldMk cId="0" sldId="262"/>
            <ac:spMk id="3" creationId="{00000000-0000-0000-0000-000000000000}"/>
          </ac:spMkLst>
        </pc:spChg>
        <pc:spChg chg="del mod">
          <ac:chgData name="Terry Moorehead" userId="a2a6df63-b8e3-4cea-aa6c-ded8cdcb5bd7" providerId="ADAL" clId="{1DB60B36-D7D3-4578-BB50-9DD269F0B249}" dt="2026-03-11T14:07:46.766" v="69" actId="478"/>
          <ac:spMkLst>
            <pc:docMk/>
            <pc:sldMk cId="0" sldId="262"/>
            <ac:spMk id="38" creationId="{00000000-0000-0000-0000-000000000000}"/>
          </ac:spMkLst>
        </pc:spChg>
        <pc:spChg chg="del">
          <ac:chgData name="Terry Moorehead" userId="a2a6df63-b8e3-4cea-aa6c-ded8cdcb5bd7" providerId="ADAL" clId="{1DB60B36-D7D3-4578-BB50-9DD269F0B249}" dt="2026-03-11T14:07:49.468" v="70" actId="478"/>
          <ac:spMkLst>
            <pc:docMk/>
            <pc:sldMk cId="0" sldId="262"/>
            <ac:spMk id="39" creationId="{00000000-0000-0000-0000-000000000000}"/>
          </ac:spMkLst>
        </pc:spChg>
      </pc:sldChg>
      <pc:sldChg chg="delSp modSp mod">
        <pc:chgData name="Terry Moorehead" userId="a2a6df63-b8e3-4cea-aa6c-ded8cdcb5bd7" providerId="ADAL" clId="{1DB60B36-D7D3-4578-BB50-9DD269F0B249}" dt="2026-03-11T14:09:57.271" v="98" actId="20577"/>
        <pc:sldMkLst>
          <pc:docMk/>
          <pc:sldMk cId="0" sldId="264"/>
        </pc:sldMkLst>
        <pc:spChg chg="mod">
          <ac:chgData name="Terry Moorehead" userId="a2a6df63-b8e3-4cea-aa6c-ded8cdcb5bd7" providerId="ADAL" clId="{1DB60B36-D7D3-4578-BB50-9DD269F0B249}" dt="2026-03-11T14:08:14.814" v="71" actId="1076"/>
          <ac:spMkLst>
            <pc:docMk/>
            <pc:sldMk cId="0" sldId="264"/>
            <ac:spMk id="9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1T14:09:57.271" v="98" actId="20577"/>
          <ac:spMkLst>
            <pc:docMk/>
            <pc:sldMk cId="0" sldId="264"/>
            <ac:spMk id="15" creationId="{00000000-0000-0000-0000-000000000000}"/>
          </ac:spMkLst>
        </pc:spChg>
        <pc:spChg chg="del">
          <ac:chgData name="Terry Moorehead" userId="a2a6df63-b8e3-4cea-aa6c-ded8cdcb5bd7" providerId="ADAL" clId="{1DB60B36-D7D3-4578-BB50-9DD269F0B249}" dt="2026-03-11T14:08:20.981" v="72" actId="478"/>
          <ac:spMkLst>
            <pc:docMk/>
            <pc:sldMk cId="0" sldId="264"/>
            <ac:spMk id="16" creationId="{00000000-0000-0000-0000-000000000000}"/>
          </ac:spMkLst>
        </pc:spChg>
        <pc:spChg chg="del mod">
          <ac:chgData name="Terry Moorehead" userId="a2a6df63-b8e3-4cea-aa6c-ded8cdcb5bd7" providerId="ADAL" clId="{1DB60B36-D7D3-4578-BB50-9DD269F0B249}" dt="2026-03-11T14:08:26.432" v="74" actId="478"/>
          <ac:spMkLst>
            <pc:docMk/>
            <pc:sldMk cId="0" sldId="264"/>
            <ac:spMk id="20" creationId="{00000000-0000-0000-0000-000000000000}"/>
          </ac:spMkLst>
        </pc:spChg>
        <pc:spChg chg="del mod">
          <ac:chgData name="Terry Moorehead" userId="a2a6df63-b8e3-4cea-aa6c-ded8cdcb5bd7" providerId="ADAL" clId="{1DB60B36-D7D3-4578-BB50-9DD269F0B249}" dt="2026-03-11T14:08:32.377" v="76" actId="478"/>
          <ac:spMkLst>
            <pc:docMk/>
            <pc:sldMk cId="0" sldId="264"/>
            <ac:spMk id="24" creationId="{00000000-0000-0000-0000-000000000000}"/>
          </ac:spMkLst>
        </pc:spChg>
        <pc:spChg chg="del">
          <ac:chgData name="Terry Moorehead" userId="a2a6df63-b8e3-4cea-aa6c-ded8cdcb5bd7" providerId="ADAL" clId="{1DB60B36-D7D3-4578-BB50-9DD269F0B249}" dt="2026-03-11T14:08:35.240" v="77" actId="478"/>
          <ac:spMkLst>
            <pc:docMk/>
            <pc:sldMk cId="0" sldId="264"/>
            <ac:spMk id="28" creationId="{00000000-0000-0000-0000-000000000000}"/>
          </ac:spMkLst>
        </pc:spChg>
        <pc:spChg chg="del">
          <ac:chgData name="Terry Moorehead" userId="a2a6df63-b8e3-4cea-aa6c-ded8cdcb5bd7" providerId="ADAL" clId="{1DB60B36-D7D3-4578-BB50-9DD269F0B249}" dt="2026-03-11T14:08:37.835" v="78" actId="478"/>
          <ac:spMkLst>
            <pc:docMk/>
            <pc:sldMk cId="0" sldId="264"/>
            <ac:spMk id="32" creationId="{00000000-0000-0000-0000-000000000000}"/>
          </ac:spMkLst>
        </pc:spChg>
        <pc:spChg chg="del">
          <ac:chgData name="Terry Moorehead" userId="a2a6df63-b8e3-4cea-aa6c-ded8cdcb5bd7" providerId="ADAL" clId="{1DB60B36-D7D3-4578-BB50-9DD269F0B249}" dt="2026-03-11T14:08:56.273" v="80" actId="478"/>
          <ac:spMkLst>
            <pc:docMk/>
            <pc:sldMk cId="0" sldId="264"/>
            <ac:spMk id="36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1T14:09:02.995" v="81" actId="1076"/>
          <ac:spMkLst>
            <pc:docMk/>
            <pc:sldMk cId="0" sldId="264"/>
            <ac:spMk id="37" creationId="{00000000-0000-0000-0000-000000000000}"/>
          </ac:spMkLst>
        </pc:spChg>
      </pc:sldChg>
      <pc:sldChg chg="delSp modSp mod">
        <pc:chgData name="Terry Moorehead" userId="a2a6df63-b8e3-4cea-aa6c-ded8cdcb5bd7" providerId="ADAL" clId="{1DB60B36-D7D3-4578-BB50-9DD269F0B249}" dt="2026-03-11T14:09:37.282" v="88" actId="20577"/>
        <pc:sldMkLst>
          <pc:docMk/>
          <pc:sldMk cId="0" sldId="265"/>
        </pc:sldMkLst>
        <pc:spChg chg="mod">
          <ac:chgData name="Terry Moorehead" userId="a2a6df63-b8e3-4cea-aa6c-ded8cdcb5bd7" providerId="ADAL" clId="{1DB60B36-D7D3-4578-BB50-9DD269F0B249}" dt="2026-03-11T14:09:37.282" v="88" actId="20577"/>
          <ac:spMkLst>
            <pc:docMk/>
            <pc:sldMk cId="0" sldId="265"/>
            <ac:spMk id="14" creationId="{00000000-0000-0000-0000-000000000000}"/>
          </ac:spMkLst>
        </pc:spChg>
        <pc:spChg chg="del">
          <ac:chgData name="Terry Moorehead" userId="a2a6df63-b8e3-4cea-aa6c-ded8cdcb5bd7" providerId="ADAL" clId="{1DB60B36-D7D3-4578-BB50-9DD269F0B249}" dt="2026-03-11T14:09:16.183" v="82" actId="478"/>
          <ac:spMkLst>
            <pc:docMk/>
            <pc:sldMk cId="0" sldId="265"/>
            <ac:spMk id="23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1T14:09:21.295" v="83" actId="1076"/>
          <ac:spMkLst>
            <pc:docMk/>
            <pc:sldMk cId="0" sldId="265"/>
            <ac:spMk id="2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3298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67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40480" y="365760"/>
            <a:ext cx="1188720" cy="1188720"/>
          </a:xfrm>
          <a:prstGeom prst="ellipse">
            <a:avLst/>
          </a:prstGeom>
          <a:solidFill>
            <a:srgbClr val="2A3A4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512" y="594360"/>
            <a:ext cx="685800" cy="685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kern="0" spc="300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Management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kern="0" spc="300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Sales</a:t>
            </a:r>
            <a:endParaRPr lang="en-US" sz="4200" dirty="0"/>
          </a:p>
        </p:txBody>
      </p:sp>
      <p:sp>
        <p:nvSpPr>
          <p:cNvPr id="8" name="Text 4"/>
          <p:cNvSpPr/>
          <p:nvPr/>
        </p:nvSpPr>
        <p:spPr>
          <a:xfrm>
            <a:off x="731520" y="2711196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kern="0" spc="300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Green, Yellow &amp; Red Hours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Top SDRs and AEs Structure Their Day to Maximize Revenue-Generating Activity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188720" y="3657600"/>
            <a:ext cx="6766560" cy="457200"/>
          </a:xfrm>
          <a:prstGeom prst="rect">
            <a:avLst/>
          </a:prstGeom>
          <a:solidFill>
            <a:srgbClr val="2A3A44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Blocks  •  Tiered Lists  •  Activity Mapping  •  Energy Management  •  The Non-Negotiable Hour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31520" y="45262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4630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Brutal Truth About How Reps Spend Their Day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solidFill>
            <a:srgbClr val="1E2A3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reps think they’re busy. The data says they’re active — just not on the right things. The difference between a good rep and a great one is how they protect their revenue-generating hours.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411480" y="1554480"/>
            <a:ext cx="19202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411480" y="1554480"/>
            <a:ext cx="1920240" cy="54864"/>
          </a:xfrm>
          <a:prstGeom prst="rect">
            <a:avLst/>
          </a:prstGeom>
          <a:solidFill>
            <a:srgbClr val="6B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411480" y="16642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B3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33%</a:t>
            </a:r>
            <a:endParaRPr lang="en-US" sz="3200" dirty="0"/>
          </a:p>
        </p:txBody>
      </p:sp>
      <p:sp>
        <p:nvSpPr>
          <p:cNvPr id="11" name="Text 7"/>
          <p:cNvSpPr/>
          <p:nvPr/>
        </p:nvSpPr>
        <p:spPr>
          <a:xfrm>
            <a:off x="411480" y="2194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of a rep’s day is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actually spent selling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2560320" y="1554480"/>
            <a:ext cx="19202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2560320" y="1554480"/>
            <a:ext cx="1920240" cy="54864"/>
          </a:xfrm>
          <a:prstGeom prst="rect">
            <a:avLst/>
          </a:prstGeom>
          <a:solidFill>
            <a:srgbClr val="C67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2560320" y="16642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67%</a:t>
            </a:r>
            <a:endParaRPr lang="en-US" sz="3200" dirty="0"/>
          </a:p>
        </p:txBody>
      </p:sp>
      <p:sp>
        <p:nvSpPr>
          <p:cNvPr id="15" name="Text 11"/>
          <p:cNvSpPr/>
          <p:nvPr/>
        </p:nvSpPr>
        <p:spPr>
          <a:xfrm>
            <a:off x="2560320" y="2194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is lost to admin,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research, CRM,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and internal meetings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709160" y="1554480"/>
            <a:ext cx="19202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709160" y="1554480"/>
            <a:ext cx="192024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709160" y="16642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6B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2–3 hrs</a:t>
            </a:r>
            <a:endParaRPr lang="en-US" sz="3200" dirty="0"/>
          </a:p>
        </p:txBody>
      </p:sp>
      <p:sp>
        <p:nvSpPr>
          <p:cNvPr id="19" name="Text 15"/>
          <p:cNvSpPr/>
          <p:nvPr/>
        </p:nvSpPr>
        <p:spPr>
          <a:xfrm>
            <a:off x="4709160" y="2194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peak cognitive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window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per day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858000" y="1554480"/>
            <a:ext cx="19202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858000" y="1554480"/>
            <a:ext cx="1920240" cy="54864"/>
          </a:xfrm>
          <a:prstGeom prst="rect">
            <a:avLst/>
          </a:prstGeom>
          <a:solidFill>
            <a:srgbClr val="7A9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6858000" y="16642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A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10x</a:t>
            </a:r>
            <a:endParaRPr lang="en-US" sz="3200" dirty="0"/>
          </a:p>
        </p:txBody>
      </p:sp>
      <p:sp>
        <p:nvSpPr>
          <p:cNvPr id="23" name="Text 19"/>
          <p:cNvSpPr/>
          <p:nvPr/>
        </p:nvSpPr>
        <p:spPr>
          <a:xfrm>
            <a:off x="6858000" y="2194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gap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between reps who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block time vs. don’t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457200" y="3108960"/>
            <a:ext cx="320040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457200" y="3108960"/>
            <a:ext cx="54864" cy="384048"/>
          </a:xfrm>
          <a:prstGeom prst="rect">
            <a:avLst/>
          </a:prstGeom>
          <a:solidFill>
            <a:srgbClr val="6B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594360" y="31089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“I’m busy all day”</a:t>
            </a:r>
            <a:endParaRPr lang="en-US" sz="9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3200400"/>
            <a:ext cx="146304" cy="146304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4114800" y="3108960"/>
            <a:ext cx="457200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4114800" y="3108960"/>
            <a:ext cx="54864" cy="384048"/>
          </a:xfrm>
          <a:prstGeom prst="rect">
            <a:avLst/>
          </a:prstGeom>
          <a:solidFill>
            <a:srgbClr val="7A9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4251960" y="31089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protected my revenue hours”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457200" y="3611880"/>
            <a:ext cx="320040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457200" y="3611880"/>
            <a:ext cx="54864" cy="384048"/>
          </a:xfrm>
          <a:prstGeom prst="rect">
            <a:avLst/>
          </a:prstGeom>
          <a:solidFill>
            <a:srgbClr val="6B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594360" y="36118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(inbox-driven)</a:t>
            </a:r>
            <a:endParaRPr lang="en-US" sz="900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3703320"/>
            <a:ext cx="146304" cy="146304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4114800" y="3611880"/>
            <a:ext cx="457200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4114800" y="3611880"/>
            <a:ext cx="54864" cy="384048"/>
          </a:xfrm>
          <a:prstGeom prst="rect">
            <a:avLst/>
          </a:prstGeom>
          <a:solidFill>
            <a:srgbClr val="7A9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/>
          <p:nvPr/>
        </p:nvSpPr>
        <p:spPr>
          <a:xfrm>
            <a:off x="4251960" y="36118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(calendar-driven)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457200" y="4114800"/>
            <a:ext cx="320040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3"/>
          <p:cNvSpPr/>
          <p:nvPr/>
        </p:nvSpPr>
        <p:spPr>
          <a:xfrm>
            <a:off x="457200" y="4114800"/>
            <a:ext cx="54864" cy="384048"/>
          </a:xfrm>
          <a:prstGeom prst="rect">
            <a:avLst/>
          </a:prstGeom>
          <a:solidFill>
            <a:srgbClr val="6B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594360" y="41148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energy level all day</a:t>
            </a:r>
            <a:endParaRPr lang="en-US" sz="900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4206240"/>
            <a:ext cx="146304" cy="146304"/>
          </a:xfrm>
          <a:prstGeom prst="rect">
            <a:avLst/>
          </a:prstGeom>
        </p:spPr>
      </p:pic>
      <p:sp>
        <p:nvSpPr>
          <p:cNvPr id="42" name="Shape 35"/>
          <p:cNvSpPr/>
          <p:nvPr/>
        </p:nvSpPr>
        <p:spPr>
          <a:xfrm>
            <a:off x="4114800" y="4114800"/>
            <a:ext cx="457200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36"/>
          <p:cNvSpPr/>
          <p:nvPr/>
        </p:nvSpPr>
        <p:spPr>
          <a:xfrm>
            <a:off x="4114800" y="4114800"/>
            <a:ext cx="54864" cy="384048"/>
          </a:xfrm>
          <a:prstGeom prst="rect">
            <a:avLst/>
          </a:prstGeom>
          <a:solidFill>
            <a:srgbClr val="7A9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37"/>
          <p:cNvSpPr/>
          <p:nvPr/>
        </p:nvSpPr>
        <p:spPr>
          <a:xfrm>
            <a:off x="4251960" y="411480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task difficulty to energy peaks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0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Green, Yellow &amp; Red Hours — The Core Framework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C67B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20040" y="868680"/>
            <a:ext cx="27432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320040" y="868680"/>
            <a:ext cx="2743200" cy="640080"/>
          </a:xfrm>
          <a:prstGeom prst="rect">
            <a:avLst/>
          </a:prstGeom>
          <a:solidFill>
            <a:srgbClr val="7A9E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960120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04088" y="88696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 HOURS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704088" y="1161288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Revenue-Generating Activity</a:t>
            </a:r>
            <a:endParaRPr lang="en-US" sz="850" dirty="0"/>
          </a:p>
        </p:txBody>
      </p:sp>
      <p:sp>
        <p:nvSpPr>
          <p:cNvPr id="11" name="Text 6"/>
          <p:cNvSpPr/>
          <p:nvPr/>
        </p:nvSpPr>
        <p:spPr>
          <a:xfrm>
            <a:off x="429768" y="157276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3–4 hours daily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429768" y="1801368"/>
            <a:ext cx="25237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cold calls and warm dials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conversations with prospects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and presentations (AEs)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calls on hot leads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Voicemails using the 4-step formula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calls and deal advancement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393192" y="3291840"/>
            <a:ext cx="2596896" cy="36576"/>
          </a:xfrm>
          <a:prstGeom prst="rect">
            <a:avLst/>
          </a:prstGeom>
          <a:solidFill>
            <a:srgbClr val="7A9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429768" y="3383280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when you SELL. No email. No Teams. No CRM. Phone in hand, headset on, dialing. Everything else can wait.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3246120" y="868680"/>
            <a:ext cx="27432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3246120" y="868680"/>
            <a:ext cx="2743200" cy="640080"/>
          </a:xfrm>
          <a:prstGeom prst="rect">
            <a:avLst/>
          </a:prstGeom>
          <a:solidFill>
            <a:srgbClr val="C67B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7560" y="960120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630168" y="88696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YELLOW HOURS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3630168" y="1161288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Revenue-Supporting Activity</a:t>
            </a:r>
            <a:endParaRPr lang="en-US" sz="850" dirty="0"/>
          </a:p>
        </p:txBody>
      </p:sp>
      <p:sp>
        <p:nvSpPr>
          <p:cNvPr id="20" name="Text 14"/>
          <p:cNvSpPr/>
          <p:nvPr/>
        </p:nvSpPr>
        <p:spPr>
          <a:xfrm>
            <a:off x="3355848" y="157276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6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hours daily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3355848" y="1801368"/>
            <a:ext cx="25237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Pre-call research (3-min framework)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updates and pipeline management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sequences and follow-ups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social selling routine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building and demo prep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meetings and 1:1s with manager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3319272" y="3291840"/>
            <a:ext cx="2596896" cy="36576"/>
          </a:xfrm>
          <a:prstGeom prst="rect">
            <a:avLst/>
          </a:prstGeom>
          <a:solidFill>
            <a:srgbClr val="C67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3355848" y="3383280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C6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but not urgent. Schedule it AROUND green hours, never during them. Batch these tasks together.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6172200" y="868680"/>
            <a:ext cx="27432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6172200" y="868680"/>
            <a:ext cx="2743200" cy="640080"/>
          </a:xfrm>
          <a:prstGeom prst="rect">
            <a:avLst/>
          </a:prstGeom>
          <a:solidFill>
            <a:srgbClr val="6B3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960120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556248" y="88696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 HOURS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556248" y="1161288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Non-Revenue Activity (Minimize)</a:t>
            </a:r>
            <a:endParaRPr lang="en-US" sz="850" dirty="0"/>
          </a:p>
        </p:txBody>
      </p:sp>
      <p:sp>
        <p:nvSpPr>
          <p:cNvPr id="29" name="Text 22"/>
          <p:cNvSpPr/>
          <p:nvPr/>
        </p:nvSpPr>
        <p:spPr>
          <a:xfrm>
            <a:off x="6281928" y="157276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to &lt;1 hour daily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6281928" y="1801368"/>
            <a:ext cx="25237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browsing and Teams rabbit holes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“research” with no output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Reorganizing your CRM without dialing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meetings that don’t require you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Watercooler talk during peak calling hours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Perfecting email drafts instead of sending them</a:t>
            </a:r>
            <a:endParaRPr lang="en-US" sz="850" dirty="0"/>
          </a:p>
        </p:txBody>
      </p:sp>
      <p:sp>
        <p:nvSpPr>
          <p:cNvPr id="31" name="Shape 24"/>
          <p:cNvSpPr/>
          <p:nvPr/>
        </p:nvSpPr>
        <p:spPr>
          <a:xfrm>
            <a:off x="6245352" y="3291840"/>
            <a:ext cx="2596896" cy="36576"/>
          </a:xfrm>
          <a:prstGeom prst="rect">
            <a:avLst/>
          </a:prstGeom>
          <a:solidFill>
            <a:srgbClr val="6B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6281928" y="3383280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feel productive but generate zero pipeline. Be ruthlessly honest about how much time you spend here.</a:t>
            </a:r>
            <a:endParaRPr lang="en-US" sz="800" dirty="0"/>
          </a:p>
        </p:txBody>
      </p:sp>
      <p:sp>
        <p:nvSpPr>
          <p:cNvPr id="33" name="Text 26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Ideal SDR Day — Hour by Hour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solidFill>
            <a:srgbClr val="1E2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457200" y="84124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463040" y="8412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3657600" y="84124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389120" y="84124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You’re Doing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57200" y="1188720"/>
            <a:ext cx="82296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57200" y="1188720"/>
            <a:ext cx="54864" cy="292608"/>
          </a:xfrm>
          <a:prstGeom prst="rect">
            <a:avLst/>
          </a:prstGeom>
          <a:solidFill>
            <a:srgbClr val="C67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94360" y="11887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8:30–9:00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1463040" y="11887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Prep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3703320" y="1234440"/>
            <a:ext cx="594360" cy="182880"/>
          </a:xfrm>
          <a:prstGeom prst="rect">
            <a:avLst/>
          </a:prstGeom>
          <a:solidFill>
            <a:srgbClr val="C67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3703320" y="123444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650" dirty="0"/>
          </a:p>
        </p:txBody>
      </p:sp>
      <p:sp>
        <p:nvSpPr>
          <p:cNvPr id="17" name="Text 13"/>
          <p:cNvSpPr/>
          <p:nvPr/>
        </p:nvSpPr>
        <p:spPr>
          <a:xfrm>
            <a:off x="4389120" y="11887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Review target list, check CRM for callbacks, build tiered dial list (Hot/Warm/Cold)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457200" y="1508760"/>
            <a:ext cx="8229600" cy="292608"/>
          </a:xfrm>
          <a:prstGeom prst="rect">
            <a:avLst/>
          </a:prstGeom>
          <a:solidFill>
            <a:srgbClr val="F2F8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57200" y="1508760"/>
            <a:ext cx="54864" cy="292608"/>
          </a:xfrm>
          <a:prstGeom prst="rect">
            <a:avLst/>
          </a:prstGeom>
          <a:solidFill>
            <a:srgbClr val="7A9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94360" y="1508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9:00–10:30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1463040" y="15087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BLOCK #1: Cold Calls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3703320" y="1554480"/>
            <a:ext cx="594360" cy="182880"/>
          </a:xfrm>
          <a:prstGeom prst="rect">
            <a:avLst/>
          </a:prstGeom>
          <a:solidFill>
            <a:srgbClr val="7A9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3703320" y="155448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650" dirty="0"/>
          </a:p>
        </p:txBody>
      </p:sp>
      <p:sp>
        <p:nvSpPr>
          <p:cNvPr id="24" name="Text 20"/>
          <p:cNvSpPr/>
          <p:nvPr/>
        </p:nvSpPr>
        <p:spPr>
          <a:xfrm>
            <a:off x="4389120" y="15087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90 minutes of pure dialing. No email. No Teams. Headset on. Hit your Hot and Warm lists first.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457200" y="1828800"/>
            <a:ext cx="82296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457200" y="1828800"/>
            <a:ext cx="54864" cy="292608"/>
          </a:xfrm>
          <a:prstGeom prst="rect">
            <a:avLst/>
          </a:prstGeom>
          <a:solidFill>
            <a:srgbClr val="C67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594360" y="18288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10:30–11:00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1463040" y="182880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+ Follow-Up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3703320" y="1874520"/>
            <a:ext cx="594360" cy="182880"/>
          </a:xfrm>
          <a:prstGeom prst="rect">
            <a:avLst/>
          </a:prstGeom>
          <a:solidFill>
            <a:srgbClr val="C67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3703320" y="18745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650" dirty="0"/>
          </a:p>
        </p:txBody>
      </p:sp>
      <p:sp>
        <p:nvSpPr>
          <p:cNvPr id="31" name="Text 27"/>
          <p:cNvSpPr/>
          <p:nvPr/>
        </p:nvSpPr>
        <p:spPr>
          <a:xfrm>
            <a:off x="4389120" y="18288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Log calls, update dispositions, send promised emails, schedule follow-ups</a:t>
            </a:r>
            <a:endParaRPr lang="en-US" sz="750" dirty="0"/>
          </a:p>
        </p:txBody>
      </p:sp>
      <p:sp>
        <p:nvSpPr>
          <p:cNvPr id="32" name="Shape 28"/>
          <p:cNvSpPr/>
          <p:nvPr/>
        </p:nvSpPr>
        <p:spPr>
          <a:xfrm>
            <a:off x="457200" y="2148840"/>
            <a:ext cx="8229600" cy="292608"/>
          </a:xfrm>
          <a:prstGeom prst="rect">
            <a:avLst/>
          </a:prstGeom>
          <a:solidFill>
            <a:srgbClr val="F2F8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457200" y="2148840"/>
            <a:ext cx="54864" cy="292608"/>
          </a:xfrm>
          <a:prstGeom prst="rect">
            <a:avLst/>
          </a:prstGeom>
          <a:solidFill>
            <a:srgbClr val="7A9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594360" y="21488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11:00–12:00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1463040" y="214884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BLOCK #2: Cold Calls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3703320" y="2194560"/>
            <a:ext cx="594360" cy="182880"/>
          </a:xfrm>
          <a:prstGeom prst="rect">
            <a:avLst/>
          </a:prstGeom>
          <a:solidFill>
            <a:srgbClr val="7A9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3703320" y="219456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650" dirty="0"/>
          </a:p>
        </p:txBody>
      </p:sp>
      <p:sp>
        <p:nvSpPr>
          <p:cNvPr id="38" name="Text 34"/>
          <p:cNvSpPr/>
          <p:nvPr/>
        </p:nvSpPr>
        <p:spPr>
          <a:xfrm>
            <a:off x="4389120" y="21488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Second dial session. Cold list now. This is where grit shows up. Push through</a:t>
            </a: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750" dirty="0"/>
          </a:p>
        </p:txBody>
      </p:sp>
      <p:sp>
        <p:nvSpPr>
          <p:cNvPr id="39" name="Shape 35"/>
          <p:cNvSpPr/>
          <p:nvPr/>
        </p:nvSpPr>
        <p:spPr>
          <a:xfrm>
            <a:off x="457200" y="2468880"/>
            <a:ext cx="82296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6"/>
          <p:cNvSpPr/>
          <p:nvPr/>
        </p:nvSpPr>
        <p:spPr>
          <a:xfrm>
            <a:off x="457200" y="2468880"/>
            <a:ext cx="54864" cy="292608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594360" y="24688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12:00–12:30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1463040" y="24688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</a:t>
            </a:r>
            <a:endParaRPr lang="en-US" sz="850" dirty="0"/>
          </a:p>
        </p:txBody>
      </p:sp>
      <p:sp>
        <p:nvSpPr>
          <p:cNvPr id="43" name="Text 39"/>
          <p:cNvSpPr/>
          <p:nvPr/>
        </p:nvSpPr>
        <p:spPr>
          <a:xfrm>
            <a:off x="4389120" y="24688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Actually take a break. Reset your energy for the afternoon.</a:t>
            </a:r>
            <a:endParaRPr lang="en-US" sz="750" dirty="0"/>
          </a:p>
        </p:txBody>
      </p:sp>
      <p:sp>
        <p:nvSpPr>
          <p:cNvPr id="44" name="Shape 40"/>
          <p:cNvSpPr/>
          <p:nvPr/>
        </p:nvSpPr>
        <p:spPr>
          <a:xfrm>
            <a:off x="457200" y="2788920"/>
            <a:ext cx="8229600" cy="292608"/>
          </a:xfrm>
          <a:prstGeom prst="rect">
            <a:avLst/>
          </a:prstGeom>
          <a:solidFill>
            <a:srgbClr val="F5F0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1"/>
          <p:cNvSpPr/>
          <p:nvPr/>
        </p:nvSpPr>
        <p:spPr>
          <a:xfrm>
            <a:off x="457200" y="2788920"/>
            <a:ext cx="54864" cy="292608"/>
          </a:xfrm>
          <a:prstGeom prst="rect">
            <a:avLst/>
          </a:prstGeom>
          <a:solidFill>
            <a:srgbClr val="C67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2"/>
          <p:cNvSpPr/>
          <p:nvPr/>
        </p:nvSpPr>
        <p:spPr>
          <a:xfrm>
            <a:off x="594360" y="2788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12:30–1:00</a:t>
            </a:r>
            <a:endParaRPr lang="en-US" sz="800" dirty="0"/>
          </a:p>
        </p:txBody>
      </p:sp>
      <p:sp>
        <p:nvSpPr>
          <p:cNvPr id="47" name="Text 43"/>
          <p:cNvSpPr/>
          <p:nvPr/>
        </p:nvSpPr>
        <p:spPr>
          <a:xfrm>
            <a:off x="1463040" y="27889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Social Selling</a:t>
            </a:r>
            <a:endParaRPr lang="en-US" sz="850" dirty="0"/>
          </a:p>
        </p:txBody>
      </p:sp>
      <p:sp>
        <p:nvSpPr>
          <p:cNvPr id="48" name="Shape 44"/>
          <p:cNvSpPr/>
          <p:nvPr/>
        </p:nvSpPr>
        <p:spPr>
          <a:xfrm>
            <a:off x="3703320" y="2834640"/>
            <a:ext cx="594360" cy="182880"/>
          </a:xfrm>
          <a:prstGeom prst="rect">
            <a:avLst/>
          </a:prstGeom>
          <a:solidFill>
            <a:srgbClr val="C67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5"/>
          <p:cNvSpPr/>
          <p:nvPr/>
        </p:nvSpPr>
        <p:spPr>
          <a:xfrm>
            <a:off x="3703320" y="283464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650" dirty="0"/>
          </a:p>
        </p:txBody>
      </p:sp>
      <p:sp>
        <p:nvSpPr>
          <p:cNvPr id="50" name="Text 46"/>
          <p:cNvSpPr/>
          <p:nvPr/>
        </p:nvSpPr>
        <p:spPr>
          <a:xfrm>
            <a:off x="4389120" y="27889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5-minute routine: view profiles, like posts, comment, send connections, send 1–2 DMs</a:t>
            </a:r>
            <a:endParaRPr lang="en-US" sz="750" dirty="0"/>
          </a:p>
        </p:txBody>
      </p:sp>
      <p:sp>
        <p:nvSpPr>
          <p:cNvPr id="51" name="Shape 47"/>
          <p:cNvSpPr/>
          <p:nvPr/>
        </p:nvSpPr>
        <p:spPr>
          <a:xfrm>
            <a:off x="457200" y="3108960"/>
            <a:ext cx="8229600" cy="292608"/>
          </a:xfrm>
          <a:prstGeom prst="rect">
            <a:avLst/>
          </a:prstGeom>
          <a:solidFill>
            <a:srgbClr val="F2F8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48"/>
          <p:cNvSpPr/>
          <p:nvPr/>
        </p:nvSpPr>
        <p:spPr>
          <a:xfrm>
            <a:off x="457200" y="3108960"/>
            <a:ext cx="54864" cy="292608"/>
          </a:xfrm>
          <a:prstGeom prst="rect">
            <a:avLst/>
          </a:prstGeom>
          <a:solidFill>
            <a:srgbClr val="7A9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49"/>
          <p:cNvSpPr/>
          <p:nvPr/>
        </p:nvSpPr>
        <p:spPr>
          <a:xfrm>
            <a:off x="594360" y="31089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1:00–2:30</a:t>
            </a:r>
            <a:endParaRPr lang="en-US" sz="800" dirty="0"/>
          </a:p>
        </p:txBody>
      </p:sp>
      <p:sp>
        <p:nvSpPr>
          <p:cNvPr id="54" name="Text 50"/>
          <p:cNvSpPr/>
          <p:nvPr/>
        </p:nvSpPr>
        <p:spPr>
          <a:xfrm>
            <a:off x="1463040" y="31089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BLOCK #3: Cold Calls</a:t>
            </a:r>
            <a:endParaRPr lang="en-US" sz="850" dirty="0"/>
          </a:p>
        </p:txBody>
      </p:sp>
      <p:sp>
        <p:nvSpPr>
          <p:cNvPr id="55" name="Shape 51"/>
          <p:cNvSpPr/>
          <p:nvPr/>
        </p:nvSpPr>
        <p:spPr>
          <a:xfrm>
            <a:off x="3703320" y="3154680"/>
            <a:ext cx="594360" cy="182880"/>
          </a:xfrm>
          <a:prstGeom prst="rect">
            <a:avLst/>
          </a:prstGeom>
          <a:solidFill>
            <a:srgbClr val="7A9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2"/>
          <p:cNvSpPr/>
          <p:nvPr/>
        </p:nvSpPr>
        <p:spPr>
          <a:xfrm>
            <a:off x="3703320" y="315468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650" dirty="0"/>
          </a:p>
        </p:txBody>
      </p:sp>
      <p:sp>
        <p:nvSpPr>
          <p:cNvPr id="57" name="Text 53"/>
          <p:cNvSpPr/>
          <p:nvPr/>
        </p:nvSpPr>
        <p:spPr>
          <a:xfrm>
            <a:off x="4389120" y="31089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Afternoon dial session. Salon owners are often available after their morning rush (post-1 PM).</a:t>
            </a:r>
            <a:endParaRPr lang="en-US" sz="750" dirty="0"/>
          </a:p>
        </p:txBody>
      </p:sp>
      <p:sp>
        <p:nvSpPr>
          <p:cNvPr id="58" name="Shape 54"/>
          <p:cNvSpPr/>
          <p:nvPr/>
        </p:nvSpPr>
        <p:spPr>
          <a:xfrm>
            <a:off x="457200" y="3429000"/>
            <a:ext cx="8229600" cy="292608"/>
          </a:xfrm>
          <a:prstGeom prst="rect">
            <a:avLst/>
          </a:prstGeom>
          <a:solidFill>
            <a:srgbClr val="F5F0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5"/>
          <p:cNvSpPr/>
          <p:nvPr/>
        </p:nvSpPr>
        <p:spPr>
          <a:xfrm>
            <a:off x="457200" y="3429000"/>
            <a:ext cx="54864" cy="292608"/>
          </a:xfrm>
          <a:prstGeom prst="rect">
            <a:avLst/>
          </a:prstGeom>
          <a:solidFill>
            <a:srgbClr val="C67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6"/>
          <p:cNvSpPr/>
          <p:nvPr/>
        </p:nvSpPr>
        <p:spPr>
          <a:xfrm>
            <a:off x="594360" y="34290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2:30–3:00</a:t>
            </a:r>
            <a:endParaRPr lang="en-US" sz="800" dirty="0"/>
          </a:p>
        </p:txBody>
      </p:sp>
      <p:sp>
        <p:nvSpPr>
          <p:cNvPr id="61" name="Text 57"/>
          <p:cNvSpPr/>
          <p:nvPr/>
        </p:nvSpPr>
        <p:spPr>
          <a:xfrm>
            <a:off x="1463040" y="342900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Pre-Call Research</a:t>
            </a:r>
            <a:endParaRPr lang="en-US" sz="850" dirty="0"/>
          </a:p>
        </p:txBody>
      </p:sp>
      <p:sp>
        <p:nvSpPr>
          <p:cNvPr id="62" name="Shape 58"/>
          <p:cNvSpPr/>
          <p:nvPr/>
        </p:nvSpPr>
        <p:spPr>
          <a:xfrm>
            <a:off x="3703320" y="3474720"/>
            <a:ext cx="594360" cy="182880"/>
          </a:xfrm>
          <a:prstGeom prst="rect">
            <a:avLst/>
          </a:prstGeom>
          <a:solidFill>
            <a:srgbClr val="C67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9"/>
          <p:cNvSpPr/>
          <p:nvPr/>
        </p:nvSpPr>
        <p:spPr>
          <a:xfrm>
            <a:off x="3703320" y="34747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650" dirty="0"/>
          </a:p>
        </p:txBody>
      </p:sp>
      <p:sp>
        <p:nvSpPr>
          <p:cNvPr id="64" name="Text 60"/>
          <p:cNvSpPr/>
          <p:nvPr/>
        </p:nvSpPr>
        <p:spPr>
          <a:xfrm>
            <a:off x="4389120" y="34290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Research tomorrow’s top 10–15 targets. Fill out pre-call cheat sheets. Find triggers.</a:t>
            </a:r>
            <a:endParaRPr lang="en-US" sz="750" dirty="0"/>
          </a:p>
        </p:txBody>
      </p:sp>
      <p:sp>
        <p:nvSpPr>
          <p:cNvPr id="65" name="Shape 61"/>
          <p:cNvSpPr/>
          <p:nvPr/>
        </p:nvSpPr>
        <p:spPr>
          <a:xfrm>
            <a:off x="457200" y="3749040"/>
            <a:ext cx="82296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2"/>
          <p:cNvSpPr/>
          <p:nvPr/>
        </p:nvSpPr>
        <p:spPr>
          <a:xfrm>
            <a:off x="457200" y="3749040"/>
            <a:ext cx="54864" cy="292608"/>
          </a:xfrm>
          <a:prstGeom prst="rect">
            <a:avLst/>
          </a:prstGeom>
          <a:solidFill>
            <a:srgbClr val="C67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3"/>
          <p:cNvSpPr/>
          <p:nvPr/>
        </p:nvSpPr>
        <p:spPr>
          <a:xfrm>
            <a:off x="594360" y="3749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3:00–3:45</a:t>
            </a:r>
            <a:endParaRPr lang="en-US" sz="800" dirty="0"/>
          </a:p>
        </p:txBody>
      </p:sp>
      <p:sp>
        <p:nvSpPr>
          <p:cNvPr id="68" name="Text 64"/>
          <p:cNvSpPr/>
          <p:nvPr/>
        </p:nvSpPr>
        <p:spPr>
          <a:xfrm>
            <a:off x="1463040" y="374904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Enablement / Team Meeting</a:t>
            </a:r>
            <a:endParaRPr lang="en-US" sz="850" dirty="0"/>
          </a:p>
        </p:txBody>
      </p:sp>
      <p:sp>
        <p:nvSpPr>
          <p:cNvPr id="69" name="Shape 65"/>
          <p:cNvSpPr/>
          <p:nvPr/>
        </p:nvSpPr>
        <p:spPr>
          <a:xfrm>
            <a:off x="3703320" y="3794760"/>
            <a:ext cx="594360" cy="182880"/>
          </a:xfrm>
          <a:prstGeom prst="rect">
            <a:avLst/>
          </a:prstGeom>
          <a:solidFill>
            <a:srgbClr val="C67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6"/>
          <p:cNvSpPr/>
          <p:nvPr/>
        </p:nvSpPr>
        <p:spPr>
          <a:xfrm>
            <a:off x="3703320" y="379476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650" dirty="0"/>
          </a:p>
        </p:txBody>
      </p:sp>
      <p:sp>
        <p:nvSpPr>
          <p:cNvPr id="71" name="Text 67"/>
          <p:cNvSpPr/>
          <p:nvPr/>
        </p:nvSpPr>
        <p:spPr>
          <a:xfrm>
            <a:off x="4389120" y="37490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Tuesday/Thursday enablement sessions. Or use this for pipeline review, 1:1s, coaching</a:t>
            </a: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750" dirty="0"/>
          </a:p>
        </p:txBody>
      </p:sp>
      <p:sp>
        <p:nvSpPr>
          <p:cNvPr id="72" name="Shape 68"/>
          <p:cNvSpPr/>
          <p:nvPr/>
        </p:nvSpPr>
        <p:spPr>
          <a:xfrm>
            <a:off x="457200" y="4069080"/>
            <a:ext cx="8229600" cy="292608"/>
          </a:xfrm>
          <a:prstGeom prst="rect">
            <a:avLst/>
          </a:prstGeom>
          <a:solidFill>
            <a:srgbClr val="F2F8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69"/>
          <p:cNvSpPr/>
          <p:nvPr/>
        </p:nvSpPr>
        <p:spPr>
          <a:xfrm>
            <a:off x="457200" y="4069080"/>
            <a:ext cx="54864" cy="292608"/>
          </a:xfrm>
          <a:prstGeom prst="rect">
            <a:avLst/>
          </a:prstGeom>
          <a:solidFill>
            <a:srgbClr val="7A9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0"/>
          <p:cNvSpPr/>
          <p:nvPr/>
        </p:nvSpPr>
        <p:spPr>
          <a:xfrm>
            <a:off x="594360" y="40690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3:45–4:30</a:t>
            </a:r>
            <a:endParaRPr lang="en-US" sz="800" dirty="0"/>
          </a:p>
        </p:txBody>
      </p:sp>
      <p:sp>
        <p:nvSpPr>
          <p:cNvPr id="75" name="Text 71"/>
          <p:cNvSpPr/>
          <p:nvPr/>
        </p:nvSpPr>
        <p:spPr>
          <a:xfrm>
            <a:off x="1463040" y="40690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BLOCK #4: Callbacks</a:t>
            </a:r>
            <a:endParaRPr lang="en-US" sz="850" dirty="0"/>
          </a:p>
        </p:txBody>
      </p:sp>
      <p:sp>
        <p:nvSpPr>
          <p:cNvPr id="76" name="Shape 72"/>
          <p:cNvSpPr/>
          <p:nvPr/>
        </p:nvSpPr>
        <p:spPr>
          <a:xfrm>
            <a:off x="3703320" y="4114800"/>
            <a:ext cx="594360" cy="182880"/>
          </a:xfrm>
          <a:prstGeom prst="rect">
            <a:avLst/>
          </a:prstGeom>
          <a:solidFill>
            <a:srgbClr val="7A9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3"/>
          <p:cNvSpPr/>
          <p:nvPr/>
        </p:nvSpPr>
        <p:spPr>
          <a:xfrm>
            <a:off x="3703320" y="411480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650" dirty="0"/>
          </a:p>
        </p:txBody>
      </p:sp>
      <p:sp>
        <p:nvSpPr>
          <p:cNvPr id="78" name="Text 74"/>
          <p:cNvSpPr/>
          <p:nvPr/>
        </p:nvSpPr>
        <p:spPr>
          <a:xfrm>
            <a:off x="4389120" y="40690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Call back everyone who didn’t pick up this morning. Late afternoon = owner availability</a:t>
            </a: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750" dirty="0"/>
          </a:p>
        </p:txBody>
      </p:sp>
      <p:sp>
        <p:nvSpPr>
          <p:cNvPr id="79" name="Shape 75"/>
          <p:cNvSpPr/>
          <p:nvPr/>
        </p:nvSpPr>
        <p:spPr>
          <a:xfrm>
            <a:off x="457200" y="4389120"/>
            <a:ext cx="82296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6"/>
          <p:cNvSpPr/>
          <p:nvPr/>
        </p:nvSpPr>
        <p:spPr>
          <a:xfrm>
            <a:off x="457200" y="4389120"/>
            <a:ext cx="54864" cy="292608"/>
          </a:xfrm>
          <a:prstGeom prst="rect">
            <a:avLst/>
          </a:prstGeom>
          <a:solidFill>
            <a:srgbClr val="C67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7"/>
          <p:cNvSpPr/>
          <p:nvPr/>
        </p:nvSpPr>
        <p:spPr>
          <a:xfrm>
            <a:off x="594360" y="43891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4:30–5:00</a:t>
            </a:r>
            <a:endParaRPr lang="en-US" sz="800" dirty="0"/>
          </a:p>
        </p:txBody>
      </p:sp>
      <p:sp>
        <p:nvSpPr>
          <p:cNvPr id="82" name="Text 78"/>
          <p:cNvSpPr/>
          <p:nvPr/>
        </p:nvSpPr>
        <p:spPr>
          <a:xfrm>
            <a:off x="1463040" y="43891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EOD Wrap-Up</a:t>
            </a:r>
            <a:endParaRPr lang="en-US" sz="850" dirty="0"/>
          </a:p>
        </p:txBody>
      </p:sp>
      <p:sp>
        <p:nvSpPr>
          <p:cNvPr id="83" name="Shape 79"/>
          <p:cNvSpPr/>
          <p:nvPr/>
        </p:nvSpPr>
        <p:spPr>
          <a:xfrm>
            <a:off x="3703320" y="4434840"/>
            <a:ext cx="594360" cy="182880"/>
          </a:xfrm>
          <a:prstGeom prst="rect">
            <a:avLst/>
          </a:prstGeom>
          <a:solidFill>
            <a:srgbClr val="C67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80"/>
          <p:cNvSpPr/>
          <p:nvPr/>
        </p:nvSpPr>
        <p:spPr>
          <a:xfrm>
            <a:off x="3703320" y="443484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650" dirty="0"/>
          </a:p>
        </p:txBody>
      </p:sp>
      <p:sp>
        <p:nvSpPr>
          <p:cNvPr id="85" name="Text 81"/>
          <p:cNvSpPr/>
          <p:nvPr/>
        </p:nvSpPr>
        <p:spPr>
          <a:xfrm>
            <a:off x="4389120" y="43891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Final CRM updates, review daily activity, prep tomorrow’s priorities.</a:t>
            </a:r>
            <a:endParaRPr lang="en-US" sz="750" dirty="0"/>
          </a:p>
        </p:txBody>
      </p:sp>
      <p:sp>
        <p:nvSpPr>
          <p:cNvPr id="88" name="Text 84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89" name="Shape 85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6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67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500" dirty="0">
                <a:solidFill>
                  <a:srgbClr val="C6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TACTICS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17373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Blocks, Tiered</a:t>
            </a:r>
            <a:endParaRPr lang="en-US" sz="3600" dirty="0"/>
          </a:p>
          <a:p>
            <a:pPr marL="0" indent="0">
              <a:buNone/>
            </a:pPr>
            <a:r>
              <a:rPr lang="en-US" sz="3600" b="1" kern="0" spc="300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Lists &amp; Energy Management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3152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tactics that turn a time-managed day into a pipeline-generating machine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3200400"/>
            <a:ext cx="1828800" cy="36576"/>
          </a:xfrm>
          <a:prstGeom prst="rect">
            <a:avLst/>
          </a:prstGeom>
          <a:solidFill>
            <a:srgbClr val="C67B5C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Blocks &amp; Tiered Dial Lists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C67B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8686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457200" y="868680"/>
            <a:ext cx="3931920" cy="411480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594360" y="868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BLOCK RULES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1371600"/>
            <a:ext cx="3749040" cy="457200"/>
          </a:xfrm>
          <a:prstGeom prst="rect">
            <a:avLst/>
          </a:prstGeom>
          <a:solidFill>
            <a:srgbClr val="F5F0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548640" y="1371600"/>
            <a:ext cx="54864" cy="457200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685800" y="138988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minutes minimum, no interruptions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685800" y="159105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Less than 90 min and you never hit flow state. Protect this ruthlessly.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548640" y="1883664"/>
            <a:ext cx="37490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48640" y="1883664"/>
            <a:ext cx="54864" cy="457200"/>
          </a:xfrm>
          <a:prstGeom prst="rect">
            <a:avLst/>
          </a:prstGeom>
          <a:solidFill>
            <a:srgbClr val="C67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85800" y="190195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email, Slack, and all notifications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85800" y="210312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One Slack notification resets 23 minutes of focus. Kill the distractions.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548640" y="2395728"/>
            <a:ext cx="3749040" cy="457200"/>
          </a:xfrm>
          <a:prstGeom prst="rect">
            <a:avLst/>
          </a:prstGeom>
          <a:solidFill>
            <a:srgbClr val="F5F0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48640" y="2395728"/>
            <a:ext cx="54864" cy="457200"/>
          </a:xfrm>
          <a:prstGeom prst="rect">
            <a:avLst/>
          </a:prstGeom>
          <a:solidFill>
            <a:srgbClr val="7A9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85800" y="241401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Pre-load your dial list before the block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685800" y="261518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Don’t waste green time researching. That’s yellow work. Do it beforehand</a:t>
            </a:r>
            <a:r>
              <a:rPr lang="en-US" sz="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548640" y="2907792"/>
            <a:ext cx="37490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548640" y="2907792"/>
            <a:ext cx="54864" cy="457200"/>
          </a:xfrm>
          <a:prstGeom prst="rect">
            <a:avLst/>
          </a:prstGeom>
          <a:solidFill>
            <a:srgbClr val="8B6F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685800" y="292608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dial target, not a time target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85800" y="312724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“I’ll make 30 dials” beats “I’ll dial for an hour.” Targets create urgency.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548640" y="3419856"/>
            <a:ext cx="3749040" cy="457200"/>
          </a:xfrm>
          <a:prstGeom prst="rect">
            <a:avLst/>
          </a:prstGeom>
          <a:solidFill>
            <a:srgbClr val="F5F0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548640" y="3419856"/>
            <a:ext cx="54864" cy="457200"/>
          </a:xfrm>
          <a:prstGeom prst="rect">
            <a:avLst/>
          </a:prstGeom>
          <a:solidFill>
            <a:srgbClr val="6B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685800" y="343814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stop for a bad call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85800" y="363931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Rejection is expected. The next dial is the only response. Keep moving.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548640" y="3931920"/>
            <a:ext cx="37490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548640" y="3931920"/>
            <a:ext cx="54864" cy="457200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685800" y="395020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after the block, not during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685800" y="415137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Batch your CRM updates in a yellow window. Don’t break flow to log</a:t>
            </a:r>
            <a:r>
              <a:rPr lang="en-US" sz="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4754880" y="8686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4754880" y="868680"/>
            <a:ext cx="3931920" cy="411480"/>
          </a:xfrm>
          <a:prstGeom prst="rect">
            <a:avLst/>
          </a:prstGeom>
          <a:solidFill>
            <a:srgbClr val="C67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4892040" y="868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DIAL LISTS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4846320" y="1371600"/>
            <a:ext cx="3749040" cy="685800"/>
          </a:xfrm>
          <a:prstGeom prst="rect">
            <a:avLst/>
          </a:prstGeom>
          <a:solidFill>
            <a:srgbClr val="F5F0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4846320" y="1371600"/>
            <a:ext cx="54864" cy="685800"/>
          </a:xfrm>
          <a:prstGeom prst="rect">
            <a:avLst/>
          </a:prstGeom>
          <a:solidFill>
            <a:srgbClr val="6B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4983480" y="1399032"/>
            <a:ext cx="777240" cy="182880"/>
          </a:xfrm>
          <a:prstGeom prst="rect">
            <a:avLst/>
          </a:prstGeom>
          <a:solidFill>
            <a:srgbClr val="6B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4983480" y="139903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LIST</a:t>
            </a:r>
            <a:endParaRPr lang="en-US" sz="750" dirty="0"/>
          </a:p>
        </p:txBody>
      </p:sp>
      <p:sp>
        <p:nvSpPr>
          <p:cNvPr id="40" name="Text 36"/>
          <p:cNvSpPr/>
          <p:nvPr/>
        </p:nvSpPr>
        <p:spPr>
          <a:xfrm>
            <a:off x="5806440" y="1399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accounts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4983480" y="161848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trigger, DM identified, ready to call NOW. Callbacks, warm leads, recent engagement. Dial these first in your morning power block.</a:t>
            </a:r>
            <a:endParaRPr lang="en-US" sz="750" dirty="0"/>
          </a:p>
        </p:txBody>
      </p:sp>
      <p:sp>
        <p:nvSpPr>
          <p:cNvPr id="42" name="Text 38"/>
          <p:cNvSpPr/>
          <p:nvPr/>
        </p:nvSpPr>
        <p:spPr>
          <a:xfrm>
            <a:off x="4983480" y="1865376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Power Block #1 (9:00 AM)</a:t>
            </a:r>
            <a:endParaRPr lang="en-US" sz="750" dirty="0"/>
          </a:p>
        </p:txBody>
      </p:sp>
      <p:sp>
        <p:nvSpPr>
          <p:cNvPr id="43" name="Shape 39"/>
          <p:cNvSpPr/>
          <p:nvPr/>
        </p:nvSpPr>
        <p:spPr>
          <a:xfrm>
            <a:off x="4846320" y="2130552"/>
            <a:ext cx="374904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0"/>
          <p:cNvSpPr/>
          <p:nvPr/>
        </p:nvSpPr>
        <p:spPr>
          <a:xfrm>
            <a:off x="4846320" y="2130552"/>
            <a:ext cx="54864" cy="685800"/>
          </a:xfrm>
          <a:prstGeom prst="rect">
            <a:avLst/>
          </a:prstGeom>
          <a:solidFill>
            <a:srgbClr val="C67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1"/>
          <p:cNvSpPr/>
          <p:nvPr/>
        </p:nvSpPr>
        <p:spPr>
          <a:xfrm>
            <a:off x="4983480" y="2157984"/>
            <a:ext cx="777240" cy="182880"/>
          </a:xfrm>
          <a:prstGeom prst="rect">
            <a:avLst/>
          </a:prstGeom>
          <a:solidFill>
            <a:srgbClr val="C67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2"/>
          <p:cNvSpPr/>
          <p:nvPr/>
        </p:nvSpPr>
        <p:spPr>
          <a:xfrm>
            <a:off x="4983480" y="215798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LIST</a:t>
            </a:r>
            <a:endParaRPr lang="en-US" sz="750" dirty="0"/>
          </a:p>
        </p:txBody>
      </p:sp>
      <p:sp>
        <p:nvSpPr>
          <p:cNvPr id="47" name="Text 43"/>
          <p:cNvSpPr/>
          <p:nvPr/>
        </p:nvSpPr>
        <p:spPr>
          <a:xfrm>
            <a:off x="5806440" y="21579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6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 accounts</a:t>
            </a:r>
            <a:endParaRPr lang="en-US" sz="800" dirty="0"/>
          </a:p>
        </p:txBody>
      </p:sp>
      <p:sp>
        <p:nvSpPr>
          <p:cNvPr id="48" name="Text 44"/>
          <p:cNvSpPr/>
          <p:nvPr/>
        </p:nvSpPr>
        <p:spPr>
          <a:xfrm>
            <a:off x="4983480" y="23774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fit confirmed, trigger found, pre-call research done. Connected on LinkedIn. Not yet engaged by phone.</a:t>
            </a:r>
            <a:endParaRPr lang="en-US" sz="750" dirty="0"/>
          </a:p>
        </p:txBody>
      </p:sp>
      <p:sp>
        <p:nvSpPr>
          <p:cNvPr id="49" name="Text 45"/>
          <p:cNvSpPr/>
          <p:nvPr/>
        </p:nvSpPr>
        <p:spPr>
          <a:xfrm>
            <a:off x="4983480" y="2624328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Power Block #2 (11:00 AM)</a:t>
            </a:r>
            <a:endParaRPr lang="en-US" sz="750" dirty="0"/>
          </a:p>
        </p:txBody>
      </p:sp>
      <p:sp>
        <p:nvSpPr>
          <p:cNvPr id="50" name="Shape 46"/>
          <p:cNvSpPr/>
          <p:nvPr/>
        </p:nvSpPr>
        <p:spPr>
          <a:xfrm>
            <a:off x="4846320" y="2889504"/>
            <a:ext cx="3749040" cy="685800"/>
          </a:xfrm>
          <a:prstGeom prst="rect">
            <a:avLst/>
          </a:prstGeom>
          <a:solidFill>
            <a:srgbClr val="F5F0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7"/>
          <p:cNvSpPr/>
          <p:nvPr/>
        </p:nvSpPr>
        <p:spPr>
          <a:xfrm>
            <a:off x="4846320" y="2889504"/>
            <a:ext cx="54864" cy="685800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48"/>
          <p:cNvSpPr/>
          <p:nvPr/>
        </p:nvSpPr>
        <p:spPr>
          <a:xfrm>
            <a:off x="4983480" y="2916936"/>
            <a:ext cx="777240" cy="182880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49"/>
          <p:cNvSpPr/>
          <p:nvPr/>
        </p:nvSpPr>
        <p:spPr>
          <a:xfrm>
            <a:off x="4983480" y="291693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LIST</a:t>
            </a:r>
            <a:endParaRPr lang="en-US" sz="750" dirty="0"/>
          </a:p>
        </p:txBody>
      </p:sp>
      <p:sp>
        <p:nvSpPr>
          <p:cNvPr id="54" name="Text 50"/>
          <p:cNvSpPr/>
          <p:nvPr/>
        </p:nvSpPr>
        <p:spPr>
          <a:xfrm>
            <a:off x="5806440" y="29169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25–50 accounts</a:t>
            </a:r>
            <a:endParaRPr lang="en-US" sz="800" dirty="0"/>
          </a:p>
        </p:txBody>
      </p:sp>
      <p:sp>
        <p:nvSpPr>
          <p:cNvPr id="55" name="Text 51"/>
          <p:cNvSpPr/>
          <p:nvPr/>
        </p:nvSpPr>
        <p:spPr>
          <a:xfrm>
            <a:off x="4983480" y="313639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fit but no trigger yet. New territory. First-time outreach. Volume play — this is where grit lives.</a:t>
            </a:r>
            <a:endParaRPr lang="en-US" sz="750" dirty="0"/>
          </a:p>
        </p:txBody>
      </p:sp>
      <p:sp>
        <p:nvSpPr>
          <p:cNvPr id="56" name="Text 52"/>
          <p:cNvSpPr/>
          <p:nvPr/>
        </p:nvSpPr>
        <p:spPr>
          <a:xfrm>
            <a:off x="4983480" y="3383280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Power Block #3 (1:00 PM)</a:t>
            </a:r>
            <a:endParaRPr lang="en-US" sz="750" dirty="0"/>
          </a:p>
        </p:txBody>
      </p:sp>
      <p:sp>
        <p:nvSpPr>
          <p:cNvPr id="57" name="Shape 53"/>
          <p:cNvSpPr/>
          <p:nvPr/>
        </p:nvSpPr>
        <p:spPr>
          <a:xfrm>
            <a:off x="4846320" y="3648456"/>
            <a:ext cx="374904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4"/>
          <p:cNvSpPr/>
          <p:nvPr/>
        </p:nvSpPr>
        <p:spPr>
          <a:xfrm>
            <a:off x="4846320" y="3648456"/>
            <a:ext cx="54864" cy="685800"/>
          </a:xfrm>
          <a:prstGeom prst="rect">
            <a:avLst/>
          </a:prstGeom>
          <a:solidFill>
            <a:srgbClr val="7A9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5"/>
          <p:cNvSpPr/>
          <p:nvPr/>
        </p:nvSpPr>
        <p:spPr>
          <a:xfrm>
            <a:off x="4983480" y="3675888"/>
            <a:ext cx="777240" cy="182880"/>
          </a:xfrm>
          <a:prstGeom prst="rect">
            <a:avLst/>
          </a:prstGeom>
          <a:solidFill>
            <a:srgbClr val="7A9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6"/>
          <p:cNvSpPr/>
          <p:nvPr/>
        </p:nvSpPr>
        <p:spPr>
          <a:xfrm>
            <a:off x="4983480" y="36758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LIST</a:t>
            </a:r>
            <a:endParaRPr lang="en-US" sz="750" dirty="0"/>
          </a:p>
        </p:txBody>
      </p:sp>
      <p:sp>
        <p:nvSpPr>
          <p:cNvPr id="61" name="Text 57"/>
          <p:cNvSpPr/>
          <p:nvPr/>
        </p:nvSpPr>
        <p:spPr>
          <a:xfrm>
            <a:off x="5806440" y="36758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800" dirty="0"/>
          </a:p>
        </p:txBody>
      </p:sp>
      <p:sp>
        <p:nvSpPr>
          <p:cNvPr id="62" name="Text 58"/>
          <p:cNvSpPr/>
          <p:nvPr/>
        </p:nvSpPr>
        <p:spPr>
          <a:xfrm>
            <a:off x="4983480" y="389534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who didn’t pick up today. Re-sorted by priority. Late afternoon = higher owner availability.</a:t>
            </a:r>
            <a:endParaRPr lang="en-US" sz="750" dirty="0"/>
          </a:p>
        </p:txBody>
      </p:sp>
      <p:sp>
        <p:nvSpPr>
          <p:cNvPr id="63" name="Text 59"/>
          <p:cNvSpPr/>
          <p:nvPr/>
        </p:nvSpPr>
        <p:spPr>
          <a:xfrm>
            <a:off x="4983480" y="4142232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Power Block #4 (3:45 PM)</a:t>
            </a:r>
            <a:endParaRPr lang="en-US" sz="750" dirty="0"/>
          </a:p>
        </p:txBody>
      </p:sp>
      <p:sp>
        <p:nvSpPr>
          <p:cNvPr id="64" name="Text 60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65" name="Shape 61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2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 Management — Match Tasks to Your Battery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7A9E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1E2A3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40080" y="868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 without energy management is useless. You have 2–3 hours of peak cognitive performance per day. Waste them on email and you’ll never hit your number.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457200" y="1463040"/>
            <a:ext cx="54864" cy="914400"/>
          </a:xfrm>
          <a:prstGeom prst="rect">
            <a:avLst/>
          </a:prstGeom>
          <a:solidFill>
            <a:srgbClr val="7A9E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155448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14904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ENERGY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960120" y="17099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9:00–11:30 AM (most reps)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2880360" y="1508760"/>
            <a:ext cx="36576" cy="822960"/>
          </a:xfrm>
          <a:prstGeom prst="rect">
            <a:avLst/>
          </a:prstGeom>
          <a:solidFill>
            <a:srgbClr val="7A9E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520" y="1508760"/>
            <a:ext cx="164592" cy="1645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218688" y="14904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Do: Cold calls, discovery conversations, demos, difficult follow-ups, closing calls</a:t>
            </a:r>
            <a:endParaRPr lang="en-US" sz="8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7520" y="1938528"/>
            <a:ext cx="164592" cy="16459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218688" y="1920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Email, CRM updates, Slack, internal meetings, passive research</a:t>
            </a:r>
            <a:endParaRPr lang="en-US" sz="800" dirty="0"/>
          </a:p>
        </p:txBody>
      </p:sp>
      <p:sp>
        <p:nvSpPr>
          <p:cNvPr id="18" name="Shape 11"/>
          <p:cNvSpPr/>
          <p:nvPr/>
        </p:nvSpPr>
        <p:spPr>
          <a:xfrm>
            <a:off x="457200" y="251460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2"/>
          <p:cNvSpPr/>
          <p:nvPr/>
        </p:nvSpPr>
        <p:spPr>
          <a:xfrm>
            <a:off x="457200" y="2514600"/>
            <a:ext cx="54864" cy="914400"/>
          </a:xfrm>
          <a:prstGeom prst="rect">
            <a:avLst/>
          </a:prstGeom>
          <a:solidFill>
            <a:srgbClr val="C67B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2606040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60120" y="2542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ENERGY</a:t>
            </a:r>
            <a:endParaRPr lang="en-US" sz="1100" dirty="0"/>
          </a:p>
        </p:txBody>
      </p:sp>
      <p:sp>
        <p:nvSpPr>
          <p:cNvPr id="22" name="Text 14"/>
          <p:cNvSpPr/>
          <p:nvPr/>
        </p:nvSpPr>
        <p:spPr>
          <a:xfrm>
            <a:off x="960120" y="27614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6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12:30–3:00 PM</a:t>
            </a:r>
            <a:endParaRPr lang="en-US" sz="850" dirty="0"/>
          </a:p>
        </p:txBody>
      </p:sp>
      <p:sp>
        <p:nvSpPr>
          <p:cNvPr id="23" name="Shape 15"/>
          <p:cNvSpPr/>
          <p:nvPr/>
        </p:nvSpPr>
        <p:spPr>
          <a:xfrm>
            <a:off x="2880360" y="2560320"/>
            <a:ext cx="36576" cy="822960"/>
          </a:xfrm>
          <a:prstGeom prst="rect">
            <a:avLst/>
          </a:prstGeom>
          <a:solidFill>
            <a:srgbClr val="C67B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520" y="2560320"/>
            <a:ext cx="164592" cy="16459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3218688" y="25420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Do: LinkedIn outreach, pre-call research, email sequences, proposal prep, callback list</a:t>
            </a:r>
            <a:endParaRPr lang="en-US" sz="8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7520" y="2990088"/>
            <a:ext cx="164592" cy="16459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218688" y="2971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New cold outreach into tough accounts (save for peak), complex negotiations</a:t>
            </a:r>
            <a:endParaRPr lang="en-US" sz="800" dirty="0"/>
          </a:p>
        </p:txBody>
      </p:sp>
      <p:sp>
        <p:nvSpPr>
          <p:cNvPr id="28" name="Shape 18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19"/>
          <p:cNvSpPr/>
          <p:nvPr/>
        </p:nvSpPr>
        <p:spPr>
          <a:xfrm>
            <a:off x="457200" y="3566160"/>
            <a:ext cx="54864" cy="914400"/>
          </a:xfrm>
          <a:prstGeom prst="rect">
            <a:avLst/>
          </a:prstGeom>
          <a:solidFill>
            <a:srgbClr val="6B3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" y="3657600"/>
            <a:ext cx="274320" cy="27432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60120" y="3593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ENERGY</a:t>
            </a:r>
            <a:endParaRPr lang="en-US" sz="1100" dirty="0"/>
          </a:p>
        </p:txBody>
      </p:sp>
      <p:sp>
        <p:nvSpPr>
          <p:cNvPr id="32" name="Text 21"/>
          <p:cNvSpPr/>
          <p:nvPr/>
        </p:nvSpPr>
        <p:spPr>
          <a:xfrm>
            <a:off x="960120" y="38130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3:30–5:00 PM (most reps)</a:t>
            </a:r>
            <a:endParaRPr lang="en-US" sz="850" dirty="0"/>
          </a:p>
        </p:txBody>
      </p:sp>
      <p:sp>
        <p:nvSpPr>
          <p:cNvPr id="33" name="Shape 22"/>
          <p:cNvSpPr/>
          <p:nvPr/>
        </p:nvSpPr>
        <p:spPr>
          <a:xfrm>
            <a:off x="2880360" y="3611880"/>
            <a:ext cx="36576" cy="822960"/>
          </a:xfrm>
          <a:prstGeom prst="rect">
            <a:avLst/>
          </a:prstGeom>
          <a:solidFill>
            <a:srgbClr val="6B3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520" y="3611880"/>
            <a:ext cx="164592" cy="164592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3218688" y="35935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Do: CRM cleanup, admin, pipeline review, tomorrow’s prep, team Slack, easy callbacks</a:t>
            </a:r>
            <a:endParaRPr lang="en-US" sz="800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7520" y="4041648"/>
            <a:ext cx="164592" cy="164592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3218688" y="4023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First-time cold calls, discovery on enterprise accounts, demo prep for tomorrow</a:t>
            </a:r>
            <a:endParaRPr lang="en-US" sz="800" dirty="0"/>
          </a:p>
        </p:txBody>
      </p:sp>
      <p:sp>
        <p:nvSpPr>
          <p:cNvPr id="40" name="Text 27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41" name="Shape 28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29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7 Time Killers — And How to Eliminate Them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6B3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457200" y="868680"/>
            <a:ext cx="54864" cy="457200"/>
          </a:xfrm>
          <a:prstGeom prst="rect">
            <a:avLst/>
          </a:prstGeom>
          <a:solidFill>
            <a:srgbClr val="C67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594360" y="868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914400" y="868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email during power blocks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996696"/>
            <a:ext cx="146304" cy="14630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840480" y="868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your inbox. Batch email in yellow windows only. Nothing in your inbox is more urgent than the next dial.</a:t>
            </a:r>
            <a:endParaRPr lang="en-US" sz="850" dirty="0"/>
          </a:p>
        </p:txBody>
      </p:sp>
      <p:sp>
        <p:nvSpPr>
          <p:cNvPr id="12" name="Shape 7"/>
          <p:cNvSpPr/>
          <p:nvPr/>
        </p:nvSpPr>
        <p:spPr>
          <a:xfrm>
            <a:off x="457200" y="1399032"/>
            <a:ext cx="8229600" cy="457200"/>
          </a:xfrm>
          <a:prstGeom prst="rect">
            <a:avLst/>
          </a:prstGeom>
          <a:solidFill>
            <a:srgbClr val="F5F0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457200" y="1399032"/>
            <a:ext cx="54864" cy="457200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594360" y="139903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914400" y="13990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Slack/Teams rabbit holes</a:t>
            </a:r>
            <a:endParaRPr lang="en-US" sz="9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1527048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840480" y="13990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 channels during green hours. Set a status: “Dialing — available at 10:30.” Your pipeline doesn’t come from Slack.</a:t>
            </a:r>
            <a:endParaRPr lang="en-US" sz="850" dirty="0"/>
          </a:p>
        </p:txBody>
      </p:sp>
      <p:sp>
        <p:nvSpPr>
          <p:cNvPr id="18" name="Shape 12"/>
          <p:cNvSpPr/>
          <p:nvPr/>
        </p:nvSpPr>
        <p:spPr>
          <a:xfrm>
            <a:off x="457200" y="1929384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457200" y="1929384"/>
            <a:ext cx="54864" cy="457200"/>
          </a:xfrm>
          <a:prstGeom prst="rect">
            <a:avLst/>
          </a:prstGeom>
          <a:solidFill>
            <a:srgbClr val="7A9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594360" y="192938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914400" y="192938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Researching during dial time</a:t>
            </a:r>
            <a:endParaRPr lang="en-US" sz="9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2057400"/>
            <a:ext cx="146304" cy="14630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840480" y="192938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is yellow work. Do it BEFORE the power block. Pre-load your dial list the afternoon before.</a:t>
            </a:r>
            <a:endParaRPr lang="en-US" sz="850" dirty="0"/>
          </a:p>
        </p:txBody>
      </p:sp>
      <p:sp>
        <p:nvSpPr>
          <p:cNvPr id="24" name="Shape 17"/>
          <p:cNvSpPr/>
          <p:nvPr/>
        </p:nvSpPr>
        <p:spPr>
          <a:xfrm>
            <a:off x="457200" y="2459736"/>
            <a:ext cx="8229600" cy="457200"/>
          </a:xfrm>
          <a:prstGeom prst="rect">
            <a:avLst/>
          </a:prstGeom>
          <a:solidFill>
            <a:srgbClr val="F5F0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8"/>
          <p:cNvSpPr/>
          <p:nvPr/>
        </p:nvSpPr>
        <p:spPr>
          <a:xfrm>
            <a:off x="457200" y="2459736"/>
            <a:ext cx="54864" cy="457200"/>
          </a:xfrm>
          <a:prstGeom prst="rect">
            <a:avLst/>
          </a:prstGeom>
          <a:solidFill>
            <a:srgbClr val="8B6F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/>
          <p:nvPr/>
        </p:nvSpPr>
        <p:spPr>
          <a:xfrm>
            <a:off x="594360" y="245973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914400" y="245973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Perfecting emails instead of sending</a:t>
            </a:r>
            <a:endParaRPr lang="en-US" sz="95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2587752"/>
            <a:ext cx="146304" cy="14630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840480" y="245973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is good enough. Send it. The perfect email you never send generates zero pipeline.</a:t>
            </a:r>
            <a:endParaRPr lang="en-US" sz="850" dirty="0"/>
          </a:p>
        </p:txBody>
      </p:sp>
      <p:sp>
        <p:nvSpPr>
          <p:cNvPr id="30" name="Shape 22"/>
          <p:cNvSpPr/>
          <p:nvPr/>
        </p:nvSpPr>
        <p:spPr>
          <a:xfrm>
            <a:off x="457200" y="2990088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3"/>
          <p:cNvSpPr/>
          <p:nvPr/>
        </p:nvSpPr>
        <p:spPr>
          <a:xfrm>
            <a:off x="457200" y="2990088"/>
            <a:ext cx="54864" cy="457200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4"/>
          <p:cNvSpPr/>
          <p:nvPr/>
        </p:nvSpPr>
        <p:spPr>
          <a:xfrm>
            <a:off x="594360" y="299008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914400" y="29900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updating after every call</a:t>
            </a:r>
            <a:endParaRPr lang="en-US" sz="95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118104"/>
            <a:ext cx="146304" cy="14630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3840480" y="29900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CRM updates after each power block. Quick notes during, full updates after. Don’t break flow.</a:t>
            </a:r>
            <a:endParaRPr lang="en-US" sz="850" dirty="0"/>
          </a:p>
        </p:txBody>
      </p:sp>
      <p:sp>
        <p:nvSpPr>
          <p:cNvPr id="36" name="Shape 27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solidFill>
            <a:srgbClr val="F5F0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28"/>
          <p:cNvSpPr/>
          <p:nvPr/>
        </p:nvSpPr>
        <p:spPr>
          <a:xfrm>
            <a:off x="457200" y="3520440"/>
            <a:ext cx="54864" cy="457200"/>
          </a:xfrm>
          <a:prstGeom prst="rect">
            <a:avLst/>
          </a:prstGeom>
          <a:solidFill>
            <a:srgbClr val="C67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29"/>
          <p:cNvSpPr/>
          <p:nvPr/>
        </p:nvSpPr>
        <p:spPr>
          <a:xfrm>
            <a:off x="594360" y="3520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914400" y="3520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Attending meetings you don’t need to be in</a:t>
            </a:r>
            <a:endParaRPr lang="en-US" sz="950" dirty="0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648456"/>
            <a:ext cx="146304" cy="146304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3840480" y="3520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meetings that don’t require your input. Block your calendar for green hours. Protect your time.</a:t>
            </a:r>
            <a:endParaRPr lang="en-US" sz="850" dirty="0"/>
          </a:p>
        </p:txBody>
      </p:sp>
      <p:sp>
        <p:nvSpPr>
          <p:cNvPr id="42" name="Shape 32"/>
          <p:cNvSpPr/>
          <p:nvPr/>
        </p:nvSpPr>
        <p:spPr>
          <a:xfrm>
            <a:off x="457200" y="4050792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33"/>
          <p:cNvSpPr/>
          <p:nvPr/>
        </p:nvSpPr>
        <p:spPr>
          <a:xfrm>
            <a:off x="457200" y="4050792"/>
            <a:ext cx="54864" cy="457200"/>
          </a:xfrm>
          <a:prstGeom prst="rect">
            <a:avLst/>
          </a:prstGeom>
          <a:solidFill>
            <a:srgbClr val="6B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34"/>
          <p:cNvSpPr/>
          <p:nvPr/>
        </p:nvSpPr>
        <p:spPr>
          <a:xfrm>
            <a:off x="594360" y="405079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</a:t>
            </a:r>
            <a:endParaRPr lang="en-US" sz="1100" dirty="0"/>
          </a:p>
        </p:txBody>
      </p:sp>
      <p:sp>
        <p:nvSpPr>
          <p:cNvPr id="45" name="Text 35"/>
          <p:cNvSpPr/>
          <p:nvPr/>
        </p:nvSpPr>
        <p:spPr>
          <a:xfrm>
            <a:off x="914400" y="40507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the day without a plan</a:t>
            </a:r>
            <a:endParaRPr lang="en-US" sz="950" dirty="0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4178808"/>
            <a:ext cx="146304" cy="146304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3840480" y="40507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15 minutes the night before or first thing: tiered list built, research done, priorities set.</a:t>
            </a:r>
            <a:endParaRPr lang="en-US" sz="850" dirty="0"/>
          </a:p>
        </p:txBody>
      </p:sp>
      <p:sp>
        <p:nvSpPr>
          <p:cNvPr id="48" name="Text 37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49" name="Shape 38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39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&amp; Self-Assessment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7A9E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868680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365760" y="868680"/>
            <a:ext cx="4114800" cy="411480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548640" y="868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&amp; PRACTICE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1856232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your current day in Green/Yellow/Red. Be brutally honest. How many hours are truly Green? Bring your audit.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 Power Blocks on your calendar for tomorrow. Treat them like client meetings — non-movable, non-cancellable.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tiered dial list tonight: Hot (10–15), Warm (15–25), Cold (25–50). Have it ready before you sit down tomorrow.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your energy levels every hour for 3 days. When do you peak? When do you crash? Reorganize your day to match.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your #1 time killer from the list on slide 8. Eliminate it for one full week. Track the impact on your dials.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daily dial target for your power blocks (not a time target). Compare your connect rate week-over-week.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4663440" y="868680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663440" y="868680"/>
            <a:ext cx="4114800" cy="411480"/>
          </a:xfrm>
          <a:prstGeom prst="rect">
            <a:avLst/>
          </a:prstGeom>
          <a:solidFill>
            <a:srgbClr val="C67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846320" y="868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SELF-ASSESSMENT (1–5 SCALE)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754880" y="1371600"/>
            <a:ext cx="3931920" cy="457200"/>
          </a:xfrm>
          <a:prstGeom prst="rect">
            <a:avLst/>
          </a:prstGeom>
          <a:solidFill>
            <a:srgbClr val="F5F0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754880" y="1371600"/>
            <a:ext cx="54864" cy="457200"/>
          </a:xfrm>
          <a:prstGeom prst="rect">
            <a:avLst/>
          </a:prstGeom>
          <a:solidFill>
            <a:srgbClr val="C67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892040" y="138988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protect 3–4 hours of Green time daily — no email, no Teams, just dialing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4754880" y="1883664"/>
            <a:ext cx="39319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754880" y="1883664"/>
            <a:ext cx="54864" cy="457200"/>
          </a:xfrm>
          <a:prstGeom prst="rect">
            <a:avLst/>
          </a:prstGeom>
          <a:solidFill>
            <a:srgbClr val="C67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892040" y="190195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build my tiered dial list the night before and start dialing at 9:00 AM sharp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4754880" y="2395728"/>
            <a:ext cx="3931920" cy="457200"/>
          </a:xfrm>
          <a:prstGeom prst="rect">
            <a:avLst/>
          </a:prstGeom>
          <a:solidFill>
            <a:srgbClr val="F5F0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4754880" y="2395728"/>
            <a:ext cx="54864" cy="457200"/>
          </a:xfrm>
          <a:prstGeom prst="rect">
            <a:avLst/>
          </a:prstGeom>
          <a:solidFill>
            <a:srgbClr val="C67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892040" y="241401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batch Yellow work (CRM, email, research) around my Green blocks, never during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4754880" y="2907792"/>
            <a:ext cx="39319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4754880" y="2907792"/>
            <a:ext cx="54864" cy="457200"/>
          </a:xfrm>
          <a:prstGeom prst="rect">
            <a:avLst/>
          </a:prstGeom>
          <a:solidFill>
            <a:srgbClr val="C67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4892040" y="292608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know my peak energy hours and schedule my hardest activities during them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4754880" y="3419856"/>
            <a:ext cx="3931920" cy="457200"/>
          </a:xfrm>
          <a:prstGeom prst="rect">
            <a:avLst/>
          </a:prstGeom>
          <a:solidFill>
            <a:srgbClr val="F5F0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4754880" y="3419856"/>
            <a:ext cx="54864" cy="457200"/>
          </a:xfrm>
          <a:prstGeom prst="rect">
            <a:avLst/>
          </a:prstGeom>
          <a:solidFill>
            <a:srgbClr val="C67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4892040" y="343814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honestly say I spend less than 1 hour per day on Red activities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4754880" y="3931920"/>
            <a:ext cx="39319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4754880" y="3931920"/>
            <a:ext cx="54864" cy="457200"/>
          </a:xfrm>
          <a:prstGeom prst="rect">
            <a:avLst/>
          </a:prstGeom>
          <a:solidFill>
            <a:srgbClr val="C67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4892040" y="395020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use dial targets (not time targets) for my power blocks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4869180" y="42382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yourself 1–5. Below 3 = your coaching focus for next 2 weeks.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67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731520" y="914400"/>
            <a:ext cx="1645920" cy="36576"/>
          </a:xfrm>
          <a:prstGeom prst="rect">
            <a:avLst/>
          </a:prstGeom>
          <a:solidFill>
            <a:srgbClr val="C67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1097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80160" y="10972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revenue. Yellow = support. Red = waste. Know the difference and protect your Green hours ruthlessly.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31520" y="15361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80160" y="15361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Power Blocks daily = 5+ hours of revenue activity. That’s 2x what the average rep does.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31520" y="19751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80160" y="197510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tiered dial list the night before: Hot, Warm, Cold, Callback. Never start a power block without a list.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31520" y="24140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80160" y="241401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email and Teams during Green hours. One notification resets 23 minutes of focus. Kill the distractions.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31520" y="28529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80160" y="28529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tasks to energy: peak hours for cold calls and discovery, moderate for research and email, low for admin.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31520" y="3291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280160" y="32918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dial targets, not time targets. “30 dials” beats “dial for an hour.” Targets create urgency.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31520" y="37307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280160" y="373075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 time killers are predictable: email, Slack, over-researching, perfectionism, real-time CRM, unnecessary meetings, no plan.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31520" y="41696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280160" y="416966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ultimate controllable. You can’t control who picks up. You CAN control how you spend your 8 hours.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31520" y="45720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1844</Words>
  <Application>Microsoft Office PowerPoint</Application>
  <PresentationFormat>On-screen Show (16:9)</PresentationFormat>
  <Paragraphs>237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Terry Moorehead</cp:lastModifiedBy>
  <cp:revision>1</cp:revision>
  <dcterms:created xsi:type="dcterms:W3CDTF">2026-03-11T13:06:45Z</dcterms:created>
  <dcterms:modified xsi:type="dcterms:W3CDTF">2026-03-11T14:11:15Z</dcterms:modified>
</cp:coreProperties>
</file>