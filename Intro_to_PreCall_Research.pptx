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C29629-0753-3B91-E2AE-BEA440EBEFDB}" v="54" dt="2026-03-10T15:41:17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y Moorehead" userId="S::tmoorehead@meevo.com::a2a6df63-b8e3-4cea-aa6c-ded8cdcb5bd7" providerId="AD" clId="Web-{D3C29629-0753-3B91-E2AE-BEA440EBEFDB}"/>
    <pc:docChg chg="modSld">
      <pc:chgData name="Terry Moorehead" userId="S::tmoorehead@meevo.com::a2a6df63-b8e3-4cea-aa6c-ded8cdcb5bd7" providerId="AD" clId="Web-{D3C29629-0753-3B91-E2AE-BEA440EBEFDB}" dt="2026-03-10T15:41:17.043" v="53" actId="1076"/>
      <pc:docMkLst>
        <pc:docMk/>
      </pc:docMkLst>
      <pc:sldChg chg="delSp">
        <pc:chgData name="Terry Moorehead" userId="S::tmoorehead@meevo.com::a2a6df63-b8e3-4cea-aa6c-ded8cdcb5bd7" providerId="AD" clId="Web-{D3C29629-0753-3B91-E2AE-BEA440EBEFDB}" dt="2026-03-10T15:19:57.356" v="0"/>
        <pc:sldMkLst>
          <pc:docMk/>
          <pc:sldMk cId="0" sldId="256"/>
        </pc:sldMkLst>
        <pc:spChg chg="del">
          <ac:chgData name="Terry Moorehead" userId="S::tmoorehead@meevo.com::a2a6df63-b8e3-4cea-aa6c-ded8cdcb5bd7" providerId="AD" clId="Web-{D3C29629-0753-3B91-E2AE-BEA440EBEFDB}" dt="2026-03-10T15:19:57.356" v="0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D3C29629-0753-3B91-E2AE-BEA440EBEFDB}" dt="2026-03-10T15:20:47.731" v="7" actId="20577"/>
        <pc:sldMkLst>
          <pc:docMk/>
          <pc:sldMk cId="0" sldId="258"/>
        </pc:sldMkLst>
        <pc:spChg chg="mod">
          <ac:chgData name="Terry Moorehead" userId="S::tmoorehead@meevo.com::a2a6df63-b8e3-4cea-aa6c-ded8cdcb5bd7" providerId="AD" clId="Web-{D3C29629-0753-3B91-E2AE-BEA440EBEFDB}" dt="2026-03-10T15:20:22.762" v="1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0:38.731" v="4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0:25.824" v="2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0:43.059" v="6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0:30.074" v="3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0:47.731" v="7" actId="20577"/>
          <ac:spMkLst>
            <pc:docMk/>
            <pc:sldMk cId="0" sldId="258"/>
            <ac:spMk id="34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D3C29629-0753-3B91-E2AE-BEA440EBEFDB}" dt="2026-03-10T15:31:51.871" v="22" actId="20577"/>
        <pc:sldMkLst>
          <pc:docMk/>
          <pc:sldMk cId="0" sldId="259"/>
        </pc:sldMkLst>
        <pc:spChg chg="mod">
          <ac:chgData name="Terry Moorehead" userId="S::tmoorehead@meevo.com::a2a6df63-b8e3-4cea-aa6c-ded8cdcb5bd7" providerId="AD" clId="Web-{D3C29629-0753-3B91-E2AE-BEA440EBEFDB}" dt="2026-03-10T15:21:00.574" v="9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4:16.402" v="10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25.652" v="17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4:20.574" v="11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30.215" v="18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24:23.871" v="13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36.309" v="19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11.137" v="14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43.809" v="20" actId="20577"/>
          <ac:spMkLst>
            <pc:docMk/>
            <pc:sldMk cId="0" sldId="259"/>
            <ac:spMk id="33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15.012" v="15" actId="20577"/>
          <ac:spMkLst>
            <pc:docMk/>
            <pc:sldMk cId="0" sldId="259"/>
            <ac:spMk id="38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48.277" v="21" actId="20577"/>
          <ac:spMkLst>
            <pc:docMk/>
            <pc:sldMk cId="0" sldId="259"/>
            <ac:spMk id="40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20.762" v="16" actId="20577"/>
          <ac:spMkLst>
            <pc:docMk/>
            <pc:sldMk cId="0" sldId="259"/>
            <ac:spMk id="45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1:51.871" v="22" actId="20577"/>
          <ac:spMkLst>
            <pc:docMk/>
            <pc:sldMk cId="0" sldId="259"/>
            <ac:spMk id="47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D3C29629-0753-3B91-E2AE-BEA440EBEFDB}" dt="2026-03-10T15:37:58.809" v="29" actId="20577"/>
        <pc:sldMkLst>
          <pc:docMk/>
          <pc:sldMk cId="0" sldId="261"/>
        </pc:sldMkLst>
        <pc:spChg chg="mod">
          <ac:chgData name="Terry Moorehead" userId="S::tmoorehead@meevo.com::a2a6df63-b8e3-4cea-aa6c-ded8cdcb5bd7" providerId="AD" clId="Web-{D3C29629-0753-3B91-E2AE-BEA440EBEFDB}" dt="2026-03-10T15:32:17.184" v="24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7:25.137" v="25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7:31.355" v="26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7:37.496" v="27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7:52.840" v="28" actId="2057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7:58.809" v="29" actId="20577"/>
          <ac:spMkLst>
            <pc:docMk/>
            <pc:sldMk cId="0" sldId="261"/>
            <ac:spMk id="47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D3C29629-0753-3B91-E2AE-BEA440EBEFDB}" dt="2026-03-10T15:38:38.855" v="30" actId="20577"/>
        <pc:sldMkLst>
          <pc:docMk/>
          <pc:sldMk cId="0" sldId="262"/>
        </pc:sldMkLst>
        <pc:spChg chg="mod">
          <ac:chgData name="Terry Moorehead" userId="S::tmoorehead@meevo.com::a2a6df63-b8e3-4cea-aa6c-ded8cdcb5bd7" providerId="AD" clId="Web-{D3C29629-0753-3B91-E2AE-BEA440EBEFDB}" dt="2026-03-10T15:38:38.855" v="30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D3C29629-0753-3B91-E2AE-BEA440EBEFDB}" dt="2026-03-10T15:38:54.590" v="31" actId="20577"/>
        <pc:sldMkLst>
          <pc:docMk/>
          <pc:sldMk cId="0" sldId="263"/>
        </pc:sldMkLst>
        <pc:spChg chg="mod">
          <ac:chgData name="Terry Moorehead" userId="S::tmoorehead@meevo.com::a2a6df63-b8e3-4cea-aa6c-ded8cdcb5bd7" providerId="AD" clId="Web-{D3C29629-0753-3B91-E2AE-BEA440EBEFDB}" dt="2026-03-10T15:38:54.590" v="3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Terry Moorehead" userId="S::tmoorehead@meevo.com::a2a6df63-b8e3-4cea-aa6c-ded8cdcb5bd7" providerId="AD" clId="Web-{D3C29629-0753-3B91-E2AE-BEA440EBEFDB}" dt="2026-03-10T15:41:07.152" v="51" actId="1076"/>
        <pc:sldMkLst>
          <pc:docMk/>
          <pc:sldMk cId="0" sldId="264"/>
        </pc:sldMkLst>
        <pc:spChg chg="mod">
          <ac:chgData name="Terry Moorehead" userId="S::tmoorehead@meevo.com::a2a6df63-b8e3-4cea-aa6c-ded8cdcb5bd7" providerId="AD" clId="Web-{D3C29629-0753-3B91-E2AE-BEA440EBEFDB}" dt="2026-03-10T15:39:15.871" v="33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39:47.793" v="36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0:00.949" v="40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0:17.074" v="42" actId="2057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0:23.340" v="44" actId="2057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0:31.980" v="46" actId="20577"/>
          <ac:spMkLst>
            <pc:docMk/>
            <pc:sldMk cId="0" sldId="264"/>
            <ac:spMk id="32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1:01.605" v="50" actId="20577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1:07.152" v="51" actId="1076"/>
          <ac:spMkLst>
            <pc:docMk/>
            <pc:sldMk cId="0" sldId="264"/>
            <ac:spMk id="37" creationId="{00000000-0000-0000-0000-000000000000}"/>
          </ac:spMkLst>
        </pc:spChg>
      </pc:sldChg>
      <pc:sldChg chg="delSp modSp">
        <pc:chgData name="Terry Moorehead" userId="S::tmoorehead@meevo.com::a2a6df63-b8e3-4cea-aa6c-ded8cdcb5bd7" providerId="AD" clId="Web-{D3C29629-0753-3B91-E2AE-BEA440EBEFDB}" dt="2026-03-10T15:41:17.043" v="53" actId="1076"/>
        <pc:sldMkLst>
          <pc:docMk/>
          <pc:sldMk cId="0" sldId="265"/>
        </pc:sldMkLst>
        <pc:spChg chg="del">
          <ac:chgData name="Terry Moorehead" userId="S::tmoorehead@meevo.com::a2a6df63-b8e3-4cea-aa6c-ded8cdcb5bd7" providerId="AD" clId="Web-{D3C29629-0753-3B91-E2AE-BEA440EBEFDB}" dt="2026-03-10T15:41:13.105" v="52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erry Moorehead" userId="S::tmoorehead@meevo.com::a2a6df63-b8e3-4cea-aa6c-ded8cdcb5bd7" providerId="AD" clId="Web-{D3C29629-0753-3B91-E2AE-BEA440EBEFDB}" dt="2026-03-10T15:41:17.043" v="53" actId="1076"/>
          <ac:spMkLst>
            <pc:docMk/>
            <pc:sldMk cId="0" sldId="265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9D5E2-B5FD-4277-AC20-64AFA5F0F4A2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9E3CB-7E0C-41A7-B66B-C6B4009590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1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65760"/>
            <a:ext cx="1188720" cy="1188720"/>
          </a:xfrm>
          <a:prstGeom prst="ellipse">
            <a:avLst/>
          </a:prstGeom>
          <a:solidFill>
            <a:srgbClr val="2A3A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9436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6916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to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Pre-Call Research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of Research. 10x Better Conversations.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1371600" y="3291840"/>
            <a:ext cx="6400800" cy="502920"/>
          </a:xfrm>
          <a:prstGeom prst="rect">
            <a:avLst/>
          </a:prstGeom>
          <a:solidFill>
            <a:srgbClr val="2A3A44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554480" y="3291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  •  What to Find  •  The 3-Minute Framework  •  Triggers That Convert  •  CRM Intel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Pre-Call Research Changes Everything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E2A3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cold call that gets hung up on and a cold call that books a meeting is almost always the first 15 seconds. Research is what fills those 15 seconds with relevance.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1148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11480" y="1554480"/>
            <a:ext cx="1920240" cy="54864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6B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min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41148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prospect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6032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0" y="1554480"/>
            <a:ext cx="1920240" cy="54864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4" name="Text 10"/>
          <p:cNvSpPr/>
          <p:nvPr/>
        </p:nvSpPr>
        <p:spPr>
          <a:xfrm>
            <a:off x="256032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sec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256032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to earn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attention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0916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9160" y="1554480"/>
            <a:ext cx="1920240" cy="54864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18" name="Text 14"/>
          <p:cNvSpPr/>
          <p:nvPr/>
        </p:nvSpPr>
        <p:spPr>
          <a:xfrm>
            <a:off x="470916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A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3–5x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470916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connect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trigger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5800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58000" y="1554480"/>
            <a:ext cx="1920240" cy="54864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3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858000" y="2212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rate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openers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017520"/>
            <a:ext cx="3931920" cy="100584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017520"/>
            <a:ext cx="54864" cy="1005840"/>
          </a:xfrm>
          <a:prstGeom prst="rect">
            <a:avLst/>
          </a:prstGeom>
          <a:solidFill>
            <a:srgbClr val="6B3A4A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8152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0392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RESEARCH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9436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“Hi, this is Terry from Meevo. We’re a salon software company. Do you have a few minutes to hear about what we offer?”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“No thanks.” *click*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754880" y="3017520"/>
            <a:ext cx="3931920" cy="1005840"/>
          </a:xfrm>
          <a:prstGeom prst="rect">
            <a:avLst/>
          </a:prstGeom>
          <a:solidFill>
            <a:srgbClr val="F2F8F3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54880" y="3017520"/>
            <a:ext cx="54864" cy="1005840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81528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148072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RESEARCH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92040" y="33101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Nicole, Terry from Meevo. I noticed you just launched a membership program — congrats! We’ve been helping salon owners turn that into their #1 revenue driver.”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“Really? Tell me more.”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homework first — you should already have 3–5 go-to triggers before you dial. Never call blind.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8" name="Text 32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3-Minute Research Framework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prospect gets 3 minutes of research. Not 30 seconds (too lazy). Not 15 minutes (too slow). Three minutes — timed.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20040" y="1417320"/>
            <a:ext cx="274320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4904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1435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1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73152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Their Website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29768" y="1993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6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for: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29768" y="2379820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Owner’s name (About Us page)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count (team page)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locations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 (salon vs. spa vs. medspa)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booking: do they have it? What tool?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location, general vibe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93192" y="3886200"/>
            <a:ext cx="2596896" cy="36576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1"/>
          <p:cNvSpPr/>
          <p:nvPr/>
        </p:nvSpPr>
        <p:spPr>
          <a:xfrm>
            <a:off x="429768" y="39776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latin typeface="Calibri"/>
                <a:ea typeface="Calibri"/>
                <a:cs typeface="Calibri"/>
              </a:rPr>
              <a:t>Output: Owner name + business type + provider count + online booking status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3246120" y="1417320"/>
            <a:ext cx="274320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46120" y="1417320"/>
            <a:ext cx="2743200" cy="502920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149047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57600" y="1435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65760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+ Social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355848" y="1993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for: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355848" y="2379820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Profile: reviews (read the bad ones!)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accuracy, photos, services listed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recent posts, follower count, membership promos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announcements, rebranding, expansion signals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Facebook: reviews, engagement, recent activity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319272" y="3886200"/>
            <a:ext cx="2596896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5" name="Text 19"/>
          <p:cNvSpPr/>
          <p:nvPr/>
        </p:nvSpPr>
        <p:spPr>
          <a:xfrm>
            <a:off x="3355848" y="39776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latin typeface="Calibri"/>
                <a:ea typeface="Calibri"/>
                <a:cs typeface="Calibri"/>
              </a:rPr>
              <a:t>Output: 1–2 triggers (bad review, membership launch, new hire, expansion)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172200" y="1417320"/>
            <a:ext cx="274320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172200" y="1417320"/>
            <a:ext cx="2743200" cy="502920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49047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0" y="1435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3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58368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+ Enrichment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281928" y="1993392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for: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6281928" y="2379820"/>
            <a:ext cx="25237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Salesforce: previous outreach, competitor noted, demo history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from prior SDR touches or AE interactions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Clay: technographic data, estimated revenue, software signals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owner’s career, industry groups, recent posts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245352" y="3886200"/>
            <a:ext cx="2596896" cy="36576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4" name="Text 27"/>
          <p:cNvSpPr/>
          <p:nvPr/>
        </p:nvSpPr>
        <p:spPr>
          <a:xfrm>
            <a:off x="6281928" y="39776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latin typeface="Calibri"/>
                <a:ea typeface="Calibri"/>
                <a:cs typeface="Calibri"/>
              </a:rPr>
              <a:t>Output: Prior history + software signal + pain hypothesis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7" name="Text 3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Source-by-Source — What to Find &amp; Why It Matters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594360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960120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886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960120" y="1106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Owner name, provider count, locations, services, online booking tool, branding/vibe</a:t>
            </a:r>
          </a:p>
        </p:txBody>
      </p:sp>
      <p:sp>
        <p:nvSpPr>
          <p:cNvPr id="11" name="Shape 6"/>
          <p:cNvSpPr/>
          <p:nvPr/>
        </p:nvSpPr>
        <p:spPr>
          <a:xfrm>
            <a:off x="4297680" y="914400"/>
            <a:ext cx="36576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7"/>
          <p:cNvSpPr/>
          <p:nvPr/>
        </p:nvSpPr>
        <p:spPr>
          <a:xfrm>
            <a:off x="4434840" y="8869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Why: Tells you if they’re ICP fit in 30 seconds. Provider count and online booking status are your top two data points.</a:t>
            </a:r>
          </a:p>
        </p:txBody>
      </p:sp>
      <p:sp>
        <p:nvSpPr>
          <p:cNvPr id="13" name="Shape 8"/>
          <p:cNvSpPr/>
          <p:nvPr/>
        </p:nvSpPr>
        <p:spPr>
          <a:xfrm>
            <a:off x="457200" y="1527048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9"/>
          <p:cNvSpPr/>
          <p:nvPr/>
        </p:nvSpPr>
        <p:spPr>
          <a:xfrm>
            <a:off x="457200" y="1527048"/>
            <a:ext cx="54864" cy="594360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61848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1545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60120" y="1764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Star rating, recent reviews (especially negative), response patterns, hours accuracy, photos</a:t>
            </a:r>
          </a:p>
        </p:txBody>
      </p:sp>
      <p:sp>
        <p:nvSpPr>
          <p:cNvPr id="18" name="Shape 12"/>
          <p:cNvSpPr/>
          <p:nvPr/>
        </p:nvSpPr>
        <p:spPr>
          <a:xfrm>
            <a:off x="4297680" y="1572768"/>
            <a:ext cx="36576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3"/>
          <p:cNvSpPr/>
          <p:nvPr/>
        </p:nvSpPr>
        <p:spPr>
          <a:xfrm>
            <a:off x="4434840" y="1545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Why: Bad reviews mentioning booking, wait times, or experience = operational pain you can reference on the call.</a:t>
            </a:r>
          </a:p>
        </p:txBody>
      </p:sp>
      <p:sp>
        <p:nvSpPr>
          <p:cNvPr id="20" name="Shape 14"/>
          <p:cNvSpPr/>
          <p:nvPr/>
        </p:nvSpPr>
        <p:spPr>
          <a:xfrm>
            <a:off x="457200" y="218541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185416"/>
            <a:ext cx="54864" cy="594360"/>
          </a:xfrm>
          <a:prstGeom prst="rect">
            <a:avLst/>
          </a:prstGeom>
          <a:solidFill>
            <a:srgbClr val="8B6F7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227685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22037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96012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Membership promos, new hire announcements, expansion news, follower count, posting frequency</a:t>
            </a:r>
          </a:p>
        </p:txBody>
      </p:sp>
      <p:sp>
        <p:nvSpPr>
          <p:cNvPr id="25" name="Shape 18"/>
          <p:cNvSpPr/>
          <p:nvPr/>
        </p:nvSpPr>
        <p:spPr>
          <a:xfrm>
            <a:off x="4297680" y="2231136"/>
            <a:ext cx="36576" cy="50292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6" name="Text 19"/>
          <p:cNvSpPr/>
          <p:nvPr/>
        </p:nvSpPr>
        <p:spPr>
          <a:xfrm>
            <a:off x="4434840" y="22037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Why: Membership launch = trigger. New hires = growing. Low posting = no marketing = Meevo opportunity.</a:t>
            </a:r>
          </a:p>
        </p:txBody>
      </p:sp>
      <p:sp>
        <p:nvSpPr>
          <p:cNvPr id="27" name="Shape 20"/>
          <p:cNvSpPr/>
          <p:nvPr/>
        </p:nvSpPr>
        <p:spPr>
          <a:xfrm>
            <a:off x="457200" y="2843784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8" name="Shape 21"/>
          <p:cNvSpPr/>
          <p:nvPr/>
        </p:nvSpPr>
        <p:spPr>
          <a:xfrm>
            <a:off x="457200" y="2843784"/>
            <a:ext cx="54864" cy="594360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2935224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0120" y="28620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96012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Owner career history, recent posts, school affiliations, industry group memberships</a:t>
            </a:r>
          </a:p>
        </p:txBody>
      </p:sp>
      <p:sp>
        <p:nvSpPr>
          <p:cNvPr id="32" name="Shape 24"/>
          <p:cNvSpPr/>
          <p:nvPr/>
        </p:nvSpPr>
        <p:spPr>
          <a:xfrm>
            <a:off x="4297680" y="2889504"/>
            <a:ext cx="36576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3" name="Text 25"/>
          <p:cNvSpPr/>
          <p:nvPr/>
        </p:nvSpPr>
        <p:spPr>
          <a:xfrm>
            <a:off x="4434840" y="28620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Why: Career context helps personalize. Recent posts about challenges = direct triggers to reference</a:t>
            </a:r>
            <a:r>
              <a:rPr lang="en-US" sz="800" dirty="0">
                <a:solidFill>
                  <a:srgbClr val="36454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800" dirty="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457200" y="350215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7"/>
          <p:cNvSpPr/>
          <p:nvPr/>
        </p:nvSpPr>
        <p:spPr>
          <a:xfrm>
            <a:off x="457200" y="3502152"/>
            <a:ext cx="54864" cy="594360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59359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0120" y="3520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/ CRM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960120" y="37398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Previous outreach history, competitor noted, past demo no-shows, AE notes, disposition codes</a:t>
            </a:r>
          </a:p>
        </p:txBody>
      </p:sp>
      <p:sp>
        <p:nvSpPr>
          <p:cNvPr id="39" name="Shape 30"/>
          <p:cNvSpPr/>
          <p:nvPr/>
        </p:nvSpPr>
        <p:spPr>
          <a:xfrm>
            <a:off x="4297680" y="3547872"/>
            <a:ext cx="36576" cy="5029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40" name="Text 31"/>
          <p:cNvSpPr/>
          <p:nvPr/>
        </p:nvSpPr>
        <p:spPr>
          <a:xfrm>
            <a:off x="4434840" y="3520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Why: Never call blind into existing history. Know what was said, when, and by whom. Build on prior touches.</a:t>
            </a:r>
          </a:p>
        </p:txBody>
      </p:sp>
      <p:sp>
        <p:nvSpPr>
          <p:cNvPr id="41" name="Shape 32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2" name="Shape 33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4251960"/>
            <a:ext cx="292608" cy="29260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60120" y="41788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/ Enrichment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960120" y="4398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latin typeface="Calibri"/>
                <a:ea typeface="Calibri"/>
                <a:cs typeface="Calibri"/>
              </a:rPr>
              <a:t>Technographic signals, estimated revenue, provider headcount, current software, growth indicators</a:t>
            </a:r>
          </a:p>
        </p:txBody>
      </p:sp>
      <p:sp>
        <p:nvSpPr>
          <p:cNvPr id="46" name="Shape 36"/>
          <p:cNvSpPr/>
          <p:nvPr/>
        </p:nvSpPr>
        <p:spPr>
          <a:xfrm>
            <a:off x="4297680" y="4206240"/>
            <a:ext cx="36576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47" name="Text 37"/>
          <p:cNvSpPr/>
          <p:nvPr/>
        </p:nvSpPr>
        <p:spPr>
          <a:xfrm>
            <a:off x="443484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/>
                <a:ea typeface="Calibri"/>
                <a:cs typeface="Calibri"/>
              </a:rPr>
              <a:t>Why: Confirms ICP fit with data. Software signals tell you exactly which competitor battle card to load.</a:t>
            </a:r>
          </a:p>
        </p:txBody>
      </p:sp>
      <p:sp>
        <p:nvSpPr>
          <p:cNvPr id="48" name="Text 3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0" name="Text 40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0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CONVERSATION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 Intel Into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 That Convert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without application is wasted time. Here’s how to use what you find.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6177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[ATTRIBUTE: Research &amp; Preparation #8 | Communication Skills #4]  [LEVEL: 1-2]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Turning Research Into Trigger-Based Openers</a:t>
            </a:r>
            <a:endParaRPr lang="en-US" sz="2000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59436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886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They just launched a membership program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94360" y="1069848"/>
            <a:ext cx="1371600" cy="16459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594360" y="10698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launch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337560" y="914400"/>
            <a:ext cx="36576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2" name="Text 8"/>
          <p:cNvSpPr/>
          <p:nvPr/>
        </p:nvSpPr>
        <p:spPr>
          <a:xfrm>
            <a:off x="3474720" y="8869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latin typeface="Calibri"/>
                <a:ea typeface="Calibri"/>
                <a:cs typeface="Calibri"/>
              </a:rPr>
              <a:t>“I noticed you recently launched a membership program — congrats! We’ve been helping salon owners turn that into their #1 revenue driver.”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1527048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1527048"/>
            <a:ext cx="54864" cy="59436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594360" y="15453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Bad Google review mentioning booking issues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94360" y="1728216"/>
            <a:ext cx="1371600" cy="16459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7" name="Text 13"/>
          <p:cNvSpPr/>
          <p:nvPr/>
        </p:nvSpPr>
        <p:spPr>
          <a:xfrm>
            <a:off x="594360" y="17282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review / operational pain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3337560" y="1572768"/>
            <a:ext cx="36576" cy="50292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3474720" y="15453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latin typeface="Calibri"/>
                <a:ea typeface="Calibri"/>
                <a:cs typeface="Calibri"/>
              </a:rPr>
              <a:t>“I came across a couple recent reviews mentioning booking confusion. That’s something we hear a lot — I had a thought on how to fix it without adding more work to your front desk.”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57200" y="218541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57200" y="2185416"/>
            <a:ext cx="54864" cy="59436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2" name="Text 18"/>
          <p:cNvSpPr/>
          <p:nvPr/>
        </p:nvSpPr>
        <p:spPr>
          <a:xfrm>
            <a:off x="594360" y="22037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They’re on Vagaro (from Clay/website)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94360" y="2386584"/>
            <a:ext cx="1371600" cy="16459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4" name="Text 20"/>
          <p:cNvSpPr/>
          <p:nvPr/>
        </p:nvSpPr>
        <p:spPr>
          <a:xfrm>
            <a:off x="594360" y="23865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signal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3337560" y="2231136"/>
            <a:ext cx="36576" cy="502920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6" name="Text 22"/>
          <p:cNvSpPr/>
          <p:nvPr/>
        </p:nvSpPr>
        <p:spPr>
          <a:xfrm>
            <a:off x="3474720" y="2203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latin typeface="Calibri"/>
                <a:ea typeface="Calibri"/>
                <a:cs typeface="Calibri"/>
              </a:rPr>
              <a:t>“I’ve been talking to salon owners who started on </a:t>
            </a:r>
            <a:r>
              <a:rPr lang="en-US" sz="850" i="1" dirty="0" err="1">
                <a:latin typeface="Calibri"/>
                <a:ea typeface="Calibri"/>
                <a:cs typeface="Calibri"/>
              </a:rPr>
              <a:t>Vagaro</a:t>
            </a:r>
            <a:r>
              <a:rPr lang="en-US" sz="850" i="1" dirty="0">
                <a:latin typeface="Calibri"/>
                <a:ea typeface="Calibri"/>
                <a:cs typeface="Calibri"/>
              </a:rPr>
              <a:t> and hit a ceiling once they grew past 8–10 chairs. Not sure if that resonates, but I’d love to share what owners in your area have done.”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57200" y="2843784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200" y="2843784"/>
            <a:ext cx="54864" cy="59436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9" name="Text 25"/>
          <p:cNvSpPr/>
          <p:nvPr/>
        </p:nvSpPr>
        <p:spPr>
          <a:xfrm>
            <a:off x="594360" y="2862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New hire announcements on Instagram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94360" y="3044952"/>
            <a:ext cx="1371600" cy="16459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1" name="Text 27"/>
          <p:cNvSpPr/>
          <p:nvPr/>
        </p:nvSpPr>
        <p:spPr>
          <a:xfrm>
            <a:off x="594360" y="30449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scaling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3337560" y="2889504"/>
            <a:ext cx="36576" cy="502920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33" name="Text 29"/>
          <p:cNvSpPr/>
          <p:nvPr/>
        </p:nvSpPr>
        <p:spPr>
          <a:xfrm>
            <a:off x="3474720" y="2862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saw you just brought on a few new providers — congrats on the growth! A lot of owners at your stage tell me that’s when the scheduling and reporting gets chaotic. Does that ring true?”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57200" y="350215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457200" y="3502152"/>
            <a:ext cx="54864" cy="59436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6" name="Text 32"/>
          <p:cNvSpPr/>
          <p:nvPr/>
        </p:nvSpPr>
        <p:spPr>
          <a:xfrm>
            <a:off x="594360" y="35204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Opened second location recently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94360" y="3703320"/>
            <a:ext cx="1371600" cy="16459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8" name="Text 34"/>
          <p:cNvSpPr/>
          <p:nvPr/>
        </p:nvSpPr>
        <p:spPr>
          <a:xfrm>
            <a:off x="594360" y="3703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expansion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>
            <a:off x="3337560" y="3547872"/>
            <a:ext cx="36576" cy="502920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0" name="Text 36"/>
          <p:cNvSpPr/>
          <p:nvPr/>
        </p:nvSpPr>
        <p:spPr>
          <a:xfrm>
            <a:off x="3474720" y="3520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latin typeface="Calibri"/>
                <a:ea typeface="Calibri"/>
                <a:cs typeface="Calibri"/>
              </a:rPr>
              <a:t>“I saw you just opened your second location — that’s huge! The hardest part I hear from multi-location owners is getting both locations on the same page. We’ve built some tools specifically for that.”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3" name="Text 39"/>
          <p:cNvSpPr/>
          <p:nvPr/>
        </p:nvSpPr>
        <p:spPr>
          <a:xfrm>
            <a:off x="594360" y="4178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No online booking on their website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594360" y="4361688"/>
            <a:ext cx="1371600" cy="16459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5" name="Text 41"/>
          <p:cNvSpPr/>
          <p:nvPr/>
        </p:nvSpPr>
        <p:spPr>
          <a:xfrm>
            <a:off x="594360" y="4361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gap / opportunity</a:t>
            </a:r>
            <a:endParaRPr lang="en-US" sz="700" dirty="0"/>
          </a:p>
        </p:txBody>
      </p:sp>
      <p:sp>
        <p:nvSpPr>
          <p:cNvPr id="46" name="Shape 42"/>
          <p:cNvSpPr/>
          <p:nvPr/>
        </p:nvSpPr>
        <p:spPr>
          <a:xfrm>
            <a:off x="3337560" y="4206240"/>
            <a:ext cx="36576" cy="50292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7" name="Text 43"/>
          <p:cNvSpPr/>
          <p:nvPr/>
        </p:nvSpPr>
        <p:spPr>
          <a:xfrm>
            <a:off x="3474720" y="41788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latin typeface="Calibri"/>
                <a:ea typeface="Calibri"/>
                <a:cs typeface="Calibri"/>
              </a:rPr>
              <a:t>“I was on your website and noticed clients need to call to book. A lot of salons your size cut phone volume 40–50% when they add real-time online booking. Is that something you’ve been thinking about?”</a:t>
            </a:r>
            <a:endParaRPr lang="en-US" sz="850" dirty="0">
              <a:latin typeface="Calibri"/>
              <a:ea typeface="Calibri"/>
              <a:cs typeface="Calibri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0" name="Text 4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The Pre-Call Cheat Sheet — Fill This Out Before Every Dial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PRE-CALL RESEARCH TEMPLATE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1371600"/>
            <a:ext cx="54864" cy="2560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Name: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057400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8640" y="1673352"/>
            <a:ext cx="54864" cy="2560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1673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Name: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057400" y="16733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48640" y="1975104"/>
            <a:ext cx="54864" cy="2560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1975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DM Name: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057400" y="19751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Source: Website / LinkedIn / Google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48640" y="2276856"/>
            <a:ext cx="54864" cy="25603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2276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Count: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057400" y="22768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    Locations: ________     Segment: Salon / Spa / MedSpa / Enterprise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8640" y="2578608"/>
            <a:ext cx="54864" cy="256032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2578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Software: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057400" y="25786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Source: Clay / Website / CRM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48640" y="2880360"/>
            <a:ext cx="54864" cy="25603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#1: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057400" y="2880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Source: ________________________________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48640" y="3182112"/>
            <a:ext cx="54864" cy="256032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#2: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057400" y="31821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     Source: ________________________________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48640" y="3483864"/>
            <a:ext cx="54864" cy="256032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" y="3483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Hypothesis: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2057400" y="34838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“Based on [trigger], I believe their biggest pain is [pain] because [reasoning].”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548640" y="3785616"/>
            <a:ext cx="54864" cy="256032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34" name="Text 30"/>
          <p:cNvSpPr/>
          <p:nvPr/>
        </p:nvSpPr>
        <p:spPr>
          <a:xfrm>
            <a:off x="685800" y="3785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Opener: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2057400" y="37856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[Name], it’s [You] from Meevo. I [trigger reference]. We’ve been helping [peer group] with [curiosity gap].”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48640" y="4087368"/>
            <a:ext cx="54864" cy="256032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7" name="Text 33"/>
          <p:cNvSpPr/>
          <p:nvPr/>
        </p:nvSpPr>
        <p:spPr>
          <a:xfrm>
            <a:off x="685800" y="4087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Notes: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057400" y="40873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touches: ________     Last disposition: ________     Competitor noted: ________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2A3A44"/>
          </a:solidFill>
          <a:ln/>
        </p:spPr>
      </p:sp>
      <p:sp>
        <p:nvSpPr>
          <p:cNvPr id="40" name="Text 36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67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this. Fill it out for every prospect. It takes 3 minutes and turns every dial into a conversation worth having.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3" name="Text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36454F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Top 7 Research Mistakes — And How to Fix Them</a:t>
            </a:r>
            <a:endParaRPr lang="en-US">
              <a:latin typeface="Trebuchet MS"/>
              <a:ea typeface="Calibri"/>
              <a:cs typeface="Calibri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6B3A4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868680"/>
            <a:ext cx="54864" cy="47548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8686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8686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completely blind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0058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40480" y="8686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of research. Owner name + 1 trigger minimum. No exceptions.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57200" y="141732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3" name="Shape 8"/>
          <p:cNvSpPr/>
          <p:nvPr/>
        </p:nvSpPr>
        <p:spPr>
          <a:xfrm>
            <a:off x="457200" y="1417320"/>
            <a:ext cx="54864" cy="47548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14" name="Text 9"/>
          <p:cNvSpPr/>
          <p:nvPr/>
        </p:nvSpPr>
        <p:spPr>
          <a:xfrm>
            <a:off x="594360" y="14173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14400" y="14173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15+ minutes per prospect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1554480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840480" y="14173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3 minutes. Research is fuel, not a destination. You need to dial.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57200" y="196596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457200" y="1965960"/>
            <a:ext cx="54864" cy="475488"/>
          </a:xfrm>
          <a:prstGeom prst="rect">
            <a:avLst/>
          </a:prstGeom>
          <a:solidFill>
            <a:srgbClr val="7A9E7E"/>
          </a:solidFill>
          <a:ln/>
        </p:spPr>
      </p:sp>
      <p:sp>
        <p:nvSpPr>
          <p:cNvPr id="20" name="Text 14"/>
          <p:cNvSpPr/>
          <p:nvPr/>
        </p:nvSpPr>
        <p:spPr>
          <a:xfrm>
            <a:off x="594360" y="19659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1965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checking the website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103120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19659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is minute 1. Google reviews and social are where the triggers live.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57200" y="251460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5" name="Shape 18"/>
          <p:cNvSpPr/>
          <p:nvPr/>
        </p:nvSpPr>
        <p:spPr>
          <a:xfrm>
            <a:off x="457200" y="2514600"/>
            <a:ext cx="54864" cy="475488"/>
          </a:xfrm>
          <a:prstGeom prst="rect">
            <a:avLst/>
          </a:prstGeom>
          <a:solidFill>
            <a:srgbClr val="8B6F7C"/>
          </a:solidFill>
          <a:ln/>
        </p:spPr>
      </p:sp>
      <p:sp>
        <p:nvSpPr>
          <p:cNvPr id="26" name="Text 19"/>
          <p:cNvSpPr/>
          <p:nvPr/>
        </p:nvSpPr>
        <p:spPr>
          <a:xfrm>
            <a:off x="594360" y="251460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914400" y="2514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CRM history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651760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40480" y="25146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may have called them last week. Always check Salesforce first to avoid embarrassment.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457200" y="306324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3"/>
          <p:cNvSpPr/>
          <p:nvPr/>
        </p:nvSpPr>
        <p:spPr>
          <a:xfrm>
            <a:off x="457200" y="3063240"/>
            <a:ext cx="54864" cy="475488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32" name="Text 24"/>
          <p:cNvSpPr/>
          <p:nvPr/>
        </p:nvSpPr>
        <p:spPr>
          <a:xfrm>
            <a:off x="594360" y="306324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914400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recording what you find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840480" y="30632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trigger and pain hypothesis in the CRM before you dial. Your future self will thank you.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457200" y="3611880"/>
            <a:ext cx="8229600" cy="475488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7" name="Shape 28"/>
          <p:cNvSpPr/>
          <p:nvPr/>
        </p:nvSpPr>
        <p:spPr>
          <a:xfrm>
            <a:off x="457200" y="3611880"/>
            <a:ext cx="54864" cy="475488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8" name="Text 29"/>
          <p:cNvSpPr/>
          <p:nvPr/>
        </p:nvSpPr>
        <p:spPr>
          <a:xfrm>
            <a:off x="594360" y="361188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14400" y="3611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but not using it</a:t>
            </a:r>
            <a:endParaRPr lang="en-US" sz="10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749040"/>
            <a:ext cx="164592" cy="16459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840480" y="36118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found it but didn’t reference it in the first 15 seconds, you wasted the research.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3"/>
          <p:cNvSpPr/>
          <p:nvPr/>
        </p:nvSpPr>
        <p:spPr>
          <a:xfrm>
            <a:off x="457200" y="4160520"/>
            <a:ext cx="54864" cy="475488"/>
          </a:xfrm>
          <a:prstGeom prst="rect">
            <a:avLst/>
          </a:prstGeom>
          <a:solidFill>
            <a:srgbClr val="6B3A4A"/>
          </a:solidFill>
          <a:ln/>
        </p:spPr>
      </p:sp>
      <p:sp>
        <p:nvSpPr>
          <p:cNvPr id="44" name="Text 34"/>
          <p:cNvSpPr/>
          <p:nvPr/>
        </p:nvSpPr>
        <p:spPr>
          <a:xfrm>
            <a:off x="594360" y="416052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914400" y="4160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looking for positive signals</a:t>
            </a:r>
            <a:endParaRPr lang="en-US" sz="10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297680"/>
            <a:ext cx="164592" cy="16459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3840480" y="41605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reviews, no online booking, outdated website — NEGATIVE signals are your best triggers.</a:t>
            </a:r>
            <a:endParaRPr lang="en-US" sz="950" dirty="0"/>
          </a:p>
        </p:txBody>
      </p:sp>
      <p:sp>
        <p:nvSpPr>
          <p:cNvPr id="48" name="Text 37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50" name="Text 39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645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364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&amp; Self-Assessment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749808"/>
            <a:ext cx="1645920" cy="36576"/>
          </a:xfrm>
          <a:prstGeom prst="rect">
            <a:avLst/>
          </a:prstGeom>
          <a:solidFill>
            <a:srgbClr val="7A9E7E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PRACTICE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176303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latin typeface="Calibri"/>
                <a:ea typeface="Calibri"/>
                <a:cs typeface="Calibri"/>
              </a:rPr>
              <a:t>Pick 10 accounts from your list. Time yourself: 3 minutes each. Fill out the Pre-Call Cheat Sheet for all 10.</a:t>
            </a:r>
            <a:endParaRPr lang="en-US" sz="8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latin typeface="Calibri"/>
                <a:ea typeface="Calibri"/>
                <a:cs typeface="Calibri"/>
              </a:rPr>
              <a:t>For each account, write a trigger-based opener using the research you found. Record yourself delivering it.</a:t>
            </a:r>
            <a:endParaRPr lang="en-US" sz="8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latin typeface="Calibri"/>
                <a:ea typeface="Calibri"/>
                <a:cs typeface="Calibri"/>
              </a:rPr>
              <a:t>Research 5 accounts using ONLY Google reviews. Find 1 operational pain signal per account from bad reviews.</a:t>
            </a:r>
            <a:endParaRPr lang="en-US" sz="8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latin typeface="Calibri"/>
                <a:ea typeface="Calibri"/>
                <a:cs typeface="Calibri"/>
              </a:rPr>
              <a:t>Pull 3 closed-won deals from Salesforce. Map what research could have identified the trigger earlier.</a:t>
            </a:r>
            <a:endParaRPr lang="en-US" sz="8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latin typeface="Calibri"/>
                <a:ea typeface="Calibri"/>
                <a:cs typeface="Calibri"/>
              </a:rPr>
              <a:t>Pair up with a teammate: swap 5 account names. Each person has 3 minutes to research and pitch. Give feedback.</a:t>
            </a:r>
            <a:endParaRPr lang="en-US" sz="8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latin typeface="Calibri"/>
                <a:ea typeface="Calibri"/>
                <a:cs typeface="Calibri"/>
              </a:rPr>
              <a:t>Build a “Top 25” target list. Rank them by trigger quality: Hot (strong trigger), Warm (some signal), Cold (no trigger yet).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63440" y="8686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868680"/>
            <a:ext cx="4114800" cy="41148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2" name="Text 8"/>
          <p:cNvSpPr/>
          <p:nvPr/>
        </p:nvSpPr>
        <p:spPr>
          <a:xfrm>
            <a:off x="484632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(1–5 SCALE)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54880" y="137160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13898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research every prospect for at least 3 minutes before I dial — no blind calls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92040" y="166420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latin typeface="Calibri"/>
                <a:ea typeface="Calibri"/>
                <a:cs typeface="Calibri"/>
              </a:rPr>
              <a:t>[Research &amp; Preparation </a:t>
            </a:r>
          </a:p>
        </p:txBody>
      </p:sp>
      <p:sp>
        <p:nvSpPr>
          <p:cNvPr id="17" name="Shape 13"/>
          <p:cNvSpPr/>
          <p:nvPr/>
        </p:nvSpPr>
        <p:spPr>
          <a:xfrm>
            <a:off x="4754880" y="1883664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754880" y="1883664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19" name="Text 15"/>
          <p:cNvSpPr/>
          <p:nvPr/>
        </p:nvSpPr>
        <p:spPr>
          <a:xfrm>
            <a:off x="4892040" y="19019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owner’s name, provider count, and 1 trigger in under 3 minutes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845067" y="219193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latin typeface="Calibri"/>
                <a:ea typeface="Calibri"/>
                <a:cs typeface="Calibri"/>
              </a:rPr>
              <a:t>[Research &amp; Preparation </a:t>
            </a:r>
          </a:p>
        </p:txBody>
      </p:sp>
      <p:sp>
        <p:nvSpPr>
          <p:cNvPr id="21" name="Shape 17"/>
          <p:cNvSpPr/>
          <p:nvPr/>
        </p:nvSpPr>
        <p:spPr>
          <a:xfrm>
            <a:off x="4754880" y="2395728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Shape 18"/>
          <p:cNvSpPr/>
          <p:nvPr/>
        </p:nvSpPr>
        <p:spPr>
          <a:xfrm>
            <a:off x="4754880" y="2395728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24140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check CRM history before every call to avoid duplicating prior outreach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892040" y="2688336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latin typeface="Calibri"/>
                <a:ea typeface="Calibri"/>
                <a:cs typeface="Calibri"/>
              </a:rPr>
              <a:t>[Research &amp; Preparation </a:t>
            </a:r>
          </a:p>
        </p:txBody>
      </p:sp>
      <p:sp>
        <p:nvSpPr>
          <p:cNvPr id="25" name="Shape 21"/>
          <p:cNvSpPr/>
          <p:nvPr/>
        </p:nvSpPr>
        <p:spPr>
          <a:xfrm>
            <a:off x="4754880" y="2907792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2907792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27" name="Text 23"/>
          <p:cNvSpPr/>
          <p:nvPr/>
        </p:nvSpPr>
        <p:spPr>
          <a:xfrm>
            <a:off x="4892040" y="29260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my research in the first 15 seconds of every call — it’s not just background info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892040" y="3200400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latin typeface="Calibri"/>
                <a:ea typeface="Calibri"/>
                <a:cs typeface="Calibri"/>
              </a:rPr>
              <a:t>[Communication Skills </a:t>
            </a:r>
          </a:p>
        </p:txBody>
      </p:sp>
      <p:sp>
        <p:nvSpPr>
          <p:cNvPr id="29" name="Shape 25"/>
          <p:cNvSpPr/>
          <p:nvPr/>
        </p:nvSpPr>
        <p:spPr>
          <a:xfrm>
            <a:off x="4754880" y="3419856"/>
            <a:ext cx="3931920" cy="4572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754880" y="3419856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1" name="Text 27"/>
          <p:cNvSpPr/>
          <p:nvPr/>
        </p:nvSpPr>
        <p:spPr>
          <a:xfrm>
            <a:off x="4892040" y="34381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 for negative signals (bad reviews, no booking, outdated site) as triggers, not just positive ones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892040" y="3712464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latin typeface="Calibri"/>
                <a:ea typeface="Calibri"/>
                <a:cs typeface="Calibri"/>
              </a:rPr>
              <a:t>[Business Acumen </a:t>
            </a:r>
          </a:p>
        </p:txBody>
      </p:sp>
      <p:sp>
        <p:nvSpPr>
          <p:cNvPr id="33" name="Shape 29"/>
          <p:cNvSpPr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754880" y="3931920"/>
            <a:ext cx="54864" cy="4572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5" name="Text 31"/>
          <p:cNvSpPr/>
          <p:nvPr/>
        </p:nvSpPr>
        <p:spPr>
          <a:xfrm>
            <a:off x="4892040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log my triggers and pain hypothesis in Salesforce before I dial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892040" y="4224528"/>
            <a:ext cx="3703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latin typeface="Calibri"/>
                <a:ea typeface="Calibri"/>
                <a:cs typeface="Calibri"/>
              </a:rPr>
              <a:t>[Research &amp; Preparation </a:t>
            </a:r>
          </a:p>
        </p:txBody>
      </p:sp>
      <p:sp>
        <p:nvSpPr>
          <p:cNvPr id="37" name="Text 33"/>
          <p:cNvSpPr/>
          <p:nvPr/>
        </p:nvSpPr>
        <p:spPr>
          <a:xfrm>
            <a:off x="4846320" y="448024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6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yourself 1–5. Below 3 = your coaching focus for next 2 weeks.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solidFill>
            <a:srgbClr val="1B6B93"/>
          </a:solidFill>
          <a:ln/>
        </p:spPr>
      </p:sp>
      <p:sp>
        <p:nvSpPr>
          <p:cNvPr id="40" name="Text 36"/>
          <p:cNvSpPr/>
          <p:nvPr/>
        </p:nvSpPr>
        <p:spPr>
          <a:xfrm>
            <a:off x="6766560" y="4754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B6B9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709160"/>
            <a:ext cx="123444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C67B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of research. That’s the investment. Owner name, provider count, 1 trigger. No exceptions.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1536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8016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1: Website. Minute 2: Google + Social. Minute 3: CRM + Enrichment. Follow the framework.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19751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15 seconds of every call should reference something from your research. If it doesn’t, you wasted the research.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1520" y="24140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4140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signals are your best triggers. Bad reviews, no online booking, outdated websites — these are gold.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CRM first. Someone may have called yesterday. Don’t be the rep who asks “what software do you use?” when it’s already in Salesforce.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8016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Pre-Call Cheat Sheet until it’s muscle memory. Trigger + pain hypothesis + scripted opener.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31520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without application is wasted time. If you found it, use it in the first 15 seconds.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1520" y="41696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67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homework first. Never call blind. This is the controllable that separates good SDRs from great ones.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1520" y="453129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process. Control the controllables.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45</cp:revision>
  <dcterms:created xsi:type="dcterms:W3CDTF">2026-03-10T15:05:08Z</dcterms:created>
  <dcterms:modified xsi:type="dcterms:W3CDTF">2026-03-10T15:41:22Z</dcterms:modified>
</cp:coreProperties>
</file>