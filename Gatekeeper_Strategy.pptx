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2" r:id="rId7"/>
    <p:sldId id="263" r:id="rId8"/>
    <p:sldId id="264" r:id="rId9"/>
    <p:sldId id="265"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477217-F501-036E-869F-32544DF2E05A}" v="28" dt="2026-03-10T15:19:12.7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rry Moorehead" userId="S::tmoorehead@meevo.com::a2a6df63-b8e3-4cea-aa6c-ded8cdcb5bd7" providerId="AD" clId="Web-{00477217-F501-036E-869F-32544DF2E05A}"/>
    <pc:docChg chg="delSld modSld">
      <pc:chgData name="Terry Moorehead" userId="S::tmoorehead@meevo.com::a2a6df63-b8e3-4cea-aa6c-ded8cdcb5bd7" providerId="AD" clId="Web-{00477217-F501-036E-869F-32544DF2E05A}" dt="2026-03-10T15:19:12.772" v="27" actId="1076"/>
      <pc:docMkLst>
        <pc:docMk/>
      </pc:docMkLst>
      <pc:sldChg chg="modSp">
        <pc:chgData name="Terry Moorehead" userId="S::tmoorehead@meevo.com::a2a6df63-b8e3-4cea-aa6c-ded8cdcb5bd7" providerId="AD" clId="Web-{00477217-F501-036E-869F-32544DF2E05A}" dt="2026-03-10T15:14:50.336" v="4" actId="20577"/>
        <pc:sldMkLst>
          <pc:docMk/>
          <pc:sldMk cId="0" sldId="258"/>
        </pc:sldMkLst>
        <pc:spChg chg="mod">
          <ac:chgData name="Terry Moorehead" userId="S::tmoorehead@meevo.com::a2a6df63-b8e3-4cea-aa6c-ded8cdcb5bd7" providerId="AD" clId="Web-{00477217-F501-036E-869F-32544DF2E05A}" dt="2026-03-10T15:14:34.461" v="1" actId="20577"/>
          <ac:spMkLst>
            <pc:docMk/>
            <pc:sldMk cId="0" sldId="258"/>
            <ac:spMk id="3" creationId="{00000000-0000-0000-0000-000000000000}"/>
          </ac:spMkLst>
        </pc:spChg>
        <pc:spChg chg="mod">
          <ac:chgData name="Terry Moorehead" userId="S::tmoorehead@meevo.com::a2a6df63-b8e3-4cea-aa6c-ded8cdcb5bd7" providerId="AD" clId="Web-{00477217-F501-036E-869F-32544DF2E05A}" dt="2026-03-10T15:14:40.445" v="2" actId="20577"/>
          <ac:spMkLst>
            <pc:docMk/>
            <pc:sldMk cId="0" sldId="258"/>
            <ac:spMk id="11" creationId="{00000000-0000-0000-0000-000000000000}"/>
          </ac:spMkLst>
        </pc:spChg>
        <pc:spChg chg="mod">
          <ac:chgData name="Terry Moorehead" userId="S::tmoorehead@meevo.com::a2a6df63-b8e3-4cea-aa6c-ded8cdcb5bd7" providerId="AD" clId="Web-{00477217-F501-036E-869F-32544DF2E05A}" dt="2026-03-10T15:14:46.632" v="3" actId="20577"/>
          <ac:spMkLst>
            <pc:docMk/>
            <pc:sldMk cId="0" sldId="258"/>
            <ac:spMk id="22" creationId="{00000000-0000-0000-0000-000000000000}"/>
          </ac:spMkLst>
        </pc:spChg>
        <pc:spChg chg="mod">
          <ac:chgData name="Terry Moorehead" userId="S::tmoorehead@meevo.com::a2a6df63-b8e3-4cea-aa6c-ded8cdcb5bd7" providerId="AD" clId="Web-{00477217-F501-036E-869F-32544DF2E05A}" dt="2026-03-10T15:14:50.336" v="4" actId="20577"/>
          <ac:spMkLst>
            <pc:docMk/>
            <pc:sldMk cId="0" sldId="258"/>
            <ac:spMk id="33" creationId="{00000000-0000-0000-0000-000000000000}"/>
          </ac:spMkLst>
        </pc:spChg>
      </pc:sldChg>
      <pc:sldChg chg="modSp">
        <pc:chgData name="Terry Moorehead" userId="S::tmoorehead@meevo.com::a2a6df63-b8e3-4cea-aa6c-ded8cdcb5bd7" providerId="AD" clId="Web-{00477217-F501-036E-869F-32544DF2E05A}" dt="2026-03-10T15:16:04.491" v="14" actId="20577"/>
        <pc:sldMkLst>
          <pc:docMk/>
          <pc:sldMk cId="0" sldId="259"/>
        </pc:sldMkLst>
        <pc:spChg chg="mod">
          <ac:chgData name="Terry Moorehead" userId="S::tmoorehead@meevo.com::a2a6df63-b8e3-4cea-aa6c-ded8cdcb5bd7" providerId="AD" clId="Web-{00477217-F501-036E-869F-32544DF2E05A}" dt="2026-03-10T15:15:11.820" v="7" actId="20577"/>
          <ac:spMkLst>
            <pc:docMk/>
            <pc:sldMk cId="0" sldId="259"/>
            <ac:spMk id="10" creationId="{00000000-0000-0000-0000-000000000000}"/>
          </ac:spMkLst>
        </pc:spChg>
        <pc:spChg chg="mod">
          <ac:chgData name="Terry Moorehead" userId="S::tmoorehead@meevo.com::a2a6df63-b8e3-4cea-aa6c-ded8cdcb5bd7" providerId="AD" clId="Web-{00477217-F501-036E-869F-32544DF2E05A}" dt="2026-03-10T15:15:15.757" v="8" actId="20577"/>
          <ac:spMkLst>
            <pc:docMk/>
            <pc:sldMk cId="0" sldId="259"/>
            <ac:spMk id="11" creationId="{00000000-0000-0000-0000-000000000000}"/>
          </ac:spMkLst>
        </pc:spChg>
        <pc:spChg chg="mod">
          <ac:chgData name="Terry Moorehead" userId="S::tmoorehead@meevo.com::a2a6df63-b8e3-4cea-aa6c-ded8cdcb5bd7" providerId="AD" clId="Web-{00477217-F501-036E-869F-32544DF2E05A}" dt="2026-03-10T15:16:00.413" v="13" actId="20577"/>
          <ac:spMkLst>
            <pc:docMk/>
            <pc:sldMk cId="0" sldId="259"/>
            <ac:spMk id="13" creationId="{00000000-0000-0000-0000-000000000000}"/>
          </ac:spMkLst>
        </pc:spChg>
        <pc:spChg chg="mod">
          <ac:chgData name="Terry Moorehead" userId="S::tmoorehead@meevo.com::a2a6df63-b8e3-4cea-aa6c-ded8cdcb5bd7" providerId="AD" clId="Web-{00477217-F501-036E-869F-32544DF2E05A}" dt="2026-03-10T15:16:04.491" v="14" actId="20577"/>
          <ac:spMkLst>
            <pc:docMk/>
            <pc:sldMk cId="0" sldId="259"/>
            <ac:spMk id="14" creationId="{00000000-0000-0000-0000-000000000000}"/>
          </ac:spMkLst>
        </pc:spChg>
        <pc:spChg chg="mod">
          <ac:chgData name="Terry Moorehead" userId="S::tmoorehead@meevo.com::a2a6df63-b8e3-4cea-aa6c-ded8cdcb5bd7" providerId="AD" clId="Web-{00477217-F501-036E-869F-32544DF2E05A}" dt="2026-03-10T15:15:19.976" v="9" actId="20577"/>
          <ac:spMkLst>
            <pc:docMk/>
            <pc:sldMk cId="0" sldId="259"/>
            <ac:spMk id="19" creationId="{00000000-0000-0000-0000-000000000000}"/>
          </ac:spMkLst>
        </pc:spChg>
        <pc:spChg chg="mod">
          <ac:chgData name="Terry Moorehead" userId="S::tmoorehead@meevo.com::a2a6df63-b8e3-4cea-aa6c-ded8cdcb5bd7" providerId="AD" clId="Web-{00477217-F501-036E-869F-32544DF2E05A}" dt="2026-03-10T15:15:24.039" v="10" actId="20577"/>
          <ac:spMkLst>
            <pc:docMk/>
            <pc:sldMk cId="0" sldId="259"/>
            <ac:spMk id="20" creationId="{00000000-0000-0000-0000-000000000000}"/>
          </ac:spMkLst>
        </pc:spChg>
        <pc:spChg chg="mod">
          <ac:chgData name="Terry Moorehead" userId="S::tmoorehead@meevo.com::a2a6df63-b8e3-4cea-aa6c-ded8cdcb5bd7" providerId="AD" clId="Web-{00477217-F501-036E-869F-32544DF2E05A}" dt="2026-03-10T15:15:00.554" v="5" actId="1076"/>
          <ac:spMkLst>
            <pc:docMk/>
            <pc:sldMk cId="0" sldId="259"/>
            <ac:spMk id="22" creationId="{00000000-0000-0000-0000-000000000000}"/>
          </ac:spMkLst>
        </pc:spChg>
        <pc:spChg chg="mod">
          <ac:chgData name="Terry Moorehead" userId="S::tmoorehead@meevo.com::a2a6df63-b8e3-4cea-aa6c-ded8cdcb5bd7" providerId="AD" clId="Web-{00477217-F501-036E-869F-32544DF2E05A}" dt="2026-03-10T15:15:45.257" v="11" actId="20577"/>
          <ac:spMkLst>
            <pc:docMk/>
            <pc:sldMk cId="0" sldId="259"/>
            <ac:spMk id="28" creationId="{00000000-0000-0000-0000-000000000000}"/>
          </ac:spMkLst>
        </pc:spChg>
        <pc:spChg chg="mod">
          <ac:chgData name="Terry Moorehead" userId="S::tmoorehead@meevo.com::a2a6df63-b8e3-4cea-aa6c-ded8cdcb5bd7" providerId="AD" clId="Web-{00477217-F501-036E-869F-32544DF2E05A}" dt="2026-03-10T15:15:53.726" v="12" actId="20577"/>
          <ac:spMkLst>
            <pc:docMk/>
            <pc:sldMk cId="0" sldId="259"/>
            <ac:spMk id="29" creationId="{00000000-0000-0000-0000-000000000000}"/>
          </ac:spMkLst>
        </pc:spChg>
        <pc:spChg chg="mod">
          <ac:chgData name="Terry Moorehead" userId="S::tmoorehead@meevo.com::a2a6df63-b8e3-4cea-aa6c-ded8cdcb5bd7" providerId="AD" clId="Web-{00477217-F501-036E-869F-32544DF2E05A}" dt="2026-03-10T15:15:05.148" v="6" actId="1076"/>
          <ac:spMkLst>
            <pc:docMk/>
            <pc:sldMk cId="0" sldId="259"/>
            <ac:spMk id="31" creationId="{00000000-0000-0000-0000-000000000000}"/>
          </ac:spMkLst>
        </pc:spChg>
      </pc:sldChg>
      <pc:sldChg chg="del">
        <pc:chgData name="Terry Moorehead" userId="S::tmoorehead@meevo.com::a2a6df63-b8e3-4cea-aa6c-ded8cdcb5bd7" providerId="AD" clId="Web-{00477217-F501-036E-869F-32544DF2E05A}" dt="2026-03-10T15:16:36.007" v="15"/>
        <pc:sldMkLst>
          <pc:docMk/>
          <pc:sldMk cId="0" sldId="261"/>
        </pc:sldMkLst>
      </pc:sldChg>
      <pc:sldChg chg="modSp">
        <pc:chgData name="Terry Moorehead" userId="S::tmoorehead@meevo.com::a2a6df63-b8e3-4cea-aa6c-ded8cdcb5bd7" providerId="AD" clId="Web-{00477217-F501-036E-869F-32544DF2E05A}" dt="2026-03-10T15:18:26.553" v="21" actId="20577"/>
        <pc:sldMkLst>
          <pc:docMk/>
          <pc:sldMk cId="0" sldId="262"/>
        </pc:sldMkLst>
        <pc:spChg chg="mod">
          <ac:chgData name="Terry Moorehead" userId="S::tmoorehead@meevo.com::a2a6df63-b8e3-4cea-aa6c-ded8cdcb5bd7" providerId="AD" clId="Web-{00477217-F501-036E-869F-32544DF2E05A}" dt="2026-03-10T15:16:40.569" v="16" actId="20577"/>
          <ac:spMkLst>
            <pc:docMk/>
            <pc:sldMk cId="0" sldId="262"/>
            <ac:spMk id="12" creationId="{00000000-0000-0000-0000-000000000000}"/>
          </ac:spMkLst>
        </pc:spChg>
        <pc:spChg chg="mod">
          <ac:chgData name="Terry Moorehead" userId="S::tmoorehead@meevo.com::a2a6df63-b8e3-4cea-aa6c-ded8cdcb5bd7" providerId="AD" clId="Web-{00477217-F501-036E-869F-32544DF2E05A}" dt="2026-03-10T15:18:23.210" v="20" actId="20577"/>
          <ac:spMkLst>
            <pc:docMk/>
            <pc:sldMk cId="0" sldId="262"/>
            <ac:spMk id="14" creationId="{00000000-0000-0000-0000-000000000000}"/>
          </ac:spMkLst>
        </pc:spChg>
        <pc:spChg chg="mod">
          <ac:chgData name="Terry Moorehead" userId="S::tmoorehead@meevo.com::a2a6df63-b8e3-4cea-aa6c-ded8cdcb5bd7" providerId="AD" clId="Web-{00477217-F501-036E-869F-32544DF2E05A}" dt="2026-03-10T15:16:45.819" v="17" actId="20577"/>
          <ac:spMkLst>
            <pc:docMk/>
            <pc:sldMk cId="0" sldId="262"/>
            <ac:spMk id="19" creationId="{00000000-0000-0000-0000-000000000000}"/>
          </ac:spMkLst>
        </pc:spChg>
        <pc:spChg chg="mod">
          <ac:chgData name="Terry Moorehead" userId="S::tmoorehead@meevo.com::a2a6df63-b8e3-4cea-aa6c-ded8cdcb5bd7" providerId="AD" clId="Web-{00477217-F501-036E-869F-32544DF2E05A}" dt="2026-03-10T15:18:26.553" v="21" actId="20577"/>
          <ac:spMkLst>
            <pc:docMk/>
            <pc:sldMk cId="0" sldId="262"/>
            <ac:spMk id="21" creationId="{00000000-0000-0000-0000-000000000000}"/>
          </ac:spMkLst>
        </pc:spChg>
        <pc:spChg chg="mod">
          <ac:chgData name="Terry Moorehead" userId="S::tmoorehead@meevo.com::a2a6df63-b8e3-4cea-aa6c-ded8cdcb5bd7" providerId="AD" clId="Web-{00477217-F501-036E-869F-32544DF2E05A}" dt="2026-03-10T15:16:53.710" v="18" actId="20577"/>
          <ac:spMkLst>
            <pc:docMk/>
            <pc:sldMk cId="0" sldId="262"/>
            <ac:spMk id="26" creationId="{00000000-0000-0000-0000-000000000000}"/>
          </ac:spMkLst>
        </pc:spChg>
        <pc:spChg chg="mod">
          <ac:chgData name="Terry Moorehead" userId="S::tmoorehead@meevo.com::a2a6df63-b8e3-4cea-aa6c-ded8cdcb5bd7" providerId="AD" clId="Web-{00477217-F501-036E-869F-32544DF2E05A}" dt="2026-03-10T15:16:59.632" v="19" actId="20577"/>
          <ac:spMkLst>
            <pc:docMk/>
            <pc:sldMk cId="0" sldId="262"/>
            <ac:spMk id="33" creationId="{00000000-0000-0000-0000-000000000000}"/>
          </ac:spMkLst>
        </pc:spChg>
      </pc:sldChg>
      <pc:sldChg chg="modSp">
        <pc:chgData name="Terry Moorehead" userId="S::tmoorehead@meevo.com::a2a6df63-b8e3-4cea-aa6c-ded8cdcb5bd7" providerId="AD" clId="Web-{00477217-F501-036E-869F-32544DF2E05A}" dt="2026-03-10T15:18:41.319" v="23" actId="1076"/>
        <pc:sldMkLst>
          <pc:docMk/>
          <pc:sldMk cId="0" sldId="263"/>
        </pc:sldMkLst>
        <pc:spChg chg="mod">
          <ac:chgData name="Terry Moorehead" userId="S::tmoorehead@meevo.com::a2a6df63-b8e3-4cea-aa6c-ded8cdcb5bd7" providerId="AD" clId="Web-{00477217-F501-036E-869F-32544DF2E05A}" dt="2026-03-10T15:18:37.460" v="22" actId="1076"/>
          <ac:spMkLst>
            <pc:docMk/>
            <pc:sldMk cId="0" sldId="263"/>
            <ac:spMk id="10" creationId="{00000000-0000-0000-0000-000000000000}"/>
          </ac:spMkLst>
        </pc:spChg>
        <pc:spChg chg="mod">
          <ac:chgData name="Terry Moorehead" userId="S::tmoorehead@meevo.com::a2a6df63-b8e3-4cea-aa6c-ded8cdcb5bd7" providerId="AD" clId="Web-{00477217-F501-036E-869F-32544DF2E05A}" dt="2026-03-10T15:18:41.319" v="23" actId="1076"/>
          <ac:spMkLst>
            <pc:docMk/>
            <pc:sldMk cId="0" sldId="263"/>
            <ac:spMk id="15" creationId="{00000000-0000-0000-0000-000000000000}"/>
          </ac:spMkLst>
        </pc:spChg>
      </pc:sldChg>
      <pc:sldChg chg="modSp">
        <pc:chgData name="Terry Moorehead" userId="S::tmoorehead@meevo.com::a2a6df63-b8e3-4cea-aa6c-ded8cdcb5bd7" providerId="AD" clId="Web-{00477217-F501-036E-869F-32544DF2E05A}" dt="2026-03-10T15:18:56.053" v="25" actId="1076"/>
        <pc:sldMkLst>
          <pc:docMk/>
          <pc:sldMk cId="0" sldId="264"/>
        </pc:sldMkLst>
        <pc:spChg chg="mod">
          <ac:chgData name="Terry Moorehead" userId="S::tmoorehead@meevo.com::a2a6df63-b8e3-4cea-aa6c-ded8cdcb5bd7" providerId="AD" clId="Web-{00477217-F501-036E-869F-32544DF2E05A}" dt="2026-03-10T15:18:47.913" v="24" actId="1076"/>
          <ac:spMkLst>
            <pc:docMk/>
            <pc:sldMk cId="0" sldId="264"/>
            <ac:spMk id="9" creationId="{00000000-0000-0000-0000-000000000000}"/>
          </ac:spMkLst>
        </pc:spChg>
        <pc:spChg chg="mod">
          <ac:chgData name="Terry Moorehead" userId="S::tmoorehead@meevo.com::a2a6df63-b8e3-4cea-aa6c-ded8cdcb5bd7" providerId="AD" clId="Web-{00477217-F501-036E-869F-32544DF2E05A}" dt="2026-03-10T15:18:56.053" v="25" actId="1076"/>
          <ac:spMkLst>
            <pc:docMk/>
            <pc:sldMk cId="0" sldId="264"/>
            <ac:spMk id="37" creationId="{00000000-0000-0000-0000-000000000000}"/>
          </ac:spMkLst>
        </pc:spChg>
      </pc:sldChg>
      <pc:sldChg chg="delSp modSp">
        <pc:chgData name="Terry Moorehead" userId="S::tmoorehead@meevo.com::a2a6df63-b8e3-4cea-aa6c-ded8cdcb5bd7" providerId="AD" clId="Web-{00477217-F501-036E-869F-32544DF2E05A}" dt="2026-03-10T15:19:12.772" v="27" actId="1076"/>
        <pc:sldMkLst>
          <pc:docMk/>
          <pc:sldMk cId="0" sldId="265"/>
        </pc:sldMkLst>
        <pc:spChg chg="del">
          <ac:chgData name="Terry Moorehead" userId="S::tmoorehead@meevo.com::a2a6df63-b8e3-4cea-aa6c-ded8cdcb5bd7" providerId="AD" clId="Web-{00477217-F501-036E-869F-32544DF2E05A}" dt="2026-03-10T15:19:08.788" v="26"/>
          <ac:spMkLst>
            <pc:docMk/>
            <pc:sldMk cId="0" sldId="265"/>
            <ac:spMk id="23" creationId="{00000000-0000-0000-0000-000000000000}"/>
          </ac:spMkLst>
        </pc:spChg>
        <pc:spChg chg="mod">
          <ac:chgData name="Terry Moorehead" userId="S::tmoorehead@meevo.com::a2a6df63-b8e3-4cea-aa6c-ded8cdcb5bd7" providerId="AD" clId="Web-{00477217-F501-036E-869F-32544DF2E05A}" dt="2026-03-10T15:19:12.772" v="27" actId="1076"/>
          <ac:spMkLst>
            <pc:docMk/>
            <pc:sldMk cId="0" sldId="265"/>
            <ac:spMk id="2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4682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67B5C"/>
          </a:solidFill>
          <a:ln/>
        </p:spPr>
        <p:txBody>
          <a:bodyPr/>
          <a:lstStyle/>
          <a:p>
            <a:endParaRPr lang="en-US"/>
          </a:p>
        </p:txBody>
      </p:sp>
      <p:sp>
        <p:nvSpPr>
          <p:cNvPr id="3" name="Shape 1"/>
          <p:cNvSpPr/>
          <p:nvPr/>
        </p:nvSpPr>
        <p:spPr>
          <a:xfrm>
            <a:off x="109728" y="0"/>
            <a:ext cx="9034272" cy="54864"/>
          </a:xfrm>
          <a:prstGeom prst="rect">
            <a:avLst/>
          </a:prstGeom>
          <a:solidFill>
            <a:srgbClr val="1B6B9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7498080" y="4709160"/>
            <a:ext cx="1234440" cy="365760"/>
          </a:xfrm>
          <a:prstGeom prst="rect">
            <a:avLst/>
          </a:prstGeom>
        </p:spPr>
      </p:pic>
      <p:sp>
        <p:nvSpPr>
          <p:cNvPr id="5" name="Shape 2"/>
          <p:cNvSpPr/>
          <p:nvPr/>
        </p:nvSpPr>
        <p:spPr>
          <a:xfrm>
            <a:off x="3840480" y="365760"/>
            <a:ext cx="1188720" cy="1188720"/>
          </a:xfrm>
          <a:prstGeom prst="ellipse">
            <a:avLst/>
          </a:prstGeom>
          <a:solidFill>
            <a:srgbClr val="2A3A44"/>
          </a:solidFill>
          <a:ln/>
          <a:effectLst>
            <a:outerShdw blurRad="76200" dist="25400" dir="8100000" algn="bl" rotWithShape="0">
              <a:srgbClr val="000000">
                <a:alpha val="12000"/>
              </a:srgbClr>
            </a:outerShdw>
          </a:effectLst>
        </p:spPr>
        <p:txBody>
          <a:bodyPr/>
          <a:lstStyle/>
          <a:p>
            <a:endParaRPr lang="en-US"/>
          </a:p>
        </p:txBody>
      </p:sp>
      <p:pic>
        <p:nvPicPr>
          <p:cNvPr id="6" name="Image 1" descr="preencoded.png"/>
          <p:cNvPicPr>
            <a:picLocks noChangeAspect="1"/>
          </p:cNvPicPr>
          <p:nvPr/>
        </p:nvPicPr>
        <p:blipFill>
          <a:blip r:embed="rId4"/>
          <a:stretch>
            <a:fillRect/>
          </a:stretch>
        </p:blipFill>
        <p:spPr>
          <a:xfrm>
            <a:off x="4096512" y="594360"/>
            <a:ext cx="685800" cy="685800"/>
          </a:xfrm>
          <a:prstGeom prst="rect">
            <a:avLst/>
          </a:prstGeom>
        </p:spPr>
      </p:pic>
      <p:sp>
        <p:nvSpPr>
          <p:cNvPr id="7" name="Text 3"/>
          <p:cNvSpPr/>
          <p:nvPr/>
        </p:nvSpPr>
        <p:spPr>
          <a:xfrm>
            <a:off x="731520" y="1691640"/>
            <a:ext cx="7680960" cy="685800"/>
          </a:xfrm>
          <a:prstGeom prst="rect">
            <a:avLst/>
          </a:prstGeom>
          <a:noFill/>
          <a:ln/>
        </p:spPr>
        <p:txBody>
          <a:bodyPr wrap="square" lIns="0" tIns="0" rIns="0" bIns="0" rtlCol="0" anchor="ctr"/>
          <a:lstStyle/>
          <a:p>
            <a:pPr marL="0" indent="0" algn="ctr">
              <a:buNone/>
            </a:pPr>
            <a:r>
              <a:rPr lang="en-US" sz="4200" b="1" kern="0" spc="300">
                <a:solidFill>
                  <a:srgbClr val="F5F0EB"/>
                </a:solidFill>
                <a:latin typeface="Trebuchet MS" pitchFamily="34" charset="0"/>
                <a:ea typeface="Trebuchet MS" pitchFamily="34" charset="-122"/>
                <a:cs typeface="Trebuchet MS" pitchFamily="34" charset="-120"/>
              </a:rPr>
              <a:t>Gatekeeper Strategy</a:t>
            </a:r>
            <a:endParaRPr lang="en-US" sz="4200"/>
          </a:p>
        </p:txBody>
      </p:sp>
      <p:sp>
        <p:nvSpPr>
          <p:cNvPr id="8" name="Text 4"/>
          <p:cNvSpPr/>
          <p:nvPr/>
        </p:nvSpPr>
        <p:spPr>
          <a:xfrm>
            <a:off x="731520" y="2331720"/>
            <a:ext cx="7680960" cy="457200"/>
          </a:xfrm>
          <a:prstGeom prst="rect">
            <a:avLst/>
          </a:prstGeom>
          <a:noFill/>
          <a:ln/>
        </p:spPr>
        <p:txBody>
          <a:bodyPr wrap="square" lIns="0" tIns="0" rIns="0" bIns="0" rtlCol="0" anchor="ctr"/>
          <a:lstStyle/>
          <a:p>
            <a:pPr marL="0" indent="0" algn="ctr">
              <a:buNone/>
            </a:pPr>
            <a:r>
              <a:rPr lang="en-US" sz="2000" kern="0" spc="400">
                <a:solidFill>
                  <a:srgbClr val="C67B5C"/>
                </a:solidFill>
                <a:latin typeface="Trebuchet MS" pitchFamily="34" charset="0"/>
                <a:ea typeface="Trebuchet MS" pitchFamily="34" charset="-122"/>
                <a:cs typeface="Trebuchet MS" pitchFamily="34" charset="-120"/>
              </a:rPr>
              <a:t>In the Meevo World</a:t>
            </a:r>
            <a:endParaRPr lang="en-US" sz="2000"/>
          </a:p>
        </p:txBody>
      </p:sp>
      <p:sp>
        <p:nvSpPr>
          <p:cNvPr id="9" name="Text 5"/>
          <p:cNvSpPr/>
          <p:nvPr/>
        </p:nvSpPr>
        <p:spPr>
          <a:xfrm>
            <a:off x="731520" y="2880360"/>
            <a:ext cx="7680960" cy="365760"/>
          </a:xfrm>
          <a:prstGeom prst="rect">
            <a:avLst/>
          </a:prstGeom>
          <a:noFill/>
          <a:ln/>
        </p:spPr>
        <p:txBody>
          <a:bodyPr wrap="square" lIns="0" tIns="0" rIns="0" bIns="0" rtlCol="0" anchor="ctr"/>
          <a:lstStyle/>
          <a:p>
            <a:pPr marL="0" indent="0" algn="ctr">
              <a:buNone/>
            </a:pPr>
            <a:r>
              <a:rPr lang="en-US" sz="1300" i="1">
                <a:solidFill>
                  <a:srgbClr val="E8E3DE"/>
                </a:solidFill>
                <a:latin typeface="Calibri" pitchFamily="34" charset="0"/>
                <a:ea typeface="Calibri" pitchFamily="34" charset="-122"/>
                <a:cs typeface="Calibri" pitchFamily="34" charset="-120"/>
              </a:rPr>
              <a:t>How to Turn Front Desks, Managers, and Receptionists Into Your Path to the Decision Maker</a:t>
            </a:r>
            <a:endParaRPr lang="en-US" sz="1300"/>
          </a:p>
        </p:txBody>
      </p:sp>
      <p:sp>
        <p:nvSpPr>
          <p:cNvPr id="10" name="Shape 6"/>
          <p:cNvSpPr/>
          <p:nvPr/>
        </p:nvSpPr>
        <p:spPr>
          <a:xfrm>
            <a:off x="1371600" y="3429000"/>
            <a:ext cx="6400800" cy="502920"/>
          </a:xfrm>
          <a:prstGeom prst="rect">
            <a:avLst/>
          </a:prstGeom>
          <a:solidFill>
            <a:srgbClr val="2A3A44"/>
          </a:solidFill>
          <a:ln/>
          <a:effectLst>
            <a:outerShdw blurRad="50800" dist="12700" dir="8100000" algn="bl" rotWithShape="0">
              <a:srgbClr val="000000">
                <a:alpha val="8000"/>
              </a:srgbClr>
            </a:outerShdw>
          </a:effectLst>
        </p:spPr>
        <p:txBody>
          <a:bodyPr/>
          <a:lstStyle/>
          <a:p>
            <a:endParaRPr lang="en-US"/>
          </a:p>
        </p:txBody>
      </p:sp>
      <p:sp>
        <p:nvSpPr>
          <p:cNvPr id="11" name="Text 7"/>
          <p:cNvSpPr/>
          <p:nvPr/>
        </p:nvSpPr>
        <p:spPr>
          <a:xfrm>
            <a:off x="1554480" y="3429000"/>
            <a:ext cx="6035040" cy="502920"/>
          </a:xfrm>
          <a:prstGeom prst="rect">
            <a:avLst/>
          </a:prstGeom>
          <a:noFill/>
          <a:ln/>
        </p:spPr>
        <p:txBody>
          <a:bodyPr wrap="square" lIns="0" tIns="0" rIns="0" bIns="0" rtlCol="0" anchor="ctr"/>
          <a:lstStyle/>
          <a:p>
            <a:pPr marL="0" indent="0" algn="ctr">
              <a:buNone/>
            </a:pPr>
            <a:r>
              <a:rPr lang="en-US" sz="1000">
                <a:solidFill>
                  <a:srgbClr val="E8E3DE"/>
                </a:solidFill>
                <a:latin typeface="Calibri" pitchFamily="34" charset="0"/>
                <a:ea typeface="Calibri" pitchFamily="34" charset="-122"/>
                <a:cs typeface="Calibri" pitchFamily="34" charset="-120"/>
              </a:rPr>
              <a:t>The Triple Bypass  •  Champion Building  •  Persona-Specific Approaches  •  Salon &amp; Spa Gatekeepers</a:t>
            </a:r>
            <a:endParaRPr lang="en-US" sz="1000"/>
          </a:p>
        </p:txBody>
      </p:sp>
      <p:sp>
        <p:nvSpPr>
          <p:cNvPr id="12" name="Text 8"/>
          <p:cNvSpPr/>
          <p:nvPr/>
        </p:nvSpPr>
        <p:spPr>
          <a:xfrm>
            <a:off x="731520" y="4114800"/>
            <a:ext cx="6400800" cy="182880"/>
          </a:xfrm>
          <a:prstGeom prst="rect">
            <a:avLst/>
          </a:prstGeom>
          <a:noFill/>
          <a:ln/>
        </p:spPr>
        <p:txBody>
          <a:bodyPr wrap="square" lIns="0" tIns="0" rIns="0" bIns="0" rtlCol="0" anchor="ctr"/>
          <a:lstStyle/>
          <a:p>
            <a:pPr marL="0" indent="0">
              <a:buNone/>
            </a:pPr>
            <a:r>
              <a:rPr lang="en-US" sz="800">
                <a:solidFill>
                  <a:srgbClr val="7A9E7E"/>
                </a:solidFill>
                <a:latin typeface="Calibri" pitchFamily="34" charset="0"/>
                <a:ea typeface="Calibri" pitchFamily="34" charset="-122"/>
                <a:cs typeface="Calibri" pitchFamily="34" charset="-120"/>
              </a:rPr>
              <a:t>[ATTRIBUTE: Communication Skills #4 | Resilience / Grit #3 | Drive / Competitive Fire #1]  [STAGE: Onboarding + Continuous Education]  [LEVEL: 1-2]</a:t>
            </a:r>
            <a:endParaRPr lang="en-US" sz="800"/>
          </a:p>
        </p:txBody>
      </p:sp>
      <p:sp>
        <p:nvSpPr>
          <p:cNvPr id="13" name="Text 9"/>
          <p:cNvSpPr/>
          <p:nvPr/>
        </p:nvSpPr>
        <p:spPr>
          <a:xfrm>
            <a:off x="731520" y="4434840"/>
            <a:ext cx="7680960" cy="228600"/>
          </a:xfrm>
          <a:prstGeom prst="rect">
            <a:avLst/>
          </a:prstGeom>
          <a:noFill/>
          <a:ln/>
        </p:spPr>
        <p:txBody>
          <a:bodyPr wrap="square" lIns="0" tIns="0" rIns="0" bIns="0" rtlCol="0" anchor="ctr"/>
          <a:lstStyle/>
          <a:p>
            <a:pPr marL="0" indent="0" algn="ctr">
              <a:buNone/>
            </a:pPr>
            <a:r>
              <a:rPr lang="en-US" sz="900" i="1">
                <a:solidFill>
                  <a:srgbClr val="9CA3AF"/>
                </a:solidFill>
                <a:latin typeface="Calibri" pitchFamily="34" charset="0"/>
                <a:ea typeface="Calibri" pitchFamily="34" charset="-122"/>
                <a:cs typeface="Calibri" pitchFamily="34" charset="-120"/>
              </a:rPr>
              <a:t>Commit to the process. Control the controllables.</a:t>
            </a:r>
            <a:endParaRPr lang="en-US" sz="9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201168"/>
            <a:ext cx="347472" cy="347472"/>
          </a:xfrm>
          <a:prstGeom prst="rect">
            <a:avLst/>
          </a:prstGeom>
        </p:spPr>
      </p:pic>
      <p:sp>
        <p:nvSpPr>
          <p:cNvPr id="3" name="Text 0"/>
          <p:cNvSpPr/>
          <p:nvPr/>
        </p:nvSpPr>
        <p:spPr>
          <a:xfrm>
            <a:off x="868680" y="164592"/>
            <a:ext cx="7315200" cy="548640"/>
          </a:xfrm>
          <a:prstGeom prst="rect">
            <a:avLst/>
          </a:prstGeom>
          <a:noFill/>
          <a:ln/>
        </p:spPr>
        <p:txBody>
          <a:bodyPr wrap="square" lIns="0" tIns="0" rIns="0" bIns="0" rtlCol="0" anchor="ctr"/>
          <a:lstStyle/>
          <a:p>
            <a:pPr marL="0" indent="0">
              <a:buNone/>
            </a:pPr>
            <a:r>
              <a:rPr lang="en-US" sz="2600" b="1" kern="0" spc="300">
                <a:solidFill>
                  <a:srgbClr val="36454F"/>
                </a:solidFill>
                <a:latin typeface="Trebuchet MS" pitchFamily="34" charset="0"/>
                <a:ea typeface="Trebuchet MS" pitchFamily="34" charset="-122"/>
                <a:cs typeface="Trebuchet MS" pitchFamily="34" charset="-120"/>
              </a:rPr>
              <a:t>The Gatekeeper Mindset Shift</a:t>
            </a:r>
            <a:endParaRPr lang="en-US" sz="2600"/>
          </a:p>
        </p:txBody>
      </p:sp>
      <p:sp>
        <p:nvSpPr>
          <p:cNvPr id="4" name="Shape 1"/>
          <p:cNvSpPr/>
          <p:nvPr/>
        </p:nvSpPr>
        <p:spPr>
          <a:xfrm>
            <a:off x="548640" y="749808"/>
            <a:ext cx="1645920" cy="36576"/>
          </a:xfrm>
          <a:prstGeom prst="rect">
            <a:avLst/>
          </a:prstGeom>
          <a:solidFill>
            <a:srgbClr val="1B6B93"/>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7498080" y="4709160"/>
            <a:ext cx="1234440" cy="365760"/>
          </a:xfrm>
          <a:prstGeom prst="rect">
            <a:avLst/>
          </a:prstGeom>
        </p:spPr>
      </p:pic>
      <p:sp>
        <p:nvSpPr>
          <p:cNvPr id="6" name="Shape 2"/>
          <p:cNvSpPr/>
          <p:nvPr/>
        </p:nvSpPr>
        <p:spPr>
          <a:xfrm>
            <a:off x="457200" y="868680"/>
            <a:ext cx="8229600" cy="502920"/>
          </a:xfrm>
          <a:prstGeom prst="rect">
            <a:avLst/>
          </a:prstGeom>
          <a:solidFill>
            <a:srgbClr val="1E2A33"/>
          </a:solidFill>
          <a:ln/>
          <a:effectLst>
            <a:outerShdw blurRad="76200" dist="25400" dir="8100000" algn="bl" rotWithShape="0">
              <a:srgbClr val="000000">
                <a:alpha val="12000"/>
              </a:srgbClr>
            </a:outerShdw>
          </a:effectLst>
        </p:spPr>
        <p:txBody>
          <a:bodyPr/>
          <a:lstStyle/>
          <a:p>
            <a:endParaRPr lang="en-US"/>
          </a:p>
        </p:txBody>
      </p:sp>
      <p:sp>
        <p:nvSpPr>
          <p:cNvPr id="7" name="Text 3"/>
          <p:cNvSpPr/>
          <p:nvPr/>
        </p:nvSpPr>
        <p:spPr>
          <a:xfrm>
            <a:off x="640080" y="868680"/>
            <a:ext cx="7863840" cy="502920"/>
          </a:xfrm>
          <a:prstGeom prst="rect">
            <a:avLst/>
          </a:prstGeom>
          <a:noFill/>
          <a:ln/>
        </p:spPr>
        <p:txBody>
          <a:bodyPr wrap="square" lIns="0" tIns="0" rIns="0" bIns="0" rtlCol="0" anchor="ctr"/>
          <a:lstStyle/>
          <a:p>
            <a:pPr marL="0" indent="0">
              <a:buNone/>
            </a:pPr>
            <a:r>
              <a:rPr lang="en-US" sz="1100" i="1">
                <a:solidFill>
                  <a:srgbClr val="F5F0EB"/>
                </a:solidFill>
                <a:latin typeface="Calibri" pitchFamily="34" charset="0"/>
                <a:ea typeface="Calibri" pitchFamily="34" charset="-122"/>
                <a:cs typeface="Calibri" pitchFamily="34" charset="-120"/>
              </a:rPr>
              <a:t>In the salon and spa world, the gatekeeper is almost always the front desk manager — and they’re often the most influential person in the building next to the owner.</a:t>
            </a:r>
            <a:endParaRPr lang="en-US" sz="1100"/>
          </a:p>
        </p:txBody>
      </p:sp>
      <p:sp>
        <p:nvSpPr>
          <p:cNvPr id="8" name="Shape 4"/>
          <p:cNvSpPr/>
          <p:nvPr/>
        </p:nvSpPr>
        <p:spPr>
          <a:xfrm>
            <a:off x="457200" y="1554480"/>
            <a:ext cx="3200400" cy="5486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9" name="Shape 5"/>
          <p:cNvSpPr/>
          <p:nvPr/>
        </p:nvSpPr>
        <p:spPr>
          <a:xfrm>
            <a:off x="457200" y="1554480"/>
            <a:ext cx="54864" cy="548640"/>
          </a:xfrm>
          <a:prstGeom prst="rect">
            <a:avLst/>
          </a:prstGeom>
          <a:solidFill>
            <a:srgbClr val="6B3A4A"/>
          </a:solidFill>
          <a:ln/>
        </p:spPr>
        <p:txBody>
          <a:bodyPr/>
          <a:lstStyle/>
          <a:p>
            <a:endParaRPr lang="en-US"/>
          </a:p>
        </p:txBody>
      </p:sp>
      <p:pic>
        <p:nvPicPr>
          <p:cNvPr id="10" name="Image 2" descr="preencoded.png"/>
          <p:cNvPicPr>
            <a:picLocks noChangeAspect="1"/>
          </p:cNvPicPr>
          <p:nvPr/>
        </p:nvPicPr>
        <p:blipFill>
          <a:blip r:embed="rId5"/>
          <a:stretch>
            <a:fillRect/>
          </a:stretch>
        </p:blipFill>
        <p:spPr>
          <a:xfrm>
            <a:off x="594360" y="1691640"/>
            <a:ext cx="228600" cy="228600"/>
          </a:xfrm>
          <a:prstGeom prst="rect">
            <a:avLst/>
          </a:prstGeom>
        </p:spPr>
      </p:pic>
      <p:sp>
        <p:nvSpPr>
          <p:cNvPr id="11" name="Text 6"/>
          <p:cNvSpPr/>
          <p:nvPr/>
        </p:nvSpPr>
        <p:spPr>
          <a:xfrm>
            <a:off x="914400" y="1554480"/>
            <a:ext cx="2560320" cy="548640"/>
          </a:xfrm>
          <a:prstGeom prst="rect">
            <a:avLst/>
          </a:prstGeom>
          <a:noFill/>
          <a:ln/>
        </p:spPr>
        <p:txBody>
          <a:bodyPr wrap="square" lIns="0" tIns="0" rIns="0" bIns="0" rtlCol="0" anchor="ctr"/>
          <a:lstStyle/>
          <a:p>
            <a:pPr marL="0" indent="0">
              <a:buNone/>
            </a:pPr>
            <a:r>
              <a:rPr lang="en-US" sz="1050" b="1">
                <a:solidFill>
                  <a:srgbClr val="6B3A4A"/>
                </a:solidFill>
                <a:latin typeface="Calibri" pitchFamily="34" charset="0"/>
                <a:ea typeface="Calibri" pitchFamily="34" charset="-122"/>
                <a:cs typeface="Calibri" pitchFamily="34" charset="-120"/>
              </a:rPr>
              <a:t>Gatekeeper = obstacle</a:t>
            </a:r>
            <a:endParaRPr lang="en-US" sz="1050"/>
          </a:p>
        </p:txBody>
      </p:sp>
      <p:pic>
        <p:nvPicPr>
          <p:cNvPr id="12" name="Image 3" descr="preencoded.png"/>
          <p:cNvPicPr>
            <a:picLocks noChangeAspect="1"/>
          </p:cNvPicPr>
          <p:nvPr/>
        </p:nvPicPr>
        <p:blipFill>
          <a:blip r:embed="rId6"/>
          <a:stretch>
            <a:fillRect/>
          </a:stretch>
        </p:blipFill>
        <p:spPr>
          <a:xfrm>
            <a:off x="3794760" y="1719072"/>
            <a:ext cx="182880" cy="182880"/>
          </a:xfrm>
          <a:prstGeom prst="rect">
            <a:avLst/>
          </a:prstGeom>
        </p:spPr>
      </p:pic>
      <p:sp>
        <p:nvSpPr>
          <p:cNvPr id="13" name="Shape 7"/>
          <p:cNvSpPr/>
          <p:nvPr/>
        </p:nvSpPr>
        <p:spPr>
          <a:xfrm>
            <a:off x="4160520" y="1554480"/>
            <a:ext cx="4526280" cy="5486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4" name="Shape 8"/>
          <p:cNvSpPr/>
          <p:nvPr/>
        </p:nvSpPr>
        <p:spPr>
          <a:xfrm>
            <a:off x="4160520" y="1554480"/>
            <a:ext cx="54864" cy="548640"/>
          </a:xfrm>
          <a:prstGeom prst="rect">
            <a:avLst/>
          </a:prstGeom>
          <a:solidFill>
            <a:srgbClr val="7A9E7E"/>
          </a:solidFill>
          <a:ln/>
        </p:spPr>
        <p:txBody>
          <a:bodyPr/>
          <a:lstStyle/>
          <a:p>
            <a:endParaRPr lang="en-US"/>
          </a:p>
        </p:txBody>
      </p:sp>
      <p:pic>
        <p:nvPicPr>
          <p:cNvPr id="15" name="Image 4" descr="preencoded.png"/>
          <p:cNvPicPr>
            <a:picLocks noChangeAspect="1"/>
          </p:cNvPicPr>
          <p:nvPr/>
        </p:nvPicPr>
        <p:blipFill>
          <a:blip r:embed="rId7"/>
          <a:stretch>
            <a:fillRect/>
          </a:stretch>
        </p:blipFill>
        <p:spPr>
          <a:xfrm>
            <a:off x="4297680" y="1691640"/>
            <a:ext cx="228600" cy="228600"/>
          </a:xfrm>
          <a:prstGeom prst="rect">
            <a:avLst/>
          </a:prstGeom>
        </p:spPr>
      </p:pic>
      <p:sp>
        <p:nvSpPr>
          <p:cNvPr id="16" name="Text 9"/>
          <p:cNvSpPr/>
          <p:nvPr/>
        </p:nvSpPr>
        <p:spPr>
          <a:xfrm>
            <a:off x="4617720" y="1554480"/>
            <a:ext cx="3840480" cy="548640"/>
          </a:xfrm>
          <a:prstGeom prst="rect">
            <a:avLst/>
          </a:prstGeom>
          <a:noFill/>
          <a:ln/>
        </p:spPr>
        <p:txBody>
          <a:bodyPr wrap="square" lIns="0" tIns="0" rIns="0" bIns="0" rtlCol="0" anchor="ctr"/>
          <a:lstStyle/>
          <a:p>
            <a:pPr marL="0" indent="0">
              <a:buNone/>
            </a:pPr>
            <a:r>
              <a:rPr lang="en-US" sz="1050" b="1">
                <a:solidFill>
                  <a:srgbClr val="7A9E7E"/>
                </a:solidFill>
                <a:latin typeface="Calibri" pitchFamily="34" charset="0"/>
                <a:ea typeface="Calibri" pitchFamily="34" charset="-122"/>
                <a:cs typeface="Calibri" pitchFamily="34" charset="-120"/>
              </a:rPr>
              <a:t>Gatekeeper = future champion</a:t>
            </a:r>
            <a:endParaRPr lang="en-US" sz="1050"/>
          </a:p>
        </p:txBody>
      </p:sp>
      <p:sp>
        <p:nvSpPr>
          <p:cNvPr id="17" name="Shape 10"/>
          <p:cNvSpPr/>
          <p:nvPr/>
        </p:nvSpPr>
        <p:spPr>
          <a:xfrm>
            <a:off x="457200" y="2240280"/>
            <a:ext cx="3200400" cy="5486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8" name="Shape 11"/>
          <p:cNvSpPr/>
          <p:nvPr/>
        </p:nvSpPr>
        <p:spPr>
          <a:xfrm>
            <a:off x="457200" y="2240280"/>
            <a:ext cx="54864" cy="548640"/>
          </a:xfrm>
          <a:prstGeom prst="rect">
            <a:avLst/>
          </a:prstGeom>
          <a:solidFill>
            <a:srgbClr val="6B3A4A"/>
          </a:solidFill>
          <a:ln/>
        </p:spPr>
        <p:txBody>
          <a:bodyPr/>
          <a:lstStyle/>
          <a:p>
            <a:endParaRPr lang="en-US"/>
          </a:p>
        </p:txBody>
      </p:sp>
      <p:pic>
        <p:nvPicPr>
          <p:cNvPr id="19" name="Image 5" descr="preencoded.png"/>
          <p:cNvPicPr>
            <a:picLocks noChangeAspect="1"/>
          </p:cNvPicPr>
          <p:nvPr/>
        </p:nvPicPr>
        <p:blipFill>
          <a:blip r:embed="rId5"/>
          <a:stretch>
            <a:fillRect/>
          </a:stretch>
        </p:blipFill>
        <p:spPr>
          <a:xfrm>
            <a:off x="594360" y="2377440"/>
            <a:ext cx="228600" cy="228600"/>
          </a:xfrm>
          <a:prstGeom prst="rect">
            <a:avLst/>
          </a:prstGeom>
        </p:spPr>
      </p:pic>
      <p:sp>
        <p:nvSpPr>
          <p:cNvPr id="20" name="Text 12"/>
          <p:cNvSpPr/>
          <p:nvPr/>
        </p:nvSpPr>
        <p:spPr>
          <a:xfrm>
            <a:off x="914400" y="2240280"/>
            <a:ext cx="2560320" cy="548640"/>
          </a:xfrm>
          <a:prstGeom prst="rect">
            <a:avLst/>
          </a:prstGeom>
          <a:noFill/>
          <a:ln/>
        </p:spPr>
        <p:txBody>
          <a:bodyPr wrap="square" lIns="0" tIns="0" rIns="0" bIns="0" rtlCol="0" anchor="ctr"/>
          <a:lstStyle/>
          <a:p>
            <a:pPr marL="0" indent="0">
              <a:buNone/>
            </a:pPr>
            <a:r>
              <a:rPr lang="en-US" sz="1050" b="1">
                <a:solidFill>
                  <a:srgbClr val="6B3A4A"/>
                </a:solidFill>
                <a:latin typeface="Calibri" pitchFamily="34" charset="0"/>
                <a:ea typeface="Calibri" pitchFamily="34" charset="-122"/>
                <a:cs typeface="Calibri" pitchFamily="34" charset="-120"/>
              </a:rPr>
              <a:t>Get past them to the owner</a:t>
            </a:r>
            <a:endParaRPr lang="en-US" sz="1050"/>
          </a:p>
        </p:txBody>
      </p:sp>
      <p:pic>
        <p:nvPicPr>
          <p:cNvPr id="21" name="Image 6" descr="preencoded.png"/>
          <p:cNvPicPr>
            <a:picLocks noChangeAspect="1"/>
          </p:cNvPicPr>
          <p:nvPr/>
        </p:nvPicPr>
        <p:blipFill>
          <a:blip r:embed="rId6"/>
          <a:stretch>
            <a:fillRect/>
          </a:stretch>
        </p:blipFill>
        <p:spPr>
          <a:xfrm>
            <a:off x="3794760" y="2404872"/>
            <a:ext cx="182880" cy="182880"/>
          </a:xfrm>
          <a:prstGeom prst="rect">
            <a:avLst/>
          </a:prstGeom>
        </p:spPr>
      </p:pic>
      <p:sp>
        <p:nvSpPr>
          <p:cNvPr id="22" name="Shape 13"/>
          <p:cNvSpPr/>
          <p:nvPr/>
        </p:nvSpPr>
        <p:spPr>
          <a:xfrm>
            <a:off x="4160520" y="2240280"/>
            <a:ext cx="4526280" cy="5486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3" name="Shape 14"/>
          <p:cNvSpPr/>
          <p:nvPr/>
        </p:nvSpPr>
        <p:spPr>
          <a:xfrm>
            <a:off x="4160520" y="2240280"/>
            <a:ext cx="54864" cy="548640"/>
          </a:xfrm>
          <a:prstGeom prst="rect">
            <a:avLst/>
          </a:prstGeom>
          <a:solidFill>
            <a:srgbClr val="7A9E7E"/>
          </a:solidFill>
          <a:ln/>
        </p:spPr>
        <p:txBody>
          <a:bodyPr/>
          <a:lstStyle/>
          <a:p>
            <a:endParaRPr lang="en-US"/>
          </a:p>
        </p:txBody>
      </p:sp>
      <p:pic>
        <p:nvPicPr>
          <p:cNvPr id="24" name="Image 7" descr="preencoded.png"/>
          <p:cNvPicPr>
            <a:picLocks noChangeAspect="1"/>
          </p:cNvPicPr>
          <p:nvPr/>
        </p:nvPicPr>
        <p:blipFill>
          <a:blip r:embed="rId7"/>
          <a:stretch>
            <a:fillRect/>
          </a:stretch>
        </p:blipFill>
        <p:spPr>
          <a:xfrm>
            <a:off x="4297680" y="2377440"/>
            <a:ext cx="228600" cy="228600"/>
          </a:xfrm>
          <a:prstGeom prst="rect">
            <a:avLst/>
          </a:prstGeom>
        </p:spPr>
      </p:pic>
      <p:sp>
        <p:nvSpPr>
          <p:cNvPr id="25" name="Text 15"/>
          <p:cNvSpPr/>
          <p:nvPr/>
        </p:nvSpPr>
        <p:spPr>
          <a:xfrm>
            <a:off x="4617720" y="2240280"/>
            <a:ext cx="3840480" cy="548640"/>
          </a:xfrm>
          <a:prstGeom prst="rect">
            <a:avLst/>
          </a:prstGeom>
          <a:noFill/>
          <a:ln/>
        </p:spPr>
        <p:txBody>
          <a:bodyPr wrap="square" lIns="0" tIns="0" rIns="0" bIns="0" rtlCol="0" anchor="ctr"/>
          <a:lstStyle/>
          <a:p>
            <a:pPr marL="0" indent="0">
              <a:buNone/>
            </a:pPr>
            <a:r>
              <a:rPr lang="en-US" sz="1050" b="1">
                <a:solidFill>
                  <a:srgbClr val="7A9E7E"/>
                </a:solidFill>
                <a:latin typeface="Calibri" pitchFamily="34" charset="0"/>
                <a:ea typeface="Calibri" pitchFamily="34" charset="-122"/>
                <a:cs typeface="Calibri" pitchFamily="34" charset="-120"/>
              </a:rPr>
              <a:t>Win them and they’ll bring you TO the owner</a:t>
            </a:r>
            <a:endParaRPr lang="en-US" sz="1050"/>
          </a:p>
        </p:txBody>
      </p:sp>
      <p:sp>
        <p:nvSpPr>
          <p:cNvPr id="26" name="Shape 16"/>
          <p:cNvSpPr/>
          <p:nvPr/>
        </p:nvSpPr>
        <p:spPr>
          <a:xfrm>
            <a:off x="457200" y="2926080"/>
            <a:ext cx="3200400" cy="5486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7" name="Shape 17"/>
          <p:cNvSpPr/>
          <p:nvPr/>
        </p:nvSpPr>
        <p:spPr>
          <a:xfrm>
            <a:off x="457200" y="2926080"/>
            <a:ext cx="54864" cy="548640"/>
          </a:xfrm>
          <a:prstGeom prst="rect">
            <a:avLst/>
          </a:prstGeom>
          <a:solidFill>
            <a:srgbClr val="6B3A4A"/>
          </a:solidFill>
          <a:ln/>
        </p:spPr>
        <p:txBody>
          <a:bodyPr/>
          <a:lstStyle/>
          <a:p>
            <a:endParaRPr lang="en-US"/>
          </a:p>
        </p:txBody>
      </p:sp>
      <p:pic>
        <p:nvPicPr>
          <p:cNvPr id="28" name="Image 8" descr="preencoded.png"/>
          <p:cNvPicPr>
            <a:picLocks noChangeAspect="1"/>
          </p:cNvPicPr>
          <p:nvPr/>
        </p:nvPicPr>
        <p:blipFill>
          <a:blip r:embed="rId5"/>
          <a:stretch>
            <a:fillRect/>
          </a:stretch>
        </p:blipFill>
        <p:spPr>
          <a:xfrm>
            <a:off x="594360" y="3063240"/>
            <a:ext cx="228600" cy="228600"/>
          </a:xfrm>
          <a:prstGeom prst="rect">
            <a:avLst/>
          </a:prstGeom>
        </p:spPr>
      </p:pic>
      <p:sp>
        <p:nvSpPr>
          <p:cNvPr id="29" name="Text 18"/>
          <p:cNvSpPr/>
          <p:nvPr/>
        </p:nvSpPr>
        <p:spPr>
          <a:xfrm>
            <a:off x="914400" y="2926080"/>
            <a:ext cx="2560320" cy="548640"/>
          </a:xfrm>
          <a:prstGeom prst="rect">
            <a:avLst/>
          </a:prstGeom>
          <a:noFill/>
          <a:ln/>
        </p:spPr>
        <p:txBody>
          <a:bodyPr wrap="square" lIns="0" tIns="0" rIns="0" bIns="0" rtlCol="0" anchor="ctr"/>
          <a:lstStyle/>
          <a:p>
            <a:pPr marL="0" indent="0">
              <a:buNone/>
            </a:pPr>
            <a:r>
              <a:rPr lang="en-US" sz="1050" b="1">
                <a:solidFill>
                  <a:srgbClr val="6B3A4A"/>
                </a:solidFill>
                <a:latin typeface="Calibri" pitchFamily="34" charset="0"/>
                <a:ea typeface="Calibri" pitchFamily="34" charset="-122"/>
                <a:cs typeface="Calibri" pitchFamily="34" charset="-120"/>
              </a:rPr>
              <a:t>They can’t help me</a:t>
            </a:r>
            <a:endParaRPr lang="en-US" sz="1050"/>
          </a:p>
        </p:txBody>
      </p:sp>
      <p:pic>
        <p:nvPicPr>
          <p:cNvPr id="30" name="Image 9" descr="preencoded.png"/>
          <p:cNvPicPr>
            <a:picLocks noChangeAspect="1"/>
          </p:cNvPicPr>
          <p:nvPr/>
        </p:nvPicPr>
        <p:blipFill>
          <a:blip r:embed="rId6"/>
          <a:stretch>
            <a:fillRect/>
          </a:stretch>
        </p:blipFill>
        <p:spPr>
          <a:xfrm>
            <a:off x="3794760" y="3090672"/>
            <a:ext cx="182880" cy="182880"/>
          </a:xfrm>
          <a:prstGeom prst="rect">
            <a:avLst/>
          </a:prstGeom>
        </p:spPr>
      </p:pic>
      <p:sp>
        <p:nvSpPr>
          <p:cNvPr id="31" name="Shape 19"/>
          <p:cNvSpPr/>
          <p:nvPr/>
        </p:nvSpPr>
        <p:spPr>
          <a:xfrm>
            <a:off x="4160520" y="2926080"/>
            <a:ext cx="4526280" cy="54864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32" name="Shape 20"/>
          <p:cNvSpPr/>
          <p:nvPr/>
        </p:nvSpPr>
        <p:spPr>
          <a:xfrm>
            <a:off x="4160520" y="2926080"/>
            <a:ext cx="54864" cy="548640"/>
          </a:xfrm>
          <a:prstGeom prst="rect">
            <a:avLst/>
          </a:prstGeom>
          <a:solidFill>
            <a:srgbClr val="7A9E7E"/>
          </a:solidFill>
          <a:ln/>
        </p:spPr>
        <p:txBody>
          <a:bodyPr/>
          <a:lstStyle/>
          <a:p>
            <a:endParaRPr lang="en-US"/>
          </a:p>
        </p:txBody>
      </p:sp>
      <p:pic>
        <p:nvPicPr>
          <p:cNvPr id="33" name="Image 10" descr="preencoded.png"/>
          <p:cNvPicPr>
            <a:picLocks noChangeAspect="1"/>
          </p:cNvPicPr>
          <p:nvPr/>
        </p:nvPicPr>
        <p:blipFill>
          <a:blip r:embed="rId7"/>
          <a:stretch>
            <a:fillRect/>
          </a:stretch>
        </p:blipFill>
        <p:spPr>
          <a:xfrm>
            <a:off x="4297680" y="3063240"/>
            <a:ext cx="228600" cy="228600"/>
          </a:xfrm>
          <a:prstGeom prst="rect">
            <a:avLst/>
          </a:prstGeom>
        </p:spPr>
      </p:pic>
      <p:sp>
        <p:nvSpPr>
          <p:cNvPr id="34" name="Text 21"/>
          <p:cNvSpPr/>
          <p:nvPr/>
        </p:nvSpPr>
        <p:spPr>
          <a:xfrm>
            <a:off x="4617720" y="2926080"/>
            <a:ext cx="3840480" cy="548640"/>
          </a:xfrm>
          <a:prstGeom prst="rect">
            <a:avLst/>
          </a:prstGeom>
          <a:noFill/>
          <a:ln/>
        </p:spPr>
        <p:txBody>
          <a:bodyPr wrap="square" lIns="0" tIns="0" rIns="0" bIns="0" rtlCol="0" anchor="ctr"/>
          <a:lstStyle/>
          <a:p>
            <a:pPr marL="0" indent="0">
              <a:buNone/>
            </a:pPr>
            <a:r>
              <a:rPr lang="en-US" sz="1050" b="1">
                <a:solidFill>
                  <a:srgbClr val="7A9E7E"/>
                </a:solidFill>
                <a:latin typeface="Calibri" pitchFamily="34" charset="0"/>
                <a:ea typeface="Calibri" pitchFamily="34" charset="-122"/>
                <a:cs typeface="Calibri" pitchFamily="34" charset="-120"/>
              </a:rPr>
              <a:t>They know more about daily pain than the owner does</a:t>
            </a:r>
            <a:endParaRPr lang="en-US" sz="1050"/>
          </a:p>
        </p:txBody>
      </p:sp>
      <p:sp>
        <p:nvSpPr>
          <p:cNvPr id="35" name="Shape 22"/>
          <p:cNvSpPr/>
          <p:nvPr/>
        </p:nvSpPr>
        <p:spPr>
          <a:xfrm>
            <a:off x="457200" y="3657600"/>
            <a:ext cx="8229600" cy="8686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36" name="Shape 23"/>
          <p:cNvSpPr/>
          <p:nvPr/>
        </p:nvSpPr>
        <p:spPr>
          <a:xfrm>
            <a:off x="457200" y="3657600"/>
            <a:ext cx="54864" cy="868680"/>
          </a:xfrm>
          <a:prstGeom prst="rect">
            <a:avLst/>
          </a:prstGeom>
          <a:solidFill>
            <a:srgbClr val="C67B5C"/>
          </a:solidFill>
          <a:ln/>
        </p:spPr>
        <p:txBody>
          <a:bodyPr/>
          <a:lstStyle/>
          <a:p>
            <a:endParaRPr lang="en-US"/>
          </a:p>
        </p:txBody>
      </p:sp>
      <p:sp>
        <p:nvSpPr>
          <p:cNvPr id="37" name="Text 24"/>
          <p:cNvSpPr/>
          <p:nvPr/>
        </p:nvSpPr>
        <p:spPr>
          <a:xfrm>
            <a:off x="640080" y="3685032"/>
            <a:ext cx="7863840" cy="228600"/>
          </a:xfrm>
          <a:prstGeom prst="rect">
            <a:avLst/>
          </a:prstGeom>
          <a:noFill/>
          <a:ln/>
        </p:spPr>
        <p:txBody>
          <a:bodyPr wrap="square" lIns="0" tIns="0" rIns="0" bIns="0" rtlCol="0" anchor="ctr"/>
          <a:lstStyle/>
          <a:p>
            <a:pPr marL="0" indent="0">
              <a:buNone/>
            </a:pPr>
            <a:r>
              <a:rPr lang="en-US" sz="1000" b="1" kern="0" spc="200">
                <a:solidFill>
                  <a:srgbClr val="C67B5C"/>
                </a:solidFill>
                <a:latin typeface="Calibri" pitchFamily="34" charset="0"/>
                <a:ea typeface="Calibri" pitchFamily="34" charset="-122"/>
                <a:cs typeface="Calibri" pitchFamily="34" charset="-120"/>
              </a:rPr>
              <a:t>THE MEEVO WORLD REALITY</a:t>
            </a:r>
            <a:endParaRPr lang="en-US" sz="1000"/>
          </a:p>
        </p:txBody>
      </p:sp>
      <p:sp>
        <p:nvSpPr>
          <p:cNvPr id="38" name="Text 25"/>
          <p:cNvSpPr/>
          <p:nvPr/>
        </p:nvSpPr>
        <p:spPr>
          <a:xfrm>
            <a:off x="640080" y="3931920"/>
            <a:ext cx="7863840" cy="548640"/>
          </a:xfrm>
          <a:prstGeom prst="rect">
            <a:avLst/>
          </a:prstGeom>
          <a:noFill/>
          <a:ln/>
        </p:spPr>
        <p:txBody>
          <a:bodyPr wrap="square" lIns="0" tIns="0" rIns="0" bIns="0" rtlCol="0" anchor="ctr"/>
          <a:lstStyle/>
          <a:p>
            <a:pPr marL="0" indent="0">
              <a:buNone/>
            </a:pPr>
            <a:r>
              <a:rPr lang="en-US" sz="950">
                <a:solidFill>
                  <a:srgbClr val="36454F"/>
                </a:solidFill>
                <a:latin typeface="Calibri" pitchFamily="34" charset="0"/>
                <a:ea typeface="Calibri" pitchFamily="34" charset="-122"/>
                <a:cs typeface="Calibri" pitchFamily="34" charset="-120"/>
              </a:rPr>
              <a:t>Salon and spa front desks are overwhelmed. They’re fielding 50+ calls a day, managing walk-ins, handling complaints, and running checkout. When you call, you’re interrupting their chaos. If you sound like every other vendor, you get blocked. If you sound like someone who understands their world, you get through.</a:t>
            </a:r>
            <a:endParaRPr lang="en-US" sz="950"/>
          </a:p>
        </p:txBody>
      </p:sp>
      <p:sp>
        <p:nvSpPr>
          <p:cNvPr id="39" name="Text 26"/>
          <p:cNvSpPr/>
          <p:nvPr/>
        </p:nvSpPr>
        <p:spPr>
          <a:xfrm>
            <a:off x="457200" y="4846320"/>
            <a:ext cx="5943600" cy="228600"/>
          </a:xfrm>
          <a:prstGeom prst="rect">
            <a:avLst/>
          </a:prstGeom>
          <a:noFill/>
          <a:ln/>
        </p:spPr>
        <p:txBody>
          <a:bodyPr wrap="square" lIns="0" tIns="0" rIns="0" bIns="0" rtlCol="0" anchor="ctr"/>
          <a:lstStyle/>
          <a:p>
            <a:pPr marL="0" indent="0">
              <a:buNone/>
            </a:pPr>
            <a:r>
              <a:rPr lang="en-US" sz="900" i="1">
                <a:solidFill>
                  <a:srgbClr val="9CA3AF"/>
                </a:solidFill>
                <a:latin typeface="Calibri" pitchFamily="34" charset="0"/>
                <a:ea typeface="Calibri" pitchFamily="34" charset="-122"/>
                <a:cs typeface="Calibri" pitchFamily="34" charset="-120"/>
              </a:rPr>
              <a:t>Commit to the process. Control the controllables.</a:t>
            </a:r>
            <a:endParaRPr lang="en-US" sz="900"/>
          </a:p>
        </p:txBody>
      </p:sp>
      <p:sp>
        <p:nvSpPr>
          <p:cNvPr id="40" name="Shape 27"/>
          <p:cNvSpPr/>
          <p:nvPr/>
        </p:nvSpPr>
        <p:spPr>
          <a:xfrm>
            <a:off x="6766560" y="4754880"/>
            <a:ext cx="502920" cy="320040"/>
          </a:xfrm>
          <a:prstGeom prst="rect">
            <a:avLst/>
          </a:prstGeom>
          <a:solidFill>
            <a:srgbClr val="1B6B93"/>
          </a:solidFill>
          <a:ln/>
        </p:spPr>
        <p:txBody>
          <a:bodyPr/>
          <a:lstStyle/>
          <a:p>
            <a:endParaRPr lang="en-US"/>
          </a:p>
        </p:txBody>
      </p:sp>
      <p:sp>
        <p:nvSpPr>
          <p:cNvPr id="41" name="Text 28"/>
          <p:cNvSpPr/>
          <p:nvPr/>
        </p:nvSpPr>
        <p:spPr>
          <a:xfrm>
            <a:off x="6766560" y="4754880"/>
            <a:ext cx="502920" cy="320040"/>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2</a:t>
            </a:r>
            <a:endParaRPr 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201168"/>
            <a:ext cx="347472" cy="347472"/>
          </a:xfrm>
          <a:prstGeom prst="rect">
            <a:avLst/>
          </a:prstGeom>
        </p:spPr>
      </p:pic>
      <p:sp>
        <p:nvSpPr>
          <p:cNvPr id="3" name="Text 0"/>
          <p:cNvSpPr/>
          <p:nvPr/>
        </p:nvSpPr>
        <p:spPr>
          <a:xfrm>
            <a:off x="868680" y="164592"/>
            <a:ext cx="7315200" cy="548640"/>
          </a:xfrm>
          <a:prstGeom prst="rect">
            <a:avLst/>
          </a:prstGeom>
          <a:noFill/>
          <a:ln/>
        </p:spPr>
        <p:txBody>
          <a:bodyPr wrap="square" lIns="0" tIns="0" rIns="0" bIns="0" rtlCol="0" anchor="ctr"/>
          <a:lstStyle/>
          <a:p>
            <a:pPr marL="0" indent="0">
              <a:buNone/>
            </a:pPr>
            <a:r>
              <a:rPr lang="en-US" b="1" kern="0" spc="300">
                <a:solidFill>
                  <a:srgbClr val="36454F"/>
                </a:solidFill>
                <a:latin typeface="Trebuchet MS"/>
                <a:ea typeface="Trebuchet MS" pitchFamily="34" charset="-122"/>
                <a:cs typeface="Trebuchet MS" pitchFamily="34" charset="-120"/>
              </a:rPr>
              <a:t>Three Gatekeepers You’ll Meet in Salons &amp; Spas</a:t>
            </a:r>
            <a:endParaRPr lang="en-US">
              <a:latin typeface="Trebuchet MS"/>
              <a:ea typeface="Calibri"/>
              <a:cs typeface="Calibri"/>
            </a:endParaRPr>
          </a:p>
        </p:txBody>
      </p:sp>
      <p:sp>
        <p:nvSpPr>
          <p:cNvPr id="4" name="Shape 1"/>
          <p:cNvSpPr/>
          <p:nvPr/>
        </p:nvSpPr>
        <p:spPr>
          <a:xfrm>
            <a:off x="548640" y="749808"/>
            <a:ext cx="1645920" cy="36576"/>
          </a:xfrm>
          <a:prstGeom prst="rect">
            <a:avLst/>
          </a:prstGeom>
          <a:solidFill>
            <a:srgbClr val="C67B5C"/>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7498080" y="4709160"/>
            <a:ext cx="1234440" cy="365760"/>
          </a:xfrm>
          <a:prstGeom prst="rect">
            <a:avLst/>
          </a:prstGeom>
        </p:spPr>
      </p:pic>
      <p:sp>
        <p:nvSpPr>
          <p:cNvPr id="6" name="Shape 2"/>
          <p:cNvSpPr/>
          <p:nvPr/>
        </p:nvSpPr>
        <p:spPr>
          <a:xfrm>
            <a:off x="320040" y="868680"/>
            <a:ext cx="2743200" cy="365760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7" name="Shape 3"/>
          <p:cNvSpPr/>
          <p:nvPr/>
        </p:nvSpPr>
        <p:spPr>
          <a:xfrm>
            <a:off x="320040" y="868680"/>
            <a:ext cx="2743200" cy="594360"/>
          </a:xfrm>
          <a:prstGeom prst="rect">
            <a:avLst/>
          </a:prstGeom>
          <a:solidFill>
            <a:srgbClr val="1B6B93"/>
          </a:solidFill>
          <a:ln/>
        </p:spPr>
        <p:txBody>
          <a:bodyPr/>
          <a:lstStyle/>
          <a:p>
            <a:endParaRPr lang="en-US"/>
          </a:p>
        </p:txBody>
      </p:sp>
      <p:pic>
        <p:nvPicPr>
          <p:cNvPr id="8" name="Image 2" descr="preencoded.png"/>
          <p:cNvPicPr>
            <a:picLocks noChangeAspect="1"/>
          </p:cNvPicPr>
          <p:nvPr/>
        </p:nvPicPr>
        <p:blipFill>
          <a:blip r:embed="rId5"/>
          <a:stretch>
            <a:fillRect/>
          </a:stretch>
        </p:blipFill>
        <p:spPr>
          <a:xfrm>
            <a:off x="429768" y="960120"/>
            <a:ext cx="274320" cy="274320"/>
          </a:xfrm>
          <a:prstGeom prst="rect">
            <a:avLst/>
          </a:prstGeom>
        </p:spPr>
      </p:pic>
      <p:sp>
        <p:nvSpPr>
          <p:cNvPr id="9" name="Text 4"/>
          <p:cNvSpPr/>
          <p:nvPr/>
        </p:nvSpPr>
        <p:spPr>
          <a:xfrm>
            <a:off x="777240" y="886968"/>
            <a:ext cx="2176272" cy="548640"/>
          </a:xfrm>
          <a:prstGeom prst="rect">
            <a:avLst/>
          </a:prstGeom>
          <a:noFill/>
          <a:ln/>
        </p:spPr>
        <p:txBody>
          <a:bodyPr wrap="square" lIns="0" tIns="0" rIns="0" bIns="0" rtlCol="0" anchor="ctr"/>
          <a:lstStyle/>
          <a:p>
            <a:pPr marL="0" indent="0">
              <a:buNone/>
            </a:pPr>
            <a:r>
              <a:rPr lang="en-US" sz="1200" b="1">
                <a:solidFill>
                  <a:srgbClr val="F5F0EB"/>
                </a:solidFill>
                <a:latin typeface="Trebuchet MS" pitchFamily="34" charset="0"/>
                <a:ea typeface="Trebuchet MS" pitchFamily="34" charset="-122"/>
                <a:cs typeface="Trebuchet MS" pitchFamily="34" charset="-120"/>
              </a:rPr>
              <a:t>The Front Desk</a:t>
            </a:r>
            <a:endParaRPr lang="en-US" sz="1200"/>
          </a:p>
          <a:p>
            <a:pPr marL="0" indent="0">
              <a:buNone/>
            </a:pPr>
            <a:r>
              <a:rPr lang="en-US" sz="1200" b="1">
                <a:solidFill>
                  <a:srgbClr val="F5F0EB"/>
                </a:solidFill>
                <a:latin typeface="Trebuchet MS" pitchFamily="34" charset="0"/>
                <a:ea typeface="Trebuchet MS" pitchFamily="34" charset="-122"/>
                <a:cs typeface="Trebuchet MS" pitchFamily="34" charset="-120"/>
              </a:rPr>
              <a:t>Receptionist</a:t>
            </a:r>
            <a:endParaRPr lang="en-US" sz="1200"/>
          </a:p>
        </p:txBody>
      </p:sp>
      <p:sp>
        <p:nvSpPr>
          <p:cNvPr id="10" name="Text 5"/>
          <p:cNvSpPr/>
          <p:nvPr/>
        </p:nvSpPr>
        <p:spPr>
          <a:xfrm>
            <a:off x="429768" y="1554480"/>
            <a:ext cx="457200" cy="164592"/>
          </a:xfrm>
          <a:prstGeom prst="rect">
            <a:avLst/>
          </a:prstGeom>
          <a:noFill/>
          <a:ln/>
        </p:spPr>
        <p:txBody>
          <a:bodyPr wrap="square" lIns="0" tIns="0" rIns="0" bIns="0" rtlCol="0" anchor="ctr"/>
          <a:lstStyle/>
          <a:p>
            <a:pPr marL="0" indent="0">
              <a:buNone/>
            </a:pPr>
            <a:r>
              <a:rPr lang="en-US" sz="800" b="1">
                <a:solidFill>
                  <a:srgbClr val="1B6B93"/>
                </a:solidFill>
                <a:latin typeface="Calibri" pitchFamily="34" charset="0"/>
                <a:ea typeface="Calibri" pitchFamily="34" charset="-122"/>
                <a:cs typeface="Calibri" pitchFamily="34" charset="-120"/>
              </a:rPr>
              <a:t>Who:</a:t>
            </a:r>
            <a:endParaRPr lang="en-US" sz="800"/>
          </a:p>
        </p:txBody>
      </p:sp>
      <p:sp>
        <p:nvSpPr>
          <p:cNvPr id="11" name="Text 6"/>
          <p:cNvSpPr/>
          <p:nvPr/>
        </p:nvSpPr>
        <p:spPr>
          <a:xfrm>
            <a:off x="429768" y="1719072"/>
            <a:ext cx="2523744" cy="548640"/>
          </a:xfrm>
          <a:prstGeom prst="rect">
            <a:avLst/>
          </a:prstGeom>
          <a:noFill/>
          <a:ln/>
        </p:spPr>
        <p:txBody>
          <a:bodyPr wrap="square" lIns="0" tIns="0" rIns="0" bIns="0" rtlCol="0" anchor="ctr"/>
          <a:lstStyle/>
          <a:p>
            <a:pPr marL="0" indent="0">
              <a:buNone/>
            </a:pPr>
            <a:r>
              <a:rPr lang="en-US" sz="800">
                <a:latin typeface="Calibri"/>
                <a:ea typeface="Calibri"/>
                <a:cs typeface="Calibri"/>
              </a:rPr>
              <a:t>Entry-level. Answers phones, books appointments. Limited authority. Trained to screen sales calls.</a:t>
            </a:r>
          </a:p>
        </p:txBody>
      </p:sp>
      <p:sp>
        <p:nvSpPr>
          <p:cNvPr id="12" name="Text 7"/>
          <p:cNvSpPr/>
          <p:nvPr/>
        </p:nvSpPr>
        <p:spPr>
          <a:xfrm>
            <a:off x="429768" y="2286000"/>
            <a:ext cx="731520" cy="164592"/>
          </a:xfrm>
          <a:prstGeom prst="rect">
            <a:avLst/>
          </a:prstGeom>
          <a:noFill/>
          <a:ln/>
        </p:spPr>
        <p:txBody>
          <a:bodyPr wrap="square" lIns="0" tIns="0" rIns="0" bIns="0" rtlCol="0" anchor="ctr"/>
          <a:lstStyle/>
          <a:p>
            <a:pPr marL="0" indent="0">
              <a:buNone/>
            </a:pPr>
            <a:r>
              <a:rPr lang="en-US" sz="800" b="1">
                <a:solidFill>
                  <a:srgbClr val="1B6B93"/>
                </a:solidFill>
                <a:latin typeface="Calibri" pitchFamily="34" charset="0"/>
                <a:ea typeface="Calibri" pitchFamily="34" charset="-122"/>
                <a:cs typeface="Calibri" pitchFamily="34" charset="-120"/>
              </a:rPr>
              <a:t>Behavior:</a:t>
            </a:r>
            <a:endParaRPr lang="en-US" sz="800"/>
          </a:p>
        </p:txBody>
      </p:sp>
      <p:sp>
        <p:nvSpPr>
          <p:cNvPr id="13" name="Text 8"/>
          <p:cNvSpPr/>
          <p:nvPr/>
        </p:nvSpPr>
        <p:spPr>
          <a:xfrm>
            <a:off x="429768" y="2450592"/>
            <a:ext cx="2523744" cy="548640"/>
          </a:xfrm>
          <a:prstGeom prst="rect">
            <a:avLst/>
          </a:prstGeom>
          <a:noFill/>
          <a:ln/>
        </p:spPr>
        <p:txBody>
          <a:bodyPr wrap="square" lIns="0" tIns="0" rIns="0" bIns="0" rtlCol="0" anchor="ctr"/>
          <a:lstStyle/>
          <a:p>
            <a:pPr marL="0" indent="0">
              <a:buNone/>
            </a:pPr>
            <a:r>
              <a:rPr lang="en-US" sz="800">
                <a:solidFill>
                  <a:srgbClr val="36454F"/>
                </a:solidFill>
                <a:latin typeface="Calibri" pitchFamily="34" charset="0"/>
                <a:ea typeface="Calibri" pitchFamily="34" charset="-122"/>
                <a:cs typeface="Calibri" pitchFamily="34" charset="-120"/>
              </a:rPr>
              <a:t>Will say “she’s not available” or “can I take a message” by default. Not trying to block you — just doing their job.</a:t>
            </a:r>
            <a:endParaRPr lang="en-US" sz="800"/>
          </a:p>
        </p:txBody>
      </p:sp>
      <p:sp>
        <p:nvSpPr>
          <p:cNvPr id="14" name="Shape 9"/>
          <p:cNvSpPr/>
          <p:nvPr/>
        </p:nvSpPr>
        <p:spPr>
          <a:xfrm>
            <a:off x="393192" y="3063240"/>
            <a:ext cx="2596896" cy="36576"/>
          </a:xfrm>
          <a:prstGeom prst="rect">
            <a:avLst/>
          </a:prstGeom>
          <a:solidFill>
            <a:srgbClr val="1B6B93"/>
          </a:solidFill>
          <a:ln/>
        </p:spPr>
        <p:txBody>
          <a:bodyPr/>
          <a:lstStyle/>
          <a:p>
            <a:endParaRPr lang="en-US"/>
          </a:p>
        </p:txBody>
      </p:sp>
      <p:sp>
        <p:nvSpPr>
          <p:cNvPr id="15" name="Text 10"/>
          <p:cNvSpPr/>
          <p:nvPr/>
        </p:nvSpPr>
        <p:spPr>
          <a:xfrm>
            <a:off x="429768" y="3154680"/>
            <a:ext cx="1097280" cy="164592"/>
          </a:xfrm>
          <a:prstGeom prst="rect">
            <a:avLst/>
          </a:prstGeom>
          <a:noFill/>
          <a:ln/>
        </p:spPr>
        <p:txBody>
          <a:bodyPr wrap="square" lIns="0" tIns="0" rIns="0" bIns="0" rtlCol="0" anchor="ctr"/>
          <a:lstStyle/>
          <a:p>
            <a:pPr marL="0" indent="0">
              <a:buNone/>
            </a:pPr>
            <a:r>
              <a:rPr lang="en-US" sz="800" b="1">
                <a:solidFill>
                  <a:srgbClr val="7A9E7E"/>
                </a:solidFill>
                <a:latin typeface="Calibri" pitchFamily="34" charset="0"/>
                <a:ea typeface="Calibri" pitchFamily="34" charset="-122"/>
                <a:cs typeface="Calibri" pitchFamily="34" charset="-120"/>
              </a:rPr>
              <a:t>Your Strategy:</a:t>
            </a:r>
            <a:endParaRPr lang="en-US" sz="800"/>
          </a:p>
        </p:txBody>
      </p:sp>
      <p:sp>
        <p:nvSpPr>
          <p:cNvPr id="16" name="Text 11"/>
          <p:cNvSpPr/>
          <p:nvPr/>
        </p:nvSpPr>
        <p:spPr>
          <a:xfrm>
            <a:off x="429768" y="3319272"/>
            <a:ext cx="2523744" cy="1097280"/>
          </a:xfrm>
          <a:prstGeom prst="rect">
            <a:avLst/>
          </a:prstGeom>
          <a:noFill/>
          <a:ln/>
        </p:spPr>
        <p:txBody>
          <a:bodyPr wrap="square" lIns="0" tIns="0" rIns="0" bIns="0" rtlCol="0" anchor="ctr"/>
          <a:lstStyle/>
          <a:p>
            <a:pPr marL="0" indent="0">
              <a:buNone/>
            </a:pPr>
            <a:r>
              <a:rPr lang="en-US" sz="800" i="1">
                <a:solidFill>
                  <a:srgbClr val="36454F"/>
                </a:solidFill>
                <a:latin typeface="Calibri" pitchFamily="34" charset="0"/>
                <a:ea typeface="Calibri" pitchFamily="34" charset="-122"/>
                <a:cs typeface="Calibri" pitchFamily="34" charset="-120"/>
              </a:rPr>
              <a:t>Be warm. Be brief. Don’t sell to them. Ask a simple question that they can’t answer, which creates the need to connect you. Or ask for the owner by first name.</a:t>
            </a:r>
            <a:endParaRPr lang="en-US" sz="800"/>
          </a:p>
        </p:txBody>
      </p:sp>
      <p:sp>
        <p:nvSpPr>
          <p:cNvPr id="17" name="Shape 12"/>
          <p:cNvSpPr/>
          <p:nvPr/>
        </p:nvSpPr>
        <p:spPr>
          <a:xfrm>
            <a:off x="3246120" y="868680"/>
            <a:ext cx="2743200" cy="365760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8" name="Shape 13"/>
          <p:cNvSpPr/>
          <p:nvPr/>
        </p:nvSpPr>
        <p:spPr>
          <a:xfrm>
            <a:off x="3246120" y="868680"/>
            <a:ext cx="2743200" cy="594360"/>
          </a:xfrm>
          <a:prstGeom prst="rect">
            <a:avLst/>
          </a:prstGeom>
          <a:solidFill>
            <a:srgbClr val="C67B5C"/>
          </a:solidFill>
          <a:ln/>
        </p:spPr>
        <p:txBody>
          <a:bodyPr/>
          <a:lstStyle/>
          <a:p>
            <a:endParaRPr lang="en-US"/>
          </a:p>
        </p:txBody>
      </p:sp>
      <p:pic>
        <p:nvPicPr>
          <p:cNvPr id="19" name="Image 3" descr="preencoded.png"/>
          <p:cNvPicPr>
            <a:picLocks noChangeAspect="1"/>
          </p:cNvPicPr>
          <p:nvPr/>
        </p:nvPicPr>
        <p:blipFill>
          <a:blip r:embed="rId6"/>
          <a:stretch>
            <a:fillRect/>
          </a:stretch>
        </p:blipFill>
        <p:spPr>
          <a:xfrm>
            <a:off x="3355848" y="960120"/>
            <a:ext cx="274320" cy="274320"/>
          </a:xfrm>
          <a:prstGeom prst="rect">
            <a:avLst/>
          </a:prstGeom>
        </p:spPr>
      </p:pic>
      <p:sp>
        <p:nvSpPr>
          <p:cNvPr id="20" name="Text 14"/>
          <p:cNvSpPr/>
          <p:nvPr/>
        </p:nvSpPr>
        <p:spPr>
          <a:xfrm>
            <a:off x="3703320" y="886968"/>
            <a:ext cx="2176272" cy="548640"/>
          </a:xfrm>
          <a:prstGeom prst="rect">
            <a:avLst/>
          </a:prstGeom>
          <a:noFill/>
          <a:ln/>
        </p:spPr>
        <p:txBody>
          <a:bodyPr wrap="square" lIns="0" tIns="0" rIns="0" bIns="0" rtlCol="0" anchor="ctr"/>
          <a:lstStyle/>
          <a:p>
            <a:pPr marL="0" indent="0">
              <a:buNone/>
            </a:pPr>
            <a:r>
              <a:rPr lang="en-US" sz="1200" b="1">
                <a:solidFill>
                  <a:srgbClr val="F5F0EB"/>
                </a:solidFill>
                <a:latin typeface="Trebuchet MS" pitchFamily="34" charset="0"/>
                <a:ea typeface="Trebuchet MS" pitchFamily="34" charset="-122"/>
                <a:cs typeface="Trebuchet MS" pitchFamily="34" charset="-120"/>
              </a:rPr>
              <a:t>The Salon / Spa</a:t>
            </a:r>
            <a:endParaRPr lang="en-US" sz="1200"/>
          </a:p>
          <a:p>
            <a:pPr marL="0" indent="0">
              <a:buNone/>
            </a:pPr>
            <a:r>
              <a:rPr lang="en-US" sz="1200" b="1">
                <a:solidFill>
                  <a:srgbClr val="F5F0EB"/>
                </a:solidFill>
                <a:latin typeface="Trebuchet MS" pitchFamily="34" charset="0"/>
                <a:ea typeface="Trebuchet MS" pitchFamily="34" charset="-122"/>
                <a:cs typeface="Trebuchet MS" pitchFamily="34" charset="-120"/>
              </a:rPr>
              <a:t>Manager</a:t>
            </a:r>
            <a:endParaRPr lang="en-US" sz="1200"/>
          </a:p>
        </p:txBody>
      </p:sp>
      <p:sp>
        <p:nvSpPr>
          <p:cNvPr id="21" name="Text 15"/>
          <p:cNvSpPr/>
          <p:nvPr/>
        </p:nvSpPr>
        <p:spPr>
          <a:xfrm>
            <a:off x="3355848" y="1554480"/>
            <a:ext cx="457200" cy="164592"/>
          </a:xfrm>
          <a:prstGeom prst="rect">
            <a:avLst/>
          </a:prstGeom>
          <a:noFill/>
          <a:ln/>
        </p:spPr>
        <p:txBody>
          <a:bodyPr wrap="square" lIns="0" tIns="0" rIns="0" bIns="0" rtlCol="0" anchor="ctr"/>
          <a:lstStyle/>
          <a:p>
            <a:pPr marL="0" indent="0">
              <a:buNone/>
            </a:pPr>
            <a:r>
              <a:rPr lang="en-US" sz="800" b="1">
                <a:solidFill>
                  <a:srgbClr val="C67B5C"/>
                </a:solidFill>
                <a:latin typeface="Calibri" pitchFamily="34" charset="0"/>
                <a:ea typeface="Calibri" pitchFamily="34" charset="-122"/>
                <a:cs typeface="Calibri" pitchFamily="34" charset="-120"/>
              </a:rPr>
              <a:t>Who:</a:t>
            </a:r>
            <a:endParaRPr lang="en-US" sz="800"/>
          </a:p>
        </p:txBody>
      </p:sp>
      <p:sp>
        <p:nvSpPr>
          <p:cNvPr id="22" name="Text 16"/>
          <p:cNvSpPr/>
          <p:nvPr/>
        </p:nvSpPr>
        <p:spPr>
          <a:xfrm>
            <a:off x="3355848" y="1719072"/>
            <a:ext cx="2523744" cy="548640"/>
          </a:xfrm>
          <a:prstGeom prst="rect">
            <a:avLst/>
          </a:prstGeom>
          <a:noFill/>
          <a:ln/>
        </p:spPr>
        <p:txBody>
          <a:bodyPr wrap="square" lIns="0" tIns="0" rIns="0" bIns="0" rtlCol="0" anchor="ctr"/>
          <a:lstStyle/>
          <a:p>
            <a:pPr marL="0" indent="0">
              <a:buNone/>
            </a:pPr>
            <a:r>
              <a:rPr lang="en-US" sz="800">
                <a:latin typeface="Calibri"/>
                <a:ea typeface="Calibri"/>
                <a:cs typeface="Calibri"/>
              </a:rPr>
              <a:t>Mid-level. Manages daily ops, scheduling, some hiring. Has the owner’s ear. Often frustrated with current software.</a:t>
            </a:r>
          </a:p>
        </p:txBody>
      </p:sp>
      <p:sp>
        <p:nvSpPr>
          <p:cNvPr id="23" name="Text 17"/>
          <p:cNvSpPr/>
          <p:nvPr/>
        </p:nvSpPr>
        <p:spPr>
          <a:xfrm>
            <a:off x="3355848" y="2286000"/>
            <a:ext cx="731520" cy="164592"/>
          </a:xfrm>
          <a:prstGeom prst="rect">
            <a:avLst/>
          </a:prstGeom>
          <a:noFill/>
          <a:ln/>
        </p:spPr>
        <p:txBody>
          <a:bodyPr wrap="square" lIns="0" tIns="0" rIns="0" bIns="0" rtlCol="0" anchor="ctr"/>
          <a:lstStyle/>
          <a:p>
            <a:pPr marL="0" indent="0">
              <a:buNone/>
            </a:pPr>
            <a:r>
              <a:rPr lang="en-US" sz="800" b="1">
                <a:solidFill>
                  <a:srgbClr val="C67B5C"/>
                </a:solidFill>
                <a:latin typeface="Calibri" pitchFamily="34" charset="0"/>
                <a:ea typeface="Calibri" pitchFamily="34" charset="-122"/>
                <a:cs typeface="Calibri" pitchFamily="34" charset="-120"/>
              </a:rPr>
              <a:t>Behavior:</a:t>
            </a:r>
            <a:endParaRPr lang="en-US" sz="800"/>
          </a:p>
        </p:txBody>
      </p:sp>
      <p:sp>
        <p:nvSpPr>
          <p:cNvPr id="24" name="Text 18"/>
          <p:cNvSpPr/>
          <p:nvPr/>
        </p:nvSpPr>
        <p:spPr>
          <a:xfrm>
            <a:off x="3355848" y="2450592"/>
            <a:ext cx="2523744" cy="548640"/>
          </a:xfrm>
          <a:prstGeom prst="rect">
            <a:avLst/>
          </a:prstGeom>
          <a:noFill/>
          <a:ln/>
        </p:spPr>
        <p:txBody>
          <a:bodyPr wrap="square" lIns="0" tIns="0" rIns="0" bIns="0" rtlCol="0" anchor="ctr"/>
          <a:lstStyle/>
          <a:p>
            <a:pPr marL="0" indent="0">
              <a:buNone/>
            </a:pPr>
            <a:r>
              <a:rPr lang="en-US" sz="800">
                <a:solidFill>
                  <a:srgbClr val="36454F"/>
                </a:solidFill>
                <a:latin typeface="Calibri" pitchFamily="34" charset="0"/>
                <a:ea typeface="Calibri" pitchFamily="34" charset="-122"/>
                <a:cs typeface="Calibri" pitchFamily="34" charset="-120"/>
              </a:rPr>
              <a:t>Will engage if you sound credible. Can become your champion. Will block you if you pitch too hard too fast.</a:t>
            </a:r>
            <a:endParaRPr lang="en-US" sz="800"/>
          </a:p>
        </p:txBody>
      </p:sp>
      <p:sp>
        <p:nvSpPr>
          <p:cNvPr id="25" name="Shape 19"/>
          <p:cNvSpPr/>
          <p:nvPr/>
        </p:nvSpPr>
        <p:spPr>
          <a:xfrm>
            <a:off x="3319272" y="3063240"/>
            <a:ext cx="2596896" cy="36576"/>
          </a:xfrm>
          <a:prstGeom prst="rect">
            <a:avLst/>
          </a:prstGeom>
          <a:solidFill>
            <a:srgbClr val="C67B5C"/>
          </a:solidFill>
          <a:ln/>
        </p:spPr>
        <p:txBody>
          <a:bodyPr/>
          <a:lstStyle/>
          <a:p>
            <a:endParaRPr lang="en-US"/>
          </a:p>
        </p:txBody>
      </p:sp>
      <p:sp>
        <p:nvSpPr>
          <p:cNvPr id="26" name="Text 20"/>
          <p:cNvSpPr/>
          <p:nvPr/>
        </p:nvSpPr>
        <p:spPr>
          <a:xfrm>
            <a:off x="3355848" y="3154680"/>
            <a:ext cx="1097280" cy="164592"/>
          </a:xfrm>
          <a:prstGeom prst="rect">
            <a:avLst/>
          </a:prstGeom>
          <a:noFill/>
          <a:ln/>
        </p:spPr>
        <p:txBody>
          <a:bodyPr wrap="square" lIns="0" tIns="0" rIns="0" bIns="0" rtlCol="0" anchor="ctr"/>
          <a:lstStyle/>
          <a:p>
            <a:pPr marL="0" indent="0">
              <a:buNone/>
            </a:pPr>
            <a:r>
              <a:rPr lang="en-US" sz="800" b="1">
                <a:solidFill>
                  <a:srgbClr val="7A9E7E"/>
                </a:solidFill>
                <a:latin typeface="Calibri" pitchFamily="34" charset="0"/>
                <a:ea typeface="Calibri" pitchFamily="34" charset="-122"/>
                <a:cs typeface="Calibri" pitchFamily="34" charset="-120"/>
              </a:rPr>
              <a:t>Your Strategy:</a:t>
            </a:r>
            <a:endParaRPr lang="en-US" sz="800"/>
          </a:p>
        </p:txBody>
      </p:sp>
      <p:sp>
        <p:nvSpPr>
          <p:cNvPr id="27" name="Text 21"/>
          <p:cNvSpPr/>
          <p:nvPr/>
        </p:nvSpPr>
        <p:spPr>
          <a:xfrm>
            <a:off x="3355848" y="3319272"/>
            <a:ext cx="2523744" cy="1097280"/>
          </a:xfrm>
          <a:prstGeom prst="rect">
            <a:avLst/>
          </a:prstGeom>
          <a:noFill/>
          <a:ln/>
        </p:spPr>
        <p:txBody>
          <a:bodyPr wrap="square" lIns="0" tIns="0" rIns="0" bIns="0" rtlCol="0" anchor="ctr"/>
          <a:lstStyle/>
          <a:p>
            <a:pPr marL="0" indent="0">
              <a:buNone/>
            </a:pPr>
            <a:r>
              <a:rPr lang="en-US" sz="800" i="1">
                <a:solidFill>
                  <a:srgbClr val="36454F"/>
                </a:solidFill>
                <a:latin typeface="Calibri" pitchFamily="34" charset="0"/>
                <a:ea typeface="Calibri" pitchFamily="34" charset="-122"/>
                <a:cs typeface="Calibri" pitchFamily="34" charset="-120"/>
              </a:rPr>
              <a:t>Treat them as a peer, not a hurdle. Ask about THEIR pain. If they’re frustrated with the current system, arm them to sell internally. They’re your best path to the owner.</a:t>
            </a:r>
            <a:endParaRPr lang="en-US" sz="800"/>
          </a:p>
        </p:txBody>
      </p:sp>
      <p:sp>
        <p:nvSpPr>
          <p:cNvPr id="28" name="Shape 22"/>
          <p:cNvSpPr/>
          <p:nvPr/>
        </p:nvSpPr>
        <p:spPr>
          <a:xfrm>
            <a:off x="6172200" y="868680"/>
            <a:ext cx="2743200" cy="3657600"/>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9" name="Shape 23"/>
          <p:cNvSpPr/>
          <p:nvPr/>
        </p:nvSpPr>
        <p:spPr>
          <a:xfrm>
            <a:off x="6172200" y="868680"/>
            <a:ext cx="2743200" cy="594360"/>
          </a:xfrm>
          <a:prstGeom prst="rect">
            <a:avLst/>
          </a:prstGeom>
          <a:solidFill>
            <a:srgbClr val="7A9E7E"/>
          </a:solidFill>
          <a:ln/>
        </p:spPr>
        <p:txBody>
          <a:bodyPr/>
          <a:lstStyle/>
          <a:p>
            <a:endParaRPr lang="en-US"/>
          </a:p>
        </p:txBody>
      </p:sp>
      <p:pic>
        <p:nvPicPr>
          <p:cNvPr id="30" name="Image 4" descr="preencoded.png"/>
          <p:cNvPicPr>
            <a:picLocks noChangeAspect="1"/>
          </p:cNvPicPr>
          <p:nvPr/>
        </p:nvPicPr>
        <p:blipFill>
          <a:blip r:embed="rId7"/>
          <a:stretch>
            <a:fillRect/>
          </a:stretch>
        </p:blipFill>
        <p:spPr>
          <a:xfrm>
            <a:off x="6281928" y="960120"/>
            <a:ext cx="274320" cy="274320"/>
          </a:xfrm>
          <a:prstGeom prst="rect">
            <a:avLst/>
          </a:prstGeom>
        </p:spPr>
      </p:pic>
      <p:sp>
        <p:nvSpPr>
          <p:cNvPr id="31" name="Text 24"/>
          <p:cNvSpPr/>
          <p:nvPr/>
        </p:nvSpPr>
        <p:spPr>
          <a:xfrm>
            <a:off x="6629400" y="886968"/>
            <a:ext cx="2176272" cy="548640"/>
          </a:xfrm>
          <a:prstGeom prst="rect">
            <a:avLst/>
          </a:prstGeom>
          <a:noFill/>
          <a:ln/>
        </p:spPr>
        <p:txBody>
          <a:bodyPr wrap="square" lIns="0" tIns="0" rIns="0" bIns="0" rtlCol="0" anchor="ctr"/>
          <a:lstStyle/>
          <a:p>
            <a:pPr marL="0" indent="0">
              <a:buNone/>
            </a:pPr>
            <a:r>
              <a:rPr lang="en-US" sz="1200" b="1">
                <a:solidFill>
                  <a:srgbClr val="F5F0EB"/>
                </a:solidFill>
                <a:latin typeface="Trebuchet MS" pitchFamily="34" charset="0"/>
                <a:ea typeface="Trebuchet MS" pitchFamily="34" charset="-122"/>
                <a:cs typeface="Trebuchet MS" pitchFamily="34" charset="-120"/>
              </a:rPr>
              <a:t>The Owner Who</a:t>
            </a:r>
            <a:endParaRPr lang="en-US" sz="1200"/>
          </a:p>
          <a:p>
            <a:pPr marL="0" indent="0">
              <a:buNone/>
            </a:pPr>
            <a:r>
              <a:rPr lang="en-US" sz="1200" b="1">
                <a:solidFill>
                  <a:srgbClr val="F5F0EB"/>
                </a:solidFill>
                <a:latin typeface="Trebuchet MS" pitchFamily="34" charset="0"/>
                <a:ea typeface="Trebuchet MS" pitchFamily="34" charset="-122"/>
                <a:cs typeface="Trebuchet MS" pitchFamily="34" charset="-120"/>
              </a:rPr>
              <a:t>Screens Calls</a:t>
            </a:r>
            <a:endParaRPr lang="en-US" sz="1200"/>
          </a:p>
        </p:txBody>
      </p:sp>
      <p:sp>
        <p:nvSpPr>
          <p:cNvPr id="32" name="Text 25"/>
          <p:cNvSpPr/>
          <p:nvPr/>
        </p:nvSpPr>
        <p:spPr>
          <a:xfrm>
            <a:off x="6281928" y="1554480"/>
            <a:ext cx="457200" cy="164592"/>
          </a:xfrm>
          <a:prstGeom prst="rect">
            <a:avLst/>
          </a:prstGeom>
          <a:noFill/>
          <a:ln/>
        </p:spPr>
        <p:txBody>
          <a:bodyPr wrap="square" lIns="0" tIns="0" rIns="0" bIns="0" rtlCol="0" anchor="ctr"/>
          <a:lstStyle/>
          <a:p>
            <a:pPr marL="0" indent="0">
              <a:buNone/>
            </a:pPr>
            <a:r>
              <a:rPr lang="en-US" sz="800" b="1">
                <a:solidFill>
                  <a:srgbClr val="7A9E7E"/>
                </a:solidFill>
                <a:latin typeface="Calibri" pitchFamily="34" charset="0"/>
                <a:ea typeface="Calibri" pitchFamily="34" charset="-122"/>
                <a:cs typeface="Calibri" pitchFamily="34" charset="-120"/>
              </a:rPr>
              <a:t>Who:</a:t>
            </a:r>
            <a:endParaRPr lang="en-US" sz="800"/>
          </a:p>
        </p:txBody>
      </p:sp>
      <p:sp>
        <p:nvSpPr>
          <p:cNvPr id="33" name="Text 26"/>
          <p:cNvSpPr/>
          <p:nvPr/>
        </p:nvSpPr>
        <p:spPr>
          <a:xfrm>
            <a:off x="6281928" y="1719072"/>
            <a:ext cx="2523744" cy="548640"/>
          </a:xfrm>
          <a:prstGeom prst="rect">
            <a:avLst/>
          </a:prstGeom>
          <a:noFill/>
          <a:ln/>
        </p:spPr>
        <p:txBody>
          <a:bodyPr wrap="square" lIns="0" tIns="0" rIns="0" bIns="0" rtlCol="0" anchor="ctr"/>
          <a:lstStyle/>
          <a:p>
            <a:pPr marL="0" indent="0">
              <a:buNone/>
            </a:pPr>
            <a:r>
              <a:rPr lang="en-US" sz="800">
                <a:latin typeface="Calibri"/>
                <a:ea typeface="Calibri"/>
                <a:cs typeface="Calibri"/>
              </a:rPr>
              <a:t>The decision maker pretending to be the gatekeeper. “Let me check if they’re available” means “convince me in 10 seconds.”</a:t>
            </a:r>
          </a:p>
        </p:txBody>
      </p:sp>
      <p:sp>
        <p:nvSpPr>
          <p:cNvPr id="34" name="Text 27"/>
          <p:cNvSpPr/>
          <p:nvPr/>
        </p:nvSpPr>
        <p:spPr>
          <a:xfrm>
            <a:off x="6281928" y="2286000"/>
            <a:ext cx="731520" cy="164592"/>
          </a:xfrm>
          <a:prstGeom prst="rect">
            <a:avLst/>
          </a:prstGeom>
          <a:noFill/>
          <a:ln/>
        </p:spPr>
        <p:txBody>
          <a:bodyPr wrap="square" lIns="0" tIns="0" rIns="0" bIns="0" rtlCol="0" anchor="ctr"/>
          <a:lstStyle/>
          <a:p>
            <a:pPr marL="0" indent="0">
              <a:buNone/>
            </a:pPr>
            <a:r>
              <a:rPr lang="en-US" sz="800" b="1">
                <a:solidFill>
                  <a:srgbClr val="7A9E7E"/>
                </a:solidFill>
                <a:latin typeface="Calibri" pitchFamily="34" charset="0"/>
                <a:ea typeface="Calibri" pitchFamily="34" charset="-122"/>
                <a:cs typeface="Calibri" pitchFamily="34" charset="-120"/>
              </a:rPr>
              <a:t>Behavior:</a:t>
            </a:r>
            <a:endParaRPr lang="en-US" sz="800"/>
          </a:p>
        </p:txBody>
      </p:sp>
      <p:sp>
        <p:nvSpPr>
          <p:cNvPr id="35" name="Text 28"/>
          <p:cNvSpPr/>
          <p:nvPr/>
        </p:nvSpPr>
        <p:spPr>
          <a:xfrm>
            <a:off x="6281928" y="2450592"/>
            <a:ext cx="2523744" cy="548640"/>
          </a:xfrm>
          <a:prstGeom prst="rect">
            <a:avLst/>
          </a:prstGeom>
          <a:noFill/>
          <a:ln/>
        </p:spPr>
        <p:txBody>
          <a:bodyPr wrap="square" lIns="0" tIns="0" rIns="0" bIns="0" rtlCol="0" anchor="ctr"/>
          <a:lstStyle/>
          <a:p>
            <a:pPr marL="0" indent="0">
              <a:buNone/>
            </a:pPr>
            <a:r>
              <a:rPr lang="en-US" sz="800">
                <a:solidFill>
                  <a:srgbClr val="36454F"/>
                </a:solidFill>
                <a:latin typeface="Calibri" pitchFamily="34" charset="0"/>
                <a:ea typeface="Calibri" pitchFamily="34" charset="-122"/>
                <a:cs typeface="Calibri" pitchFamily="34" charset="-120"/>
              </a:rPr>
              <a:t>Testing you. If you sound like a vendor, they’ll say the owner is busy. If you sound like someone who knows their world, they’ll reveal themselves.</a:t>
            </a:r>
            <a:endParaRPr lang="en-US" sz="800"/>
          </a:p>
        </p:txBody>
      </p:sp>
      <p:sp>
        <p:nvSpPr>
          <p:cNvPr id="36" name="Shape 29"/>
          <p:cNvSpPr/>
          <p:nvPr/>
        </p:nvSpPr>
        <p:spPr>
          <a:xfrm>
            <a:off x="6245352" y="3063240"/>
            <a:ext cx="2596896" cy="36576"/>
          </a:xfrm>
          <a:prstGeom prst="rect">
            <a:avLst/>
          </a:prstGeom>
          <a:solidFill>
            <a:srgbClr val="7A9E7E"/>
          </a:solidFill>
          <a:ln/>
        </p:spPr>
        <p:txBody>
          <a:bodyPr/>
          <a:lstStyle/>
          <a:p>
            <a:endParaRPr lang="en-US"/>
          </a:p>
        </p:txBody>
      </p:sp>
      <p:sp>
        <p:nvSpPr>
          <p:cNvPr id="37" name="Text 30"/>
          <p:cNvSpPr/>
          <p:nvPr/>
        </p:nvSpPr>
        <p:spPr>
          <a:xfrm>
            <a:off x="6281928" y="3154680"/>
            <a:ext cx="1097280" cy="164592"/>
          </a:xfrm>
          <a:prstGeom prst="rect">
            <a:avLst/>
          </a:prstGeom>
          <a:noFill/>
          <a:ln/>
        </p:spPr>
        <p:txBody>
          <a:bodyPr wrap="square" lIns="0" tIns="0" rIns="0" bIns="0" rtlCol="0" anchor="ctr"/>
          <a:lstStyle/>
          <a:p>
            <a:pPr marL="0" indent="0">
              <a:buNone/>
            </a:pPr>
            <a:r>
              <a:rPr lang="en-US" sz="800" b="1">
                <a:solidFill>
                  <a:srgbClr val="7A9E7E"/>
                </a:solidFill>
                <a:latin typeface="Calibri" pitchFamily="34" charset="0"/>
                <a:ea typeface="Calibri" pitchFamily="34" charset="-122"/>
                <a:cs typeface="Calibri" pitchFamily="34" charset="-120"/>
              </a:rPr>
              <a:t>Your Strategy:</a:t>
            </a:r>
            <a:endParaRPr lang="en-US" sz="800"/>
          </a:p>
        </p:txBody>
      </p:sp>
      <p:sp>
        <p:nvSpPr>
          <p:cNvPr id="38" name="Text 31"/>
          <p:cNvSpPr/>
          <p:nvPr/>
        </p:nvSpPr>
        <p:spPr>
          <a:xfrm>
            <a:off x="6281928" y="3319272"/>
            <a:ext cx="2523744" cy="1097280"/>
          </a:xfrm>
          <a:prstGeom prst="rect">
            <a:avLst/>
          </a:prstGeom>
          <a:noFill/>
          <a:ln/>
        </p:spPr>
        <p:txBody>
          <a:bodyPr wrap="square" lIns="0" tIns="0" rIns="0" bIns="0" rtlCol="0" anchor="ctr"/>
          <a:lstStyle/>
          <a:p>
            <a:pPr marL="0" indent="0">
              <a:buNone/>
            </a:pPr>
            <a:r>
              <a:rPr lang="en-US" sz="800" i="1">
                <a:solidFill>
                  <a:srgbClr val="36454F"/>
                </a:solidFill>
                <a:latin typeface="Calibri" pitchFamily="34" charset="0"/>
                <a:ea typeface="Calibri" pitchFamily="34" charset="-122"/>
                <a:cs typeface="Calibri" pitchFamily="34" charset="-120"/>
              </a:rPr>
              <a:t>Use a trigger immediately. Reference something specific about the business. The owner who’s pretending to be the gatekeeper will break character when you show you’ve done your homework.</a:t>
            </a:r>
            <a:endParaRPr lang="en-US" sz="800"/>
          </a:p>
        </p:txBody>
      </p:sp>
      <p:sp>
        <p:nvSpPr>
          <p:cNvPr id="39" name="Text 32"/>
          <p:cNvSpPr/>
          <p:nvPr/>
        </p:nvSpPr>
        <p:spPr>
          <a:xfrm>
            <a:off x="457200" y="4846320"/>
            <a:ext cx="5943600" cy="228600"/>
          </a:xfrm>
          <a:prstGeom prst="rect">
            <a:avLst/>
          </a:prstGeom>
          <a:noFill/>
          <a:ln/>
        </p:spPr>
        <p:txBody>
          <a:bodyPr wrap="square" lIns="0" tIns="0" rIns="0" bIns="0" rtlCol="0" anchor="ctr"/>
          <a:lstStyle/>
          <a:p>
            <a:pPr marL="0" indent="0">
              <a:buNone/>
            </a:pPr>
            <a:r>
              <a:rPr lang="en-US" sz="900" i="1">
                <a:solidFill>
                  <a:srgbClr val="9CA3AF"/>
                </a:solidFill>
                <a:latin typeface="Calibri" pitchFamily="34" charset="0"/>
                <a:ea typeface="Calibri" pitchFamily="34" charset="-122"/>
                <a:cs typeface="Calibri" pitchFamily="34" charset="-120"/>
              </a:rPr>
              <a:t>Commit to the process. Control the controllables.</a:t>
            </a:r>
            <a:endParaRPr lang="en-US" sz="900"/>
          </a:p>
        </p:txBody>
      </p:sp>
      <p:sp>
        <p:nvSpPr>
          <p:cNvPr id="40" name="Shape 33"/>
          <p:cNvSpPr/>
          <p:nvPr/>
        </p:nvSpPr>
        <p:spPr>
          <a:xfrm>
            <a:off x="6766560" y="4754880"/>
            <a:ext cx="502920" cy="320040"/>
          </a:xfrm>
          <a:prstGeom prst="rect">
            <a:avLst/>
          </a:prstGeom>
          <a:solidFill>
            <a:srgbClr val="1B6B93"/>
          </a:solidFill>
          <a:ln/>
        </p:spPr>
        <p:txBody>
          <a:bodyPr/>
          <a:lstStyle/>
          <a:p>
            <a:endParaRPr lang="en-US"/>
          </a:p>
        </p:txBody>
      </p:sp>
      <p:sp>
        <p:nvSpPr>
          <p:cNvPr id="41" name="Text 34"/>
          <p:cNvSpPr/>
          <p:nvPr/>
        </p:nvSpPr>
        <p:spPr>
          <a:xfrm>
            <a:off x="6766560" y="4754880"/>
            <a:ext cx="502920" cy="320040"/>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3</a:t>
            </a:r>
            <a:endParaRPr lang="en-US"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201168"/>
            <a:ext cx="347472" cy="347472"/>
          </a:xfrm>
          <a:prstGeom prst="rect">
            <a:avLst/>
          </a:prstGeom>
        </p:spPr>
      </p:pic>
      <p:sp>
        <p:nvSpPr>
          <p:cNvPr id="3" name="Text 0"/>
          <p:cNvSpPr/>
          <p:nvPr/>
        </p:nvSpPr>
        <p:spPr>
          <a:xfrm>
            <a:off x="868680" y="164592"/>
            <a:ext cx="7315200" cy="548640"/>
          </a:xfrm>
          <a:prstGeom prst="rect">
            <a:avLst/>
          </a:prstGeom>
          <a:noFill/>
          <a:ln/>
        </p:spPr>
        <p:txBody>
          <a:bodyPr wrap="square" lIns="0" tIns="0" rIns="0" bIns="0" rtlCol="0" anchor="ctr"/>
          <a:lstStyle/>
          <a:p>
            <a:pPr marL="0" indent="0">
              <a:buNone/>
            </a:pPr>
            <a:r>
              <a:rPr lang="en-US" sz="2600" b="1" kern="0" spc="300">
                <a:solidFill>
                  <a:srgbClr val="36454F"/>
                </a:solidFill>
                <a:latin typeface="Trebuchet MS" pitchFamily="34" charset="0"/>
                <a:ea typeface="Trebuchet MS" pitchFamily="34" charset="-122"/>
                <a:cs typeface="Trebuchet MS" pitchFamily="34" charset="-120"/>
              </a:rPr>
              <a:t>The Triple Bypass — Three Routes Past the Gatekeeper</a:t>
            </a:r>
            <a:endParaRPr lang="en-US" sz="2600"/>
          </a:p>
        </p:txBody>
      </p:sp>
      <p:sp>
        <p:nvSpPr>
          <p:cNvPr id="4" name="Shape 1"/>
          <p:cNvSpPr/>
          <p:nvPr/>
        </p:nvSpPr>
        <p:spPr>
          <a:xfrm>
            <a:off x="548640" y="749808"/>
            <a:ext cx="1645920" cy="36576"/>
          </a:xfrm>
          <a:prstGeom prst="rect">
            <a:avLst/>
          </a:prstGeom>
          <a:solidFill>
            <a:srgbClr val="C67B5C"/>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7498080" y="4709160"/>
            <a:ext cx="1234440" cy="365760"/>
          </a:xfrm>
          <a:prstGeom prst="rect">
            <a:avLst/>
          </a:prstGeom>
        </p:spPr>
      </p:pic>
      <p:sp>
        <p:nvSpPr>
          <p:cNvPr id="6" name="Shape 2"/>
          <p:cNvSpPr/>
          <p:nvPr/>
        </p:nvSpPr>
        <p:spPr>
          <a:xfrm>
            <a:off x="457200" y="868680"/>
            <a:ext cx="8229600" cy="1261872"/>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7" name="Shape 3"/>
          <p:cNvSpPr/>
          <p:nvPr/>
        </p:nvSpPr>
        <p:spPr>
          <a:xfrm>
            <a:off x="548640" y="1005840"/>
            <a:ext cx="502920" cy="502920"/>
          </a:xfrm>
          <a:prstGeom prst="ellipse">
            <a:avLst/>
          </a:prstGeom>
          <a:solidFill>
            <a:srgbClr val="1B6B93"/>
          </a:solidFill>
          <a:ln/>
        </p:spPr>
        <p:txBody>
          <a:bodyPr/>
          <a:lstStyle/>
          <a:p>
            <a:endParaRPr lang="en-US"/>
          </a:p>
        </p:txBody>
      </p:sp>
      <p:sp>
        <p:nvSpPr>
          <p:cNvPr id="8" name="Text 4"/>
          <p:cNvSpPr/>
          <p:nvPr/>
        </p:nvSpPr>
        <p:spPr>
          <a:xfrm>
            <a:off x="548640" y="1005840"/>
            <a:ext cx="502920" cy="502920"/>
          </a:xfrm>
          <a:prstGeom prst="rect">
            <a:avLst/>
          </a:prstGeom>
          <a:noFill/>
          <a:ln/>
        </p:spPr>
        <p:txBody>
          <a:bodyPr wrap="square" lIns="0" tIns="0" rIns="0" bIns="0" rtlCol="0" anchor="ctr"/>
          <a:lstStyle/>
          <a:p>
            <a:pPr marL="0" indent="0" algn="ctr">
              <a:buNone/>
            </a:pPr>
            <a:r>
              <a:rPr lang="en-US" sz="2000" b="1">
                <a:solidFill>
                  <a:srgbClr val="FFFFFF"/>
                </a:solidFill>
                <a:latin typeface="Trebuchet MS" pitchFamily="34" charset="0"/>
                <a:ea typeface="Trebuchet MS" pitchFamily="34" charset="-122"/>
                <a:cs typeface="Trebuchet MS" pitchFamily="34" charset="-120"/>
              </a:rPr>
              <a:t>1</a:t>
            </a:r>
            <a:endParaRPr lang="en-US" sz="2000"/>
          </a:p>
        </p:txBody>
      </p:sp>
      <p:sp>
        <p:nvSpPr>
          <p:cNvPr id="9" name="Text 5"/>
          <p:cNvSpPr/>
          <p:nvPr/>
        </p:nvSpPr>
        <p:spPr>
          <a:xfrm>
            <a:off x="1188720" y="914400"/>
            <a:ext cx="2743200" cy="274320"/>
          </a:xfrm>
          <a:prstGeom prst="rect">
            <a:avLst/>
          </a:prstGeom>
          <a:noFill/>
          <a:ln/>
        </p:spPr>
        <p:txBody>
          <a:bodyPr wrap="square" lIns="0" tIns="0" rIns="0" bIns="0" rtlCol="0" anchor="ctr"/>
          <a:lstStyle/>
          <a:p>
            <a:pPr marL="0" indent="0">
              <a:buNone/>
            </a:pPr>
            <a:r>
              <a:rPr lang="en-US" sz="1300" b="1">
                <a:solidFill>
                  <a:srgbClr val="36454F"/>
                </a:solidFill>
                <a:latin typeface="Trebuchet MS" pitchFamily="34" charset="0"/>
                <a:ea typeface="Trebuchet MS" pitchFamily="34" charset="-122"/>
                <a:cs typeface="Trebuchet MS" pitchFamily="34" charset="-120"/>
              </a:rPr>
              <a:t>The First-Name Drop</a:t>
            </a:r>
            <a:endParaRPr lang="en-US" sz="1300"/>
          </a:p>
        </p:txBody>
      </p:sp>
      <p:sp>
        <p:nvSpPr>
          <p:cNvPr id="10" name="Text 6"/>
          <p:cNvSpPr/>
          <p:nvPr/>
        </p:nvSpPr>
        <p:spPr>
          <a:xfrm>
            <a:off x="1188720" y="1188720"/>
            <a:ext cx="3200400" cy="320040"/>
          </a:xfrm>
          <a:prstGeom prst="rect">
            <a:avLst/>
          </a:prstGeom>
          <a:noFill/>
          <a:ln/>
        </p:spPr>
        <p:txBody>
          <a:bodyPr wrap="square" lIns="0" tIns="0" rIns="0" bIns="0" rtlCol="0" anchor="ctr"/>
          <a:lstStyle/>
          <a:p>
            <a:pPr marL="0" indent="0">
              <a:buNone/>
            </a:pPr>
            <a:r>
              <a:rPr lang="en-US" sz="850">
                <a:latin typeface="Calibri"/>
                <a:ea typeface="Calibri"/>
                <a:cs typeface="Calibri"/>
              </a:rPr>
              <a:t>Use the owner’s first name. It signals familiarity and bypasses the “who’s calling?” filter.</a:t>
            </a:r>
          </a:p>
        </p:txBody>
      </p:sp>
      <p:sp>
        <p:nvSpPr>
          <p:cNvPr id="11" name="Text 7"/>
          <p:cNvSpPr/>
          <p:nvPr/>
        </p:nvSpPr>
        <p:spPr>
          <a:xfrm>
            <a:off x="1188720" y="1527048"/>
            <a:ext cx="3200400" cy="548640"/>
          </a:xfrm>
          <a:prstGeom prst="rect">
            <a:avLst/>
          </a:prstGeom>
          <a:noFill/>
          <a:ln/>
        </p:spPr>
        <p:txBody>
          <a:bodyPr wrap="square" lIns="0" tIns="0" rIns="0" bIns="0" rtlCol="0" anchor="ctr"/>
          <a:lstStyle/>
          <a:p>
            <a:pPr marL="0" indent="0">
              <a:buNone/>
            </a:pPr>
            <a:r>
              <a:rPr lang="en-US" sz="800">
                <a:latin typeface="Calibri"/>
                <a:ea typeface="Calibri"/>
                <a:cs typeface="Calibri"/>
              </a:rPr>
              <a:t>Research: Find the owner’s name on their website, Google Business Profile, LinkedIn, or Instagram before you dial. No exceptions.</a:t>
            </a:r>
          </a:p>
        </p:txBody>
      </p:sp>
      <p:sp>
        <p:nvSpPr>
          <p:cNvPr id="12" name="Shape 8"/>
          <p:cNvSpPr/>
          <p:nvPr/>
        </p:nvSpPr>
        <p:spPr>
          <a:xfrm>
            <a:off x="4526280" y="941832"/>
            <a:ext cx="36576" cy="1097280"/>
          </a:xfrm>
          <a:prstGeom prst="rect">
            <a:avLst/>
          </a:prstGeom>
          <a:solidFill>
            <a:srgbClr val="1B6B93"/>
          </a:solidFill>
          <a:ln/>
        </p:spPr>
        <p:txBody>
          <a:bodyPr/>
          <a:lstStyle/>
          <a:p>
            <a:endParaRPr lang="en-US"/>
          </a:p>
        </p:txBody>
      </p:sp>
      <p:sp>
        <p:nvSpPr>
          <p:cNvPr id="13" name="Text 9"/>
          <p:cNvSpPr/>
          <p:nvPr/>
        </p:nvSpPr>
        <p:spPr>
          <a:xfrm>
            <a:off x="4663440" y="914400"/>
            <a:ext cx="3886200" cy="320040"/>
          </a:xfrm>
          <a:prstGeom prst="rect">
            <a:avLst/>
          </a:prstGeom>
          <a:noFill/>
          <a:ln/>
        </p:spPr>
        <p:txBody>
          <a:bodyPr wrap="square" lIns="0" tIns="0" rIns="0" bIns="0" rtlCol="0" anchor="ctr"/>
          <a:lstStyle/>
          <a:p>
            <a:pPr marL="0" indent="0">
              <a:buNone/>
            </a:pPr>
            <a:r>
              <a:rPr lang="en-US" sz="1000" i="1">
                <a:latin typeface="Calibri"/>
                <a:ea typeface="Calibri"/>
                <a:cs typeface="Calibri"/>
              </a:rPr>
              <a:t>“Hey! Is Nicole around? It’s Terry.”</a:t>
            </a:r>
            <a:endParaRPr lang="en-US" sz="1000">
              <a:latin typeface="Calibri"/>
              <a:ea typeface="Calibri"/>
              <a:cs typeface="Calibri"/>
            </a:endParaRPr>
          </a:p>
        </p:txBody>
      </p:sp>
      <p:sp>
        <p:nvSpPr>
          <p:cNvPr id="14" name="Text 10"/>
          <p:cNvSpPr/>
          <p:nvPr/>
        </p:nvSpPr>
        <p:spPr>
          <a:xfrm>
            <a:off x="4663440" y="1280160"/>
            <a:ext cx="3886200" cy="777240"/>
          </a:xfrm>
          <a:prstGeom prst="rect">
            <a:avLst/>
          </a:prstGeom>
          <a:noFill/>
          <a:ln/>
        </p:spPr>
        <p:txBody>
          <a:bodyPr wrap="square" lIns="0" tIns="0" rIns="0" bIns="0" rtlCol="0" anchor="ctr"/>
          <a:lstStyle/>
          <a:p>
            <a:pPr marL="0" indent="0">
              <a:buNone/>
            </a:pPr>
            <a:r>
              <a:rPr lang="en-US" sz="850">
                <a:latin typeface="Calibri"/>
                <a:ea typeface="Calibri"/>
                <a:cs typeface="Calibri"/>
              </a:rPr>
              <a:t>Why it works: Front desk hears first names from friends, family, reps they know. Using a first name subconsciously categorizes you as “known” instead of “vendor.”</a:t>
            </a:r>
          </a:p>
        </p:txBody>
      </p:sp>
      <p:sp>
        <p:nvSpPr>
          <p:cNvPr id="15" name="Shape 11"/>
          <p:cNvSpPr/>
          <p:nvPr/>
        </p:nvSpPr>
        <p:spPr>
          <a:xfrm>
            <a:off x="457200" y="2240280"/>
            <a:ext cx="8229600" cy="1261872"/>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6" name="Shape 12"/>
          <p:cNvSpPr/>
          <p:nvPr/>
        </p:nvSpPr>
        <p:spPr>
          <a:xfrm>
            <a:off x="548640" y="2377440"/>
            <a:ext cx="502920" cy="502920"/>
          </a:xfrm>
          <a:prstGeom prst="ellipse">
            <a:avLst/>
          </a:prstGeom>
          <a:solidFill>
            <a:srgbClr val="C67B5C"/>
          </a:solidFill>
          <a:ln/>
        </p:spPr>
        <p:txBody>
          <a:bodyPr/>
          <a:lstStyle/>
          <a:p>
            <a:endParaRPr lang="en-US"/>
          </a:p>
        </p:txBody>
      </p:sp>
      <p:sp>
        <p:nvSpPr>
          <p:cNvPr id="17" name="Text 13"/>
          <p:cNvSpPr/>
          <p:nvPr/>
        </p:nvSpPr>
        <p:spPr>
          <a:xfrm>
            <a:off x="548640" y="2377440"/>
            <a:ext cx="502920" cy="502920"/>
          </a:xfrm>
          <a:prstGeom prst="rect">
            <a:avLst/>
          </a:prstGeom>
          <a:noFill/>
          <a:ln/>
        </p:spPr>
        <p:txBody>
          <a:bodyPr wrap="square" lIns="0" tIns="0" rIns="0" bIns="0" rtlCol="0" anchor="ctr"/>
          <a:lstStyle/>
          <a:p>
            <a:pPr marL="0" indent="0" algn="ctr">
              <a:buNone/>
            </a:pPr>
            <a:r>
              <a:rPr lang="en-US" sz="2000" b="1">
                <a:solidFill>
                  <a:srgbClr val="FFFFFF"/>
                </a:solidFill>
                <a:latin typeface="Trebuchet MS" pitchFamily="34" charset="0"/>
                <a:ea typeface="Trebuchet MS" pitchFamily="34" charset="-122"/>
                <a:cs typeface="Trebuchet MS" pitchFamily="34" charset="-120"/>
              </a:rPr>
              <a:t>2</a:t>
            </a:r>
            <a:endParaRPr lang="en-US" sz="2000"/>
          </a:p>
        </p:txBody>
      </p:sp>
      <p:sp>
        <p:nvSpPr>
          <p:cNvPr id="18" name="Text 14"/>
          <p:cNvSpPr/>
          <p:nvPr/>
        </p:nvSpPr>
        <p:spPr>
          <a:xfrm>
            <a:off x="1188720" y="2286000"/>
            <a:ext cx="2743200" cy="274320"/>
          </a:xfrm>
          <a:prstGeom prst="rect">
            <a:avLst/>
          </a:prstGeom>
          <a:noFill/>
          <a:ln/>
        </p:spPr>
        <p:txBody>
          <a:bodyPr wrap="square" lIns="0" tIns="0" rIns="0" bIns="0" rtlCol="0" anchor="ctr"/>
          <a:lstStyle/>
          <a:p>
            <a:pPr marL="0" indent="0">
              <a:buNone/>
            </a:pPr>
            <a:r>
              <a:rPr lang="en-US" sz="1300" b="1">
                <a:solidFill>
                  <a:srgbClr val="36454F"/>
                </a:solidFill>
                <a:latin typeface="Trebuchet MS" pitchFamily="34" charset="0"/>
                <a:ea typeface="Trebuchet MS" pitchFamily="34" charset="-122"/>
                <a:cs typeface="Trebuchet MS" pitchFamily="34" charset="-120"/>
              </a:rPr>
              <a:t>The Informed Question</a:t>
            </a:r>
            <a:endParaRPr lang="en-US" sz="1300"/>
          </a:p>
        </p:txBody>
      </p:sp>
      <p:sp>
        <p:nvSpPr>
          <p:cNvPr id="19" name="Text 15"/>
          <p:cNvSpPr/>
          <p:nvPr/>
        </p:nvSpPr>
        <p:spPr>
          <a:xfrm>
            <a:off x="1188720" y="2560320"/>
            <a:ext cx="3200400" cy="320040"/>
          </a:xfrm>
          <a:prstGeom prst="rect">
            <a:avLst/>
          </a:prstGeom>
          <a:noFill/>
          <a:ln/>
        </p:spPr>
        <p:txBody>
          <a:bodyPr wrap="square" lIns="0" tIns="0" rIns="0" bIns="0" rtlCol="0" anchor="ctr"/>
          <a:lstStyle/>
          <a:p>
            <a:pPr marL="0" indent="0">
              <a:buNone/>
            </a:pPr>
            <a:r>
              <a:rPr lang="en-US" sz="850">
                <a:latin typeface="Calibri"/>
                <a:ea typeface="Calibri"/>
                <a:cs typeface="Calibri"/>
              </a:rPr>
              <a:t>Ask a question the gatekeeper can’t answer. This creates the need to transfer you without you asking to be transferred.</a:t>
            </a:r>
          </a:p>
        </p:txBody>
      </p:sp>
      <p:sp>
        <p:nvSpPr>
          <p:cNvPr id="20" name="Text 16"/>
          <p:cNvSpPr/>
          <p:nvPr/>
        </p:nvSpPr>
        <p:spPr>
          <a:xfrm>
            <a:off x="1188720" y="2898648"/>
            <a:ext cx="3200400" cy="548640"/>
          </a:xfrm>
          <a:prstGeom prst="rect">
            <a:avLst/>
          </a:prstGeom>
          <a:noFill/>
          <a:ln/>
        </p:spPr>
        <p:txBody>
          <a:bodyPr wrap="square" lIns="0" tIns="0" rIns="0" bIns="0" rtlCol="0" anchor="ctr"/>
          <a:lstStyle/>
          <a:p>
            <a:pPr marL="0" indent="0">
              <a:buNone/>
            </a:pPr>
            <a:r>
              <a:rPr lang="en-US" sz="800">
                <a:latin typeface="Calibri"/>
                <a:ea typeface="Calibri"/>
                <a:cs typeface="Calibri"/>
              </a:rPr>
              <a:t>Research: Check their website for online booking, services page, recent changes. Use this as the “informed” hook.</a:t>
            </a:r>
          </a:p>
        </p:txBody>
      </p:sp>
      <p:sp>
        <p:nvSpPr>
          <p:cNvPr id="21" name="Shape 17"/>
          <p:cNvSpPr/>
          <p:nvPr/>
        </p:nvSpPr>
        <p:spPr>
          <a:xfrm>
            <a:off x="4526280" y="2313432"/>
            <a:ext cx="36576" cy="1097280"/>
          </a:xfrm>
          <a:prstGeom prst="rect">
            <a:avLst/>
          </a:prstGeom>
          <a:solidFill>
            <a:srgbClr val="C67B5C"/>
          </a:solidFill>
          <a:ln/>
        </p:spPr>
        <p:txBody>
          <a:bodyPr/>
          <a:lstStyle/>
          <a:p>
            <a:endParaRPr lang="en-US"/>
          </a:p>
        </p:txBody>
      </p:sp>
      <p:sp>
        <p:nvSpPr>
          <p:cNvPr id="22" name="Text 18"/>
          <p:cNvSpPr/>
          <p:nvPr/>
        </p:nvSpPr>
        <p:spPr>
          <a:xfrm>
            <a:off x="4663440" y="2379945"/>
            <a:ext cx="3886200" cy="320040"/>
          </a:xfrm>
          <a:prstGeom prst="rect">
            <a:avLst/>
          </a:prstGeom>
          <a:noFill/>
          <a:ln/>
        </p:spPr>
        <p:txBody>
          <a:bodyPr wrap="square" lIns="0" tIns="0" rIns="0" bIns="0" rtlCol="0" anchor="ctr"/>
          <a:lstStyle/>
          <a:p>
            <a:pPr marL="0" indent="0">
              <a:buNone/>
            </a:pPr>
            <a:r>
              <a:rPr lang="en-US" sz="1000" i="1">
                <a:solidFill>
                  <a:srgbClr val="36454F"/>
                </a:solidFill>
                <a:latin typeface="Calibri" pitchFamily="34" charset="0"/>
                <a:ea typeface="Calibri" pitchFamily="34" charset="-122"/>
                <a:cs typeface="Calibri" pitchFamily="34" charset="-120"/>
              </a:rPr>
              <a:t>“Hi there! Quick question — I noticed you guys recently launched online booking. I was curious who manages the software decisions? I had something specific I wanted to share about the booking setup.”</a:t>
            </a:r>
            <a:endParaRPr lang="en-US" sz="1000"/>
          </a:p>
        </p:txBody>
      </p:sp>
      <p:sp>
        <p:nvSpPr>
          <p:cNvPr id="23" name="Text 19"/>
          <p:cNvSpPr/>
          <p:nvPr/>
        </p:nvSpPr>
        <p:spPr>
          <a:xfrm>
            <a:off x="4663440" y="2651760"/>
            <a:ext cx="3886200" cy="777240"/>
          </a:xfrm>
          <a:prstGeom prst="rect">
            <a:avLst/>
          </a:prstGeom>
          <a:noFill/>
          <a:ln/>
        </p:spPr>
        <p:txBody>
          <a:bodyPr wrap="square" lIns="0" tIns="0" rIns="0" bIns="0" rtlCol="0" anchor="ctr"/>
          <a:lstStyle/>
          <a:p>
            <a:pPr marL="0" indent="0">
              <a:buNone/>
            </a:pPr>
            <a:r>
              <a:rPr lang="en-US" sz="850">
                <a:solidFill>
                  <a:srgbClr val="36454F"/>
                </a:solidFill>
                <a:latin typeface="Calibri" pitchFamily="34" charset="0"/>
                <a:ea typeface="Calibri" pitchFamily="34" charset="-122"/>
                <a:cs typeface="Calibri" pitchFamily="34" charset="-120"/>
              </a:rPr>
              <a:t>Why it works: When the front desk can’t answer, their default is to transfer — not to block. You’ve given them a reason that feels legitimate, not salesy.</a:t>
            </a:r>
            <a:endParaRPr lang="en-US" sz="850"/>
          </a:p>
        </p:txBody>
      </p:sp>
      <p:sp>
        <p:nvSpPr>
          <p:cNvPr id="24" name="Shape 20"/>
          <p:cNvSpPr/>
          <p:nvPr/>
        </p:nvSpPr>
        <p:spPr>
          <a:xfrm>
            <a:off x="457200" y="3611880"/>
            <a:ext cx="8229600" cy="1261872"/>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5" name="Shape 21"/>
          <p:cNvSpPr/>
          <p:nvPr/>
        </p:nvSpPr>
        <p:spPr>
          <a:xfrm>
            <a:off x="548640" y="3749040"/>
            <a:ext cx="502920" cy="502920"/>
          </a:xfrm>
          <a:prstGeom prst="ellipse">
            <a:avLst/>
          </a:prstGeom>
          <a:solidFill>
            <a:srgbClr val="7A9E7E"/>
          </a:solidFill>
          <a:ln/>
        </p:spPr>
        <p:txBody>
          <a:bodyPr/>
          <a:lstStyle/>
          <a:p>
            <a:endParaRPr lang="en-US"/>
          </a:p>
        </p:txBody>
      </p:sp>
      <p:sp>
        <p:nvSpPr>
          <p:cNvPr id="26" name="Text 22"/>
          <p:cNvSpPr/>
          <p:nvPr/>
        </p:nvSpPr>
        <p:spPr>
          <a:xfrm>
            <a:off x="548640" y="3749040"/>
            <a:ext cx="502920" cy="502920"/>
          </a:xfrm>
          <a:prstGeom prst="rect">
            <a:avLst/>
          </a:prstGeom>
          <a:noFill/>
          <a:ln/>
        </p:spPr>
        <p:txBody>
          <a:bodyPr wrap="square" lIns="0" tIns="0" rIns="0" bIns="0" rtlCol="0" anchor="ctr"/>
          <a:lstStyle/>
          <a:p>
            <a:pPr marL="0" indent="0" algn="ctr">
              <a:buNone/>
            </a:pPr>
            <a:r>
              <a:rPr lang="en-US" sz="2000" b="1">
                <a:solidFill>
                  <a:srgbClr val="FFFFFF"/>
                </a:solidFill>
                <a:latin typeface="Trebuchet MS" pitchFamily="34" charset="0"/>
                <a:ea typeface="Trebuchet MS" pitchFamily="34" charset="-122"/>
                <a:cs typeface="Trebuchet MS" pitchFamily="34" charset="-120"/>
              </a:rPr>
              <a:t>3</a:t>
            </a:r>
            <a:endParaRPr lang="en-US" sz="2000"/>
          </a:p>
        </p:txBody>
      </p:sp>
      <p:sp>
        <p:nvSpPr>
          <p:cNvPr id="27" name="Text 23"/>
          <p:cNvSpPr/>
          <p:nvPr/>
        </p:nvSpPr>
        <p:spPr>
          <a:xfrm>
            <a:off x="1188720" y="3657600"/>
            <a:ext cx="2743200" cy="274320"/>
          </a:xfrm>
          <a:prstGeom prst="rect">
            <a:avLst/>
          </a:prstGeom>
          <a:noFill/>
          <a:ln/>
        </p:spPr>
        <p:txBody>
          <a:bodyPr wrap="square" lIns="0" tIns="0" rIns="0" bIns="0" rtlCol="0" anchor="ctr"/>
          <a:lstStyle/>
          <a:p>
            <a:pPr marL="0" indent="0">
              <a:buNone/>
            </a:pPr>
            <a:r>
              <a:rPr lang="en-US" sz="1300" b="1">
                <a:solidFill>
                  <a:srgbClr val="36454F"/>
                </a:solidFill>
                <a:latin typeface="Trebuchet MS" pitchFamily="34" charset="0"/>
                <a:ea typeface="Trebuchet MS" pitchFamily="34" charset="-122"/>
                <a:cs typeface="Trebuchet MS" pitchFamily="34" charset="-120"/>
              </a:rPr>
              <a:t>The Champion Recruit</a:t>
            </a:r>
            <a:endParaRPr lang="en-US" sz="1300"/>
          </a:p>
        </p:txBody>
      </p:sp>
      <p:sp>
        <p:nvSpPr>
          <p:cNvPr id="28" name="Text 24"/>
          <p:cNvSpPr/>
          <p:nvPr/>
        </p:nvSpPr>
        <p:spPr>
          <a:xfrm>
            <a:off x="1188720" y="3931920"/>
            <a:ext cx="3200400" cy="320040"/>
          </a:xfrm>
          <a:prstGeom prst="rect">
            <a:avLst/>
          </a:prstGeom>
          <a:noFill/>
          <a:ln/>
        </p:spPr>
        <p:txBody>
          <a:bodyPr wrap="square" lIns="0" tIns="0" rIns="0" bIns="0" rtlCol="0" anchor="ctr"/>
          <a:lstStyle/>
          <a:p>
            <a:pPr marL="0" indent="0">
              <a:buNone/>
            </a:pPr>
            <a:r>
              <a:rPr lang="en-US" sz="850">
                <a:latin typeface="Calibri"/>
                <a:ea typeface="Calibri"/>
                <a:cs typeface="Calibri"/>
              </a:rPr>
              <a:t>Don’t try to get past them. Recruit them. Ask about THEIR pain. If the front desk manager is frustrated with the current software, they’ll sell internally for you.</a:t>
            </a:r>
          </a:p>
        </p:txBody>
      </p:sp>
      <p:sp>
        <p:nvSpPr>
          <p:cNvPr id="29" name="Text 25"/>
          <p:cNvSpPr/>
          <p:nvPr/>
        </p:nvSpPr>
        <p:spPr>
          <a:xfrm>
            <a:off x="1188720" y="4270248"/>
            <a:ext cx="3200400" cy="548640"/>
          </a:xfrm>
          <a:prstGeom prst="rect">
            <a:avLst/>
          </a:prstGeom>
          <a:noFill/>
          <a:ln/>
        </p:spPr>
        <p:txBody>
          <a:bodyPr wrap="square" lIns="0" tIns="0" rIns="0" bIns="0" rtlCol="0" anchor="ctr"/>
          <a:lstStyle/>
          <a:p>
            <a:pPr marL="0" indent="0">
              <a:buNone/>
            </a:pPr>
            <a:r>
              <a:rPr lang="en-US" sz="800">
                <a:latin typeface="Calibri"/>
                <a:ea typeface="Calibri"/>
                <a:cs typeface="Calibri"/>
              </a:rPr>
              <a:t>Research: Look for signs of front desk overload: no online booking, phone-only booking, outdated website, reviews complaining about wait times.</a:t>
            </a:r>
          </a:p>
        </p:txBody>
      </p:sp>
      <p:sp>
        <p:nvSpPr>
          <p:cNvPr id="30" name="Shape 26"/>
          <p:cNvSpPr/>
          <p:nvPr/>
        </p:nvSpPr>
        <p:spPr>
          <a:xfrm>
            <a:off x="4526280" y="3685032"/>
            <a:ext cx="36576" cy="1097280"/>
          </a:xfrm>
          <a:prstGeom prst="rect">
            <a:avLst/>
          </a:prstGeom>
          <a:solidFill>
            <a:srgbClr val="7A9E7E"/>
          </a:solidFill>
          <a:ln/>
        </p:spPr>
        <p:txBody>
          <a:bodyPr/>
          <a:lstStyle/>
          <a:p>
            <a:endParaRPr lang="en-US"/>
          </a:p>
        </p:txBody>
      </p:sp>
      <p:sp>
        <p:nvSpPr>
          <p:cNvPr id="31" name="Text 27"/>
          <p:cNvSpPr/>
          <p:nvPr/>
        </p:nvSpPr>
        <p:spPr>
          <a:xfrm>
            <a:off x="4663440" y="3790689"/>
            <a:ext cx="3886200" cy="320040"/>
          </a:xfrm>
          <a:prstGeom prst="rect">
            <a:avLst/>
          </a:prstGeom>
          <a:noFill/>
          <a:ln/>
        </p:spPr>
        <p:txBody>
          <a:bodyPr wrap="square" lIns="0" tIns="0" rIns="0" bIns="0" rtlCol="0" anchor="ctr"/>
          <a:lstStyle/>
          <a:p>
            <a:pPr marL="0" indent="0">
              <a:buNone/>
            </a:pPr>
            <a:r>
              <a:rPr lang="en-US" sz="1000" i="1">
                <a:solidFill>
                  <a:srgbClr val="36454F"/>
                </a:solidFill>
                <a:latin typeface="Calibri" pitchFamily="34" charset="0"/>
                <a:ea typeface="Calibri" pitchFamily="34" charset="-122"/>
                <a:cs typeface="Calibri" pitchFamily="34" charset="-120"/>
              </a:rPr>
              <a:t>“Actually, before I even talk to the owner — you’re the one running the front desk, right? Can I ask you something? How’s your booking system working for you? Getting a lot of calls that could be handled online?”</a:t>
            </a:r>
            <a:endParaRPr lang="en-US" sz="1000"/>
          </a:p>
        </p:txBody>
      </p:sp>
      <p:sp>
        <p:nvSpPr>
          <p:cNvPr id="32" name="Text 28"/>
          <p:cNvSpPr/>
          <p:nvPr/>
        </p:nvSpPr>
        <p:spPr>
          <a:xfrm>
            <a:off x="4663440" y="4023360"/>
            <a:ext cx="3886200" cy="777240"/>
          </a:xfrm>
          <a:prstGeom prst="rect">
            <a:avLst/>
          </a:prstGeom>
          <a:noFill/>
          <a:ln/>
        </p:spPr>
        <p:txBody>
          <a:bodyPr wrap="square" lIns="0" tIns="0" rIns="0" bIns="0" rtlCol="0" anchor="ctr"/>
          <a:lstStyle/>
          <a:p>
            <a:pPr marL="0" indent="0">
              <a:buNone/>
            </a:pPr>
            <a:r>
              <a:rPr lang="en-US" sz="850">
                <a:solidFill>
                  <a:srgbClr val="36454F"/>
                </a:solidFill>
                <a:latin typeface="Calibri" pitchFamily="34" charset="0"/>
                <a:ea typeface="Calibri" pitchFamily="34" charset="-122"/>
                <a:cs typeface="Calibri" pitchFamily="34" charset="-120"/>
              </a:rPr>
              <a:t>Why it works: Front desk managers are the most software-frustrated people in the building. They live with the pain daily. When you acknowledge that, you earn an ally.</a:t>
            </a:r>
            <a:endParaRPr lang="en-US" sz="850"/>
          </a:p>
        </p:txBody>
      </p:sp>
      <p:sp>
        <p:nvSpPr>
          <p:cNvPr id="33" name="Text 29"/>
          <p:cNvSpPr/>
          <p:nvPr/>
        </p:nvSpPr>
        <p:spPr>
          <a:xfrm>
            <a:off x="457200" y="4846320"/>
            <a:ext cx="5943600" cy="228600"/>
          </a:xfrm>
          <a:prstGeom prst="rect">
            <a:avLst/>
          </a:prstGeom>
          <a:noFill/>
          <a:ln/>
        </p:spPr>
        <p:txBody>
          <a:bodyPr wrap="square" lIns="0" tIns="0" rIns="0" bIns="0" rtlCol="0" anchor="ctr"/>
          <a:lstStyle/>
          <a:p>
            <a:pPr marL="0" indent="0">
              <a:buNone/>
            </a:pPr>
            <a:r>
              <a:rPr lang="en-US" sz="900" i="1">
                <a:solidFill>
                  <a:srgbClr val="9CA3AF"/>
                </a:solidFill>
                <a:latin typeface="Calibri" pitchFamily="34" charset="0"/>
                <a:ea typeface="Calibri" pitchFamily="34" charset="-122"/>
                <a:cs typeface="Calibri" pitchFamily="34" charset="-120"/>
              </a:rPr>
              <a:t>Commit to the process. Control the controllables.</a:t>
            </a:r>
            <a:endParaRPr lang="en-US" sz="900"/>
          </a:p>
        </p:txBody>
      </p:sp>
      <p:sp>
        <p:nvSpPr>
          <p:cNvPr id="34" name="Shape 30"/>
          <p:cNvSpPr/>
          <p:nvPr/>
        </p:nvSpPr>
        <p:spPr>
          <a:xfrm>
            <a:off x="6766560" y="4754880"/>
            <a:ext cx="502920" cy="320040"/>
          </a:xfrm>
          <a:prstGeom prst="rect">
            <a:avLst/>
          </a:prstGeom>
          <a:solidFill>
            <a:srgbClr val="1B6B93"/>
          </a:solidFill>
          <a:ln/>
        </p:spPr>
        <p:txBody>
          <a:bodyPr/>
          <a:lstStyle/>
          <a:p>
            <a:endParaRPr lang="en-US"/>
          </a:p>
        </p:txBody>
      </p:sp>
      <p:sp>
        <p:nvSpPr>
          <p:cNvPr id="35" name="Text 31"/>
          <p:cNvSpPr/>
          <p:nvPr/>
        </p:nvSpPr>
        <p:spPr>
          <a:xfrm>
            <a:off x="6766560" y="4754880"/>
            <a:ext cx="502920" cy="320040"/>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4</a:t>
            </a:r>
            <a:endParaRPr lang="en-US"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67B5C"/>
          </a:solidFill>
          <a:ln/>
        </p:spPr>
        <p:txBody>
          <a:bodyPr/>
          <a:lstStyle/>
          <a:p>
            <a:endParaRPr lang="en-US"/>
          </a:p>
        </p:txBody>
      </p:sp>
      <p:sp>
        <p:nvSpPr>
          <p:cNvPr id="3" name="Shape 1"/>
          <p:cNvSpPr/>
          <p:nvPr/>
        </p:nvSpPr>
        <p:spPr>
          <a:xfrm>
            <a:off x="109728" y="0"/>
            <a:ext cx="9034272" cy="54864"/>
          </a:xfrm>
          <a:prstGeom prst="rect">
            <a:avLst/>
          </a:prstGeom>
          <a:solidFill>
            <a:srgbClr val="1B6B9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7498080" y="4709160"/>
            <a:ext cx="1234440" cy="365760"/>
          </a:xfrm>
          <a:prstGeom prst="rect">
            <a:avLst/>
          </a:prstGeom>
        </p:spPr>
      </p:pic>
      <p:sp>
        <p:nvSpPr>
          <p:cNvPr id="5" name="Text 2"/>
          <p:cNvSpPr/>
          <p:nvPr/>
        </p:nvSpPr>
        <p:spPr>
          <a:xfrm>
            <a:off x="731520" y="1371600"/>
            <a:ext cx="7315200" cy="365760"/>
          </a:xfrm>
          <a:prstGeom prst="rect">
            <a:avLst/>
          </a:prstGeom>
          <a:noFill/>
          <a:ln/>
        </p:spPr>
        <p:txBody>
          <a:bodyPr wrap="square" lIns="0" tIns="0" rIns="0" bIns="0" rtlCol="0" anchor="ctr"/>
          <a:lstStyle/>
          <a:p>
            <a:pPr marL="0" indent="0">
              <a:buNone/>
            </a:pPr>
            <a:r>
              <a:rPr lang="en-US" sz="1200" kern="0" spc="500">
                <a:solidFill>
                  <a:srgbClr val="C67B5C"/>
                </a:solidFill>
                <a:latin typeface="Calibri" pitchFamily="34" charset="0"/>
                <a:ea typeface="Calibri" pitchFamily="34" charset="-122"/>
                <a:cs typeface="Calibri" pitchFamily="34" charset="-120"/>
              </a:rPr>
              <a:t>ADVANCED TACTICS</a:t>
            </a:r>
            <a:endParaRPr lang="en-US" sz="1200"/>
          </a:p>
        </p:txBody>
      </p:sp>
      <p:sp>
        <p:nvSpPr>
          <p:cNvPr id="6" name="Text 3"/>
          <p:cNvSpPr/>
          <p:nvPr/>
        </p:nvSpPr>
        <p:spPr>
          <a:xfrm>
            <a:off x="731520" y="1737360"/>
            <a:ext cx="7315200" cy="914400"/>
          </a:xfrm>
          <a:prstGeom prst="rect">
            <a:avLst/>
          </a:prstGeom>
          <a:noFill/>
          <a:ln/>
        </p:spPr>
        <p:txBody>
          <a:bodyPr wrap="square" lIns="0" tIns="0" rIns="0" bIns="0" rtlCol="0" anchor="ctr"/>
          <a:lstStyle/>
          <a:p>
            <a:pPr marL="0" indent="0">
              <a:buNone/>
            </a:pPr>
            <a:r>
              <a:rPr lang="en-US" sz="3600" b="1" kern="0" spc="300">
                <a:solidFill>
                  <a:srgbClr val="F5F0EB"/>
                </a:solidFill>
                <a:latin typeface="Trebuchet MS" pitchFamily="34" charset="0"/>
                <a:ea typeface="Trebuchet MS" pitchFamily="34" charset="-122"/>
                <a:cs typeface="Trebuchet MS" pitchFamily="34" charset="-120"/>
              </a:rPr>
              <a:t>Champion Building</a:t>
            </a:r>
            <a:endParaRPr lang="en-US" sz="3600"/>
          </a:p>
          <a:p>
            <a:pPr marL="0" indent="0">
              <a:buNone/>
            </a:pPr>
            <a:r>
              <a:rPr lang="en-US" sz="3600" b="1" kern="0" spc="300">
                <a:solidFill>
                  <a:srgbClr val="F5F0EB"/>
                </a:solidFill>
                <a:latin typeface="Trebuchet MS" pitchFamily="34" charset="0"/>
                <a:ea typeface="Trebuchet MS" pitchFamily="34" charset="-122"/>
                <a:cs typeface="Trebuchet MS" pitchFamily="34" charset="-120"/>
              </a:rPr>
              <a:t>&amp; Objection Recovery</a:t>
            </a:r>
            <a:endParaRPr lang="en-US" sz="3600"/>
          </a:p>
        </p:txBody>
      </p:sp>
      <p:sp>
        <p:nvSpPr>
          <p:cNvPr id="7" name="Text 4"/>
          <p:cNvSpPr/>
          <p:nvPr/>
        </p:nvSpPr>
        <p:spPr>
          <a:xfrm>
            <a:off x="731520" y="2651760"/>
            <a:ext cx="7315200" cy="365760"/>
          </a:xfrm>
          <a:prstGeom prst="rect">
            <a:avLst/>
          </a:prstGeom>
          <a:noFill/>
          <a:ln/>
        </p:spPr>
        <p:txBody>
          <a:bodyPr wrap="square" lIns="0" tIns="0" rIns="0" bIns="0" rtlCol="0" anchor="ctr"/>
          <a:lstStyle/>
          <a:p>
            <a:pPr marL="0" indent="0">
              <a:buNone/>
            </a:pPr>
            <a:r>
              <a:rPr lang="en-US" sz="1300" i="1">
                <a:solidFill>
                  <a:srgbClr val="E8E3DE"/>
                </a:solidFill>
                <a:latin typeface="Calibri" pitchFamily="34" charset="0"/>
                <a:ea typeface="Calibri" pitchFamily="34" charset="-122"/>
                <a:cs typeface="Calibri" pitchFamily="34" charset="-120"/>
              </a:rPr>
              <a:t>When they say no, when they won’t transfer, and when the owner is “never available”</a:t>
            </a:r>
            <a:endParaRPr lang="en-US" sz="1300"/>
          </a:p>
        </p:txBody>
      </p:sp>
      <p:sp>
        <p:nvSpPr>
          <p:cNvPr id="8" name="Shape 5"/>
          <p:cNvSpPr/>
          <p:nvPr/>
        </p:nvSpPr>
        <p:spPr>
          <a:xfrm>
            <a:off x="731520" y="3200400"/>
            <a:ext cx="1828800" cy="36576"/>
          </a:xfrm>
          <a:prstGeom prst="rect">
            <a:avLst/>
          </a:prstGeom>
          <a:solidFill>
            <a:srgbClr val="C67B5C"/>
          </a:solidFill>
          <a:ln/>
        </p:spPr>
        <p:txBody>
          <a:bodyPr/>
          <a:lstStyle/>
          <a:p>
            <a:endParaRPr lang="en-US"/>
          </a:p>
        </p:txBody>
      </p:sp>
      <p:sp>
        <p:nvSpPr>
          <p:cNvPr id="9" name="Text 6"/>
          <p:cNvSpPr/>
          <p:nvPr/>
        </p:nvSpPr>
        <p:spPr>
          <a:xfrm>
            <a:off x="731520" y="4617720"/>
            <a:ext cx="6400800" cy="182880"/>
          </a:xfrm>
          <a:prstGeom prst="rect">
            <a:avLst/>
          </a:prstGeom>
          <a:noFill/>
          <a:ln/>
        </p:spPr>
        <p:txBody>
          <a:bodyPr wrap="square" lIns="0" tIns="0" rIns="0" bIns="0" rtlCol="0" anchor="ctr"/>
          <a:lstStyle/>
          <a:p>
            <a:pPr marL="0" indent="0">
              <a:buNone/>
            </a:pPr>
            <a:r>
              <a:rPr lang="en-US" sz="800">
                <a:solidFill>
                  <a:srgbClr val="7A9E7E"/>
                </a:solidFill>
                <a:latin typeface="Calibri" pitchFamily="34" charset="0"/>
                <a:ea typeface="Calibri" pitchFamily="34" charset="-122"/>
                <a:cs typeface="Calibri" pitchFamily="34" charset="-120"/>
              </a:rPr>
              <a:t>[ATTRIBUTE: Resilience / Grit #3 | Communication Skills #4]  [LEVEL: 2]</a:t>
            </a:r>
            <a:endParaRPr lang="en-US" sz="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5F0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201168"/>
            <a:ext cx="347472" cy="347472"/>
          </a:xfrm>
          <a:prstGeom prst="rect">
            <a:avLst/>
          </a:prstGeom>
        </p:spPr>
      </p:pic>
      <p:sp>
        <p:nvSpPr>
          <p:cNvPr id="3" name="Text 0"/>
          <p:cNvSpPr/>
          <p:nvPr/>
        </p:nvSpPr>
        <p:spPr>
          <a:xfrm>
            <a:off x="868680" y="164592"/>
            <a:ext cx="7315200" cy="548640"/>
          </a:xfrm>
          <a:prstGeom prst="rect">
            <a:avLst/>
          </a:prstGeom>
          <a:noFill/>
          <a:ln/>
        </p:spPr>
        <p:txBody>
          <a:bodyPr wrap="square" lIns="0" tIns="0" rIns="0" bIns="0" rtlCol="0" anchor="ctr"/>
          <a:lstStyle/>
          <a:p>
            <a:pPr marL="0" indent="0">
              <a:buNone/>
            </a:pPr>
            <a:r>
              <a:rPr lang="en-US" sz="2600" b="1" kern="0" spc="300">
                <a:solidFill>
                  <a:srgbClr val="36454F"/>
                </a:solidFill>
                <a:latin typeface="Trebuchet MS" pitchFamily="34" charset="0"/>
                <a:ea typeface="Trebuchet MS" pitchFamily="34" charset="-122"/>
                <a:cs typeface="Trebuchet MS" pitchFamily="34" charset="-120"/>
              </a:rPr>
              <a:t>Building the Gatekeeper Into Your Champion</a:t>
            </a:r>
            <a:endParaRPr lang="en-US" sz="2600"/>
          </a:p>
        </p:txBody>
      </p:sp>
      <p:sp>
        <p:nvSpPr>
          <p:cNvPr id="4" name="Shape 1"/>
          <p:cNvSpPr/>
          <p:nvPr/>
        </p:nvSpPr>
        <p:spPr>
          <a:xfrm>
            <a:off x="548640" y="749808"/>
            <a:ext cx="1645920" cy="36576"/>
          </a:xfrm>
          <a:prstGeom prst="rect">
            <a:avLst/>
          </a:prstGeom>
          <a:solidFill>
            <a:srgbClr val="7A9E7E"/>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7498080" y="4709160"/>
            <a:ext cx="1234440" cy="365760"/>
          </a:xfrm>
          <a:prstGeom prst="rect">
            <a:avLst/>
          </a:prstGeom>
        </p:spPr>
      </p:pic>
      <p:sp>
        <p:nvSpPr>
          <p:cNvPr id="6" name="Shape 2"/>
          <p:cNvSpPr/>
          <p:nvPr/>
        </p:nvSpPr>
        <p:spPr>
          <a:xfrm>
            <a:off x="457200" y="868680"/>
            <a:ext cx="8229600" cy="457200"/>
          </a:xfrm>
          <a:prstGeom prst="rect">
            <a:avLst/>
          </a:prstGeom>
          <a:solidFill>
            <a:srgbClr val="1E2A33"/>
          </a:solidFill>
          <a:ln/>
          <a:effectLst>
            <a:outerShdw blurRad="76200" dist="25400" dir="8100000" algn="bl" rotWithShape="0">
              <a:srgbClr val="000000">
                <a:alpha val="12000"/>
              </a:srgbClr>
            </a:outerShdw>
          </a:effectLst>
        </p:spPr>
        <p:txBody>
          <a:bodyPr/>
          <a:lstStyle/>
          <a:p>
            <a:endParaRPr lang="en-US"/>
          </a:p>
        </p:txBody>
      </p:sp>
      <p:sp>
        <p:nvSpPr>
          <p:cNvPr id="7" name="Text 3"/>
          <p:cNvSpPr/>
          <p:nvPr/>
        </p:nvSpPr>
        <p:spPr>
          <a:xfrm>
            <a:off x="640080" y="868680"/>
            <a:ext cx="7863840" cy="457200"/>
          </a:xfrm>
          <a:prstGeom prst="rect">
            <a:avLst/>
          </a:prstGeom>
          <a:noFill/>
          <a:ln/>
        </p:spPr>
        <p:txBody>
          <a:bodyPr wrap="square" lIns="0" tIns="0" rIns="0" bIns="0" rtlCol="0" anchor="ctr"/>
          <a:lstStyle/>
          <a:p>
            <a:pPr marL="0" indent="0">
              <a:buNone/>
            </a:pPr>
            <a:r>
              <a:rPr lang="en-US" sz="1050" i="1">
                <a:solidFill>
                  <a:srgbClr val="F5F0EB"/>
                </a:solidFill>
                <a:latin typeface="Calibri" pitchFamily="34" charset="0"/>
                <a:ea typeface="Calibri" pitchFamily="34" charset="-122"/>
                <a:cs typeface="Calibri" pitchFamily="34" charset="-120"/>
              </a:rPr>
              <a:t>The front desk manager is the most underutilized asset in your prospecting. They experience the software pain every single day. Win them, and they’ll do your selling for you.</a:t>
            </a:r>
            <a:endParaRPr lang="en-US" sz="1050"/>
          </a:p>
        </p:txBody>
      </p:sp>
      <p:sp>
        <p:nvSpPr>
          <p:cNvPr id="8" name="Shape 4"/>
          <p:cNvSpPr/>
          <p:nvPr/>
        </p:nvSpPr>
        <p:spPr>
          <a:xfrm>
            <a:off x="457200" y="1463040"/>
            <a:ext cx="8229600" cy="713232"/>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9" name="Shape 5"/>
          <p:cNvSpPr/>
          <p:nvPr/>
        </p:nvSpPr>
        <p:spPr>
          <a:xfrm>
            <a:off x="548640" y="1572768"/>
            <a:ext cx="411480" cy="411480"/>
          </a:xfrm>
          <a:prstGeom prst="ellipse">
            <a:avLst/>
          </a:prstGeom>
          <a:solidFill>
            <a:srgbClr val="1B6B93"/>
          </a:solidFill>
          <a:ln/>
        </p:spPr>
        <p:txBody>
          <a:bodyPr/>
          <a:lstStyle/>
          <a:p>
            <a:endParaRPr lang="en-US"/>
          </a:p>
        </p:txBody>
      </p:sp>
      <p:sp>
        <p:nvSpPr>
          <p:cNvPr id="10" name="Text 6"/>
          <p:cNvSpPr/>
          <p:nvPr/>
        </p:nvSpPr>
        <p:spPr>
          <a:xfrm>
            <a:off x="548640" y="1572768"/>
            <a:ext cx="411480" cy="411480"/>
          </a:xfrm>
          <a:prstGeom prst="rect">
            <a:avLst/>
          </a:prstGeom>
          <a:noFill/>
          <a:ln/>
        </p:spPr>
        <p:txBody>
          <a:bodyPr wrap="square" lIns="0" tIns="0" rIns="0" bIns="0" rtlCol="0" anchor="ctr"/>
          <a:lstStyle/>
          <a:p>
            <a:pPr marL="0" indent="0" algn="ctr">
              <a:buNone/>
            </a:pPr>
            <a:r>
              <a:rPr lang="en-US" sz="1600" b="1">
                <a:solidFill>
                  <a:srgbClr val="FFFFFF"/>
                </a:solidFill>
                <a:latin typeface="Trebuchet MS" pitchFamily="34" charset="0"/>
                <a:ea typeface="Trebuchet MS" pitchFamily="34" charset="-122"/>
                <a:cs typeface="Trebuchet MS" pitchFamily="34" charset="-120"/>
              </a:rPr>
              <a:t>1</a:t>
            </a:r>
            <a:endParaRPr lang="en-US" sz="1600"/>
          </a:p>
        </p:txBody>
      </p:sp>
      <p:sp>
        <p:nvSpPr>
          <p:cNvPr id="11" name="Text 7"/>
          <p:cNvSpPr/>
          <p:nvPr/>
        </p:nvSpPr>
        <p:spPr>
          <a:xfrm>
            <a:off x="1097280" y="1490472"/>
            <a:ext cx="3200400" cy="228600"/>
          </a:xfrm>
          <a:prstGeom prst="rect">
            <a:avLst/>
          </a:prstGeom>
          <a:noFill/>
          <a:ln/>
        </p:spPr>
        <p:txBody>
          <a:bodyPr wrap="square" lIns="0" tIns="0" rIns="0" bIns="0" rtlCol="0" anchor="ctr"/>
          <a:lstStyle/>
          <a:p>
            <a:pPr marL="0" indent="0">
              <a:buNone/>
            </a:pPr>
            <a:r>
              <a:rPr lang="en-US" sz="1100" b="1">
                <a:solidFill>
                  <a:srgbClr val="36454F"/>
                </a:solidFill>
                <a:latin typeface="Trebuchet MS" pitchFamily="34" charset="0"/>
                <a:ea typeface="Trebuchet MS" pitchFamily="34" charset="-122"/>
                <a:cs typeface="Trebuchet MS" pitchFamily="34" charset="-120"/>
              </a:rPr>
              <a:t>Acknowledge Their Role</a:t>
            </a:r>
            <a:endParaRPr lang="en-US" sz="1100"/>
          </a:p>
        </p:txBody>
      </p:sp>
      <p:sp>
        <p:nvSpPr>
          <p:cNvPr id="12" name="Text 8"/>
          <p:cNvSpPr/>
          <p:nvPr/>
        </p:nvSpPr>
        <p:spPr>
          <a:xfrm>
            <a:off x="1097280" y="1737360"/>
            <a:ext cx="3200400" cy="365760"/>
          </a:xfrm>
          <a:prstGeom prst="rect">
            <a:avLst/>
          </a:prstGeom>
          <a:noFill/>
          <a:ln/>
        </p:spPr>
        <p:txBody>
          <a:bodyPr wrap="square" lIns="0" tIns="0" rIns="0" bIns="0" rtlCol="0" anchor="ctr"/>
          <a:lstStyle/>
          <a:p>
            <a:pPr marL="0" indent="0">
              <a:buNone/>
            </a:pPr>
            <a:r>
              <a:rPr lang="en-US" sz="850">
                <a:latin typeface="Calibri"/>
                <a:ea typeface="Calibri"/>
                <a:cs typeface="Calibri"/>
              </a:rPr>
              <a:t>Don’t treat them as a hurdle. Acknowledge they run the operation.</a:t>
            </a:r>
          </a:p>
        </p:txBody>
      </p:sp>
      <p:sp>
        <p:nvSpPr>
          <p:cNvPr id="13" name="Shape 9"/>
          <p:cNvSpPr/>
          <p:nvPr/>
        </p:nvSpPr>
        <p:spPr>
          <a:xfrm>
            <a:off x="4434840" y="1508760"/>
            <a:ext cx="36576" cy="594360"/>
          </a:xfrm>
          <a:prstGeom prst="rect">
            <a:avLst/>
          </a:prstGeom>
          <a:solidFill>
            <a:srgbClr val="1B6B93"/>
          </a:solidFill>
          <a:ln/>
        </p:spPr>
        <p:txBody>
          <a:bodyPr/>
          <a:lstStyle/>
          <a:p>
            <a:endParaRPr lang="en-US"/>
          </a:p>
        </p:txBody>
      </p:sp>
      <p:sp>
        <p:nvSpPr>
          <p:cNvPr id="14" name="Text 10"/>
          <p:cNvSpPr/>
          <p:nvPr/>
        </p:nvSpPr>
        <p:spPr>
          <a:xfrm>
            <a:off x="4572000" y="1508760"/>
            <a:ext cx="3977640" cy="594360"/>
          </a:xfrm>
          <a:prstGeom prst="rect">
            <a:avLst/>
          </a:prstGeom>
          <a:noFill/>
          <a:ln/>
        </p:spPr>
        <p:txBody>
          <a:bodyPr wrap="square" lIns="0" tIns="0" rIns="0" bIns="0" rtlCol="0" anchor="ctr"/>
          <a:lstStyle/>
          <a:p>
            <a:pPr marL="0" indent="0">
              <a:buNone/>
            </a:pPr>
            <a:r>
              <a:rPr lang="en-US" sz="900" i="1">
                <a:latin typeface="Calibri"/>
                <a:ea typeface="Calibri"/>
                <a:cs typeface="Calibri"/>
              </a:rPr>
              <a:t>“You’re the one keeping everything running, right? I bet you see more of what’s working and what’s not than anyone.”</a:t>
            </a:r>
            <a:endParaRPr lang="en-US" sz="900">
              <a:latin typeface="Calibri"/>
              <a:ea typeface="Calibri"/>
              <a:cs typeface="Calibri"/>
            </a:endParaRPr>
          </a:p>
        </p:txBody>
      </p:sp>
      <p:sp>
        <p:nvSpPr>
          <p:cNvPr id="15" name="Shape 11"/>
          <p:cNvSpPr/>
          <p:nvPr/>
        </p:nvSpPr>
        <p:spPr>
          <a:xfrm>
            <a:off x="457200" y="2286000"/>
            <a:ext cx="8229600" cy="713232"/>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16" name="Shape 12"/>
          <p:cNvSpPr/>
          <p:nvPr/>
        </p:nvSpPr>
        <p:spPr>
          <a:xfrm>
            <a:off x="548640" y="2395728"/>
            <a:ext cx="411480" cy="411480"/>
          </a:xfrm>
          <a:prstGeom prst="ellipse">
            <a:avLst/>
          </a:prstGeom>
          <a:solidFill>
            <a:srgbClr val="C67B5C"/>
          </a:solidFill>
          <a:ln/>
        </p:spPr>
        <p:txBody>
          <a:bodyPr/>
          <a:lstStyle/>
          <a:p>
            <a:endParaRPr lang="en-US"/>
          </a:p>
        </p:txBody>
      </p:sp>
      <p:sp>
        <p:nvSpPr>
          <p:cNvPr id="17" name="Text 13"/>
          <p:cNvSpPr/>
          <p:nvPr/>
        </p:nvSpPr>
        <p:spPr>
          <a:xfrm>
            <a:off x="548640" y="2395728"/>
            <a:ext cx="411480" cy="411480"/>
          </a:xfrm>
          <a:prstGeom prst="rect">
            <a:avLst/>
          </a:prstGeom>
          <a:noFill/>
          <a:ln/>
        </p:spPr>
        <p:txBody>
          <a:bodyPr wrap="square" lIns="0" tIns="0" rIns="0" bIns="0" rtlCol="0" anchor="ctr"/>
          <a:lstStyle/>
          <a:p>
            <a:pPr marL="0" indent="0" algn="ctr">
              <a:buNone/>
            </a:pPr>
            <a:r>
              <a:rPr lang="en-US" sz="1600" b="1">
                <a:solidFill>
                  <a:srgbClr val="FFFFFF"/>
                </a:solidFill>
                <a:latin typeface="Trebuchet MS" pitchFamily="34" charset="0"/>
                <a:ea typeface="Trebuchet MS" pitchFamily="34" charset="-122"/>
                <a:cs typeface="Trebuchet MS" pitchFamily="34" charset="-120"/>
              </a:rPr>
              <a:t>2</a:t>
            </a:r>
            <a:endParaRPr lang="en-US" sz="1600"/>
          </a:p>
        </p:txBody>
      </p:sp>
      <p:sp>
        <p:nvSpPr>
          <p:cNvPr id="18" name="Text 14"/>
          <p:cNvSpPr/>
          <p:nvPr/>
        </p:nvSpPr>
        <p:spPr>
          <a:xfrm>
            <a:off x="1097280" y="2313432"/>
            <a:ext cx="3200400" cy="228600"/>
          </a:xfrm>
          <a:prstGeom prst="rect">
            <a:avLst/>
          </a:prstGeom>
          <a:noFill/>
          <a:ln/>
        </p:spPr>
        <p:txBody>
          <a:bodyPr wrap="square" lIns="0" tIns="0" rIns="0" bIns="0" rtlCol="0" anchor="ctr"/>
          <a:lstStyle/>
          <a:p>
            <a:pPr marL="0" indent="0">
              <a:buNone/>
            </a:pPr>
            <a:r>
              <a:rPr lang="en-US" sz="1100" b="1">
                <a:solidFill>
                  <a:srgbClr val="36454F"/>
                </a:solidFill>
                <a:latin typeface="Trebuchet MS" pitchFamily="34" charset="0"/>
                <a:ea typeface="Trebuchet MS" pitchFamily="34" charset="-122"/>
                <a:cs typeface="Trebuchet MS" pitchFamily="34" charset="-120"/>
              </a:rPr>
              <a:t>Ask About THEIR Pain</a:t>
            </a:r>
            <a:endParaRPr lang="en-US" sz="1100"/>
          </a:p>
        </p:txBody>
      </p:sp>
      <p:sp>
        <p:nvSpPr>
          <p:cNvPr id="19" name="Text 15"/>
          <p:cNvSpPr/>
          <p:nvPr/>
        </p:nvSpPr>
        <p:spPr>
          <a:xfrm>
            <a:off x="1097280" y="2560320"/>
            <a:ext cx="3200400" cy="365760"/>
          </a:xfrm>
          <a:prstGeom prst="rect">
            <a:avLst/>
          </a:prstGeom>
          <a:noFill/>
          <a:ln/>
        </p:spPr>
        <p:txBody>
          <a:bodyPr wrap="square" lIns="0" tIns="0" rIns="0" bIns="0" rtlCol="0" anchor="ctr"/>
          <a:lstStyle/>
          <a:p>
            <a:pPr marL="0" indent="0">
              <a:buNone/>
            </a:pPr>
            <a:r>
              <a:rPr lang="en-US" sz="850">
                <a:latin typeface="Calibri"/>
                <a:ea typeface="Calibri"/>
                <a:cs typeface="Calibri"/>
              </a:rPr>
              <a:t>Shift from “can I talk to the owner” to “can I ask YOU something.”</a:t>
            </a:r>
          </a:p>
        </p:txBody>
      </p:sp>
      <p:sp>
        <p:nvSpPr>
          <p:cNvPr id="20" name="Shape 16"/>
          <p:cNvSpPr/>
          <p:nvPr/>
        </p:nvSpPr>
        <p:spPr>
          <a:xfrm>
            <a:off x="4434840" y="2331720"/>
            <a:ext cx="36576" cy="594360"/>
          </a:xfrm>
          <a:prstGeom prst="rect">
            <a:avLst/>
          </a:prstGeom>
          <a:solidFill>
            <a:srgbClr val="C67B5C"/>
          </a:solidFill>
          <a:ln/>
        </p:spPr>
        <p:txBody>
          <a:bodyPr/>
          <a:lstStyle/>
          <a:p>
            <a:endParaRPr lang="en-US"/>
          </a:p>
        </p:txBody>
      </p:sp>
      <p:sp>
        <p:nvSpPr>
          <p:cNvPr id="21" name="Text 17"/>
          <p:cNvSpPr/>
          <p:nvPr/>
        </p:nvSpPr>
        <p:spPr>
          <a:xfrm>
            <a:off x="4572000" y="2331720"/>
            <a:ext cx="3977640" cy="594360"/>
          </a:xfrm>
          <a:prstGeom prst="rect">
            <a:avLst/>
          </a:prstGeom>
          <a:noFill/>
          <a:ln/>
        </p:spPr>
        <p:txBody>
          <a:bodyPr wrap="square" lIns="0" tIns="0" rIns="0" bIns="0" rtlCol="0" anchor="ctr"/>
          <a:lstStyle/>
          <a:p>
            <a:pPr marL="0" indent="0">
              <a:buNone/>
            </a:pPr>
            <a:r>
              <a:rPr lang="en-US" sz="900" i="1">
                <a:latin typeface="Calibri"/>
                <a:ea typeface="Calibri"/>
                <a:cs typeface="Calibri"/>
              </a:rPr>
              <a:t>“Quick question — how’s the booking system working for you? Getting a lot of calls that could be handled online?”</a:t>
            </a:r>
            <a:endParaRPr lang="en-US" sz="900">
              <a:latin typeface="Calibri"/>
              <a:ea typeface="Calibri"/>
              <a:cs typeface="Calibri"/>
            </a:endParaRPr>
          </a:p>
        </p:txBody>
      </p:sp>
      <p:sp>
        <p:nvSpPr>
          <p:cNvPr id="22" name="Shape 18"/>
          <p:cNvSpPr/>
          <p:nvPr/>
        </p:nvSpPr>
        <p:spPr>
          <a:xfrm>
            <a:off x="457200" y="3108960"/>
            <a:ext cx="8229600" cy="713232"/>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23" name="Shape 19"/>
          <p:cNvSpPr/>
          <p:nvPr/>
        </p:nvSpPr>
        <p:spPr>
          <a:xfrm>
            <a:off x="548640" y="3218688"/>
            <a:ext cx="411480" cy="411480"/>
          </a:xfrm>
          <a:prstGeom prst="ellipse">
            <a:avLst/>
          </a:prstGeom>
          <a:solidFill>
            <a:srgbClr val="7A9E7E"/>
          </a:solidFill>
          <a:ln/>
        </p:spPr>
        <p:txBody>
          <a:bodyPr/>
          <a:lstStyle/>
          <a:p>
            <a:endParaRPr lang="en-US"/>
          </a:p>
        </p:txBody>
      </p:sp>
      <p:sp>
        <p:nvSpPr>
          <p:cNvPr id="24" name="Text 20"/>
          <p:cNvSpPr/>
          <p:nvPr/>
        </p:nvSpPr>
        <p:spPr>
          <a:xfrm>
            <a:off x="548640" y="3218688"/>
            <a:ext cx="411480" cy="411480"/>
          </a:xfrm>
          <a:prstGeom prst="rect">
            <a:avLst/>
          </a:prstGeom>
          <a:noFill/>
          <a:ln/>
        </p:spPr>
        <p:txBody>
          <a:bodyPr wrap="square" lIns="0" tIns="0" rIns="0" bIns="0" rtlCol="0" anchor="ctr"/>
          <a:lstStyle/>
          <a:p>
            <a:pPr marL="0" indent="0" algn="ctr">
              <a:buNone/>
            </a:pPr>
            <a:r>
              <a:rPr lang="en-US" sz="1600" b="1">
                <a:solidFill>
                  <a:srgbClr val="FFFFFF"/>
                </a:solidFill>
                <a:latin typeface="Trebuchet MS" pitchFamily="34" charset="0"/>
                <a:ea typeface="Trebuchet MS" pitchFamily="34" charset="-122"/>
                <a:cs typeface="Trebuchet MS" pitchFamily="34" charset="-120"/>
              </a:rPr>
              <a:t>3</a:t>
            </a:r>
            <a:endParaRPr lang="en-US" sz="1600"/>
          </a:p>
        </p:txBody>
      </p:sp>
      <p:sp>
        <p:nvSpPr>
          <p:cNvPr id="25" name="Text 21"/>
          <p:cNvSpPr/>
          <p:nvPr/>
        </p:nvSpPr>
        <p:spPr>
          <a:xfrm>
            <a:off x="1097280" y="3136392"/>
            <a:ext cx="3200400" cy="228600"/>
          </a:xfrm>
          <a:prstGeom prst="rect">
            <a:avLst/>
          </a:prstGeom>
          <a:noFill/>
          <a:ln/>
        </p:spPr>
        <p:txBody>
          <a:bodyPr wrap="square" lIns="0" tIns="0" rIns="0" bIns="0" rtlCol="0" anchor="ctr"/>
          <a:lstStyle/>
          <a:p>
            <a:pPr marL="0" indent="0">
              <a:buNone/>
            </a:pPr>
            <a:r>
              <a:rPr lang="en-US" sz="1100" b="1">
                <a:solidFill>
                  <a:srgbClr val="36454F"/>
                </a:solidFill>
                <a:latin typeface="Trebuchet MS" pitchFamily="34" charset="0"/>
                <a:ea typeface="Trebuchet MS" pitchFamily="34" charset="-122"/>
                <a:cs typeface="Trebuchet MS" pitchFamily="34" charset="-120"/>
              </a:rPr>
              <a:t>Share a Quick Insight</a:t>
            </a:r>
            <a:endParaRPr lang="en-US" sz="1100"/>
          </a:p>
        </p:txBody>
      </p:sp>
      <p:sp>
        <p:nvSpPr>
          <p:cNvPr id="26" name="Text 22"/>
          <p:cNvSpPr/>
          <p:nvPr/>
        </p:nvSpPr>
        <p:spPr>
          <a:xfrm>
            <a:off x="1097280" y="3383280"/>
            <a:ext cx="3200400" cy="365760"/>
          </a:xfrm>
          <a:prstGeom prst="rect">
            <a:avLst/>
          </a:prstGeom>
          <a:noFill/>
          <a:ln/>
        </p:spPr>
        <p:txBody>
          <a:bodyPr wrap="square" lIns="0" tIns="0" rIns="0" bIns="0" rtlCol="0" anchor="ctr"/>
          <a:lstStyle/>
          <a:p>
            <a:pPr marL="0" indent="0">
              <a:buNone/>
            </a:pPr>
            <a:r>
              <a:rPr lang="en-US" sz="850">
                <a:latin typeface="Calibri"/>
                <a:ea typeface="Calibri"/>
                <a:cs typeface="Calibri"/>
              </a:rPr>
              <a:t>Give them something valuable in 15 seconds. Earn the right to continue</a:t>
            </a:r>
            <a:r>
              <a:rPr lang="en-US" sz="850">
                <a:solidFill>
                  <a:srgbClr val="9CA3AF"/>
                </a:solidFill>
                <a:latin typeface="Calibri"/>
                <a:ea typeface="Calibri"/>
                <a:cs typeface="Calibri"/>
              </a:rPr>
              <a:t>.</a:t>
            </a:r>
            <a:endParaRPr lang="en-US" sz="850">
              <a:latin typeface="Calibri"/>
              <a:ea typeface="Calibri"/>
              <a:cs typeface="Calibri"/>
            </a:endParaRPr>
          </a:p>
        </p:txBody>
      </p:sp>
      <p:sp>
        <p:nvSpPr>
          <p:cNvPr id="27" name="Shape 23"/>
          <p:cNvSpPr/>
          <p:nvPr/>
        </p:nvSpPr>
        <p:spPr>
          <a:xfrm>
            <a:off x="4434840" y="3154680"/>
            <a:ext cx="36576" cy="594360"/>
          </a:xfrm>
          <a:prstGeom prst="rect">
            <a:avLst/>
          </a:prstGeom>
          <a:solidFill>
            <a:srgbClr val="7A9E7E"/>
          </a:solidFill>
          <a:ln/>
        </p:spPr>
        <p:txBody>
          <a:bodyPr/>
          <a:lstStyle/>
          <a:p>
            <a:endParaRPr lang="en-US"/>
          </a:p>
        </p:txBody>
      </p:sp>
      <p:sp>
        <p:nvSpPr>
          <p:cNvPr id="28" name="Text 24"/>
          <p:cNvSpPr/>
          <p:nvPr/>
        </p:nvSpPr>
        <p:spPr>
          <a:xfrm>
            <a:off x="4572000" y="3154680"/>
            <a:ext cx="3977640" cy="594360"/>
          </a:xfrm>
          <a:prstGeom prst="rect">
            <a:avLst/>
          </a:prstGeom>
          <a:noFill/>
          <a:ln/>
        </p:spPr>
        <p:txBody>
          <a:bodyPr wrap="square" lIns="0" tIns="0" rIns="0" bIns="0" rtlCol="0" anchor="ctr"/>
          <a:lstStyle/>
          <a:p>
            <a:pPr marL="0" indent="0">
              <a:buNone/>
            </a:pPr>
            <a:r>
              <a:rPr lang="en-US" sz="900" i="1">
                <a:solidFill>
                  <a:srgbClr val="36454F"/>
                </a:solidFill>
                <a:latin typeface="Calibri" pitchFamily="34" charset="0"/>
                <a:ea typeface="Calibri" pitchFamily="34" charset="-122"/>
                <a:cs typeface="Calibri" pitchFamily="34" charset="-120"/>
              </a:rPr>
              <a:t>“Interesting — most salons your size cut phone volume 40% with real-time online booking. That’s a lot of your day back.”</a:t>
            </a:r>
            <a:endParaRPr lang="en-US" sz="900"/>
          </a:p>
        </p:txBody>
      </p:sp>
      <p:sp>
        <p:nvSpPr>
          <p:cNvPr id="29" name="Shape 25"/>
          <p:cNvSpPr/>
          <p:nvPr/>
        </p:nvSpPr>
        <p:spPr>
          <a:xfrm>
            <a:off x="457200" y="3931920"/>
            <a:ext cx="8229600" cy="713232"/>
          </a:xfrm>
          <a:prstGeom prst="rect">
            <a:avLst/>
          </a:prstGeom>
          <a:solidFill>
            <a:srgbClr val="FFFFFF"/>
          </a:solidFill>
          <a:ln/>
          <a:effectLst>
            <a:outerShdw blurRad="50800" dist="12700" dir="8100000" algn="bl" rotWithShape="0">
              <a:srgbClr val="000000">
                <a:alpha val="8000"/>
              </a:srgbClr>
            </a:outerShdw>
          </a:effectLst>
        </p:spPr>
        <p:txBody>
          <a:bodyPr/>
          <a:lstStyle/>
          <a:p>
            <a:endParaRPr lang="en-US"/>
          </a:p>
        </p:txBody>
      </p:sp>
      <p:sp>
        <p:nvSpPr>
          <p:cNvPr id="30" name="Shape 26"/>
          <p:cNvSpPr/>
          <p:nvPr/>
        </p:nvSpPr>
        <p:spPr>
          <a:xfrm>
            <a:off x="548640" y="4041648"/>
            <a:ext cx="411480" cy="411480"/>
          </a:xfrm>
          <a:prstGeom prst="ellipse">
            <a:avLst/>
          </a:prstGeom>
          <a:solidFill>
            <a:srgbClr val="8B6F7C"/>
          </a:solidFill>
          <a:ln/>
        </p:spPr>
        <p:txBody>
          <a:bodyPr/>
          <a:lstStyle/>
          <a:p>
            <a:endParaRPr lang="en-US"/>
          </a:p>
        </p:txBody>
      </p:sp>
      <p:sp>
        <p:nvSpPr>
          <p:cNvPr id="31" name="Text 27"/>
          <p:cNvSpPr/>
          <p:nvPr/>
        </p:nvSpPr>
        <p:spPr>
          <a:xfrm>
            <a:off x="548640" y="4041648"/>
            <a:ext cx="411480" cy="411480"/>
          </a:xfrm>
          <a:prstGeom prst="rect">
            <a:avLst/>
          </a:prstGeom>
          <a:noFill/>
          <a:ln/>
        </p:spPr>
        <p:txBody>
          <a:bodyPr wrap="square" lIns="0" tIns="0" rIns="0" bIns="0" rtlCol="0" anchor="ctr"/>
          <a:lstStyle/>
          <a:p>
            <a:pPr marL="0" indent="0" algn="ctr">
              <a:buNone/>
            </a:pPr>
            <a:r>
              <a:rPr lang="en-US" sz="1600" b="1">
                <a:solidFill>
                  <a:srgbClr val="FFFFFF"/>
                </a:solidFill>
                <a:latin typeface="Trebuchet MS" pitchFamily="34" charset="0"/>
                <a:ea typeface="Trebuchet MS" pitchFamily="34" charset="-122"/>
                <a:cs typeface="Trebuchet MS" pitchFamily="34" charset="-120"/>
              </a:rPr>
              <a:t>4</a:t>
            </a:r>
            <a:endParaRPr lang="en-US" sz="1600"/>
          </a:p>
        </p:txBody>
      </p:sp>
      <p:sp>
        <p:nvSpPr>
          <p:cNvPr id="32" name="Text 28"/>
          <p:cNvSpPr/>
          <p:nvPr/>
        </p:nvSpPr>
        <p:spPr>
          <a:xfrm>
            <a:off x="1097280" y="3959352"/>
            <a:ext cx="3200400" cy="228600"/>
          </a:xfrm>
          <a:prstGeom prst="rect">
            <a:avLst/>
          </a:prstGeom>
          <a:noFill/>
          <a:ln/>
        </p:spPr>
        <p:txBody>
          <a:bodyPr wrap="square" lIns="0" tIns="0" rIns="0" bIns="0" rtlCol="0" anchor="ctr"/>
          <a:lstStyle/>
          <a:p>
            <a:pPr marL="0" indent="0">
              <a:buNone/>
            </a:pPr>
            <a:r>
              <a:rPr lang="en-US" sz="1100" b="1">
                <a:solidFill>
                  <a:srgbClr val="36454F"/>
                </a:solidFill>
                <a:latin typeface="Trebuchet MS" pitchFamily="34" charset="0"/>
                <a:ea typeface="Trebuchet MS" pitchFamily="34" charset="-122"/>
                <a:cs typeface="Trebuchet MS" pitchFamily="34" charset="-120"/>
              </a:rPr>
              <a:t>Arm Them to Sell Internally</a:t>
            </a:r>
            <a:endParaRPr lang="en-US" sz="1100"/>
          </a:p>
        </p:txBody>
      </p:sp>
      <p:sp>
        <p:nvSpPr>
          <p:cNvPr id="33" name="Text 29"/>
          <p:cNvSpPr/>
          <p:nvPr/>
        </p:nvSpPr>
        <p:spPr>
          <a:xfrm>
            <a:off x="1097280" y="4206240"/>
            <a:ext cx="3200400" cy="365760"/>
          </a:xfrm>
          <a:prstGeom prst="rect">
            <a:avLst/>
          </a:prstGeom>
          <a:noFill/>
          <a:ln/>
        </p:spPr>
        <p:txBody>
          <a:bodyPr wrap="square" lIns="0" tIns="0" rIns="0" bIns="0" rtlCol="0" anchor="ctr"/>
          <a:lstStyle/>
          <a:p>
            <a:pPr marL="0" indent="0">
              <a:buNone/>
            </a:pPr>
            <a:r>
              <a:rPr lang="en-US" sz="850">
                <a:latin typeface="Calibri"/>
                <a:ea typeface="Calibri"/>
                <a:cs typeface="Calibri"/>
              </a:rPr>
              <a:t>Give them a reason and a tool to bring this to the owner.</a:t>
            </a:r>
          </a:p>
        </p:txBody>
      </p:sp>
      <p:sp>
        <p:nvSpPr>
          <p:cNvPr id="34" name="Shape 30"/>
          <p:cNvSpPr/>
          <p:nvPr/>
        </p:nvSpPr>
        <p:spPr>
          <a:xfrm>
            <a:off x="4434840" y="3977640"/>
            <a:ext cx="36576" cy="594360"/>
          </a:xfrm>
          <a:prstGeom prst="rect">
            <a:avLst/>
          </a:prstGeom>
          <a:solidFill>
            <a:srgbClr val="8B6F7C"/>
          </a:solidFill>
          <a:ln/>
        </p:spPr>
        <p:txBody>
          <a:bodyPr/>
          <a:lstStyle/>
          <a:p>
            <a:endParaRPr lang="en-US"/>
          </a:p>
        </p:txBody>
      </p:sp>
      <p:sp>
        <p:nvSpPr>
          <p:cNvPr id="35" name="Text 31"/>
          <p:cNvSpPr/>
          <p:nvPr/>
        </p:nvSpPr>
        <p:spPr>
          <a:xfrm>
            <a:off x="4572000" y="3977640"/>
            <a:ext cx="3977640" cy="594360"/>
          </a:xfrm>
          <a:prstGeom prst="rect">
            <a:avLst/>
          </a:prstGeom>
          <a:noFill/>
          <a:ln/>
        </p:spPr>
        <p:txBody>
          <a:bodyPr wrap="square" lIns="0" tIns="0" rIns="0" bIns="0" rtlCol="0" anchor="ctr"/>
          <a:lstStyle/>
          <a:p>
            <a:pPr marL="0" indent="0">
              <a:buNone/>
            </a:pPr>
            <a:r>
              <a:rPr lang="en-US" sz="900" i="1">
                <a:solidFill>
                  <a:srgbClr val="36454F"/>
                </a:solidFill>
                <a:latin typeface="Calibri" pitchFamily="34" charset="0"/>
                <a:ea typeface="Calibri" pitchFamily="34" charset="-122"/>
                <a:cs typeface="Calibri" pitchFamily="34" charset="-120"/>
              </a:rPr>
              <a:t>“Would it help if I put together a quick one-pager you could share with Nicole? Something that shows exactly what other salons your size are doing differently?”</a:t>
            </a:r>
            <a:endParaRPr lang="en-US" sz="900"/>
          </a:p>
        </p:txBody>
      </p:sp>
      <p:sp>
        <p:nvSpPr>
          <p:cNvPr id="36" name="Text 32"/>
          <p:cNvSpPr/>
          <p:nvPr/>
        </p:nvSpPr>
        <p:spPr>
          <a:xfrm>
            <a:off x="457200" y="4846320"/>
            <a:ext cx="5943600" cy="228600"/>
          </a:xfrm>
          <a:prstGeom prst="rect">
            <a:avLst/>
          </a:prstGeom>
          <a:noFill/>
          <a:ln/>
        </p:spPr>
        <p:txBody>
          <a:bodyPr wrap="square" lIns="0" tIns="0" rIns="0" bIns="0" rtlCol="0" anchor="ctr"/>
          <a:lstStyle/>
          <a:p>
            <a:pPr marL="0" indent="0">
              <a:buNone/>
            </a:pPr>
            <a:r>
              <a:rPr lang="en-US" sz="900" i="1">
                <a:solidFill>
                  <a:srgbClr val="9CA3AF"/>
                </a:solidFill>
                <a:latin typeface="Calibri" pitchFamily="34" charset="0"/>
                <a:ea typeface="Calibri" pitchFamily="34" charset="-122"/>
                <a:cs typeface="Calibri" pitchFamily="34" charset="-120"/>
              </a:rPr>
              <a:t>Commit to the process. Control the controllables.</a:t>
            </a:r>
            <a:endParaRPr lang="en-US" sz="900"/>
          </a:p>
        </p:txBody>
      </p:sp>
      <p:sp>
        <p:nvSpPr>
          <p:cNvPr id="37" name="Shape 33"/>
          <p:cNvSpPr/>
          <p:nvPr/>
        </p:nvSpPr>
        <p:spPr>
          <a:xfrm>
            <a:off x="6766560" y="4754880"/>
            <a:ext cx="502920" cy="320040"/>
          </a:xfrm>
          <a:prstGeom prst="rect">
            <a:avLst/>
          </a:prstGeom>
          <a:solidFill>
            <a:srgbClr val="1B6B93"/>
          </a:solidFill>
          <a:ln/>
        </p:spPr>
        <p:txBody>
          <a:bodyPr/>
          <a:lstStyle/>
          <a:p>
            <a:endParaRPr lang="en-US"/>
          </a:p>
        </p:txBody>
      </p:sp>
      <p:sp>
        <p:nvSpPr>
          <p:cNvPr id="38" name="Text 34"/>
          <p:cNvSpPr/>
          <p:nvPr/>
        </p:nvSpPr>
        <p:spPr>
          <a:xfrm>
            <a:off x="6766560" y="4754880"/>
            <a:ext cx="502920" cy="320040"/>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7</a:t>
            </a:r>
            <a:endParaRPr 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5F0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201168"/>
            <a:ext cx="347472" cy="347472"/>
          </a:xfrm>
          <a:prstGeom prst="rect">
            <a:avLst/>
          </a:prstGeom>
        </p:spPr>
      </p:pic>
      <p:sp>
        <p:nvSpPr>
          <p:cNvPr id="3" name="Text 0"/>
          <p:cNvSpPr/>
          <p:nvPr/>
        </p:nvSpPr>
        <p:spPr>
          <a:xfrm>
            <a:off x="868680" y="164592"/>
            <a:ext cx="7315200" cy="548640"/>
          </a:xfrm>
          <a:prstGeom prst="rect">
            <a:avLst/>
          </a:prstGeom>
          <a:noFill/>
          <a:ln/>
        </p:spPr>
        <p:txBody>
          <a:bodyPr wrap="square" lIns="0" tIns="0" rIns="0" bIns="0" rtlCol="0" anchor="ctr"/>
          <a:lstStyle/>
          <a:p>
            <a:pPr marL="0" indent="0">
              <a:buNone/>
            </a:pPr>
            <a:r>
              <a:rPr lang="en-US" sz="2600" b="1" kern="0" spc="300">
                <a:solidFill>
                  <a:srgbClr val="36454F"/>
                </a:solidFill>
                <a:latin typeface="Trebuchet MS" pitchFamily="34" charset="0"/>
                <a:ea typeface="Trebuchet MS" pitchFamily="34" charset="-122"/>
                <a:cs typeface="Trebuchet MS" pitchFamily="34" charset="-120"/>
              </a:rPr>
              <a:t>Gatekeeper Dos &amp; Don’ts</a:t>
            </a:r>
            <a:endParaRPr lang="en-US" sz="2600"/>
          </a:p>
        </p:txBody>
      </p:sp>
      <p:sp>
        <p:nvSpPr>
          <p:cNvPr id="4" name="Shape 1"/>
          <p:cNvSpPr/>
          <p:nvPr/>
        </p:nvSpPr>
        <p:spPr>
          <a:xfrm>
            <a:off x="548640" y="749808"/>
            <a:ext cx="1645920" cy="36576"/>
          </a:xfrm>
          <a:prstGeom prst="rect">
            <a:avLst/>
          </a:prstGeom>
          <a:solidFill>
            <a:srgbClr val="8B6F7C"/>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7498080" y="4709160"/>
            <a:ext cx="1234440" cy="365760"/>
          </a:xfrm>
          <a:prstGeom prst="rect">
            <a:avLst/>
          </a:prstGeom>
        </p:spPr>
      </p:pic>
      <p:sp>
        <p:nvSpPr>
          <p:cNvPr id="6" name="Shape 2"/>
          <p:cNvSpPr/>
          <p:nvPr/>
        </p:nvSpPr>
        <p:spPr>
          <a:xfrm>
            <a:off x="457200" y="868680"/>
            <a:ext cx="3931920" cy="3611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3"/>
          <p:cNvSpPr/>
          <p:nvPr/>
        </p:nvSpPr>
        <p:spPr>
          <a:xfrm>
            <a:off x="457200" y="868680"/>
            <a:ext cx="3931920" cy="411480"/>
          </a:xfrm>
          <a:prstGeom prst="rect">
            <a:avLst/>
          </a:prstGeom>
          <a:solidFill>
            <a:srgbClr val="7A9E7E"/>
          </a:solidFill>
          <a:ln/>
        </p:spPr>
        <p:txBody>
          <a:bodyPr/>
          <a:lstStyle/>
          <a:p>
            <a:endParaRPr lang="en-US"/>
          </a:p>
        </p:txBody>
      </p:sp>
      <p:pic>
        <p:nvPicPr>
          <p:cNvPr id="8" name="Image 2" descr="preencoded.png"/>
          <p:cNvPicPr>
            <a:picLocks noChangeAspect="1"/>
          </p:cNvPicPr>
          <p:nvPr/>
        </p:nvPicPr>
        <p:blipFill>
          <a:blip r:embed="rId5"/>
          <a:stretch>
            <a:fillRect/>
          </a:stretch>
        </p:blipFill>
        <p:spPr>
          <a:xfrm>
            <a:off x="548640" y="932688"/>
            <a:ext cx="228600" cy="228600"/>
          </a:xfrm>
          <a:prstGeom prst="rect">
            <a:avLst/>
          </a:prstGeom>
        </p:spPr>
      </p:pic>
      <p:sp>
        <p:nvSpPr>
          <p:cNvPr id="9" name="Text 4"/>
          <p:cNvSpPr/>
          <p:nvPr/>
        </p:nvSpPr>
        <p:spPr>
          <a:xfrm>
            <a:off x="822960" y="868680"/>
            <a:ext cx="3383280" cy="411480"/>
          </a:xfrm>
          <a:prstGeom prst="rect">
            <a:avLst/>
          </a:prstGeom>
          <a:noFill/>
          <a:ln/>
        </p:spPr>
        <p:txBody>
          <a:bodyPr wrap="square" lIns="0" tIns="0" rIns="0" bIns="0" rtlCol="0" anchor="ctr"/>
          <a:lstStyle/>
          <a:p>
            <a:pPr marL="0" indent="0">
              <a:buNone/>
            </a:pPr>
            <a:r>
              <a:rPr lang="en-US" sz="1200" b="1" kern="0" spc="200">
                <a:solidFill>
                  <a:srgbClr val="F5F0EB"/>
                </a:solidFill>
                <a:latin typeface="Calibri" pitchFamily="34" charset="0"/>
                <a:ea typeface="Calibri" pitchFamily="34" charset="-122"/>
                <a:cs typeface="Calibri" pitchFamily="34" charset="-120"/>
              </a:rPr>
              <a:t>DO THIS</a:t>
            </a:r>
            <a:endParaRPr lang="en-US" sz="1200"/>
          </a:p>
        </p:txBody>
      </p:sp>
      <p:sp>
        <p:nvSpPr>
          <p:cNvPr id="10" name="Text 5"/>
          <p:cNvSpPr/>
          <p:nvPr/>
        </p:nvSpPr>
        <p:spPr>
          <a:xfrm>
            <a:off x="547387" y="1896127"/>
            <a:ext cx="3657600" cy="3017520"/>
          </a:xfrm>
          <a:prstGeom prst="rect">
            <a:avLst/>
          </a:prstGeom>
          <a:noFill/>
          <a:ln/>
        </p:spPr>
        <p:txBody>
          <a:bodyPr wrap="square" lIns="0" tIns="0" rIns="0" bIns="0" rtlCol="0" anchor="t"/>
          <a:lstStyle/>
          <a:p>
            <a:pPr marL="342900" indent="-342900">
              <a:spcAft>
                <a:spcPts val="400"/>
              </a:spcAft>
              <a:buSzPct val="100000"/>
              <a:buChar char="•"/>
            </a:pPr>
            <a:r>
              <a:rPr lang="en-US" sz="900">
                <a:solidFill>
                  <a:srgbClr val="36454F"/>
                </a:solidFill>
                <a:latin typeface="Calibri" pitchFamily="34" charset="0"/>
                <a:ea typeface="Calibri" pitchFamily="34" charset="-122"/>
                <a:cs typeface="Calibri" pitchFamily="34" charset="-120"/>
              </a:rPr>
              <a:t>Use the owner’s first name — always</a:t>
            </a:r>
            <a:endParaRPr lang="en-US" sz="900"/>
          </a:p>
          <a:p>
            <a:pPr marL="342900" indent="-342900">
              <a:spcAft>
                <a:spcPts val="400"/>
              </a:spcAft>
              <a:buSzPct val="100000"/>
              <a:buChar char="•"/>
            </a:pPr>
            <a:r>
              <a:rPr lang="en-US" sz="900">
                <a:solidFill>
                  <a:srgbClr val="36454F"/>
                </a:solidFill>
                <a:latin typeface="Calibri" pitchFamily="34" charset="0"/>
                <a:ea typeface="Calibri" pitchFamily="34" charset="-122"/>
                <a:cs typeface="Calibri" pitchFamily="34" charset="-120"/>
              </a:rPr>
              <a:t>Sound warm, confident, and conversational</a:t>
            </a:r>
            <a:endParaRPr lang="en-US" sz="900"/>
          </a:p>
          <a:p>
            <a:pPr marL="342900" indent="-342900">
              <a:spcAft>
                <a:spcPts val="400"/>
              </a:spcAft>
              <a:buSzPct val="100000"/>
              <a:buChar char="•"/>
            </a:pPr>
            <a:r>
              <a:rPr lang="en-US" sz="900">
                <a:solidFill>
                  <a:srgbClr val="36454F"/>
                </a:solidFill>
                <a:latin typeface="Calibri" pitchFamily="34" charset="0"/>
                <a:ea typeface="Calibri" pitchFamily="34" charset="-122"/>
                <a:cs typeface="Calibri" pitchFamily="34" charset="-120"/>
              </a:rPr>
              <a:t>Ask a question they can’t answer (creates transfer)</a:t>
            </a:r>
            <a:endParaRPr lang="en-US" sz="900"/>
          </a:p>
          <a:p>
            <a:pPr marL="342900" indent="-342900">
              <a:spcAft>
                <a:spcPts val="400"/>
              </a:spcAft>
              <a:buSzPct val="100000"/>
              <a:buChar char="•"/>
            </a:pPr>
            <a:r>
              <a:rPr lang="en-US" sz="900">
                <a:solidFill>
                  <a:srgbClr val="36454F"/>
                </a:solidFill>
                <a:latin typeface="Calibri" pitchFamily="34" charset="0"/>
                <a:ea typeface="Calibri" pitchFamily="34" charset="-122"/>
                <a:cs typeface="Calibri" pitchFamily="34" charset="-120"/>
              </a:rPr>
              <a:t>Treat the gatekeeper as a peer, not a hurdle</a:t>
            </a:r>
            <a:endParaRPr lang="en-US" sz="900"/>
          </a:p>
          <a:p>
            <a:pPr marL="342900" indent="-342900">
              <a:spcAft>
                <a:spcPts val="400"/>
              </a:spcAft>
              <a:buSzPct val="100000"/>
              <a:buChar char="•"/>
            </a:pPr>
            <a:r>
              <a:rPr lang="en-US" sz="900">
                <a:solidFill>
                  <a:srgbClr val="36454F"/>
                </a:solidFill>
                <a:latin typeface="Calibri" pitchFamily="34" charset="0"/>
                <a:ea typeface="Calibri" pitchFamily="34" charset="-122"/>
                <a:cs typeface="Calibri" pitchFamily="34" charset="-120"/>
              </a:rPr>
              <a:t>Reference something specific about the business</a:t>
            </a:r>
            <a:endParaRPr lang="en-US" sz="900"/>
          </a:p>
          <a:p>
            <a:pPr marL="342900" indent="-342900">
              <a:spcAft>
                <a:spcPts val="400"/>
              </a:spcAft>
              <a:buSzPct val="100000"/>
              <a:buChar char="•"/>
            </a:pPr>
            <a:r>
              <a:rPr lang="en-US" sz="900">
                <a:solidFill>
                  <a:srgbClr val="36454F"/>
                </a:solidFill>
                <a:latin typeface="Calibri" pitchFamily="34" charset="0"/>
                <a:ea typeface="Calibri" pitchFamily="34" charset="-122"/>
                <a:cs typeface="Calibri" pitchFamily="34" charset="-120"/>
              </a:rPr>
              <a:t>Ask about THEIR pain — they have plenty</a:t>
            </a:r>
            <a:endParaRPr lang="en-US" sz="900"/>
          </a:p>
          <a:p>
            <a:pPr marL="342900" indent="-342900">
              <a:spcAft>
                <a:spcPts val="400"/>
              </a:spcAft>
              <a:buSzPct val="100000"/>
              <a:buChar char="•"/>
            </a:pPr>
            <a:r>
              <a:rPr lang="en-US" sz="900">
                <a:solidFill>
                  <a:srgbClr val="36454F"/>
                </a:solidFill>
                <a:latin typeface="Calibri" pitchFamily="34" charset="0"/>
                <a:ea typeface="Calibri" pitchFamily="34" charset="-122"/>
                <a:cs typeface="Calibri" pitchFamily="34" charset="-120"/>
              </a:rPr>
              <a:t>Arm them with info to share with the owner</a:t>
            </a:r>
            <a:endParaRPr lang="en-US" sz="900"/>
          </a:p>
          <a:p>
            <a:pPr marL="342900" indent="-342900">
              <a:spcAft>
                <a:spcPts val="400"/>
              </a:spcAft>
              <a:buSzPct val="100000"/>
              <a:buChar char="•"/>
            </a:pPr>
            <a:r>
              <a:rPr lang="en-US" sz="900">
                <a:solidFill>
                  <a:srgbClr val="36454F"/>
                </a:solidFill>
                <a:latin typeface="Calibri" pitchFamily="34" charset="0"/>
                <a:ea typeface="Calibri" pitchFamily="34" charset="-122"/>
                <a:cs typeface="Calibri" pitchFamily="34" charset="-120"/>
              </a:rPr>
              <a:t>Thank them by name: “Thanks so much, Ashley!”</a:t>
            </a:r>
            <a:endParaRPr lang="en-US" sz="900"/>
          </a:p>
          <a:p>
            <a:pPr marL="342900" indent="-342900">
              <a:spcAft>
                <a:spcPts val="400"/>
              </a:spcAft>
              <a:buSzPct val="100000"/>
              <a:buChar char="•"/>
            </a:pPr>
            <a:r>
              <a:rPr lang="en-US" sz="900">
                <a:solidFill>
                  <a:srgbClr val="36454F"/>
                </a:solidFill>
                <a:latin typeface="Calibri" pitchFamily="34" charset="0"/>
                <a:ea typeface="Calibri" pitchFamily="34" charset="-122"/>
                <a:cs typeface="Calibri" pitchFamily="34" charset="-120"/>
              </a:rPr>
              <a:t>Time your calls: early morning or late afternoon often bypasses the front desk entirely</a:t>
            </a:r>
            <a:endParaRPr lang="en-US" sz="900"/>
          </a:p>
        </p:txBody>
      </p:sp>
      <p:sp>
        <p:nvSpPr>
          <p:cNvPr id="11" name="Shape 6"/>
          <p:cNvSpPr/>
          <p:nvPr/>
        </p:nvSpPr>
        <p:spPr>
          <a:xfrm>
            <a:off x="4754880" y="868680"/>
            <a:ext cx="3931920" cy="36118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2" name="Shape 7"/>
          <p:cNvSpPr/>
          <p:nvPr/>
        </p:nvSpPr>
        <p:spPr>
          <a:xfrm>
            <a:off x="4754880" y="868680"/>
            <a:ext cx="3931920" cy="411480"/>
          </a:xfrm>
          <a:prstGeom prst="rect">
            <a:avLst/>
          </a:prstGeom>
          <a:solidFill>
            <a:srgbClr val="6B3A4A"/>
          </a:solidFill>
          <a:ln/>
        </p:spPr>
        <p:txBody>
          <a:bodyPr/>
          <a:lstStyle/>
          <a:p>
            <a:endParaRPr lang="en-US"/>
          </a:p>
        </p:txBody>
      </p:sp>
      <p:pic>
        <p:nvPicPr>
          <p:cNvPr id="13" name="Image 3" descr="preencoded.png"/>
          <p:cNvPicPr>
            <a:picLocks noChangeAspect="1"/>
          </p:cNvPicPr>
          <p:nvPr/>
        </p:nvPicPr>
        <p:blipFill>
          <a:blip r:embed="rId6"/>
          <a:stretch>
            <a:fillRect/>
          </a:stretch>
        </p:blipFill>
        <p:spPr>
          <a:xfrm>
            <a:off x="4846320" y="932688"/>
            <a:ext cx="228600" cy="228600"/>
          </a:xfrm>
          <a:prstGeom prst="rect">
            <a:avLst/>
          </a:prstGeom>
        </p:spPr>
      </p:pic>
      <p:sp>
        <p:nvSpPr>
          <p:cNvPr id="14" name="Text 8"/>
          <p:cNvSpPr/>
          <p:nvPr/>
        </p:nvSpPr>
        <p:spPr>
          <a:xfrm>
            <a:off x="5120640" y="868680"/>
            <a:ext cx="3383280" cy="411480"/>
          </a:xfrm>
          <a:prstGeom prst="rect">
            <a:avLst/>
          </a:prstGeom>
          <a:noFill/>
          <a:ln/>
        </p:spPr>
        <p:txBody>
          <a:bodyPr wrap="square" lIns="0" tIns="0" rIns="0" bIns="0" rtlCol="0" anchor="ctr"/>
          <a:lstStyle/>
          <a:p>
            <a:pPr marL="0" indent="0">
              <a:buNone/>
            </a:pPr>
            <a:r>
              <a:rPr lang="en-US" sz="1200" b="1" kern="0" spc="200">
                <a:solidFill>
                  <a:srgbClr val="F5F0EB"/>
                </a:solidFill>
                <a:latin typeface="Calibri" pitchFamily="34" charset="0"/>
                <a:ea typeface="Calibri" pitchFamily="34" charset="-122"/>
                <a:cs typeface="Calibri" pitchFamily="34" charset="-120"/>
              </a:rPr>
              <a:t>NEVER DO THIS</a:t>
            </a:r>
            <a:endParaRPr lang="en-US" sz="1200"/>
          </a:p>
        </p:txBody>
      </p:sp>
      <p:sp>
        <p:nvSpPr>
          <p:cNvPr id="15" name="Text 9"/>
          <p:cNvSpPr/>
          <p:nvPr/>
        </p:nvSpPr>
        <p:spPr>
          <a:xfrm>
            <a:off x="4892040" y="1896127"/>
            <a:ext cx="3657600" cy="3017520"/>
          </a:xfrm>
          <a:prstGeom prst="rect">
            <a:avLst/>
          </a:prstGeom>
          <a:noFill/>
          <a:ln/>
        </p:spPr>
        <p:txBody>
          <a:bodyPr wrap="square" lIns="0" tIns="0" rIns="0" bIns="0" rtlCol="0" anchor="t"/>
          <a:lstStyle/>
          <a:p>
            <a:pPr marL="342900" indent="-342900">
              <a:spcAft>
                <a:spcPts val="400"/>
              </a:spcAft>
              <a:buSzPct val="100000"/>
              <a:buChar char="•"/>
            </a:pPr>
            <a:r>
              <a:rPr lang="en-US" sz="900">
                <a:solidFill>
                  <a:srgbClr val="36454F"/>
                </a:solidFill>
                <a:latin typeface="Calibri" pitchFamily="34" charset="0"/>
                <a:ea typeface="Calibri" pitchFamily="34" charset="-122"/>
                <a:cs typeface="Calibri" pitchFamily="34" charset="-120"/>
              </a:rPr>
              <a:t>Say “I’m calling from Meevo about our software” — instant block</a:t>
            </a:r>
            <a:endParaRPr lang="en-US" sz="900"/>
          </a:p>
          <a:p>
            <a:pPr marL="342900" indent="-342900">
              <a:spcAft>
                <a:spcPts val="400"/>
              </a:spcAft>
              <a:buSzPct val="100000"/>
              <a:buChar char="•"/>
            </a:pPr>
            <a:r>
              <a:rPr lang="en-US" sz="900">
                <a:solidFill>
                  <a:srgbClr val="36454F"/>
                </a:solidFill>
                <a:latin typeface="Calibri" pitchFamily="34" charset="0"/>
                <a:ea typeface="Calibri" pitchFamily="34" charset="-122"/>
                <a:cs typeface="Calibri" pitchFamily="34" charset="-120"/>
              </a:rPr>
              <a:t>Ask “who handles software decisions?” — screams sales call</a:t>
            </a:r>
            <a:endParaRPr lang="en-US" sz="900"/>
          </a:p>
          <a:p>
            <a:pPr marL="342900" indent="-342900">
              <a:spcAft>
                <a:spcPts val="400"/>
              </a:spcAft>
              <a:buSzPct val="100000"/>
              <a:buChar char="•"/>
            </a:pPr>
            <a:r>
              <a:rPr lang="en-US" sz="900">
                <a:solidFill>
                  <a:srgbClr val="36454F"/>
                </a:solidFill>
                <a:latin typeface="Calibri" pitchFamily="34" charset="0"/>
                <a:ea typeface="Calibri" pitchFamily="34" charset="-122"/>
                <a:cs typeface="Calibri" pitchFamily="34" charset="-120"/>
              </a:rPr>
              <a:t>Be rude, dismissive, or impatient with the gatekeeper</a:t>
            </a:r>
            <a:endParaRPr lang="en-US" sz="900"/>
          </a:p>
          <a:p>
            <a:pPr marL="342900" indent="-342900">
              <a:spcAft>
                <a:spcPts val="400"/>
              </a:spcAft>
              <a:buSzPct val="100000"/>
              <a:buChar char="•"/>
            </a:pPr>
            <a:r>
              <a:rPr lang="en-US" sz="900">
                <a:solidFill>
                  <a:srgbClr val="36454F"/>
                </a:solidFill>
                <a:latin typeface="Calibri" pitchFamily="34" charset="0"/>
                <a:ea typeface="Calibri" pitchFamily="34" charset="-122"/>
                <a:cs typeface="Calibri" pitchFamily="34" charset="-120"/>
              </a:rPr>
              <a:t>Lie about having a meeting or prior relationship</a:t>
            </a:r>
            <a:endParaRPr lang="en-US" sz="900"/>
          </a:p>
          <a:p>
            <a:pPr marL="342900" indent="-342900">
              <a:spcAft>
                <a:spcPts val="400"/>
              </a:spcAft>
              <a:buSzPct val="100000"/>
              <a:buChar char="•"/>
            </a:pPr>
            <a:r>
              <a:rPr lang="en-US" sz="900">
                <a:solidFill>
                  <a:srgbClr val="36454F"/>
                </a:solidFill>
                <a:latin typeface="Calibri" pitchFamily="34" charset="0"/>
                <a:ea typeface="Calibri" pitchFamily="34" charset="-122"/>
                <a:cs typeface="Calibri" pitchFamily="34" charset="-120"/>
              </a:rPr>
              <a:t>Pitch the gatekeeper your full value prop</a:t>
            </a:r>
            <a:endParaRPr lang="en-US" sz="900"/>
          </a:p>
          <a:p>
            <a:pPr marL="342900" indent="-342900">
              <a:spcAft>
                <a:spcPts val="400"/>
              </a:spcAft>
              <a:buSzPct val="100000"/>
              <a:buChar char="•"/>
            </a:pPr>
            <a:r>
              <a:rPr lang="en-US" sz="900">
                <a:solidFill>
                  <a:srgbClr val="36454F"/>
                </a:solidFill>
                <a:latin typeface="Calibri" pitchFamily="34" charset="0"/>
                <a:ea typeface="Calibri" pitchFamily="34" charset="-122"/>
                <a:cs typeface="Calibri" pitchFamily="34" charset="-120"/>
              </a:rPr>
              <a:t>Call back 5 times in one day — you’ll get blocked permanently</a:t>
            </a:r>
            <a:endParaRPr lang="en-US" sz="900"/>
          </a:p>
          <a:p>
            <a:pPr marL="342900" indent="-342900">
              <a:spcAft>
                <a:spcPts val="400"/>
              </a:spcAft>
              <a:buSzPct val="100000"/>
              <a:buChar char="•"/>
            </a:pPr>
            <a:r>
              <a:rPr lang="en-US" sz="900">
                <a:solidFill>
                  <a:srgbClr val="36454F"/>
                </a:solidFill>
                <a:latin typeface="Calibri" pitchFamily="34" charset="0"/>
                <a:ea typeface="Calibri" pitchFamily="34" charset="-122"/>
                <a:cs typeface="Calibri" pitchFamily="34" charset="-120"/>
              </a:rPr>
              <a:t>Talk over them or interrupt</a:t>
            </a:r>
            <a:endParaRPr lang="en-US" sz="900"/>
          </a:p>
          <a:p>
            <a:pPr marL="342900" indent="-342900">
              <a:spcAft>
                <a:spcPts val="400"/>
              </a:spcAft>
              <a:buSzPct val="100000"/>
              <a:buChar char="•"/>
            </a:pPr>
            <a:r>
              <a:rPr lang="en-US" sz="900">
                <a:solidFill>
                  <a:srgbClr val="36454F"/>
                </a:solidFill>
                <a:latin typeface="Calibri" pitchFamily="34" charset="0"/>
                <a:ea typeface="Calibri" pitchFamily="34" charset="-122"/>
                <a:cs typeface="Calibri" pitchFamily="34" charset="-120"/>
              </a:rPr>
              <a:t>Say “can I speak to the owner” without using a name</a:t>
            </a:r>
            <a:endParaRPr lang="en-US" sz="900"/>
          </a:p>
          <a:p>
            <a:pPr marL="342900" indent="-342900">
              <a:spcAft>
                <a:spcPts val="400"/>
              </a:spcAft>
              <a:buSzPct val="100000"/>
              <a:buChar char="•"/>
            </a:pPr>
            <a:r>
              <a:rPr lang="en-US" sz="900">
                <a:solidFill>
                  <a:srgbClr val="36454F"/>
                </a:solidFill>
                <a:latin typeface="Calibri" pitchFamily="34" charset="0"/>
                <a:ea typeface="Calibri" pitchFamily="34" charset="-122"/>
                <a:cs typeface="Calibri" pitchFamily="34" charset="-120"/>
              </a:rPr>
              <a:t>Get frustrated when they screen you — it’s literally their job</a:t>
            </a:r>
            <a:endParaRPr lang="en-US" sz="900"/>
          </a:p>
        </p:txBody>
      </p:sp>
      <p:sp>
        <p:nvSpPr>
          <p:cNvPr id="16" name="Text 10"/>
          <p:cNvSpPr/>
          <p:nvPr/>
        </p:nvSpPr>
        <p:spPr>
          <a:xfrm>
            <a:off x="457200" y="4846320"/>
            <a:ext cx="5943600" cy="228600"/>
          </a:xfrm>
          <a:prstGeom prst="rect">
            <a:avLst/>
          </a:prstGeom>
          <a:noFill/>
          <a:ln/>
        </p:spPr>
        <p:txBody>
          <a:bodyPr wrap="square" lIns="0" tIns="0" rIns="0" bIns="0" rtlCol="0" anchor="ctr"/>
          <a:lstStyle/>
          <a:p>
            <a:pPr marL="0" indent="0">
              <a:buNone/>
            </a:pPr>
            <a:r>
              <a:rPr lang="en-US" sz="900" i="1">
                <a:solidFill>
                  <a:srgbClr val="9CA3AF"/>
                </a:solidFill>
                <a:latin typeface="Calibri" pitchFamily="34" charset="0"/>
                <a:ea typeface="Calibri" pitchFamily="34" charset="-122"/>
                <a:cs typeface="Calibri" pitchFamily="34" charset="-120"/>
              </a:rPr>
              <a:t>Commit to the process. Control the controllables.</a:t>
            </a:r>
            <a:endParaRPr lang="en-US" sz="900"/>
          </a:p>
        </p:txBody>
      </p:sp>
      <p:sp>
        <p:nvSpPr>
          <p:cNvPr id="17" name="Shape 11"/>
          <p:cNvSpPr/>
          <p:nvPr/>
        </p:nvSpPr>
        <p:spPr>
          <a:xfrm>
            <a:off x="6766560" y="4754880"/>
            <a:ext cx="502920" cy="320040"/>
          </a:xfrm>
          <a:prstGeom prst="rect">
            <a:avLst/>
          </a:prstGeom>
          <a:solidFill>
            <a:srgbClr val="1B6B93"/>
          </a:solidFill>
          <a:ln/>
        </p:spPr>
        <p:txBody>
          <a:bodyPr/>
          <a:lstStyle/>
          <a:p>
            <a:endParaRPr lang="en-US"/>
          </a:p>
        </p:txBody>
      </p:sp>
      <p:sp>
        <p:nvSpPr>
          <p:cNvPr id="18" name="Text 12"/>
          <p:cNvSpPr/>
          <p:nvPr/>
        </p:nvSpPr>
        <p:spPr>
          <a:xfrm>
            <a:off x="6766560" y="4754880"/>
            <a:ext cx="502920" cy="320040"/>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8</a:t>
            </a:r>
            <a:endParaRPr 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5F0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57200" y="201168"/>
            <a:ext cx="347472" cy="347472"/>
          </a:xfrm>
          <a:prstGeom prst="rect">
            <a:avLst/>
          </a:prstGeom>
        </p:spPr>
      </p:pic>
      <p:sp>
        <p:nvSpPr>
          <p:cNvPr id="3" name="Text 0"/>
          <p:cNvSpPr/>
          <p:nvPr/>
        </p:nvSpPr>
        <p:spPr>
          <a:xfrm>
            <a:off x="868680" y="164592"/>
            <a:ext cx="7315200" cy="548640"/>
          </a:xfrm>
          <a:prstGeom prst="rect">
            <a:avLst/>
          </a:prstGeom>
          <a:noFill/>
          <a:ln/>
        </p:spPr>
        <p:txBody>
          <a:bodyPr wrap="square" lIns="0" tIns="0" rIns="0" bIns="0" rtlCol="0" anchor="ctr"/>
          <a:lstStyle/>
          <a:p>
            <a:pPr marL="0" indent="0">
              <a:buNone/>
            </a:pPr>
            <a:r>
              <a:rPr lang="en-US" sz="2600" b="1" kern="0" spc="300">
                <a:solidFill>
                  <a:srgbClr val="36454F"/>
                </a:solidFill>
                <a:latin typeface="Trebuchet MS" pitchFamily="34" charset="0"/>
                <a:ea typeface="Trebuchet MS" pitchFamily="34" charset="-122"/>
                <a:cs typeface="Trebuchet MS" pitchFamily="34" charset="-120"/>
              </a:rPr>
              <a:t>Practice &amp; Self-Assessment</a:t>
            </a:r>
            <a:endParaRPr lang="en-US" sz="2600"/>
          </a:p>
        </p:txBody>
      </p:sp>
      <p:sp>
        <p:nvSpPr>
          <p:cNvPr id="4" name="Shape 1"/>
          <p:cNvSpPr/>
          <p:nvPr/>
        </p:nvSpPr>
        <p:spPr>
          <a:xfrm>
            <a:off x="548640" y="749808"/>
            <a:ext cx="1645920" cy="36576"/>
          </a:xfrm>
          <a:prstGeom prst="rect">
            <a:avLst/>
          </a:prstGeom>
          <a:solidFill>
            <a:srgbClr val="7A9E7E"/>
          </a:solidFill>
          <a:ln/>
        </p:spPr>
        <p:txBody>
          <a:bodyPr/>
          <a:lstStyle/>
          <a:p>
            <a:endParaRPr lang="en-US"/>
          </a:p>
        </p:txBody>
      </p:sp>
      <p:pic>
        <p:nvPicPr>
          <p:cNvPr id="5" name="Image 1" descr="preencoded.png"/>
          <p:cNvPicPr>
            <a:picLocks noChangeAspect="1"/>
          </p:cNvPicPr>
          <p:nvPr/>
        </p:nvPicPr>
        <p:blipFill>
          <a:blip r:embed="rId4"/>
          <a:stretch>
            <a:fillRect/>
          </a:stretch>
        </p:blipFill>
        <p:spPr>
          <a:xfrm>
            <a:off x="7498080" y="4709160"/>
            <a:ext cx="1234440" cy="365760"/>
          </a:xfrm>
          <a:prstGeom prst="rect">
            <a:avLst/>
          </a:prstGeom>
        </p:spPr>
      </p:pic>
      <p:sp>
        <p:nvSpPr>
          <p:cNvPr id="6" name="Shape 2"/>
          <p:cNvSpPr/>
          <p:nvPr/>
        </p:nvSpPr>
        <p:spPr>
          <a:xfrm>
            <a:off x="365760" y="868680"/>
            <a:ext cx="4114800" cy="36576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3"/>
          <p:cNvSpPr/>
          <p:nvPr/>
        </p:nvSpPr>
        <p:spPr>
          <a:xfrm>
            <a:off x="365760" y="868680"/>
            <a:ext cx="4114800" cy="411480"/>
          </a:xfrm>
          <a:prstGeom prst="rect">
            <a:avLst/>
          </a:prstGeom>
          <a:solidFill>
            <a:srgbClr val="1B6B93"/>
          </a:solidFill>
          <a:ln/>
        </p:spPr>
        <p:txBody>
          <a:bodyPr/>
          <a:lstStyle/>
          <a:p>
            <a:endParaRPr lang="en-US"/>
          </a:p>
        </p:txBody>
      </p:sp>
      <p:sp>
        <p:nvSpPr>
          <p:cNvPr id="8" name="Text 4"/>
          <p:cNvSpPr/>
          <p:nvPr/>
        </p:nvSpPr>
        <p:spPr>
          <a:xfrm>
            <a:off x="548640" y="868680"/>
            <a:ext cx="3749040" cy="411480"/>
          </a:xfrm>
          <a:prstGeom prst="rect">
            <a:avLst/>
          </a:prstGeom>
          <a:noFill/>
          <a:ln/>
        </p:spPr>
        <p:txBody>
          <a:bodyPr wrap="square" lIns="0" tIns="0" rIns="0" bIns="0" rtlCol="0" anchor="ctr"/>
          <a:lstStyle/>
          <a:p>
            <a:pPr marL="0" indent="0">
              <a:buNone/>
            </a:pPr>
            <a:r>
              <a:rPr lang="en-US" sz="1200" b="1" kern="0" spc="200">
                <a:solidFill>
                  <a:srgbClr val="F5F0EB"/>
                </a:solidFill>
                <a:latin typeface="Calibri" pitchFamily="34" charset="0"/>
                <a:ea typeface="Calibri" pitchFamily="34" charset="-122"/>
                <a:cs typeface="Calibri" pitchFamily="34" charset="-120"/>
              </a:rPr>
              <a:t>HOMEWORK &amp; PRACTICE</a:t>
            </a:r>
            <a:endParaRPr lang="en-US" sz="1200"/>
          </a:p>
        </p:txBody>
      </p:sp>
      <p:sp>
        <p:nvSpPr>
          <p:cNvPr id="9" name="Text 5"/>
          <p:cNvSpPr/>
          <p:nvPr/>
        </p:nvSpPr>
        <p:spPr>
          <a:xfrm>
            <a:off x="548640" y="1896127"/>
            <a:ext cx="3749040" cy="3017520"/>
          </a:xfrm>
          <a:prstGeom prst="rect">
            <a:avLst/>
          </a:prstGeom>
          <a:noFill/>
          <a:ln/>
        </p:spPr>
        <p:txBody>
          <a:bodyPr wrap="square" lIns="0" tIns="0" rIns="0" bIns="0" rtlCol="0" anchor="t"/>
          <a:lstStyle/>
          <a:p>
            <a:pPr marL="342900" indent="-342900">
              <a:spcAft>
                <a:spcPts val="600"/>
              </a:spcAft>
              <a:buSzPct val="100000"/>
              <a:buChar char="•"/>
            </a:pPr>
            <a:r>
              <a:rPr lang="en-US" sz="850">
                <a:solidFill>
                  <a:srgbClr val="36454F"/>
                </a:solidFill>
                <a:latin typeface="Calibri" pitchFamily="34" charset="0"/>
                <a:ea typeface="Calibri" pitchFamily="34" charset="-122"/>
                <a:cs typeface="Calibri" pitchFamily="34" charset="-120"/>
              </a:rPr>
              <a:t>Write a First-Name Drop script, an Informed Question script, and a Champion Recruit script. Practice all three with a partner.</a:t>
            </a:r>
            <a:endParaRPr lang="en-US" sz="850"/>
          </a:p>
          <a:p>
            <a:pPr marL="342900" indent="-342900">
              <a:spcAft>
                <a:spcPts val="600"/>
              </a:spcAft>
              <a:buSzPct val="100000"/>
              <a:buChar char="•"/>
            </a:pPr>
            <a:r>
              <a:rPr lang="en-US" sz="850">
                <a:solidFill>
                  <a:srgbClr val="36454F"/>
                </a:solidFill>
                <a:latin typeface="Calibri" pitchFamily="34" charset="0"/>
                <a:ea typeface="Calibri" pitchFamily="34" charset="-122"/>
                <a:cs typeface="Calibri" pitchFamily="34" charset="-120"/>
              </a:rPr>
              <a:t>For your next 10 gatekeeper interactions, track which bypass you used and whether it worked. Bring your data.</a:t>
            </a:r>
            <a:endParaRPr lang="en-US" sz="850"/>
          </a:p>
          <a:p>
            <a:pPr marL="342900" indent="-342900">
              <a:spcAft>
                <a:spcPts val="600"/>
              </a:spcAft>
              <a:buSzPct val="100000"/>
              <a:buChar char="•"/>
            </a:pPr>
            <a:r>
              <a:rPr lang="en-US" sz="850">
                <a:solidFill>
                  <a:srgbClr val="36454F"/>
                </a:solidFill>
                <a:latin typeface="Calibri" pitchFamily="34" charset="0"/>
                <a:ea typeface="Calibri" pitchFamily="34" charset="-122"/>
                <a:cs typeface="Calibri" pitchFamily="34" charset="-120"/>
              </a:rPr>
              <a:t>Role-play: Partner plays front desk. They block you 3 different ways. You pick the right technique in real time.</a:t>
            </a:r>
            <a:endParaRPr lang="en-US" sz="850"/>
          </a:p>
          <a:p>
            <a:pPr marL="342900" indent="-342900">
              <a:spcAft>
                <a:spcPts val="600"/>
              </a:spcAft>
              <a:buSzPct val="100000"/>
              <a:buChar char="•"/>
            </a:pPr>
            <a:r>
              <a:rPr lang="en-US" sz="850">
                <a:solidFill>
                  <a:srgbClr val="36454F"/>
                </a:solidFill>
                <a:latin typeface="Calibri" pitchFamily="34" charset="0"/>
                <a:ea typeface="Calibri" pitchFamily="34" charset="-122"/>
                <a:cs typeface="Calibri" pitchFamily="34" charset="-120"/>
              </a:rPr>
              <a:t>Research 5 target accounts. Find the owner’s name, one trigger, and one front-desk-specific pain point for each.</a:t>
            </a:r>
            <a:endParaRPr lang="en-US" sz="850"/>
          </a:p>
          <a:p>
            <a:pPr marL="342900" indent="-342900">
              <a:spcAft>
                <a:spcPts val="600"/>
              </a:spcAft>
              <a:buSzPct val="100000"/>
              <a:buChar char="•"/>
            </a:pPr>
            <a:r>
              <a:rPr lang="en-US" sz="850">
                <a:solidFill>
                  <a:srgbClr val="36454F"/>
                </a:solidFill>
                <a:latin typeface="Calibri" pitchFamily="34" charset="0"/>
                <a:ea typeface="Calibri" pitchFamily="34" charset="-122"/>
                <a:cs typeface="Calibri" pitchFamily="34" charset="-120"/>
              </a:rPr>
              <a:t>Record yourself on a gatekeeper call. Listen back. Did you sound warm and confident, or rushed and salesy?</a:t>
            </a:r>
            <a:endParaRPr lang="en-US" sz="850"/>
          </a:p>
          <a:p>
            <a:pPr marL="342900" indent="-342900">
              <a:spcAft>
                <a:spcPts val="600"/>
              </a:spcAft>
              <a:buSzPct val="100000"/>
              <a:buChar char="•"/>
            </a:pPr>
            <a:r>
              <a:rPr lang="en-US" sz="850">
                <a:solidFill>
                  <a:srgbClr val="36454F"/>
                </a:solidFill>
                <a:latin typeface="Calibri" pitchFamily="34" charset="0"/>
                <a:ea typeface="Calibri" pitchFamily="34" charset="-122"/>
                <a:cs typeface="Calibri" pitchFamily="34" charset="-120"/>
              </a:rPr>
              <a:t>Identify 3 past calls where the gatekeeper blocked you. Replay them. What would you do differently with the Triple Bypass?</a:t>
            </a:r>
            <a:endParaRPr lang="en-US" sz="850"/>
          </a:p>
        </p:txBody>
      </p:sp>
      <p:sp>
        <p:nvSpPr>
          <p:cNvPr id="10" name="Shape 6"/>
          <p:cNvSpPr/>
          <p:nvPr/>
        </p:nvSpPr>
        <p:spPr>
          <a:xfrm>
            <a:off x="4663440" y="868680"/>
            <a:ext cx="4114800" cy="36576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1" name="Shape 7"/>
          <p:cNvSpPr/>
          <p:nvPr/>
        </p:nvSpPr>
        <p:spPr>
          <a:xfrm>
            <a:off x="4663440" y="868680"/>
            <a:ext cx="4114800" cy="411480"/>
          </a:xfrm>
          <a:prstGeom prst="rect">
            <a:avLst/>
          </a:prstGeom>
          <a:solidFill>
            <a:srgbClr val="C67B5C"/>
          </a:solidFill>
          <a:ln/>
        </p:spPr>
        <p:txBody>
          <a:bodyPr/>
          <a:lstStyle/>
          <a:p>
            <a:endParaRPr lang="en-US"/>
          </a:p>
        </p:txBody>
      </p:sp>
      <p:sp>
        <p:nvSpPr>
          <p:cNvPr id="12" name="Text 8"/>
          <p:cNvSpPr/>
          <p:nvPr/>
        </p:nvSpPr>
        <p:spPr>
          <a:xfrm>
            <a:off x="4846320" y="868680"/>
            <a:ext cx="3749040" cy="411480"/>
          </a:xfrm>
          <a:prstGeom prst="rect">
            <a:avLst/>
          </a:prstGeom>
          <a:noFill/>
          <a:ln/>
        </p:spPr>
        <p:txBody>
          <a:bodyPr wrap="square" lIns="0" tIns="0" rIns="0" bIns="0" rtlCol="0" anchor="ctr"/>
          <a:lstStyle/>
          <a:p>
            <a:pPr marL="0" indent="0">
              <a:buNone/>
            </a:pPr>
            <a:r>
              <a:rPr lang="en-US" sz="1200" b="1" kern="0" spc="200">
                <a:solidFill>
                  <a:srgbClr val="F5F0EB"/>
                </a:solidFill>
                <a:latin typeface="Calibri" pitchFamily="34" charset="0"/>
                <a:ea typeface="Calibri" pitchFamily="34" charset="-122"/>
                <a:cs typeface="Calibri" pitchFamily="34" charset="-120"/>
              </a:rPr>
              <a:t>SELF-ASSESSMENT (1–5 SCALE)</a:t>
            </a:r>
            <a:endParaRPr lang="en-US" sz="1200"/>
          </a:p>
        </p:txBody>
      </p:sp>
      <p:sp>
        <p:nvSpPr>
          <p:cNvPr id="13" name="Shape 9"/>
          <p:cNvSpPr/>
          <p:nvPr/>
        </p:nvSpPr>
        <p:spPr>
          <a:xfrm>
            <a:off x="4754880" y="1371600"/>
            <a:ext cx="3931920" cy="457200"/>
          </a:xfrm>
          <a:prstGeom prst="rect">
            <a:avLst/>
          </a:prstGeom>
          <a:solidFill>
            <a:srgbClr val="F5F0EB"/>
          </a:solidFill>
          <a:ln/>
        </p:spPr>
        <p:txBody>
          <a:bodyPr/>
          <a:lstStyle/>
          <a:p>
            <a:endParaRPr lang="en-US"/>
          </a:p>
        </p:txBody>
      </p:sp>
      <p:sp>
        <p:nvSpPr>
          <p:cNvPr id="14" name="Shape 10"/>
          <p:cNvSpPr/>
          <p:nvPr/>
        </p:nvSpPr>
        <p:spPr>
          <a:xfrm>
            <a:off x="4754880" y="1371600"/>
            <a:ext cx="54864" cy="457200"/>
          </a:xfrm>
          <a:prstGeom prst="rect">
            <a:avLst/>
          </a:prstGeom>
          <a:solidFill>
            <a:srgbClr val="C67B5C"/>
          </a:solidFill>
          <a:ln/>
        </p:spPr>
        <p:txBody>
          <a:bodyPr/>
          <a:lstStyle/>
          <a:p>
            <a:endParaRPr lang="en-US"/>
          </a:p>
        </p:txBody>
      </p:sp>
      <p:sp>
        <p:nvSpPr>
          <p:cNvPr id="15" name="Text 11"/>
          <p:cNvSpPr/>
          <p:nvPr/>
        </p:nvSpPr>
        <p:spPr>
          <a:xfrm>
            <a:off x="4892040" y="1389888"/>
            <a:ext cx="3703320" cy="256032"/>
          </a:xfrm>
          <a:prstGeom prst="rect">
            <a:avLst/>
          </a:prstGeom>
          <a:noFill/>
          <a:ln/>
        </p:spPr>
        <p:txBody>
          <a:bodyPr wrap="square" lIns="0" tIns="0" rIns="0" bIns="0" rtlCol="0" anchor="ctr"/>
          <a:lstStyle/>
          <a:p>
            <a:pPr marL="0" indent="0">
              <a:buNone/>
            </a:pPr>
            <a:r>
              <a:rPr lang="en-US" sz="800">
                <a:solidFill>
                  <a:srgbClr val="36454F"/>
                </a:solidFill>
                <a:latin typeface="Calibri" pitchFamily="34" charset="0"/>
                <a:ea typeface="Calibri" pitchFamily="34" charset="-122"/>
                <a:cs typeface="Calibri" pitchFamily="34" charset="-120"/>
              </a:rPr>
              <a:t>I use the owner’s first name on every call — I never dial without it</a:t>
            </a:r>
            <a:endParaRPr lang="en-US" sz="800"/>
          </a:p>
        </p:txBody>
      </p:sp>
      <p:sp>
        <p:nvSpPr>
          <p:cNvPr id="16" name="Text 12"/>
          <p:cNvSpPr/>
          <p:nvPr/>
        </p:nvSpPr>
        <p:spPr>
          <a:xfrm>
            <a:off x="4892040" y="1664208"/>
            <a:ext cx="3703320" cy="146304"/>
          </a:xfrm>
          <a:prstGeom prst="rect">
            <a:avLst/>
          </a:prstGeom>
          <a:noFill/>
          <a:ln/>
        </p:spPr>
        <p:txBody>
          <a:bodyPr wrap="square" lIns="0" tIns="0" rIns="0" bIns="0" rtlCol="0" anchor="ctr"/>
          <a:lstStyle/>
          <a:p>
            <a:pPr marL="0" indent="0">
              <a:buNone/>
            </a:pPr>
            <a:r>
              <a:rPr lang="en-US" sz="700">
                <a:solidFill>
                  <a:srgbClr val="7A9E7E"/>
                </a:solidFill>
                <a:latin typeface="Calibri" pitchFamily="34" charset="0"/>
                <a:ea typeface="Calibri" pitchFamily="34" charset="-122"/>
                <a:cs typeface="Calibri" pitchFamily="34" charset="-120"/>
              </a:rPr>
              <a:t>[Research &amp; Preparation #8]</a:t>
            </a:r>
            <a:endParaRPr lang="en-US" sz="700"/>
          </a:p>
        </p:txBody>
      </p:sp>
      <p:sp>
        <p:nvSpPr>
          <p:cNvPr id="17" name="Shape 13"/>
          <p:cNvSpPr/>
          <p:nvPr/>
        </p:nvSpPr>
        <p:spPr>
          <a:xfrm>
            <a:off x="4754880" y="1883664"/>
            <a:ext cx="3931920" cy="457200"/>
          </a:xfrm>
          <a:prstGeom prst="rect">
            <a:avLst/>
          </a:prstGeom>
          <a:solidFill>
            <a:srgbClr val="FFFFFF"/>
          </a:solidFill>
          <a:ln/>
        </p:spPr>
        <p:txBody>
          <a:bodyPr/>
          <a:lstStyle/>
          <a:p>
            <a:endParaRPr lang="en-US"/>
          </a:p>
        </p:txBody>
      </p:sp>
      <p:sp>
        <p:nvSpPr>
          <p:cNvPr id="18" name="Shape 14"/>
          <p:cNvSpPr/>
          <p:nvPr/>
        </p:nvSpPr>
        <p:spPr>
          <a:xfrm>
            <a:off x="4754880" y="1883664"/>
            <a:ext cx="54864" cy="457200"/>
          </a:xfrm>
          <a:prstGeom prst="rect">
            <a:avLst/>
          </a:prstGeom>
          <a:solidFill>
            <a:srgbClr val="C67B5C"/>
          </a:solidFill>
          <a:ln/>
        </p:spPr>
        <p:txBody>
          <a:bodyPr/>
          <a:lstStyle/>
          <a:p>
            <a:endParaRPr lang="en-US"/>
          </a:p>
        </p:txBody>
      </p:sp>
      <p:sp>
        <p:nvSpPr>
          <p:cNvPr id="19" name="Text 15"/>
          <p:cNvSpPr/>
          <p:nvPr/>
        </p:nvSpPr>
        <p:spPr>
          <a:xfrm>
            <a:off x="4892040" y="1901952"/>
            <a:ext cx="3703320" cy="256032"/>
          </a:xfrm>
          <a:prstGeom prst="rect">
            <a:avLst/>
          </a:prstGeom>
          <a:noFill/>
          <a:ln/>
        </p:spPr>
        <p:txBody>
          <a:bodyPr wrap="square" lIns="0" tIns="0" rIns="0" bIns="0" rtlCol="0" anchor="ctr"/>
          <a:lstStyle/>
          <a:p>
            <a:pPr marL="0" indent="0">
              <a:buNone/>
            </a:pPr>
            <a:r>
              <a:rPr lang="en-US" sz="800">
                <a:solidFill>
                  <a:srgbClr val="36454F"/>
                </a:solidFill>
                <a:latin typeface="Calibri" pitchFamily="34" charset="0"/>
                <a:ea typeface="Calibri" pitchFamily="34" charset="-122"/>
                <a:cs typeface="Calibri" pitchFamily="34" charset="-120"/>
              </a:rPr>
              <a:t>I can identify the gatekeeper type (receptionist, manager, owner screening) within 15 seconds</a:t>
            </a:r>
            <a:endParaRPr lang="en-US" sz="800"/>
          </a:p>
        </p:txBody>
      </p:sp>
      <p:sp>
        <p:nvSpPr>
          <p:cNvPr id="20" name="Text 16"/>
          <p:cNvSpPr/>
          <p:nvPr/>
        </p:nvSpPr>
        <p:spPr>
          <a:xfrm>
            <a:off x="4892040" y="2176272"/>
            <a:ext cx="3703320" cy="146304"/>
          </a:xfrm>
          <a:prstGeom prst="rect">
            <a:avLst/>
          </a:prstGeom>
          <a:noFill/>
          <a:ln/>
        </p:spPr>
        <p:txBody>
          <a:bodyPr wrap="square" lIns="0" tIns="0" rIns="0" bIns="0" rtlCol="0" anchor="ctr"/>
          <a:lstStyle/>
          <a:p>
            <a:pPr marL="0" indent="0">
              <a:buNone/>
            </a:pPr>
            <a:r>
              <a:rPr lang="en-US" sz="700">
                <a:solidFill>
                  <a:srgbClr val="7A9E7E"/>
                </a:solidFill>
                <a:latin typeface="Calibri" pitchFamily="34" charset="0"/>
                <a:ea typeface="Calibri" pitchFamily="34" charset="-122"/>
                <a:cs typeface="Calibri" pitchFamily="34" charset="-120"/>
              </a:rPr>
              <a:t>[Communication Skills #4]</a:t>
            </a:r>
            <a:endParaRPr lang="en-US" sz="700"/>
          </a:p>
        </p:txBody>
      </p:sp>
      <p:sp>
        <p:nvSpPr>
          <p:cNvPr id="21" name="Shape 17"/>
          <p:cNvSpPr/>
          <p:nvPr/>
        </p:nvSpPr>
        <p:spPr>
          <a:xfrm>
            <a:off x="4754880" y="2395728"/>
            <a:ext cx="3931920" cy="457200"/>
          </a:xfrm>
          <a:prstGeom prst="rect">
            <a:avLst/>
          </a:prstGeom>
          <a:solidFill>
            <a:srgbClr val="F5F0EB"/>
          </a:solidFill>
          <a:ln/>
        </p:spPr>
        <p:txBody>
          <a:bodyPr/>
          <a:lstStyle/>
          <a:p>
            <a:endParaRPr lang="en-US"/>
          </a:p>
        </p:txBody>
      </p:sp>
      <p:sp>
        <p:nvSpPr>
          <p:cNvPr id="22" name="Shape 18"/>
          <p:cNvSpPr/>
          <p:nvPr/>
        </p:nvSpPr>
        <p:spPr>
          <a:xfrm>
            <a:off x="4754880" y="2395728"/>
            <a:ext cx="54864" cy="457200"/>
          </a:xfrm>
          <a:prstGeom prst="rect">
            <a:avLst/>
          </a:prstGeom>
          <a:solidFill>
            <a:srgbClr val="C67B5C"/>
          </a:solidFill>
          <a:ln/>
        </p:spPr>
        <p:txBody>
          <a:bodyPr/>
          <a:lstStyle/>
          <a:p>
            <a:endParaRPr lang="en-US"/>
          </a:p>
        </p:txBody>
      </p:sp>
      <p:sp>
        <p:nvSpPr>
          <p:cNvPr id="23" name="Text 19"/>
          <p:cNvSpPr/>
          <p:nvPr/>
        </p:nvSpPr>
        <p:spPr>
          <a:xfrm>
            <a:off x="4892040" y="2414016"/>
            <a:ext cx="3703320" cy="256032"/>
          </a:xfrm>
          <a:prstGeom prst="rect">
            <a:avLst/>
          </a:prstGeom>
          <a:noFill/>
          <a:ln/>
        </p:spPr>
        <p:txBody>
          <a:bodyPr wrap="square" lIns="0" tIns="0" rIns="0" bIns="0" rtlCol="0" anchor="ctr"/>
          <a:lstStyle/>
          <a:p>
            <a:pPr marL="0" indent="0">
              <a:buNone/>
            </a:pPr>
            <a:r>
              <a:rPr lang="en-US" sz="800">
                <a:solidFill>
                  <a:srgbClr val="36454F"/>
                </a:solidFill>
                <a:latin typeface="Calibri" pitchFamily="34" charset="0"/>
                <a:ea typeface="Calibri" pitchFamily="34" charset="-122"/>
                <a:cs typeface="Calibri" pitchFamily="34" charset="-120"/>
              </a:rPr>
              <a:t>I treat gatekeepers as potential champions, not obstacles to overcome</a:t>
            </a:r>
            <a:endParaRPr lang="en-US" sz="800"/>
          </a:p>
        </p:txBody>
      </p:sp>
      <p:sp>
        <p:nvSpPr>
          <p:cNvPr id="24" name="Text 20"/>
          <p:cNvSpPr/>
          <p:nvPr/>
        </p:nvSpPr>
        <p:spPr>
          <a:xfrm>
            <a:off x="4892040" y="2688336"/>
            <a:ext cx="3703320" cy="146304"/>
          </a:xfrm>
          <a:prstGeom prst="rect">
            <a:avLst/>
          </a:prstGeom>
          <a:noFill/>
          <a:ln/>
        </p:spPr>
        <p:txBody>
          <a:bodyPr wrap="square" lIns="0" tIns="0" rIns="0" bIns="0" rtlCol="0" anchor="ctr"/>
          <a:lstStyle/>
          <a:p>
            <a:pPr marL="0" indent="0">
              <a:buNone/>
            </a:pPr>
            <a:r>
              <a:rPr lang="en-US" sz="700">
                <a:solidFill>
                  <a:srgbClr val="7A9E7E"/>
                </a:solidFill>
                <a:latin typeface="Calibri" pitchFamily="34" charset="0"/>
                <a:ea typeface="Calibri" pitchFamily="34" charset="-122"/>
                <a:cs typeface="Calibri" pitchFamily="34" charset="-120"/>
              </a:rPr>
              <a:t>[Coachability #2]</a:t>
            </a:r>
            <a:endParaRPr lang="en-US" sz="700"/>
          </a:p>
        </p:txBody>
      </p:sp>
      <p:sp>
        <p:nvSpPr>
          <p:cNvPr id="25" name="Shape 21"/>
          <p:cNvSpPr/>
          <p:nvPr/>
        </p:nvSpPr>
        <p:spPr>
          <a:xfrm>
            <a:off x="4754880" y="2907792"/>
            <a:ext cx="3931920" cy="457200"/>
          </a:xfrm>
          <a:prstGeom prst="rect">
            <a:avLst/>
          </a:prstGeom>
          <a:solidFill>
            <a:srgbClr val="FFFFFF"/>
          </a:solidFill>
          <a:ln/>
        </p:spPr>
        <p:txBody>
          <a:bodyPr/>
          <a:lstStyle/>
          <a:p>
            <a:endParaRPr lang="en-US"/>
          </a:p>
        </p:txBody>
      </p:sp>
      <p:sp>
        <p:nvSpPr>
          <p:cNvPr id="26" name="Shape 22"/>
          <p:cNvSpPr/>
          <p:nvPr/>
        </p:nvSpPr>
        <p:spPr>
          <a:xfrm>
            <a:off x="4754880" y="2907792"/>
            <a:ext cx="54864" cy="457200"/>
          </a:xfrm>
          <a:prstGeom prst="rect">
            <a:avLst/>
          </a:prstGeom>
          <a:solidFill>
            <a:srgbClr val="C67B5C"/>
          </a:solidFill>
          <a:ln/>
        </p:spPr>
        <p:txBody>
          <a:bodyPr/>
          <a:lstStyle/>
          <a:p>
            <a:endParaRPr lang="en-US"/>
          </a:p>
        </p:txBody>
      </p:sp>
      <p:sp>
        <p:nvSpPr>
          <p:cNvPr id="27" name="Text 23"/>
          <p:cNvSpPr/>
          <p:nvPr/>
        </p:nvSpPr>
        <p:spPr>
          <a:xfrm>
            <a:off x="4892040" y="2926080"/>
            <a:ext cx="3703320" cy="256032"/>
          </a:xfrm>
          <a:prstGeom prst="rect">
            <a:avLst/>
          </a:prstGeom>
          <a:noFill/>
          <a:ln/>
        </p:spPr>
        <p:txBody>
          <a:bodyPr wrap="square" lIns="0" tIns="0" rIns="0" bIns="0" rtlCol="0" anchor="ctr"/>
          <a:lstStyle/>
          <a:p>
            <a:pPr marL="0" indent="0">
              <a:buNone/>
            </a:pPr>
            <a:r>
              <a:rPr lang="en-US" sz="800">
                <a:solidFill>
                  <a:srgbClr val="36454F"/>
                </a:solidFill>
                <a:latin typeface="Calibri" pitchFamily="34" charset="0"/>
                <a:ea typeface="Calibri" pitchFamily="34" charset="-122"/>
                <a:cs typeface="Calibri" pitchFamily="34" charset="-120"/>
              </a:rPr>
              <a:t>I have 3 bypass techniques ready and pick the right one based on the situation</a:t>
            </a:r>
            <a:endParaRPr lang="en-US" sz="800"/>
          </a:p>
        </p:txBody>
      </p:sp>
      <p:sp>
        <p:nvSpPr>
          <p:cNvPr id="28" name="Text 24"/>
          <p:cNvSpPr/>
          <p:nvPr/>
        </p:nvSpPr>
        <p:spPr>
          <a:xfrm>
            <a:off x="4892040" y="3200400"/>
            <a:ext cx="3703320" cy="146304"/>
          </a:xfrm>
          <a:prstGeom prst="rect">
            <a:avLst/>
          </a:prstGeom>
          <a:noFill/>
          <a:ln/>
        </p:spPr>
        <p:txBody>
          <a:bodyPr wrap="square" lIns="0" tIns="0" rIns="0" bIns="0" rtlCol="0" anchor="ctr"/>
          <a:lstStyle/>
          <a:p>
            <a:pPr marL="0" indent="0">
              <a:buNone/>
            </a:pPr>
            <a:r>
              <a:rPr lang="en-US" sz="700">
                <a:solidFill>
                  <a:srgbClr val="7A9E7E"/>
                </a:solidFill>
                <a:latin typeface="Calibri" pitchFamily="34" charset="0"/>
                <a:ea typeface="Calibri" pitchFamily="34" charset="-122"/>
                <a:cs typeface="Calibri" pitchFamily="34" charset="-120"/>
              </a:rPr>
              <a:t>[Communication Skills #4]</a:t>
            </a:r>
            <a:endParaRPr lang="en-US" sz="700"/>
          </a:p>
        </p:txBody>
      </p:sp>
      <p:sp>
        <p:nvSpPr>
          <p:cNvPr id="29" name="Shape 25"/>
          <p:cNvSpPr/>
          <p:nvPr/>
        </p:nvSpPr>
        <p:spPr>
          <a:xfrm>
            <a:off x="4754880" y="3419856"/>
            <a:ext cx="3931920" cy="457200"/>
          </a:xfrm>
          <a:prstGeom prst="rect">
            <a:avLst/>
          </a:prstGeom>
          <a:solidFill>
            <a:srgbClr val="F5F0EB"/>
          </a:solidFill>
          <a:ln/>
        </p:spPr>
        <p:txBody>
          <a:bodyPr/>
          <a:lstStyle/>
          <a:p>
            <a:endParaRPr lang="en-US"/>
          </a:p>
        </p:txBody>
      </p:sp>
      <p:sp>
        <p:nvSpPr>
          <p:cNvPr id="30" name="Shape 26"/>
          <p:cNvSpPr/>
          <p:nvPr/>
        </p:nvSpPr>
        <p:spPr>
          <a:xfrm>
            <a:off x="4754880" y="3419856"/>
            <a:ext cx="54864" cy="457200"/>
          </a:xfrm>
          <a:prstGeom prst="rect">
            <a:avLst/>
          </a:prstGeom>
          <a:solidFill>
            <a:srgbClr val="C67B5C"/>
          </a:solidFill>
          <a:ln/>
        </p:spPr>
        <p:txBody>
          <a:bodyPr/>
          <a:lstStyle/>
          <a:p>
            <a:endParaRPr lang="en-US"/>
          </a:p>
        </p:txBody>
      </p:sp>
      <p:sp>
        <p:nvSpPr>
          <p:cNvPr id="31" name="Text 27"/>
          <p:cNvSpPr/>
          <p:nvPr/>
        </p:nvSpPr>
        <p:spPr>
          <a:xfrm>
            <a:off x="4892040" y="3438144"/>
            <a:ext cx="3703320" cy="256032"/>
          </a:xfrm>
          <a:prstGeom prst="rect">
            <a:avLst/>
          </a:prstGeom>
          <a:noFill/>
          <a:ln/>
        </p:spPr>
        <p:txBody>
          <a:bodyPr wrap="square" lIns="0" tIns="0" rIns="0" bIns="0" rtlCol="0" anchor="ctr"/>
          <a:lstStyle/>
          <a:p>
            <a:pPr marL="0" indent="0">
              <a:buNone/>
            </a:pPr>
            <a:r>
              <a:rPr lang="en-US" sz="800">
                <a:solidFill>
                  <a:srgbClr val="36454F"/>
                </a:solidFill>
                <a:latin typeface="Calibri" pitchFamily="34" charset="0"/>
                <a:ea typeface="Calibri" pitchFamily="34" charset="-122"/>
                <a:cs typeface="Calibri" pitchFamily="34" charset="-120"/>
              </a:rPr>
              <a:t>When blocked, I recover with an objection response instead of giving up</a:t>
            </a:r>
            <a:endParaRPr lang="en-US" sz="800"/>
          </a:p>
        </p:txBody>
      </p:sp>
      <p:sp>
        <p:nvSpPr>
          <p:cNvPr id="32" name="Text 28"/>
          <p:cNvSpPr/>
          <p:nvPr/>
        </p:nvSpPr>
        <p:spPr>
          <a:xfrm>
            <a:off x="4892040" y="3712464"/>
            <a:ext cx="3703320" cy="146304"/>
          </a:xfrm>
          <a:prstGeom prst="rect">
            <a:avLst/>
          </a:prstGeom>
          <a:noFill/>
          <a:ln/>
        </p:spPr>
        <p:txBody>
          <a:bodyPr wrap="square" lIns="0" tIns="0" rIns="0" bIns="0" rtlCol="0" anchor="ctr"/>
          <a:lstStyle/>
          <a:p>
            <a:pPr marL="0" indent="0">
              <a:buNone/>
            </a:pPr>
            <a:r>
              <a:rPr lang="en-US" sz="700">
                <a:solidFill>
                  <a:srgbClr val="7A9E7E"/>
                </a:solidFill>
                <a:latin typeface="Calibri" pitchFamily="34" charset="0"/>
                <a:ea typeface="Calibri" pitchFamily="34" charset="-122"/>
                <a:cs typeface="Calibri" pitchFamily="34" charset="-120"/>
              </a:rPr>
              <a:t>[Resilience / Grit #3]</a:t>
            </a:r>
            <a:endParaRPr lang="en-US" sz="700"/>
          </a:p>
        </p:txBody>
      </p:sp>
      <p:sp>
        <p:nvSpPr>
          <p:cNvPr id="33" name="Shape 29"/>
          <p:cNvSpPr/>
          <p:nvPr/>
        </p:nvSpPr>
        <p:spPr>
          <a:xfrm>
            <a:off x="4754880" y="3931920"/>
            <a:ext cx="3931920" cy="457200"/>
          </a:xfrm>
          <a:prstGeom prst="rect">
            <a:avLst/>
          </a:prstGeom>
          <a:solidFill>
            <a:srgbClr val="FFFFFF"/>
          </a:solidFill>
          <a:ln/>
        </p:spPr>
        <p:txBody>
          <a:bodyPr/>
          <a:lstStyle/>
          <a:p>
            <a:endParaRPr lang="en-US"/>
          </a:p>
        </p:txBody>
      </p:sp>
      <p:sp>
        <p:nvSpPr>
          <p:cNvPr id="34" name="Shape 30"/>
          <p:cNvSpPr/>
          <p:nvPr/>
        </p:nvSpPr>
        <p:spPr>
          <a:xfrm>
            <a:off x="4754880" y="3931920"/>
            <a:ext cx="54864" cy="457200"/>
          </a:xfrm>
          <a:prstGeom prst="rect">
            <a:avLst/>
          </a:prstGeom>
          <a:solidFill>
            <a:srgbClr val="C67B5C"/>
          </a:solidFill>
          <a:ln/>
        </p:spPr>
        <p:txBody>
          <a:bodyPr/>
          <a:lstStyle/>
          <a:p>
            <a:endParaRPr lang="en-US"/>
          </a:p>
        </p:txBody>
      </p:sp>
      <p:sp>
        <p:nvSpPr>
          <p:cNvPr id="35" name="Text 31"/>
          <p:cNvSpPr/>
          <p:nvPr/>
        </p:nvSpPr>
        <p:spPr>
          <a:xfrm>
            <a:off x="4892040" y="3950208"/>
            <a:ext cx="3703320" cy="256032"/>
          </a:xfrm>
          <a:prstGeom prst="rect">
            <a:avLst/>
          </a:prstGeom>
          <a:noFill/>
          <a:ln/>
        </p:spPr>
        <p:txBody>
          <a:bodyPr wrap="square" lIns="0" tIns="0" rIns="0" bIns="0" rtlCol="0" anchor="ctr"/>
          <a:lstStyle/>
          <a:p>
            <a:pPr marL="0" indent="0">
              <a:buNone/>
            </a:pPr>
            <a:r>
              <a:rPr lang="en-US" sz="800">
                <a:solidFill>
                  <a:srgbClr val="36454F"/>
                </a:solidFill>
                <a:latin typeface="Calibri" pitchFamily="34" charset="0"/>
                <a:ea typeface="Calibri" pitchFamily="34" charset="-122"/>
                <a:cs typeface="Calibri" pitchFamily="34" charset="-120"/>
              </a:rPr>
              <a:t>I’ve successfully recruited a gatekeeper as an internal champion at least once in the last month</a:t>
            </a:r>
            <a:endParaRPr lang="en-US" sz="800"/>
          </a:p>
        </p:txBody>
      </p:sp>
      <p:sp>
        <p:nvSpPr>
          <p:cNvPr id="36" name="Text 32"/>
          <p:cNvSpPr/>
          <p:nvPr/>
        </p:nvSpPr>
        <p:spPr>
          <a:xfrm>
            <a:off x="4892040" y="4224528"/>
            <a:ext cx="3703320" cy="146304"/>
          </a:xfrm>
          <a:prstGeom prst="rect">
            <a:avLst/>
          </a:prstGeom>
          <a:noFill/>
          <a:ln/>
        </p:spPr>
        <p:txBody>
          <a:bodyPr wrap="square" lIns="0" tIns="0" rIns="0" bIns="0" rtlCol="0" anchor="ctr"/>
          <a:lstStyle/>
          <a:p>
            <a:pPr marL="0" indent="0">
              <a:buNone/>
            </a:pPr>
            <a:r>
              <a:rPr lang="en-US" sz="700">
                <a:solidFill>
                  <a:srgbClr val="7A9E7E"/>
                </a:solidFill>
                <a:latin typeface="Calibri" pitchFamily="34" charset="0"/>
                <a:ea typeface="Calibri" pitchFamily="34" charset="-122"/>
                <a:cs typeface="Calibri" pitchFamily="34" charset="-120"/>
              </a:rPr>
              <a:t>[Drive / Competitive Fire #1]</a:t>
            </a:r>
            <a:endParaRPr lang="en-US" sz="700"/>
          </a:p>
        </p:txBody>
      </p:sp>
      <p:sp>
        <p:nvSpPr>
          <p:cNvPr id="37" name="Text 33"/>
          <p:cNvSpPr/>
          <p:nvPr/>
        </p:nvSpPr>
        <p:spPr>
          <a:xfrm>
            <a:off x="4846320" y="4300185"/>
            <a:ext cx="3749040" cy="228600"/>
          </a:xfrm>
          <a:prstGeom prst="rect">
            <a:avLst/>
          </a:prstGeom>
          <a:noFill/>
          <a:ln/>
        </p:spPr>
        <p:txBody>
          <a:bodyPr wrap="square" lIns="0" tIns="0" rIns="0" bIns="0" rtlCol="0" anchor="ctr"/>
          <a:lstStyle/>
          <a:p>
            <a:pPr marL="0" indent="0">
              <a:buNone/>
            </a:pPr>
            <a:r>
              <a:rPr lang="en-US" sz="800" b="1" i="1">
                <a:solidFill>
                  <a:srgbClr val="6B3A4A"/>
                </a:solidFill>
                <a:latin typeface="Calibri" pitchFamily="34" charset="0"/>
                <a:ea typeface="Calibri" pitchFamily="34" charset="-122"/>
                <a:cs typeface="Calibri" pitchFamily="34" charset="-120"/>
              </a:rPr>
              <a:t>Score yourself 1–5. Below 3 = your coaching focus for next 2 weeks.</a:t>
            </a:r>
            <a:endParaRPr lang="en-US" sz="800"/>
          </a:p>
        </p:txBody>
      </p:sp>
      <p:sp>
        <p:nvSpPr>
          <p:cNvPr id="38" name="Text 34"/>
          <p:cNvSpPr/>
          <p:nvPr/>
        </p:nvSpPr>
        <p:spPr>
          <a:xfrm>
            <a:off x="457200" y="4846320"/>
            <a:ext cx="5943600" cy="228600"/>
          </a:xfrm>
          <a:prstGeom prst="rect">
            <a:avLst/>
          </a:prstGeom>
          <a:noFill/>
          <a:ln/>
        </p:spPr>
        <p:txBody>
          <a:bodyPr wrap="square" lIns="0" tIns="0" rIns="0" bIns="0" rtlCol="0" anchor="ctr"/>
          <a:lstStyle/>
          <a:p>
            <a:pPr marL="0" indent="0">
              <a:buNone/>
            </a:pPr>
            <a:r>
              <a:rPr lang="en-US" sz="900" i="1">
                <a:solidFill>
                  <a:srgbClr val="9CA3AF"/>
                </a:solidFill>
                <a:latin typeface="Calibri" pitchFamily="34" charset="0"/>
                <a:ea typeface="Calibri" pitchFamily="34" charset="-122"/>
                <a:cs typeface="Calibri" pitchFamily="34" charset="-120"/>
              </a:rPr>
              <a:t>Commit to the process. Control the controllables.</a:t>
            </a:r>
            <a:endParaRPr lang="en-US" sz="900"/>
          </a:p>
        </p:txBody>
      </p:sp>
      <p:sp>
        <p:nvSpPr>
          <p:cNvPr id="39" name="Shape 35"/>
          <p:cNvSpPr/>
          <p:nvPr/>
        </p:nvSpPr>
        <p:spPr>
          <a:xfrm>
            <a:off x="6766560" y="4754880"/>
            <a:ext cx="502920" cy="320040"/>
          </a:xfrm>
          <a:prstGeom prst="rect">
            <a:avLst/>
          </a:prstGeom>
          <a:solidFill>
            <a:srgbClr val="1B6B93"/>
          </a:solidFill>
          <a:ln/>
        </p:spPr>
        <p:txBody>
          <a:bodyPr/>
          <a:lstStyle/>
          <a:p>
            <a:endParaRPr lang="en-US"/>
          </a:p>
        </p:txBody>
      </p:sp>
      <p:sp>
        <p:nvSpPr>
          <p:cNvPr id="40" name="Text 36"/>
          <p:cNvSpPr/>
          <p:nvPr/>
        </p:nvSpPr>
        <p:spPr>
          <a:xfrm>
            <a:off x="6766560" y="4754880"/>
            <a:ext cx="502920" cy="320040"/>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9</a:t>
            </a:r>
            <a:endParaRPr 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E2A33"/>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67B5C"/>
          </a:solidFill>
          <a:ln/>
        </p:spPr>
        <p:txBody>
          <a:bodyPr/>
          <a:lstStyle/>
          <a:p>
            <a:endParaRPr lang="en-US"/>
          </a:p>
        </p:txBody>
      </p:sp>
      <p:sp>
        <p:nvSpPr>
          <p:cNvPr id="3" name="Shape 1"/>
          <p:cNvSpPr/>
          <p:nvPr/>
        </p:nvSpPr>
        <p:spPr>
          <a:xfrm>
            <a:off x="109728" y="0"/>
            <a:ext cx="9034272" cy="54864"/>
          </a:xfrm>
          <a:prstGeom prst="rect">
            <a:avLst/>
          </a:prstGeom>
          <a:solidFill>
            <a:srgbClr val="1B6B9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7498080" y="4709160"/>
            <a:ext cx="1234440" cy="365760"/>
          </a:xfrm>
          <a:prstGeom prst="rect">
            <a:avLst/>
          </a:prstGeom>
        </p:spPr>
      </p:pic>
      <p:sp>
        <p:nvSpPr>
          <p:cNvPr id="5" name="Text 2"/>
          <p:cNvSpPr/>
          <p:nvPr/>
        </p:nvSpPr>
        <p:spPr>
          <a:xfrm>
            <a:off x="731520" y="320040"/>
            <a:ext cx="7315200" cy="594360"/>
          </a:xfrm>
          <a:prstGeom prst="rect">
            <a:avLst/>
          </a:prstGeom>
          <a:noFill/>
          <a:ln/>
        </p:spPr>
        <p:txBody>
          <a:bodyPr wrap="square" lIns="0" tIns="0" rIns="0" bIns="0" rtlCol="0" anchor="ctr"/>
          <a:lstStyle/>
          <a:p>
            <a:pPr marL="0" indent="0">
              <a:buNone/>
            </a:pPr>
            <a:r>
              <a:rPr lang="en-US" sz="3200" b="1" kern="0" spc="300">
                <a:solidFill>
                  <a:srgbClr val="F5F0EB"/>
                </a:solidFill>
                <a:latin typeface="Trebuchet MS" pitchFamily="34" charset="0"/>
                <a:ea typeface="Trebuchet MS" pitchFamily="34" charset="-122"/>
                <a:cs typeface="Trebuchet MS" pitchFamily="34" charset="-120"/>
              </a:rPr>
              <a:t>Key Takeaways</a:t>
            </a:r>
            <a:endParaRPr lang="en-US" sz="3200"/>
          </a:p>
        </p:txBody>
      </p:sp>
      <p:sp>
        <p:nvSpPr>
          <p:cNvPr id="6" name="Shape 3"/>
          <p:cNvSpPr/>
          <p:nvPr/>
        </p:nvSpPr>
        <p:spPr>
          <a:xfrm>
            <a:off x="731520" y="914400"/>
            <a:ext cx="1645920" cy="36576"/>
          </a:xfrm>
          <a:prstGeom prst="rect">
            <a:avLst/>
          </a:prstGeom>
          <a:solidFill>
            <a:srgbClr val="C67B5C"/>
          </a:solidFill>
          <a:ln/>
        </p:spPr>
        <p:txBody>
          <a:bodyPr/>
          <a:lstStyle/>
          <a:p>
            <a:endParaRPr lang="en-US"/>
          </a:p>
        </p:txBody>
      </p:sp>
      <p:sp>
        <p:nvSpPr>
          <p:cNvPr id="7" name="Text 4"/>
          <p:cNvSpPr/>
          <p:nvPr/>
        </p:nvSpPr>
        <p:spPr>
          <a:xfrm>
            <a:off x="731520" y="1097280"/>
            <a:ext cx="457200" cy="365760"/>
          </a:xfrm>
          <a:prstGeom prst="rect">
            <a:avLst/>
          </a:prstGeom>
          <a:noFill/>
          <a:ln/>
        </p:spPr>
        <p:txBody>
          <a:bodyPr wrap="square" lIns="0" tIns="0" rIns="0" bIns="0" rtlCol="0" anchor="t"/>
          <a:lstStyle/>
          <a:p>
            <a:pPr marL="0" indent="0">
              <a:buNone/>
            </a:pPr>
            <a:r>
              <a:rPr lang="en-US" sz="1800" b="1">
                <a:solidFill>
                  <a:srgbClr val="C67B5C"/>
                </a:solidFill>
                <a:latin typeface="Trebuchet MS" pitchFamily="34" charset="0"/>
                <a:ea typeface="Trebuchet MS" pitchFamily="34" charset="-122"/>
                <a:cs typeface="Trebuchet MS" pitchFamily="34" charset="-120"/>
              </a:rPr>
              <a:t>01</a:t>
            </a:r>
            <a:endParaRPr lang="en-US" sz="1800"/>
          </a:p>
        </p:txBody>
      </p:sp>
      <p:sp>
        <p:nvSpPr>
          <p:cNvPr id="8" name="Text 5"/>
          <p:cNvSpPr/>
          <p:nvPr/>
        </p:nvSpPr>
        <p:spPr>
          <a:xfrm>
            <a:off x="1280160" y="1097280"/>
            <a:ext cx="6858000" cy="365760"/>
          </a:xfrm>
          <a:prstGeom prst="rect">
            <a:avLst/>
          </a:prstGeom>
          <a:noFill/>
          <a:ln/>
        </p:spPr>
        <p:txBody>
          <a:bodyPr wrap="square" lIns="0" tIns="0" rIns="0" bIns="0" rtlCol="0" anchor="t"/>
          <a:lstStyle/>
          <a:p>
            <a:pPr marL="0" indent="0">
              <a:buNone/>
            </a:pPr>
            <a:r>
              <a:rPr lang="en-US" sz="1050">
                <a:solidFill>
                  <a:srgbClr val="E8E3DE"/>
                </a:solidFill>
                <a:latin typeface="Calibri" pitchFamily="34" charset="0"/>
                <a:ea typeface="Calibri" pitchFamily="34" charset="-122"/>
                <a:cs typeface="Calibri" pitchFamily="34" charset="-120"/>
              </a:rPr>
              <a:t>Gatekeepers are not obstacles. They’re future champions. Change your mindset first — then change your approach.</a:t>
            </a:r>
            <a:endParaRPr lang="en-US" sz="1050"/>
          </a:p>
        </p:txBody>
      </p:sp>
      <p:sp>
        <p:nvSpPr>
          <p:cNvPr id="9" name="Text 6"/>
          <p:cNvSpPr/>
          <p:nvPr/>
        </p:nvSpPr>
        <p:spPr>
          <a:xfrm>
            <a:off x="731520" y="1536192"/>
            <a:ext cx="457200" cy="365760"/>
          </a:xfrm>
          <a:prstGeom prst="rect">
            <a:avLst/>
          </a:prstGeom>
          <a:noFill/>
          <a:ln/>
        </p:spPr>
        <p:txBody>
          <a:bodyPr wrap="square" lIns="0" tIns="0" rIns="0" bIns="0" rtlCol="0" anchor="t"/>
          <a:lstStyle/>
          <a:p>
            <a:pPr marL="0" indent="0">
              <a:buNone/>
            </a:pPr>
            <a:r>
              <a:rPr lang="en-US" sz="1800" b="1">
                <a:solidFill>
                  <a:srgbClr val="C67B5C"/>
                </a:solidFill>
                <a:latin typeface="Trebuchet MS" pitchFamily="34" charset="0"/>
                <a:ea typeface="Trebuchet MS" pitchFamily="34" charset="-122"/>
                <a:cs typeface="Trebuchet MS" pitchFamily="34" charset="-120"/>
              </a:rPr>
              <a:t>02</a:t>
            </a:r>
            <a:endParaRPr lang="en-US" sz="1800"/>
          </a:p>
        </p:txBody>
      </p:sp>
      <p:sp>
        <p:nvSpPr>
          <p:cNvPr id="10" name="Text 7"/>
          <p:cNvSpPr/>
          <p:nvPr/>
        </p:nvSpPr>
        <p:spPr>
          <a:xfrm>
            <a:off x="1280160" y="1536192"/>
            <a:ext cx="6858000" cy="365760"/>
          </a:xfrm>
          <a:prstGeom prst="rect">
            <a:avLst/>
          </a:prstGeom>
          <a:noFill/>
          <a:ln/>
        </p:spPr>
        <p:txBody>
          <a:bodyPr wrap="square" lIns="0" tIns="0" rIns="0" bIns="0" rtlCol="0" anchor="t"/>
          <a:lstStyle/>
          <a:p>
            <a:pPr marL="0" indent="0">
              <a:buNone/>
            </a:pPr>
            <a:r>
              <a:rPr lang="en-US" sz="1050">
                <a:solidFill>
                  <a:srgbClr val="E8E3DE"/>
                </a:solidFill>
                <a:latin typeface="Calibri" pitchFamily="34" charset="0"/>
                <a:ea typeface="Calibri" pitchFamily="34" charset="-122"/>
                <a:cs typeface="Calibri" pitchFamily="34" charset="-120"/>
              </a:rPr>
              <a:t>Three gatekeeper types in our world: Receptionist, Salon Manager, Owner Who Screens. Identify them in 15 seconds.</a:t>
            </a:r>
            <a:endParaRPr lang="en-US" sz="1050"/>
          </a:p>
        </p:txBody>
      </p:sp>
      <p:sp>
        <p:nvSpPr>
          <p:cNvPr id="11" name="Text 8"/>
          <p:cNvSpPr/>
          <p:nvPr/>
        </p:nvSpPr>
        <p:spPr>
          <a:xfrm>
            <a:off x="731520" y="1975104"/>
            <a:ext cx="457200" cy="365760"/>
          </a:xfrm>
          <a:prstGeom prst="rect">
            <a:avLst/>
          </a:prstGeom>
          <a:noFill/>
          <a:ln/>
        </p:spPr>
        <p:txBody>
          <a:bodyPr wrap="square" lIns="0" tIns="0" rIns="0" bIns="0" rtlCol="0" anchor="t"/>
          <a:lstStyle/>
          <a:p>
            <a:pPr marL="0" indent="0">
              <a:buNone/>
            </a:pPr>
            <a:r>
              <a:rPr lang="en-US" sz="1800" b="1">
                <a:solidFill>
                  <a:srgbClr val="C67B5C"/>
                </a:solidFill>
                <a:latin typeface="Trebuchet MS" pitchFamily="34" charset="0"/>
                <a:ea typeface="Trebuchet MS" pitchFamily="34" charset="-122"/>
                <a:cs typeface="Trebuchet MS" pitchFamily="34" charset="-120"/>
              </a:rPr>
              <a:t>03</a:t>
            </a:r>
            <a:endParaRPr lang="en-US" sz="1800"/>
          </a:p>
        </p:txBody>
      </p:sp>
      <p:sp>
        <p:nvSpPr>
          <p:cNvPr id="12" name="Text 9"/>
          <p:cNvSpPr/>
          <p:nvPr/>
        </p:nvSpPr>
        <p:spPr>
          <a:xfrm>
            <a:off x="1280160" y="1975104"/>
            <a:ext cx="6858000" cy="365760"/>
          </a:xfrm>
          <a:prstGeom prst="rect">
            <a:avLst/>
          </a:prstGeom>
          <a:noFill/>
          <a:ln/>
        </p:spPr>
        <p:txBody>
          <a:bodyPr wrap="square" lIns="0" tIns="0" rIns="0" bIns="0" rtlCol="0" anchor="t"/>
          <a:lstStyle/>
          <a:p>
            <a:pPr marL="0" indent="0">
              <a:buNone/>
            </a:pPr>
            <a:r>
              <a:rPr lang="en-US" sz="1050">
                <a:solidFill>
                  <a:srgbClr val="E8E3DE"/>
                </a:solidFill>
                <a:latin typeface="Calibri" pitchFamily="34" charset="0"/>
                <a:ea typeface="Calibri" pitchFamily="34" charset="-122"/>
                <a:cs typeface="Calibri" pitchFamily="34" charset="-120"/>
              </a:rPr>
              <a:t>The Triple Bypass: First-Name Drop, Informed Question, Champion Recruit. Have all three ready on every dial.</a:t>
            </a:r>
            <a:endParaRPr lang="en-US" sz="1050"/>
          </a:p>
        </p:txBody>
      </p:sp>
      <p:sp>
        <p:nvSpPr>
          <p:cNvPr id="13" name="Text 10"/>
          <p:cNvSpPr/>
          <p:nvPr/>
        </p:nvSpPr>
        <p:spPr>
          <a:xfrm>
            <a:off x="731520" y="2414016"/>
            <a:ext cx="457200" cy="365760"/>
          </a:xfrm>
          <a:prstGeom prst="rect">
            <a:avLst/>
          </a:prstGeom>
          <a:noFill/>
          <a:ln/>
        </p:spPr>
        <p:txBody>
          <a:bodyPr wrap="square" lIns="0" tIns="0" rIns="0" bIns="0" rtlCol="0" anchor="t"/>
          <a:lstStyle/>
          <a:p>
            <a:pPr marL="0" indent="0">
              <a:buNone/>
            </a:pPr>
            <a:r>
              <a:rPr lang="en-US" sz="1800" b="1">
                <a:solidFill>
                  <a:srgbClr val="C67B5C"/>
                </a:solidFill>
                <a:latin typeface="Trebuchet MS" pitchFamily="34" charset="0"/>
                <a:ea typeface="Trebuchet MS" pitchFamily="34" charset="-122"/>
                <a:cs typeface="Trebuchet MS" pitchFamily="34" charset="-120"/>
              </a:rPr>
              <a:t>04</a:t>
            </a:r>
            <a:endParaRPr lang="en-US" sz="1800"/>
          </a:p>
        </p:txBody>
      </p:sp>
      <p:sp>
        <p:nvSpPr>
          <p:cNvPr id="14" name="Text 11"/>
          <p:cNvSpPr/>
          <p:nvPr/>
        </p:nvSpPr>
        <p:spPr>
          <a:xfrm>
            <a:off x="1280160" y="2414016"/>
            <a:ext cx="6858000" cy="365760"/>
          </a:xfrm>
          <a:prstGeom prst="rect">
            <a:avLst/>
          </a:prstGeom>
          <a:noFill/>
          <a:ln/>
        </p:spPr>
        <p:txBody>
          <a:bodyPr wrap="square" lIns="0" tIns="0" rIns="0" bIns="0" rtlCol="0" anchor="t"/>
          <a:lstStyle/>
          <a:p>
            <a:pPr marL="0" indent="0">
              <a:buNone/>
            </a:pPr>
            <a:r>
              <a:rPr lang="en-US" sz="1050">
                <a:solidFill>
                  <a:srgbClr val="E8E3DE"/>
                </a:solidFill>
                <a:latin typeface="Calibri" pitchFamily="34" charset="0"/>
                <a:ea typeface="Calibri" pitchFamily="34" charset="-122"/>
                <a:cs typeface="Calibri" pitchFamily="34" charset="-120"/>
              </a:rPr>
              <a:t>Never dial without the owner’s name. Website, Google, LinkedIn, Instagram — 3 minutes of research changes everything.</a:t>
            </a:r>
            <a:endParaRPr lang="en-US" sz="1050"/>
          </a:p>
        </p:txBody>
      </p:sp>
      <p:sp>
        <p:nvSpPr>
          <p:cNvPr id="15" name="Text 12"/>
          <p:cNvSpPr/>
          <p:nvPr/>
        </p:nvSpPr>
        <p:spPr>
          <a:xfrm>
            <a:off x="731520" y="2852928"/>
            <a:ext cx="457200" cy="365760"/>
          </a:xfrm>
          <a:prstGeom prst="rect">
            <a:avLst/>
          </a:prstGeom>
          <a:noFill/>
          <a:ln/>
        </p:spPr>
        <p:txBody>
          <a:bodyPr wrap="square" lIns="0" tIns="0" rIns="0" bIns="0" rtlCol="0" anchor="t"/>
          <a:lstStyle/>
          <a:p>
            <a:pPr marL="0" indent="0">
              <a:buNone/>
            </a:pPr>
            <a:r>
              <a:rPr lang="en-US" sz="1800" b="1">
                <a:solidFill>
                  <a:srgbClr val="C67B5C"/>
                </a:solidFill>
                <a:latin typeface="Trebuchet MS" pitchFamily="34" charset="0"/>
                <a:ea typeface="Trebuchet MS" pitchFamily="34" charset="-122"/>
                <a:cs typeface="Trebuchet MS" pitchFamily="34" charset="-120"/>
              </a:rPr>
              <a:t>05</a:t>
            </a:r>
            <a:endParaRPr lang="en-US" sz="1800"/>
          </a:p>
        </p:txBody>
      </p:sp>
      <p:sp>
        <p:nvSpPr>
          <p:cNvPr id="16" name="Text 13"/>
          <p:cNvSpPr/>
          <p:nvPr/>
        </p:nvSpPr>
        <p:spPr>
          <a:xfrm>
            <a:off x="1280160" y="2852928"/>
            <a:ext cx="6858000" cy="365760"/>
          </a:xfrm>
          <a:prstGeom prst="rect">
            <a:avLst/>
          </a:prstGeom>
          <a:noFill/>
          <a:ln/>
        </p:spPr>
        <p:txBody>
          <a:bodyPr wrap="square" lIns="0" tIns="0" rIns="0" bIns="0" rtlCol="0" anchor="t"/>
          <a:lstStyle/>
          <a:p>
            <a:pPr marL="0" indent="0">
              <a:buNone/>
            </a:pPr>
            <a:r>
              <a:rPr lang="en-US" sz="1050">
                <a:solidFill>
                  <a:srgbClr val="E8E3DE"/>
                </a:solidFill>
                <a:latin typeface="Calibri" pitchFamily="34" charset="0"/>
                <a:ea typeface="Calibri" pitchFamily="34" charset="-122"/>
                <a:cs typeface="Calibri" pitchFamily="34" charset="-120"/>
              </a:rPr>
              <a:t>Front desk managers experience software pain every day. Ask about THEIR world and they’ll bring you to the owner.</a:t>
            </a:r>
            <a:endParaRPr lang="en-US" sz="1050"/>
          </a:p>
        </p:txBody>
      </p:sp>
      <p:sp>
        <p:nvSpPr>
          <p:cNvPr id="17" name="Text 14"/>
          <p:cNvSpPr/>
          <p:nvPr/>
        </p:nvSpPr>
        <p:spPr>
          <a:xfrm>
            <a:off x="731520" y="3291840"/>
            <a:ext cx="457200" cy="365760"/>
          </a:xfrm>
          <a:prstGeom prst="rect">
            <a:avLst/>
          </a:prstGeom>
          <a:noFill/>
          <a:ln/>
        </p:spPr>
        <p:txBody>
          <a:bodyPr wrap="square" lIns="0" tIns="0" rIns="0" bIns="0" rtlCol="0" anchor="t"/>
          <a:lstStyle/>
          <a:p>
            <a:pPr marL="0" indent="0">
              <a:buNone/>
            </a:pPr>
            <a:r>
              <a:rPr lang="en-US" sz="1800" b="1">
                <a:solidFill>
                  <a:srgbClr val="C67B5C"/>
                </a:solidFill>
                <a:latin typeface="Trebuchet MS" pitchFamily="34" charset="0"/>
                <a:ea typeface="Trebuchet MS" pitchFamily="34" charset="-122"/>
                <a:cs typeface="Trebuchet MS" pitchFamily="34" charset="-120"/>
              </a:rPr>
              <a:t>06</a:t>
            </a:r>
            <a:endParaRPr lang="en-US" sz="1800"/>
          </a:p>
        </p:txBody>
      </p:sp>
      <p:sp>
        <p:nvSpPr>
          <p:cNvPr id="18" name="Text 15"/>
          <p:cNvSpPr/>
          <p:nvPr/>
        </p:nvSpPr>
        <p:spPr>
          <a:xfrm>
            <a:off x="1280160" y="3291840"/>
            <a:ext cx="6858000" cy="365760"/>
          </a:xfrm>
          <a:prstGeom prst="rect">
            <a:avLst/>
          </a:prstGeom>
          <a:noFill/>
          <a:ln/>
        </p:spPr>
        <p:txBody>
          <a:bodyPr wrap="square" lIns="0" tIns="0" rIns="0" bIns="0" rtlCol="0" anchor="t"/>
          <a:lstStyle/>
          <a:p>
            <a:pPr marL="0" indent="0">
              <a:buNone/>
            </a:pPr>
            <a:r>
              <a:rPr lang="en-US" sz="1050">
                <a:solidFill>
                  <a:srgbClr val="E8E3DE"/>
                </a:solidFill>
                <a:latin typeface="Calibri" pitchFamily="34" charset="0"/>
                <a:ea typeface="Calibri" pitchFamily="34" charset="-122"/>
                <a:cs typeface="Calibri" pitchFamily="34" charset="-120"/>
              </a:rPr>
              <a:t>Arm your champion. Send them a one-pager, a tailored email, something they can forward. Make it easy to sell internally.</a:t>
            </a:r>
            <a:endParaRPr lang="en-US" sz="1050"/>
          </a:p>
        </p:txBody>
      </p:sp>
      <p:sp>
        <p:nvSpPr>
          <p:cNvPr id="19" name="Text 16"/>
          <p:cNvSpPr/>
          <p:nvPr/>
        </p:nvSpPr>
        <p:spPr>
          <a:xfrm>
            <a:off x="731520" y="3730752"/>
            <a:ext cx="457200" cy="365760"/>
          </a:xfrm>
          <a:prstGeom prst="rect">
            <a:avLst/>
          </a:prstGeom>
          <a:noFill/>
          <a:ln/>
        </p:spPr>
        <p:txBody>
          <a:bodyPr wrap="square" lIns="0" tIns="0" rIns="0" bIns="0" rtlCol="0" anchor="t"/>
          <a:lstStyle/>
          <a:p>
            <a:pPr marL="0" indent="0">
              <a:buNone/>
            </a:pPr>
            <a:r>
              <a:rPr lang="en-US" sz="1800" b="1">
                <a:solidFill>
                  <a:srgbClr val="C67B5C"/>
                </a:solidFill>
                <a:latin typeface="Trebuchet MS" pitchFamily="34" charset="0"/>
                <a:ea typeface="Trebuchet MS" pitchFamily="34" charset="-122"/>
                <a:cs typeface="Trebuchet MS" pitchFamily="34" charset="-120"/>
              </a:rPr>
              <a:t>07</a:t>
            </a:r>
            <a:endParaRPr lang="en-US" sz="1800"/>
          </a:p>
        </p:txBody>
      </p:sp>
      <p:sp>
        <p:nvSpPr>
          <p:cNvPr id="20" name="Text 17"/>
          <p:cNvSpPr/>
          <p:nvPr/>
        </p:nvSpPr>
        <p:spPr>
          <a:xfrm>
            <a:off x="1280160" y="3730752"/>
            <a:ext cx="6858000" cy="365760"/>
          </a:xfrm>
          <a:prstGeom prst="rect">
            <a:avLst/>
          </a:prstGeom>
          <a:noFill/>
          <a:ln/>
        </p:spPr>
        <p:txBody>
          <a:bodyPr wrap="square" lIns="0" tIns="0" rIns="0" bIns="0" rtlCol="0" anchor="t"/>
          <a:lstStyle/>
          <a:p>
            <a:pPr marL="0" indent="0">
              <a:buNone/>
            </a:pPr>
            <a:r>
              <a:rPr lang="en-US" sz="1050">
                <a:solidFill>
                  <a:srgbClr val="E8E3DE"/>
                </a:solidFill>
                <a:latin typeface="Calibri" pitchFamily="34" charset="0"/>
                <a:ea typeface="Calibri" pitchFamily="34" charset="-122"/>
                <a:cs typeface="Calibri" pitchFamily="34" charset="-120"/>
              </a:rPr>
              <a:t>When blocked: Time Check, Trigger Message, Isolation, Pivot to Discovery, Disarm + Redirect. Never just accept “no.”</a:t>
            </a:r>
            <a:endParaRPr lang="en-US" sz="1050"/>
          </a:p>
        </p:txBody>
      </p:sp>
      <p:sp>
        <p:nvSpPr>
          <p:cNvPr id="21" name="Text 18"/>
          <p:cNvSpPr/>
          <p:nvPr/>
        </p:nvSpPr>
        <p:spPr>
          <a:xfrm>
            <a:off x="731520" y="4169664"/>
            <a:ext cx="457200" cy="365760"/>
          </a:xfrm>
          <a:prstGeom prst="rect">
            <a:avLst/>
          </a:prstGeom>
          <a:noFill/>
          <a:ln/>
        </p:spPr>
        <p:txBody>
          <a:bodyPr wrap="square" lIns="0" tIns="0" rIns="0" bIns="0" rtlCol="0" anchor="t"/>
          <a:lstStyle/>
          <a:p>
            <a:pPr marL="0" indent="0">
              <a:buNone/>
            </a:pPr>
            <a:r>
              <a:rPr lang="en-US" sz="1800" b="1">
                <a:solidFill>
                  <a:srgbClr val="C67B5C"/>
                </a:solidFill>
                <a:latin typeface="Trebuchet MS" pitchFamily="34" charset="0"/>
                <a:ea typeface="Trebuchet MS" pitchFamily="34" charset="-122"/>
                <a:cs typeface="Trebuchet MS" pitchFamily="34" charset="-120"/>
              </a:rPr>
              <a:t>08</a:t>
            </a:r>
            <a:endParaRPr lang="en-US" sz="1800"/>
          </a:p>
        </p:txBody>
      </p:sp>
      <p:sp>
        <p:nvSpPr>
          <p:cNvPr id="22" name="Text 19"/>
          <p:cNvSpPr/>
          <p:nvPr/>
        </p:nvSpPr>
        <p:spPr>
          <a:xfrm>
            <a:off x="1280160" y="4169664"/>
            <a:ext cx="6858000" cy="365760"/>
          </a:xfrm>
          <a:prstGeom prst="rect">
            <a:avLst/>
          </a:prstGeom>
          <a:noFill/>
          <a:ln/>
        </p:spPr>
        <p:txBody>
          <a:bodyPr wrap="square" lIns="0" tIns="0" rIns="0" bIns="0" rtlCol="0" anchor="t"/>
          <a:lstStyle/>
          <a:p>
            <a:pPr marL="0" indent="0">
              <a:buNone/>
            </a:pPr>
            <a:r>
              <a:rPr lang="en-US" sz="1050">
                <a:solidFill>
                  <a:srgbClr val="E8E3DE"/>
                </a:solidFill>
                <a:latin typeface="Calibri" pitchFamily="34" charset="0"/>
                <a:ea typeface="Calibri" pitchFamily="34" charset="-122"/>
                <a:cs typeface="Calibri" pitchFamily="34" charset="-120"/>
              </a:rPr>
              <a:t>Sound like someone who knows their world, not someone who’s reading a script. Warmth and specificity get you through.</a:t>
            </a:r>
            <a:endParaRPr lang="en-US" sz="1050"/>
          </a:p>
        </p:txBody>
      </p:sp>
      <p:sp>
        <p:nvSpPr>
          <p:cNvPr id="24" name="Text 21"/>
          <p:cNvSpPr/>
          <p:nvPr/>
        </p:nvSpPr>
        <p:spPr>
          <a:xfrm>
            <a:off x="731520" y="4664379"/>
            <a:ext cx="6400800" cy="228600"/>
          </a:xfrm>
          <a:prstGeom prst="rect">
            <a:avLst/>
          </a:prstGeom>
          <a:noFill/>
          <a:ln/>
        </p:spPr>
        <p:txBody>
          <a:bodyPr wrap="square" lIns="0" tIns="0" rIns="0" bIns="0" rtlCol="0" anchor="ctr"/>
          <a:lstStyle/>
          <a:p>
            <a:pPr marL="0" indent="0">
              <a:buNone/>
            </a:pPr>
            <a:r>
              <a:rPr lang="en-US" sz="900" i="1">
                <a:solidFill>
                  <a:srgbClr val="9CA3AF"/>
                </a:solidFill>
                <a:latin typeface="Calibri" pitchFamily="34" charset="0"/>
                <a:ea typeface="Calibri" pitchFamily="34" charset="-122"/>
                <a:cs typeface="Calibri" pitchFamily="34" charset="-120"/>
              </a:rPr>
              <a:t>Commit to the process. Control the controllables.</a:t>
            </a:r>
            <a:endParaRPr lang="en-US" sz="9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9</Slides>
  <Notes>9</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1</cp:revision>
  <dcterms:created xsi:type="dcterms:W3CDTF">2026-03-10T14:52:50Z</dcterms:created>
  <dcterms:modified xsi:type="dcterms:W3CDTF">2026-03-10T15:19:58Z</dcterms:modified>
</cp:coreProperties>
</file>