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35DB33-4E42-F951-B9DC-A5E6233AED54}" v="34" dt="2026-03-10T15:44:26.022"/>
    <p1510:client id="{C72D25A1-AD30-730B-DC68-1D9E6BCC369F}" v="1" dt="2026-03-10T14:48:25.2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rry Moorehead" userId="S::tmoorehead@meevo.com::a2a6df63-b8e3-4cea-aa6c-ded8cdcb5bd7" providerId="AD" clId="Web-{C635DB33-4E42-F951-B9DC-A5E6233AED54}"/>
    <pc:docChg chg="modSld">
      <pc:chgData name="Terry Moorehead" userId="S::tmoorehead@meevo.com::a2a6df63-b8e3-4cea-aa6c-ded8cdcb5bd7" providerId="AD" clId="Web-{C635DB33-4E42-F951-B9DC-A5E6233AED54}" dt="2026-03-10T15:44:26.022" v="33" actId="1076"/>
      <pc:docMkLst>
        <pc:docMk/>
      </pc:docMkLst>
      <pc:sldChg chg="modSp">
        <pc:chgData name="Terry Moorehead" userId="S::tmoorehead@meevo.com::a2a6df63-b8e3-4cea-aa6c-ded8cdcb5bd7" providerId="AD" clId="Web-{C635DB33-4E42-F951-B9DC-A5E6233AED54}" dt="2026-03-10T15:42:26.709" v="13" actId="20577"/>
        <pc:sldMkLst>
          <pc:docMk/>
          <pc:sldMk cId="0" sldId="258"/>
        </pc:sldMkLst>
        <pc:spChg chg="mod">
          <ac:chgData name="Terry Moorehead" userId="S::tmoorehead@meevo.com::a2a6df63-b8e3-4cea-aa6c-ded8cdcb5bd7" providerId="AD" clId="Web-{C635DB33-4E42-F951-B9DC-A5E6233AED54}" dt="2026-03-10T15:41:55.396" v="1" actId="20577"/>
          <ac:spMkLst>
            <pc:docMk/>
            <pc:sldMk cId="0" sldId="258"/>
            <ac:spMk id="12" creationId="{00000000-0000-0000-0000-000000000000}"/>
          </ac:spMkLst>
        </pc:spChg>
        <pc:spChg chg="mod">
          <ac:chgData name="Terry Moorehead" userId="S::tmoorehead@meevo.com::a2a6df63-b8e3-4cea-aa6c-ded8cdcb5bd7" providerId="AD" clId="Web-{C635DB33-4E42-F951-B9DC-A5E6233AED54}" dt="2026-03-10T15:42:13.349" v="8" actId="20577"/>
          <ac:spMkLst>
            <pc:docMk/>
            <pc:sldMk cId="0" sldId="258"/>
            <ac:spMk id="15" creationId="{00000000-0000-0000-0000-000000000000}"/>
          </ac:spMkLst>
        </pc:spChg>
        <pc:spChg chg="mod">
          <ac:chgData name="Terry Moorehead" userId="S::tmoorehead@meevo.com::a2a6df63-b8e3-4cea-aa6c-ded8cdcb5bd7" providerId="AD" clId="Web-{C635DB33-4E42-F951-B9DC-A5E6233AED54}" dt="2026-03-10T15:41:58.771" v="3" actId="20577"/>
          <ac:spMkLst>
            <pc:docMk/>
            <pc:sldMk cId="0" sldId="258"/>
            <ac:spMk id="22" creationId="{00000000-0000-0000-0000-000000000000}"/>
          </ac:spMkLst>
        </pc:spChg>
        <pc:spChg chg="mod">
          <ac:chgData name="Terry Moorehead" userId="S::tmoorehead@meevo.com::a2a6df63-b8e3-4cea-aa6c-ded8cdcb5bd7" providerId="AD" clId="Web-{C635DB33-4E42-F951-B9DC-A5E6233AED54}" dt="2026-03-10T15:42:16.459" v="9" actId="20577"/>
          <ac:spMkLst>
            <pc:docMk/>
            <pc:sldMk cId="0" sldId="258"/>
            <ac:spMk id="25" creationId="{00000000-0000-0000-0000-000000000000}"/>
          </ac:spMkLst>
        </pc:spChg>
        <pc:spChg chg="mod">
          <ac:chgData name="Terry Moorehead" userId="S::tmoorehead@meevo.com::a2a6df63-b8e3-4cea-aa6c-ded8cdcb5bd7" providerId="AD" clId="Web-{C635DB33-4E42-F951-B9DC-A5E6233AED54}" dt="2026-03-10T15:42:03.162" v="4" actId="20577"/>
          <ac:spMkLst>
            <pc:docMk/>
            <pc:sldMk cId="0" sldId="258"/>
            <ac:spMk id="32" creationId="{00000000-0000-0000-0000-000000000000}"/>
          </ac:spMkLst>
        </pc:spChg>
        <pc:spChg chg="mod">
          <ac:chgData name="Terry Moorehead" userId="S::tmoorehead@meevo.com::a2a6df63-b8e3-4cea-aa6c-ded8cdcb5bd7" providerId="AD" clId="Web-{C635DB33-4E42-F951-B9DC-A5E6233AED54}" dt="2026-03-10T15:42:20.553" v="11" actId="20577"/>
          <ac:spMkLst>
            <pc:docMk/>
            <pc:sldMk cId="0" sldId="258"/>
            <ac:spMk id="35" creationId="{00000000-0000-0000-0000-000000000000}"/>
          </ac:spMkLst>
        </pc:spChg>
        <pc:spChg chg="mod">
          <ac:chgData name="Terry Moorehead" userId="S::tmoorehead@meevo.com::a2a6df63-b8e3-4cea-aa6c-ded8cdcb5bd7" providerId="AD" clId="Web-{C635DB33-4E42-F951-B9DC-A5E6233AED54}" dt="2026-03-10T15:42:08.849" v="6" actId="20577"/>
          <ac:spMkLst>
            <pc:docMk/>
            <pc:sldMk cId="0" sldId="258"/>
            <ac:spMk id="42" creationId="{00000000-0000-0000-0000-000000000000}"/>
          </ac:spMkLst>
        </pc:spChg>
        <pc:spChg chg="mod">
          <ac:chgData name="Terry Moorehead" userId="S::tmoorehead@meevo.com::a2a6df63-b8e3-4cea-aa6c-ded8cdcb5bd7" providerId="AD" clId="Web-{C635DB33-4E42-F951-B9DC-A5E6233AED54}" dt="2026-03-10T15:42:26.709" v="13" actId="20577"/>
          <ac:spMkLst>
            <pc:docMk/>
            <pc:sldMk cId="0" sldId="258"/>
            <ac:spMk id="45" creationId="{00000000-0000-0000-0000-000000000000}"/>
          </ac:spMkLst>
        </pc:spChg>
      </pc:sldChg>
      <pc:sldChg chg="modSp">
        <pc:chgData name="Terry Moorehead" userId="S::tmoorehead@meevo.com::a2a6df63-b8e3-4cea-aa6c-ded8cdcb5bd7" providerId="AD" clId="Web-{C635DB33-4E42-F951-B9DC-A5E6233AED54}" dt="2026-03-10T15:42:40.021" v="15" actId="1076"/>
        <pc:sldMkLst>
          <pc:docMk/>
          <pc:sldMk cId="0" sldId="260"/>
        </pc:sldMkLst>
        <pc:spChg chg="mod">
          <ac:chgData name="Terry Moorehead" userId="S::tmoorehead@meevo.com::a2a6df63-b8e3-4cea-aa6c-ded8cdcb5bd7" providerId="AD" clId="Web-{C635DB33-4E42-F951-B9DC-A5E6233AED54}" dt="2026-03-10T15:42:36.975" v="14" actId="1076"/>
          <ac:spMkLst>
            <pc:docMk/>
            <pc:sldMk cId="0" sldId="260"/>
            <ac:spMk id="12" creationId="{00000000-0000-0000-0000-000000000000}"/>
          </ac:spMkLst>
        </pc:spChg>
        <pc:spChg chg="mod">
          <ac:chgData name="Terry Moorehead" userId="S::tmoorehead@meevo.com::a2a6df63-b8e3-4cea-aa6c-ded8cdcb5bd7" providerId="AD" clId="Web-{C635DB33-4E42-F951-B9DC-A5E6233AED54}" dt="2026-03-10T15:42:40.021" v="15" actId="1076"/>
          <ac:spMkLst>
            <pc:docMk/>
            <pc:sldMk cId="0" sldId="260"/>
            <ac:spMk id="17" creationId="{00000000-0000-0000-0000-000000000000}"/>
          </ac:spMkLst>
        </pc:spChg>
      </pc:sldChg>
      <pc:sldChg chg="modSp">
        <pc:chgData name="Terry Moorehead" userId="S::tmoorehead@meevo.com::a2a6df63-b8e3-4cea-aa6c-ded8cdcb5bd7" providerId="AD" clId="Web-{C635DB33-4E42-F951-B9DC-A5E6233AED54}" dt="2026-03-10T15:43:26.756" v="22" actId="20577"/>
        <pc:sldMkLst>
          <pc:docMk/>
          <pc:sldMk cId="0" sldId="262"/>
        </pc:sldMkLst>
        <pc:spChg chg="mod">
          <ac:chgData name="Terry Moorehead" userId="S::tmoorehead@meevo.com::a2a6df63-b8e3-4cea-aa6c-ded8cdcb5bd7" providerId="AD" clId="Web-{C635DB33-4E42-F951-B9DC-A5E6233AED54}" dt="2026-03-10T15:42:59.865" v="16" actId="20577"/>
          <ac:spMkLst>
            <pc:docMk/>
            <pc:sldMk cId="0" sldId="262"/>
            <ac:spMk id="14" creationId="{00000000-0000-0000-0000-000000000000}"/>
          </ac:spMkLst>
        </pc:spChg>
        <pc:spChg chg="mod">
          <ac:chgData name="Terry Moorehead" userId="S::tmoorehead@meevo.com::a2a6df63-b8e3-4cea-aa6c-ded8cdcb5bd7" providerId="AD" clId="Web-{C635DB33-4E42-F951-B9DC-A5E6233AED54}" dt="2026-03-10T15:43:05.271" v="17" actId="20577"/>
          <ac:spMkLst>
            <pc:docMk/>
            <pc:sldMk cId="0" sldId="262"/>
            <ac:spMk id="15" creationId="{00000000-0000-0000-0000-000000000000}"/>
          </ac:spMkLst>
        </pc:spChg>
        <pc:spChg chg="mod">
          <ac:chgData name="Terry Moorehead" userId="S::tmoorehead@meevo.com::a2a6df63-b8e3-4cea-aa6c-ded8cdcb5bd7" providerId="AD" clId="Web-{C635DB33-4E42-F951-B9DC-A5E6233AED54}" dt="2026-03-10T15:43:09.896" v="18" actId="20577"/>
          <ac:spMkLst>
            <pc:docMk/>
            <pc:sldMk cId="0" sldId="262"/>
            <ac:spMk id="24" creationId="{00000000-0000-0000-0000-000000000000}"/>
          </ac:spMkLst>
        </pc:spChg>
        <pc:spChg chg="mod">
          <ac:chgData name="Terry Moorehead" userId="S::tmoorehead@meevo.com::a2a6df63-b8e3-4cea-aa6c-ded8cdcb5bd7" providerId="AD" clId="Web-{C635DB33-4E42-F951-B9DC-A5E6233AED54}" dt="2026-03-10T15:43:15.490" v="19" actId="20577"/>
          <ac:spMkLst>
            <pc:docMk/>
            <pc:sldMk cId="0" sldId="262"/>
            <ac:spMk id="25" creationId="{00000000-0000-0000-0000-000000000000}"/>
          </ac:spMkLst>
        </pc:spChg>
        <pc:spChg chg="mod">
          <ac:chgData name="Terry Moorehead" userId="S::tmoorehead@meevo.com::a2a6df63-b8e3-4cea-aa6c-ded8cdcb5bd7" providerId="AD" clId="Web-{C635DB33-4E42-F951-B9DC-A5E6233AED54}" dt="2026-03-10T15:43:21.803" v="21" actId="20577"/>
          <ac:spMkLst>
            <pc:docMk/>
            <pc:sldMk cId="0" sldId="262"/>
            <ac:spMk id="34" creationId="{00000000-0000-0000-0000-000000000000}"/>
          </ac:spMkLst>
        </pc:spChg>
        <pc:spChg chg="mod">
          <ac:chgData name="Terry Moorehead" userId="S::tmoorehead@meevo.com::a2a6df63-b8e3-4cea-aa6c-ded8cdcb5bd7" providerId="AD" clId="Web-{C635DB33-4E42-F951-B9DC-A5E6233AED54}" dt="2026-03-10T15:43:26.756" v="22" actId="20577"/>
          <ac:spMkLst>
            <pc:docMk/>
            <pc:sldMk cId="0" sldId="262"/>
            <ac:spMk id="35" creationId="{00000000-0000-0000-0000-000000000000}"/>
          </ac:spMkLst>
        </pc:spChg>
      </pc:sldChg>
      <pc:sldChg chg="delSp modSp">
        <pc:chgData name="Terry Moorehead" userId="S::tmoorehead@meevo.com::a2a6df63-b8e3-4cea-aa6c-ded8cdcb5bd7" providerId="AD" clId="Web-{C635DB33-4E42-F951-B9DC-A5E6233AED54}" dt="2026-03-10T15:44:13.412" v="31"/>
        <pc:sldMkLst>
          <pc:docMk/>
          <pc:sldMk cId="0" sldId="264"/>
        </pc:sldMkLst>
        <pc:spChg chg="mod">
          <ac:chgData name="Terry Moorehead" userId="S::tmoorehead@meevo.com::a2a6df63-b8e3-4cea-aa6c-ded8cdcb5bd7" providerId="AD" clId="Web-{C635DB33-4E42-F951-B9DC-A5E6233AED54}" dt="2026-03-10T15:43:38.506" v="23" actId="1076"/>
          <ac:spMkLst>
            <pc:docMk/>
            <pc:sldMk cId="0" sldId="264"/>
            <ac:spMk id="9" creationId="{00000000-0000-0000-0000-000000000000}"/>
          </ac:spMkLst>
        </pc:spChg>
        <pc:spChg chg="del">
          <ac:chgData name="Terry Moorehead" userId="S::tmoorehead@meevo.com::a2a6df63-b8e3-4cea-aa6c-ded8cdcb5bd7" providerId="AD" clId="Web-{C635DB33-4E42-F951-B9DC-A5E6233AED54}" dt="2026-03-10T15:43:56.584" v="25"/>
          <ac:spMkLst>
            <pc:docMk/>
            <pc:sldMk cId="0" sldId="264"/>
            <ac:spMk id="16" creationId="{00000000-0000-0000-0000-000000000000}"/>
          </ac:spMkLst>
        </pc:spChg>
        <pc:spChg chg="del mod">
          <ac:chgData name="Terry Moorehead" userId="S::tmoorehead@meevo.com::a2a6df63-b8e3-4cea-aa6c-ded8cdcb5bd7" providerId="AD" clId="Web-{C635DB33-4E42-F951-B9DC-A5E6233AED54}" dt="2026-03-10T15:44:02.428" v="27"/>
          <ac:spMkLst>
            <pc:docMk/>
            <pc:sldMk cId="0" sldId="264"/>
            <ac:spMk id="20" creationId="{00000000-0000-0000-0000-000000000000}"/>
          </ac:spMkLst>
        </pc:spChg>
        <pc:spChg chg="del">
          <ac:chgData name="Terry Moorehead" userId="S::tmoorehead@meevo.com::a2a6df63-b8e3-4cea-aa6c-ded8cdcb5bd7" providerId="AD" clId="Web-{C635DB33-4E42-F951-B9DC-A5E6233AED54}" dt="2026-03-10T15:44:04.990" v="28"/>
          <ac:spMkLst>
            <pc:docMk/>
            <pc:sldMk cId="0" sldId="264"/>
            <ac:spMk id="24" creationId="{00000000-0000-0000-0000-000000000000}"/>
          </ac:spMkLst>
        </pc:spChg>
        <pc:spChg chg="del">
          <ac:chgData name="Terry Moorehead" userId="S::tmoorehead@meevo.com::a2a6df63-b8e3-4cea-aa6c-ded8cdcb5bd7" providerId="AD" clId="Web-{C635DB33-4E42-F951-B9DC-A5E6233AED54}" dt="2026-03-10T15:44:08.022" v="29"/>
          <ac:spMkLst>
            <pc:docMk/>
            <pc:sldMk cId="0" sldId="264"/>
            <ac:spMk id="28" creationId="{00000000-0000-0000-0000-000000000000}"/>
          </ac:spMkLst>
        </pc:spChg>
        <pc:spChg chg="del">
          <ac:chgData name="Terry Moorehead" userId="S::tmoorehead@meevo.com::a2a6df63-b8e3-4cea-aa6c-ded8cdcb5bd7" providerId="AD" clId="Web-{C635DB33-4E42-F951-B9DC-A5E6233AED54}" dt="2026-03-10T15:44:10.803" v="30"/>
          <ac:spMkLst>
            <pc:docMk/>
            <pc:sldMk cId="0" sldId="264"/>
            <ac:spMk id="32" creationId="{00000000-0000-0000-0000-000000000000}"/>
          </ac:spMkLst>
        </pc:spChg>
        <pc:spChg chg="del">
          <ac:chgData name="Terry Moorehead" userId="S::tmoorehead@meevo.com::a2a6df63-b8e3-4cea-aa6c-ded8cdcb5bd7" providerId="AD" clId="Web-{C635DB33-4E42-F951-B9DC-A5E6233AED54}" dt="2026-03-10T15:44:13.412" v="31"/>
          <ac:spMkLst>
            <pc:docMk/>
            <pc:sldMk cId="0" sldId="264"/>
            <ac:spMk id="36" creationId="{00000000-0000-0000-0000-000000000000}"/>
          </ac:spMkLst>
        </pc:spChg>
        <pc:spChg chg="mod">
          <ac:chgData name="Terry Moorehead" userId="S::tmoorehead@meevo.com::a2a6df63-b8e3-4cea-aa6c-ded8cdcb5bd7" providerId="AD" clId="Web-{C635DB33-4E42-F951-B9DC-A5E6233AED54}" dt="2026-03-10T15:43:49.365" v="24" actId="1076"/>
          <ac:spMkLst>
            <pc:docMk/>
            <pc:sldMk cId="0" sldId="264"/>
            <ac:spMk id="37" creationId="{00000000-0000-0000-0000-000000000000}"/>
          </ac:spMkLst>
        </pc:spChg>
      </pc:sldChg>
      <pc:sldChg chg="delSp modSp">
        <pc:chgData name="Terry Moorehead" userId="S::tmoorehead@meevo.com::a2a6df63-b8e3-4cea-aa6c-ded8cdcb5bd7" providerId="AD" clId="Web-{C635DB33-4E42-F951-B9DC-A5E6233AED54}" dt="2026-03-10T15:44:26.022" v="33" actId="1076"/>
        <pc:sldMkLst>
          <pc:docMk/>
          <pc:sldMk cId="0" sldId="265"/>
        </pc:sldMkLst>
        <pc:spChg chg="del">
          <ac:chgData name="Terry Moorehead" userId="S::tmoorehead@meevo.com::a2a6df63-b8e3-4cea-aa6c-ded8cdcb5bd7" providerId="AD" clId="Web-{C635DB33-4E42-F951-B9DC-A5E6233AED54}" dt="2026-03-10T15:44:23.365" v="32"/>
          <ac:spMkLst>
            <pc:docMk/>
            <pc:sldMk cId="0" sldId="265"/>
            <ac:spMk id="23" creationId="{00000000-0000-0000-0000-000000000000}"/>
          </ac:spMkLst>
        </pc:spChg>
        <pc:spChg chg="mod">
          <ac:chgData name="Terry Moorehead" userId="S::tmoorehead@meevo.com::a2a6df63-b8e3-4cea-aa6c-ded8cdcb5bd7" providerId="AD" clId="Web-{C635DB33-4E42-F951-B9DC-A5E6233AED54}" dt="2026-03-10T15:44:26.022" v="33" actId="1076"/>
          <ac:spMkLst>
            <pc:docMk/>
            <pc:sldMk cId="0" sldId="265"/>
            <ac:spMk id="24" creationId="{00000000-0000-0000-0000-000000000000}"/>
          </ac:spMkLst>
        </pc:spChg>
      </pc:sldChg>
    </pc:docChg>
  </pc:docChgLst>
  <pc:docChgLst>
    <pc:chgData name="Terry Moorehead" userId="S::tmoorehead@meevo.com::a2a6df63-b8e3-4cea-aa6c-ded8cdcb5bd7" providerId="AD" clId="Web-{C72D25A1-AD30-730B-DC68-1D9E6BCC369F}"/>
    <pc:docChg chg="modSld">
      <pc:chgData name="Terry Moorehead" userId="S::tmoorehead@meevo.com::a2a6df63-b8e3-4cea-aa6c-ded8cdcb5bd7" providerId="AD" clId="Web-{C72D25A1-AD30-730B-DC68-1D9E6BCC369F}" dt="2026-03-10T14:48:25.214" v="0" actId="20577"/>
      <pc:docMkLst>
        <pc:docMk/>
      </pc:docMkLst>
      <pc:sldChg chg="modSp">
        <pc:chgData name="Terry Moorehead" userId="S::tmoorehead@meevo.com::a2a6df63-b8e3-4cea-aa6c-ded8cdcb5bd7" providerId="AD" clId="Web-{C72D25A1-AD30-730B-DC68-1D9E6BCC369F}" dt="2026-03-10T14:48:25.214" v="0" actId="20577"/>
        <pc:sldMkLst>
          <pc:docMk/>
          <pc:sldMk cId="0" sldId="263"/>
        </pc:sldMkLst>
        <pc:spChg chg="mod">
          <ac:chgData name="Terry Moorehead" userId="S::tmoorehead@meevo.com::a2a6df63-b8e3-4cea-aa6c-ded8cdcb5bd7" providerId="AD" clId="Web-{C72D25A1-AD30-730B-DC68-1D9E6BCC369F}" dt="2026-03-10T14:48:25.214" v="0" actId="20577"/>
          <ac:spMkLst>
            <pc:docMk/>
            <pc:sldMk cId="0" sldId="263"/>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1674B6BA-BCF3-4269-8797-D5FF0B37EAE8}" type="datetimeFigureOut">
              <a:t>3/10/2026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16348A64-A095-45A8-B70D-B420C81404F4}" type="slidenum">
              <a:t>‹#›</a:t>
            </a:fld>
            <a:endParaRPr lang="en-US"/>
          </a:p>
        </p:txBody>
      </p:sp>
    </p:spTree>
    <p:extLst>
      <p:ext uri="{BB962C8B-B14F-4D97-AF65-F5344CB8AC3E}">
        <p14:creationId xmlns:p14="http://schemas.microsoft.com/office/powerpoint/2010/main" val="3493788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67B5C"/>
          </a:solidFill>
          <a:ln/>
        </p:spPr>
      </p:sp>
      <p:sp>
        <p:nvSpPr>
          <p:cNvPr id="3" name="Shape 1"/>
          <p:cNvSpPr/>
          <p:nvPr/>
        </p:nvSpPr>
        <p:spPr>
          <a:xfrm>
            <a:off x="109728" y="0"/>
            <a:ext cx="9034272" cy="54864"/>
          </a:xfrm>
          <a:prstGeom prst="rect">
            <a:avLst/>
          </a:prstGeom>
          <a:solidFill>
            <a:srgbClr val="1B6B93"/>
          </a:solidFill>
          <a:ln/>
        </p:spPr>
      </p:sp>
      <p:pic>
        <p:nvPicPr>
          <p:cNvPr id="4" name="Image 0" descr="preencoded.png"/>
          <p:cNvPicPr>
            <a:picLocks noChangeAspect="1"/>
          </p:cNvPicPr>
          <p:nvPr/>
        </p:nvPicPr>
        <p:blipFill>
          <a:blip r:embed="rId3"/>
          <a:stretch>
            <a:fillRect/>
          </a:stretch>
        </p:blipFill>
        <p:spPr>
          <a:xfrm>
            <a:off x="7498080" y="4709160"/>
            <a:ext cx="1234440" cy="365760"/>
          </a:xfrm>
          <a:prstGeom prst="rect">
            <a:avLst/>
          </a:prstGeom>
        </p:spPr>
      </p:pic>
      <p:sp>
        <p:nvSpPr>
          <p:cNvPr id="5" name="Shape 2"/>
          <p:cNvSpPr/>
          <p:nvPr/>
        </p:nvSpPr>
        <p:spPr>
          <a:xfrm>
            <a:off x="3840480" y="365760"/>
            <a:ext cx="1188720" cy="1188720"/>
          </a:xfrm>
          <a:prstGeom prst="ellipse">
            <a:avLst/>
          </a:prstGeom>
          <a:solidFill>
            <a:srgbClr val="2A3A44"/>
          </a:solidFill>
          <a:ln/>
          <a:effectLst>
            <a:outerShdw blurRad="76200" dist="25400" dir="8100000" algn="bl" rotWithShape="0">
              <a:srgbClr val="000000">
                <a:alpha val="12000"/>
              </a:srgbClr>
            </a:outerShdw>
          </a:effectLst>
        </p:spPr>
      </p:sp>
      <p:pic>
        <p:nvPicPr>
          <p:cNvPr id="6" name="Image 1" descr="preencoded.png"/>
          <p:cNvPicPr>
            <a:picLocks noChangeAspect="1"/>
          </p:cNvPicPr>
          <p:nvPr/>
        </p:nvPicPr>
        <p:blipFill>
          <a:blip r:embed="rId4"/>
          <a:stretch>
            <a:fillRect/>
          </a:stretch>
        </p:blipFill>
        <p:spPr>
          <a:xfrm>
            <a:off x="4096512" y="594360"/>
            <a:ext cx="685800" cy="685800"/>
          </a:xfrm>
          <a:prstGeom prst="rect">
            <a:avLst/>
          </a:prstGeom>
        </p:spPr>
      </p:pic>
      <p:sp>
        <p:nvSpPr>
          <p:cNvPr id="7" name="Text 3"/>
          <p:cNvSpPr/>
          <p:nvPr/>
        </p:nvSpPr>
        <p:spPr>
          <a:xfrm>
            <a:off x="731520" y="1691640"/>
            <a:ext cx="7680960" cy="1005840"/>
          </a:xfrm>
          <a:prstGeom prst="rect">
            <a:avLst/>
          </a:prstGeom>
          <a:noFill/>
          <a:ln/>
        </p:spPr>
        <p:txBody>
          <a:bodyPr wrap="square" lIns="0" tIns="0" rIns="0" bIns="0" rtlCol="0" anchor="ctr"/>
          <a:lstStyle/>
          <a:p>
            <a:pPr marL="0" indent="0" algn="ctr">
              <a:buNone/>
            </a:pPr>
            <a:r>
              <a:rPr lang="en-US" sz="4200" b="1" kern="0" spc="300" dirty="0">
                <a:solidFill>
                  <a:srgbClr val="F5F0EB"/>
                </a:solidFill>
                <a:latin typeface="Trebuchet MS" pitchFamily="34" charset="0"/>
                <a:ea typeface="Trebuchet MS" pitchFamily="34" charset="-122"/>
                <a:cs typeface="Trebuchet MS" pitchFamily="34" charset="-120"/>
              </a:rPr>
              <a:t>Voicemails</a:t>
            </a:r>
            <a:endParaRPr lang="en-US" sz="4200" dirty="0"/>
          </a:p>
          <a:p>
            <a:pPr marL="0" indent="0" algn="ctr">
              <a:buNone/>
            </a:pPr>
            <a:r>
              <a:rPr lang="en-US" sz="4200" b="1" kern="0" spc="300" dirty="0">
                <a:solidFill>
                  <a:srgbClr val="F5F0EB"/>
                </a:solidFill>
                <a:latin typeface="Trebuchet MS" pitchFamily="34" charset="0"/>
                <a:ea typeface="Trebuchet MS" pitchFamily="34" charset="-122"/>
                <a:cs typeface="Trebuchet MS" pitchFamily="34" charset="-120"/>
              </a:rPr>
              <a:t>That Convert</a:t>
            </a:r>
            <a:endParaRPr lang="en-US" sz="4200" dirty="0"/>
          </a:p>
        </p:txBody>
      </p:sp>
      <p:sp>
        <p:nvSpPr>
          <p:cNvPr id="8" name="Text 4"/>
          <p:cNvSpPr/>
          <p:nvPr/>
        </p:nvSpPr>
        <p:spPr>
          <a:xfrm>
            <a:off x="731520" y="2697480"/>
            <a:ext cx="7680960" cy="365760"/>
          </a:xfrm>
          <a:prstGeom prst="rect">
            <a:avLst/>
          </a:prstGeom>
          <a:noFill/>
          <a:ln/>
        </p:spPr>
        <p:txBody>
          <a:bodyPr wrap="square" lIns="0" tIns="0" rIns="0" bIns="0" rtlCol="0" anchor="ctr"/>
          <a:lstStyle/>
          <a:p>
            <a:pPr marL="0" indent="0" algn="ctr">
              <a:buNone/>
            </a:pPr>
            <a:r>
              <a:rPr lang="en-US" sz="1500" i="1" dirty="0">
                <a:solidFill>
                  <a:srgbClr val="C67B5C"/>
                </a:solidFill>
                <a:latin typeface="Calibri" pitchFamily="34" charset="0"/>
                <a:ea typeface="Calibri" pitchFamily="34" charset="-122"/>
                <a:cs typeface="Calibri" pitchFamily="34" charset="-120"/>
              </a:rPr>
              <a:t>The Science of 18 Seconds That Get Callbacks</a:t>
            </a:r>
            <a:endParaRPr lang="en-US" sz="1500" dirty="0"/>
          </a:p>
        </p:txBody>
      </p:sp>
      <p:sp>
        <p:nvSpPr>
          <p:cNvPr id="9" name="Shape 5"/>
          <p:cNvSpPr/>
          <p:nvPr/>
        </p:nvSpPr>
        <p:spPr>
          <a:xfrm>
            <a:off x="1371600" y="3291840"/>
            <a:ext cx="6400800" cy="502920"/>
          </a:xfrm>
          <a:prstGeom prst="rect">
            <a:avLst/>
          </a:prstGeom>
          <a:solidFill>
            <a:srgbClr val="2A3A44"/>
          </a:solidFill>
          <a:ln/>
          <a:effectLst>
            <a:outerShdw blurRad="50800" dist="12700" dir="8100000" algn="bl" rotWithShape="0">
              <a:srgbClr val="000000">
                <a:alpha val="8000"/>
              </a:srgbClr>
            </a:outerShdw>
          </a:effectLst>
        </p:spPr>
      </p:sp>
      <p:sp>
        <p:nvSpPr>
          <p:cNvPr id="10" name="Text 6"/>
          <p:cNvSpPr/>
          <p:nvPr/>
        </p:nvSpPr>
        <p:spPr>
          <a:xfrm>
            <a:off x="1554480" y="3291840"/>
            <a:ext cx="6035040" cy="502920"/>
          </a:xfrm>
          <a:prstGeom prst="rect">
            <a:avLst/>
          </a:prstGeom>
          <a:noFill/>
          <a:ln/>
        </p:spPr>
        <p:txBody>
          <a:bodyPr wrap="square" lIns="0" tIns="0" rIns="0" bIns="0" rtlCol="0" anchor="ctr"/>
          <a:lstStyle/>
          <a:p>
            <a:pPr marL="0" indent="0" algn="ctr">
              <a:buNone/>
            </a:pPr>
            <a:r>
              <a:rPr lang="en-US" sz="1000" dirty="0">
                <a:solidFill>
                  <a:srgbClr val="E8E3DE"/>
                </a:solidFill>
                <a:latin typeface="Calibri" pitchFamily="34" charset="0"/>
                <a:ea typeface="Calibri" pitchFamily="34" charset="-122"/>
                <a:cs typeface="Calibri" pitchFamily="34" charset="-120"/>
              </a:rPr>
              <a:t>The 4-Step Formula  •  Tonality  •  Trigger-Based Scripts  •  Persona-Specific Voicemails  •  Common Mistakes</a:t>
            </a:r>
            <a:endParaRPr lang="en-US" sz="1000" dirty="0"/>
          </a:p>
        </p:txBody>
      </p:sp>
      <p:sp>
        <p:nvSpPr>
          <p:cNvPr id="11" name="Text 7"/>
          <p:cNvSpPr/>
          <p:nvPr/>
        </p:nvSpPr>
        <p:spPr>
          <a:xfrm>
            <a:off x="731520" y="3977640"/>
            <a:ext cx="6400800" cy="182880"/>
          </a:xfrm>
          <a:prstGeom prst="rect">
            <a:avLst/>
          </a:prstGeom>
          <a:noFill/>
          <a:ln/>
        </p:spPr>
        <p:txBody>
          <a:bodyPr wrap="square" lIns="0" tIns="0" rIns="0" bIns="0" rtlCol="0" anchor="ctr"/>
          <a:lstStyle/>
          <a:p>
            <a:pPr marL="0" indent="0">
              <a:buNone/>
            </a:pPr>
            <a:r>
              <a:rPr lang="en-US" sz="800" dirty="0">
                <a:solidFill>
                  <a:srgbClr val="7A9E7E"/>
                </a:solidFill>
                <a:latin typeface="Calibri" pitchFamily="34" charset="0"/>
                <a:ea typeface="Calibri" pitchFamily="34" charset="-122"/>
                <a:cs typeface="Calibri" pitchFamily="34" charset="-120"/>
              </a:rPr>
              <a:t>[ATTRIBUTE: Communication Skills #4 | Drive / Competitive Fire #1 | Resilience / Grit #3]  [STAGE: Onboarding + Continuous Education]  [LEVEL: 1]</a:t>
            </a:r>
            <a:endParaRPr lang="en-US" sz="800" dirty="0"/>
          </a:p>
        </p:txBody>
      </p:sp>
      <p:sp>
        <p:nvSpPr>
          <p:cNvPr id="12" name="Text 8"/>
          <p:cNvSpPr/>
          <p:nvPr/>
        </p:nvSpPr>
        <p:spPr>
          <a:xfrm>
            <a:off x="731520" y="4343400"/>
            <a:ext cx="7680960" cy="228600"/>
          </a:xfrm>
          <a:prstGeom prst="rect">
            <a:avLst/>
          </a:prstGeom>
          <a:noFill/>
          <a:ln/>
        </p:spPr>
        <p:txBody>
          <a:bodyPr wrap="square" lIns="0" tIns="0" rIns="0" bIns="0" rtlCol="0" anchor="ctr"/>
          <a:lstStyle/>
          <a:p>
            <a:pPr marL="0" indent="0" algn="ctr">
              <a:buNone/>
            </a:pPr>
            <a:r>
              <a:rPr lang="en-US" sz="900" i="1" dirty="0">
                <a:solidFill>
                  <a:srgbClr val="9CA3AF"/>
                </a:solidFill>
                <a:latin typeface="Calibri" pitchFamily="34" charset="0"/>
                <a:ea typeface="Calibri" pitchFamily="34" charset="-122"/>
                <a:cs typeface="Calibri" pitchFamily="34" charset="-120"/>
              </a:rPr>
              <a:t>Commit to the process. Control the controllables.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01168"/>
            <a:ext cx="347472" cy="347472"/>
          </a:xfrm>
          <a:prstGeom prst="rect">
            <a:avLst/>
          </a:prstGeom>
        </p:spPr>
      </p:pic>
      <p:sp>
        <p:nvSpPr>
          <p:cNvPr id="3" name="Text 0"/>
          <p:cNvSpPr/>
          <p:nvPr/>
        </p:nvSpPr>
        <p:spPr>
          <a:xfrm>
            <a:off x="868680" y="164592"/>
            <a:ext cx="7315200" cy="548640"/>
          </a:xfrm>
          <a:prstGeom prst="rect">
            <a:avLst/>
          </a:prstGeom>
          <a:noFill/>
          <a:ln/>
        </p:spPr>
        <p:txBody>
          <a:bodyPr wrap="square" lIns="0" tIns="0" rIns="0" bIns="0" rtlCol="0" anchor="ctr"/>
          <a:lstStyle/>
          <a:p>
            <a:pPr marL="0" indent="0">
              <a:buNone/>
            </a:pPr>
            <a:r>
              <a:rPr lang="en-US" sz="2600" b="1" kern="0" spc="300" dirty="0">
                <a:solidFill>
                  <a:srgbClr val="36454F"/>
                </a:solidFill>
                <a:latin typeface="Trebuchet MS" pitchFamily="34" charset="0"/>
                <a:ea typeface="Trebuchet MS" pitchFamily="34" charset="-122"/>
                <a:cs typeface="Trebuchet MS" pitchFamily="34" charset="-120"/>
              </a:rPr>
              <a:t>Why Voicemails Matter — The Data</a:t>
            </a:r>
            <a:endParaRPr lang="en-US" sz="2600" dirty="0"/>
          </a:p>
        </p:txBody>
      </p:sp>
      <p:sp>
        <p:nvSpPr>
          <p:cNvPr id="4" name="Shape 1"/>
          <p:cNvSpPr/>
          <p:nvPr/>
        </p:nvSpPr>
        <p:spPr>
          <a:xfrm>
            <a:off x="548640" y="749808"/>
            <a:ext cx="1645920" cy="36576"/>
          </a:xfrm>
          <a:prstGeom prst="rect">
            <a:avLst/>
          </a:prstGeom>
          <a:solidFill>
            <a:srgbClr val="1B6B93"/>
          </a:solidFill>
          <a:ln/>
        </p:spPr>
      </p:sp>
      <p:pic>
        <p:nvPicPr>
          <p:cNvPr id="5" name="Image 1" descr="preencoded.png"/>
          <p:cNvPicPr>
            <a:picLocks noChangeAspect="1"/>
          </p:cNvPicPr>
          <p:nvPr/>
        </p:nvPicPr>
        <p:blipFill>
          <a:blip r:embed="rId4"/>
          <a:stretch>
            <a:fillRect/>
          </a:stretch>
        </p:blipFill>
        <p:spPr>
          <a:xfrm>
            <a:off x="7498080" y="4709160"/>
            <a:ext cx="1234440" cy="365760"/>
          </a:xfrm>
          <a:prstGeom prst="rect">
            <a:avLst/>
          </a:prstGeom>
        </p:spPr>
      </p:pic>
      <p:sp>
        <p:nvSpPr>
          <p:cNvPr id="6" name="Shape 2"/>
          <p:cNvSpPr/>
          <p:nvPr/>
        </p:nvSpPr>
        <p:spPr>
          <a:xfrm>
            <a:off x="457200" y="868680"/>
            <a:ext cx="8229600" cy="502920"/>
          </a:xfrm>
          <a:prstGeom prst="rect">
            <a:avLst/>
          </a:prstGeom>
          <a:solidFill>
            <a:srgbClr val="1E2A33"/>
          </a:solidFill>
          <a:ln/>
          <a:effectLst>
            <a:outerShdw blurRad="76200" dist="25400" dir="8100000" algn="bl" rotWithShape="0">
              <a:srgbClr val="000000">
                <a:alpha val="12000"/>
              </a:srgbClr>
            </a:outerShdw>
          </a:effectLst>
        </p:spPr>
      </p:sp>
      <p:sp>
        <p:nvSpPr>
          <p:cNvPr id="7" name="Text 3"/>
          <p:cNvSpPr/>
          <p:nvPr/>
        </p:nvSpPr>
        <p:spPr>
          <a:xfrm>
            <a:off x="640080" y="868680"/>
            <a:ext cx="7863840" cy="502920"/>
          </a:xfrm>
          <a:prstGeom prst="rect">
            <a:avLst/>
          </a:prstGeom>
          <a:noFill/>
          <a:ln/>
        </p:spPr>
        <p:txBody>
          <a:bodyPr wrap="square" lIns="0" tIns="0" rIns="0" bIns="0" rtlCol="0" anchor="ctr"/>
          <a:lstStyle/>
          <a:p>
            <a:pPr marL="0" indent="0">
              <a:buNone/>
            </a:pPr>
            <a:r>
              <a:rPr lang="en-US" sz="1100" i="1" dirty="0">
                <a:solidFill>
                  <a:srgbClr val="F5F0EB"/>
                </a:solidFill>
                <a:latin typeface="Calibri" pitchFamily="34" charset="0"/>
                <a:ea typeface="Calibri" pitchFamily="34" charset="-122"/>
                <a:cs typeface="Calibri" pitchFamily="34" charset="-120"/>
              </a:rPr>
              <a:t>80% of cold calls go to voicemail. If you’re not leaving voicemails that create curiosity, you’re wasting 80% of your dials.</a:t>
            </a:r>
            <a:endParaRPr lang="en-US" sz="1100" dirty="0"/>
          </a:p>
        </p:txBody>
      </p:sp>
      <p:sp>
        <p:nvSpPr>
          <p:cNvPr id="8" name="Shape 4"/>
          <p:cNvSpPr/>
          <p:nvPr/>
        </p:nvSpPr>
        <p:spPr>
          <a:xfrm>
            <a:off x="411480" y="1554480"/>
            <a:ext cx="1920240" cy="1371600"/>
          </a:xfrm>
          <a:prstGeom prst="rect">
            <a:avLst/>
          </a:prstGeom>
          <a:solidFill>
            <a:srgbClr val="FFFFFF"/>
          </a:solidFill>
          <a:ln/>
          <a:effectLst>
            <a:outerShdw blurRad="50800" dist="12700" dir="8100000" algn="bl" rotWithShape="0">
              <a:srgbClr val="000000">
                <a:alpha val="8000"/>
              </a:srgbClr>
            </a:outerShdw>
          </a:effectLst>
        </p:spPr>
      </p:sp>
      <p:sp>
        <p:nvSpPr>
          <p:cNvPr id="9" name="Shape 5"/>
          <p:cNvSpPr/>
          <p:nvPr/>
        </p:nvSpPr>
        <p:spPr>
          <a:xfrm>
            <a:off x="411480" y="1554480"/>
            <a:ext cx="1920240" cy="54864"/>
          </a:xfrm>
          <a:prstGeom prst="rect">
            <a:avLst/>
          </a:prstGeom>
          <a:solidFill>
            <a:srgbClr val="C67B5C"/>
          </a:solidFill>
          <a:ln/>
        </p:spPr>
      </p:sp>
      <p:sp>
        <p:nvSpPr>
          <p:cNvPr id="10" name="Text 6"/>
          <p:cNvSpPr/>
          <p:nvPr/>
        </p:nvSpPr>
        <p:spPr>
          <a:xfrm>
            <a:off x="411480" y="1691640"/>
            <a:ext cx="1920240" cy="594360"/>
          </a:xfrm>
          <a:prstGeom prst="rect">
            <a:avLst/>
          </a:prstGeom>
          <a:noFill/>
          <a:ln/>
        </p:spPr>
        <p:txBody>
          <a:bodyPr wrap="square" lIns="0" tIns="0" rIns="0" bIns="0" rtlCol="0" anchor="ctr"/>
          <a:lstStyle/>
          <a:p>
            <a:pPr marL="0" indent="0" algn="ctr">
              <a:buNone/>
            </a:pPr>
            <a:r>
              <a:rPr lang="en-US" sz="3600" b="1" dirty="0">
                <a:solidFill>
                  <a:srgbClr val="C67B5C"/>
                </a:solidFill>
                <a:latin typeface="Trebuchet MS" pitchFamily="34" charset="0"/>
                <a:ea typeface="Trebuchet MS" pitchFamily="34" charset="-122"/>
                <a:cs typeface="Trebuchet MS" pitchFamily="34" charset="-120"/>
              </a:rPr>
              <a:t>80%</a:t>
            </a:r>
            <a:endParaRPr lang="en-US" sz="3600" dirty="0"/>
          </a:p>
        </p:txBody>
      </p:sp>
      <p:sp>
        <p:nvSpPr>
          <p:cNvPr id="11" name="Text 7"/>
          <p:cNvSpPr/>
          <p:nvPr/>
        </p:nvSpPr>
        <p:spPr>
          <a:xfrm>
            <a:off x="411480" y="2286000"/>
            <a:ext cx="1920240" cy="502920"/>
          </a:xfrm>
          <a:prstGeom prst="rect">
            <a:avLst/>
          </a:prstGeom>
          <a:noFill/>
          <a:ln/>
        </p:spPr>
        <p:txBody>
          <a:bodyPr wrap="square" lIns="0" tIns="0" rIns="0" bIns="0" rtlCol="0" anchor="t"/>
          <a:lstStyle/>
          <a:p>
            <a:pPr marL="0" indent="0" algn="ctr">
              <a:buNone/>
            </a:pPr>
            <a:r>
              <a:rPr lang="en-US" sz="1000" dirty="0">
                <a:solidFill>
                  <a:srgbClr val="9CA3AF"/>
                </a:solidFill>
                <a:latin typeface="Calibri" pitchFamily="34" charset="0"/>
                <a:ea typeface="Calibri" pitchFamily="34" charset="-122"/>
                <a:cs typeface="Calibri" pitchFamily="34" charset="-120"/>
              </a:rPr>
              <a:t>of cold calls go</a:t>
            </a:r>
            <a:endParaRPr lang="en-US" sz="1000" dirty="0"/>
          </a:p>
          <a:p>
            <a:pPr marL="0" indent="0" algn="ctr">
              <a:buNone/>
            </a:pPr>
            <a:r>
              <a:rPr lang="en-US" sz="1000" dirty="0">
                <a:solidFill>
                  <a:srgbClr val="9CA3AF"/>
                </a:solidFill>
                <a:latin typeface="Calibri" pitchFamily="34" charset="0"/>
                <a:ea typeface="Calibri" pitchFamily="34" charset="-122"/>
                <a:cs typeface="Calibri" pitchFamily="34" charset="-120"/>
              </a:rPr>
              <a:t>to voicemail</a:t>
            </a:r>
            <a:endParaRPr lang="en-US" sz="1000" dirty="0"/>
          </a:p>
        </p:txBody>
      </p:sp>
      <p:sp>
        <p:nvSpPr>
          <p:cNvPr id="12" name="Shape 8"/>
          <p:cNvSpPr/>
          <p:nvPr/>
        </p:nvSpPr>
        <p:spPr>
          <a:xfrm>
            <a:off x="2560320" y="1554480"/>
            <a:ext cx="1920240" cy="1371600"/>
          </a:xfrm>
          <a:prstGeom prst="rect">
            <a:avLst/>
          </a:prstGeom>
          <a:solidFill>
            <a:srgbClr val="FFFFFF"/>
          </a:solidFill>
          <a:ln/>
          <a:effectLst>
            <a:outerShdw blurRad="50800" dist="12700" dir="8100000" algn="bl" rotWithShape="0">
              <a:srgbClr val="000000">
                <a:alpha val="8000"/>
              </a:srgbClr>
            </a:outerShdw>
          </a:effectLst>
        </p:spPr>
      </p:sp>
      <p:sp>
        <p:nvSpPr>
          <p:cNvPr id="13" name="Shape 9"/>
          <p:cNvSpPr/>
          <p:nvPr/>
        </p:nvSpPr>
        <p:spPr>
          <a:xfrm>
            <a:off x="2560320" y="1554480"/>
            <a:ext cx="1920240" cy="54864"/>
          </a:xfrm>
          <a:prstGeom prst="rect">
            <a:avLst/>
          </a:prstGeom>
          <a:solidFill>
            <a:srgbClr val="1B6B93"/>
          </a:solidFill>
          <a:ln/>
        </p:spPr>
      </p:sp>
      <p:sp>
        <p:nvSpPr>
          <p:cNvPr id="14" name="Text 10"/>
          <p:cNvSpPr/>
          <p:nvPr/>
        </p:nvSpPr>
        <p:spPr>
          <a:xfrm>
            <a:off x="2560320" y="1691640"/>
            <a:ext cx="1920240" cy="594360"/>
          </a:xfrm>
          <a:prstGeom prst="rect">
            <a:avLst/>
          </a:prstGeom>
          <a:noFill/>
          <a:ln/>
        </p:spPr>
        <p:txBody>
          <a:bodyPr wrap="square" lIns="0" tIns="0" rIns="0" bIns="0" rtlCol="0" anchor="ctr"/>
          <a:lstStyle/>
          <a:p>
            <a:pPr marL="0" indent="0" algn="ctr">
              <a:buNone/>
            </a:pPr>
            <a:r>
              <a:rPr lang="en-US" sz="3600" b="1" dirty="0">
                <a:solidFill>
                  <a:srgbClr val="1B6B93"/>
                </a:solidFill>
                <a:latin typeface="Trebuchet MS" pitchFamily="34" charset="0"/>
                <a:ea typeface="Trebuchet MS" pitchFamily="34" charset="-122"/>
                <a:cs typeface="Trebuchet MS" pitchFamily="34" charset="-120"/>
              </a:rPr>
              <a:t>18s</a:t>
            </a:r>
            <a:endParaRPr lang="en-US" sz="3600" dirty="0"/>
          </a:p>
        </p:txBody>
      </p:sp>
      <p:sp>
        <p:nvSpPr>
          <p:cNvPr id="15" name="Text 11"/>
          <p:cNvSpPr/>
          <p:nvPr/>
        </p:nvSpPr>
        <p:spPr>
          <a:xfrm>
            <a:off x="2560320" y="2286000"/>
            <a:ext cx="1920240" cy="502920"/>
          </a:xfrm>
          <a:prstGeom prst="rect">
            <a:avLst/>
          </a:prstGeom>
          <a:noFill/>
          <a:ln/>
        </p:spPr>
        <p:txBody>
          <a:bodyPr wrap="square" lIns="0" tIns="0" rIns="0" bIns="0" rtlCol="0" anchor="t"/>
          <a:lstStyle/>
          <a:p>
            <a:pPr marL="0" indent="0" algn="ctr">
              <a:buNone/>
            </a:pPr>
            <a:r>
              <a:rPr lang="en-US" sz="1000" dirty="0">
                <a:solidFill>
                  <a:srgbClr val="9CA3AF"/>
                </a:solidFill>
                <a:latin typeface="Calibri" pitchFamily="34" charset="0"/>
                <a:ea typeface="Calibri" pitchFamily="34" charset="-122"/>
                <a:cs typeface="Calibri" pitchFamily="34" charset="-120"/>
              </a:rPr>
              <a:t>ideal voicemail</a:t>
            </a:r>
            <a:endParaRPr lang="en-US" sz="1000" dirty="0"/>
          </a:p>
          <a:p>
            <a:pPr marL="0" indent="0" algn="ctr">
              <a:buNone/>
            </a:pPr>
            <a:r>
              <a:rPr lang="en-US" sz="1000" dirty="0">
                <a:solidFill>
                  <a:srgbClr val="9CA3AF"/>
                </a:solidFill>
                <a:latin typeface="Calibri" pitchFamily="34" charset="0"/>
                <a:ea typeface="Calibri" pitchFamily="34" charset="-122"/>
                <a:cs typeface="Calibri" pitchFamily="34" charset="-120"/>
              </a:rPr>
              <a:t>length</a:t>
            </a:r>
            <a:endParaRPr lang="en-US" sz="1000" dirty="0"/>
          </a:p>
        </p:txBody>
      </p:sp>
      <p:sp>
        <p:nvSpPr>
          <p:cNvPr id="16" name="Shape 12"/>
          <p:cNvSpPr/>
          <p:nvPr/>
        </p:nvSpPr>
        <p:spPr>
          <a:xfrm>
            <a:off x="4709160" y="1554480"/>
            <a:ext cx="1920240" cy="1371600"/>
          </a:xfrm>
          <a:prstGeom prst="rect">
            <a:avLst/>
          </a:prstGeom>
          <a:solidFill>
            <a:srgbClr val="FFFFFF"/>
          </a:solidFill>
          <a:ln/>
          <a:effectLst>
            <a:outerShdw blurRad="50800" dist="12700" dir="8100000" algn="bl" rotWithShape="0">
              <a:srgbClr val="000000">
                <a:alpha val="8000"/>
              </a:srgbClr>
            </a:outerShdw>
          </a:effectLst>
        </p:spPr>
      </p:sp>
      <p:sp>
        <p:nvSpPr>
          <p:cNvPr id="17" name="Shape 13"/>
          <p:cNvSpPr/>
          <p:nvPr/>
        </p:nvSpPr>
        <p:spPr>
          <a:xfrm>
            <a:off x="4709160" y="1554480"/>
            <a:ext cx="1920240" cy="54864"/>
          </a:xfrm>
          <a:prstGeom prst="rect">
            <a:avLst/>
          </a:prstGeom>
          <a:solidFill>
            <a:srgbClr val="7A9E7E"/>
          </a:solidFill>
          <a:ln/>
        </p:spPr>
      </p:sp>
      <p:sp>
        <p:nvSpPr>
          <p:cNvPr id="18" name="Text 14"/>
          <p:cNvSpPr/>
          <p:nvPr/>
        </p:nvSpPr>
        <p:spPr>
          <a:xfrm>
            <a:off x="4709160" y="1691640"/>
            <a:ext cx="1920240" cy="594360"/>
          </a:xfrm>
          <a:prstGeom prst="rect">
            <a:avLst/>
          </a:prstGeom>
          <a:noFill/>
          <a:ln/>
        </p:spPr>
        <p:txBody>
          <a:bodyPr wrap="square" lIns="0" tIns="0" rIns="0" bIns="0" rtlCol="0" anchor="ctr"/>
          <a:lstStyle/>
          <a:p>
            <a:pPr marL="0" indent="0" algn="ctr">
              <a:buNone/>
            </a:pPr>
            <a:r>
              <a:rPr lang="en-US" sz="3600" b="1" dirty="0">
                <a:solidFill>
                  <a:srgbClr val="7A9E7E"/>
                </a:solidFill>
                <a:latin typeface="Trebuchet MS" pitchFamily="34" charset="0"/>
                <a:ea typeface="Trebuchet MS" pitchFamily="34" charset="-122"/>
                <a:cs typeface="Trebuchet MS" pitchFamily="34" charset="-120"/>
              </a:rPr>
              <a:t>2–3x</a:t>
            </a:r>
            <a:endParaRPr lang="en-US" sz="3600" dirty="0"/>
          </a:p>
        </p:txBody>
      </p:sp>
      <p:sp>
        <p:nvSpPr>
          <p:cNvPr id="19" name="Text 15"/>
          <p:cNvSpPr/>
          <p:nvPr/>
        </p:nvSpPr>
        <p:spPr>
          <a:xfrm>
            <a:off x="4709160" y="2286000"/>
            <a:ext cx="1920240" cy="502920"/>
          </a:xfrm>
          <a:prstGeom prst="rect">
            <a:avLst/>
          </a:prstGeom>
          <a:noFill/>
          <a:ln/>
        </p:spPr>
        <p:txBody>
          <a:bodyPr wrap="square" lIns="0" tIns="0" rIns="0" bIns="0" rtlCol="0" anchor="t"/>
          <a:lstStyle/>
          <a:p>
            <a:pPr marL="0" indent="0" algn="ctr">
              <a:buNone/>
            </a:pPr>
            <a:r>
              <a:rPr lang="en-US" sz="1000" dirty="0">
                <a:solidFill>
                  <a:srgbClr val="9CA3AF"/>
                </a:solidFill>
                <a:latin typeface="Calibri" pitchFamily="34" charset="0"/>
                <a:ea typeface="Calibri" pitchFamily="34" charset="-122"/>
                <a:cs typeface="Calibri" pitchFamily="34" charset="-120"/>
              </a:rPr>
              <a:t>callback rate with</a:t>
            </a:r>
            <a:endParaRPr lang="en-US" sz="1000" dirty="0"/>
          </a:p>
          <a:p>
            <a:pPr marL="0" indent="0" algn="ctr">
              <a:buNone/>
            </a:pPr>
            <a:r>
              <a:rPr lang="en-US" sz="1000" dirty="0">
                <a:solidFill>
                  <a:srgbClr val="9CA3AF"/>
                </a:solidFill>
                <a:latin typeface="Calibri" pitchFamily="34" charset="0"/>
                <a:ea typeface="Calibri" pitchFamily="34" charset="-122"/>
                <a:cs typeface="Calibri" pitchFamily="34" charset="-120"/>
              </a:rPr>
              <a:t>trigger-based VMs</a:t>
            </a:r>
            <a:endParaRPr lang="en-US" sz="1000" dirty="0"/>
          </a:p>
        </p:txBody>
      </p:sp>
      <p:sp>
        <p:nvSpPr>
          <p:cNvPr id="20" name="Shape 16"/>
          <p:cNvSpPr/>
          <p:nvPr/>
        </p:nvSpPr>
        <p:spPr>
          <a:xfrm>
            <a:off x="6858000" y="1554480"/>
            <a:ext cx="1920240" cy="1371600"/>
          </a:xfrm>
          <a:prstGeom prst="rect">
            <a:avLst/>
          </a:prstGeom>
          <a:solidFill>
            <a:srgbClr val="FFFFFF"/>
          </a:solidFill>
          <a:ln/>
          <a:effectLst>
            <a:outerShdw blurRad="50800" dist="12700" dir="8100000" algn="bl" rotWithShape="0">
              <a:srgbClr val="000000">
                <a:alpha val="8000"/>
              </a:srgbClr>
            </a:outerShdw>
          </a:effectLst>
        </p:spPr>
      </p:sp>
      <p:sp>
        <p:nvSpPr>
          <p:cNvPr id="21" name="Shape 17"/>
          <p:cNvSpPr/>
          <p:nvPr/>
        </p:nvSpPr>
        <p:spPr>
          <a:xfrm>
            <a:off x="6858000" y="1554480"/>
            <a:ext cx="1920240" cy="54864"/>
          </a:xfrm>
          <a:prstGeom prst="rect">
            <a:avLst/>
          </a:prstGeom>
          <a:solidFill>
            <a:srgbClr val="6B3A4A"/>
          </a:solidFill>
          <a:ln/>
        </p:spPr>
      </p:sp>
      <p:sp>
        <p:nvSpPr>
          <p:cNvPr id="22" name="Text 18"/>
          <p:cNvSpPr/>
          <p:nvPr/>
        </p:nvSpPr>
        <p:spPr>
          <a:xfrm>
            <a:off x="6858000" y="1691640"/>
            <a:ext cx="1920240" cy="594360"/>
          </a:xfrm>
          <a:prstGeom prst="rect">
            <a:avLst/>
          </a:prstGeom>
          <a:noFill/>
          <a:ln/>
        </p:spPr>
        <p:txBody>
          <a:bodyPr wrap="square" lIns="0" tIns="0" rIns="0" bIns="0" rtlCol="0" anchor="ctr"/>
          <a:lstStyle/>
          <a:p>
            <a:pPr marL="0" indent="0" algn="ctr">
              <a:buNone/>
            </a:pPr>
            <a:r>
              <a:rPr lang="en-US" sz="3600" b="1" dirty="0">
                <a:solidFill>
                  <a:srgbClr val="6B3A4A"/>
                </a:solidFill>
                <a:latin typeface="Trebuchet MS" pitchFamily="34" charset="0"/>
                <a:ea typeface="Trebuchet MS" pitchFamily="34" charset="-122"/>
                <a:cs typeface="Trebuchet MS" pitchFamily="34" charset="-120"/>
              </a:rPr>
              <a:t>0</a:t>
            </a:r>
            <a:endParaRPr lang="en-US" sz="3600" dirty="0"/>
          </a:p>
        </p:txBody>
      </p:sp>
      <p:sp>
        <p:nvSpPr>
          <p:cNvPr id="23" name="Text 19"/>
          <p:cNvSpPr/>
          <p:nvPr/>
        </p:nvSpPr>
        <p:spPr>
          <a:xfrm>
            <a:off x="6858000" y="2286000"/>
            <a:ext cx="1920240" cy="502920"/>
          </a:xfrm>
          <a:prstGeom prst="rect">
            <a:avLst/>
          </a:prstGeom>
          <a:noFill/>
          <a:ln/>
        </p:spPr>
        <p:txBody>
          <a:bodyPr wrap="square" lIns="0" tIns="0" rIns="0" bIns="0" rtlCol="0" anchor="t"/>
          <a:lstStyle/>
          <a:p>
            <a:pPr marL="0" indent="0" algn="ctr">
              <a:buNone/>
            </a:pPr>
            <a:r>
              <a:rPr lang="en-US" sz="1000" dirty="0">
                <a:solidFill>
                  <a:srgbClr val="9CA3AF"/>
                </a:solidFill>
                <a:latin typeface="Calibri" pitchFamily="34" charset="0"/>
                <a:ea typeface="Calibri" pitchFamily="34" charset="-122"/>
                <a:cs typeface="Calibri" pitchFamily="34" charset="-120"/>
              </a:rPr>
              <a:t>callbacks from</a:t>
            </a:r>
            <a:endParaRPr lang="en-US" sz="1000" dirty="0"/>
          </a:p>
          <a:p>
            <a:pPr marL="0" indent="0" algn="ctr">
              <a:buNone/>
            </a:pPr>
            <a:r>
              <a:rPr lang="en-US" sz="1000" dirty="0">
                <a:solidFill>
                  <a:srgbClr val="9CA3AF"/>
                </a:solidFill>
                <a:latin typeface="Calibri" pitchFamily="34" charset="0"/>
                <a:ea typeface="Calibri" pitchFamily="34" charset="-122"/>
                <a:cs typeface="Calibri" pitchFamily="34" charset="-120"/>
              </a:rPr>
              <a:t>generic pitches</a:t>
            </a:r>
            <a:endParaRPr lang="en-US" sz="1000" dirty="0"/>
          </a:p>
        </p:txBody>
      </p:sp>
      <p:sp>
        <p:nvSpPr>
          <p:cNvPr id="24" name="Shape 20"/>
          <p:cNvSpPr/>
          <p:nvPr/>
        </p:nvSpPr>
        <p:spPr>
          <a:xfrm>
            <a:off x="457200" y="3108960"/>
            <a:ext cx="3200400" cy="411480"/>
          </a:xfrm>
          <a:prstGeom prst="rect">
            <a:avLst/>
          </a:prstGeom>
          <a:solidFill>
            <a:srgbClr val="FFFFFF"/>
          </a:solidFill>
          <a:ln/>
          <a:effectLst>
            <a:outerShdw blurRad="50800" dist="12700" dir="8100000" algn="bl" rotWithShape="0">
              <a:srgbClr val="000000">
                <a:alpha val="8000"/>
              </a:srgbClr>
            </a:outerShdw>
          </a:effectLst>
        </p:spPr>
      </p:sp>
      <p:sp>
        <p:nvSpPr>
          <p:cNvPr id="25" name="Shape 21"/>
          <p:cNvSpPr/>
          <p:nvPr/>
        </p:nvSpPr>
        <p:spPr>
          <a:xfrm>
            <a:off x="457200" y="3108960"/>
            <a:ext cx="54864" cy="411480"/>
          </a:xfrm>
          <a:prstGeom prst="rect">
            <a:avLst/>
          </a:prstGeom>
          <a:solidFill>
            <a:srgbClr val="6B3A4A"/>
          </a:solidFill>
          <a:ln/>
        </p:spPr>
      </p:sp>
      <p:sp>
        <p:nvSpPr>
          <p:cNvPr id="26" name="Text 22"/>
          <p:cNvSpPr/>
          <p:nvPr/>
        </p:nvSpPr>
        <p:spPr>
          <a:xfrm>
            <a:off x="594360" y="3108960"/>
            <a:ext cx="2926080" cy="411480"/>
          </a:xfrm>
          <a:prstGeom prst="rect">
            <a:avLst/>
          </a:prstGeom>
          <a:noFill/>
          <a:ln/>
        </p:spPr>
        <p:txBody>
          <a:bodyPr wrap="square" lIns="0" tIns="0" rIns="0" bIns="0" rtlCol="0" anchor="ctr"/>
          <a:lstStyle/>
          <a:p>
            <a:pPr marL="0" indent="0">
              <a:buNone/>
            </a:pPr>
            <a:r>
              <a:rPr lang="en-US" sz="900" b="1" dirty="0">
                <a:solidFill>
                  <a:srgbClr val="6B3A4A"/>
                </a:solidFill>
                <a:latin typeface="Calibri" pitchFamily="34" charset="0"/>
                <a:ea typeface="Calibri" pitchFamily="34" charset="-122"/>
                <a:cs typeface="Calibri" pitchFamily="34" charset="-120"/>
              </a:rPr>
              <a:t>Leave a VM to pitch</a:t>
            </a:r>
            <a:endParaRPr lang="en-US" sz="900" dirty="0"/>
          </a:p>
        </p:txBody>
      </p:sp>
      <p:pic>
        <p:nvPicPr>
          <p:cNvPr id="27" name="Image 2" descr="preencoded.png"/>
          <p:cNvPicPr>
            <a:picLocks noChangeAspect="1"/>
          </p:cNvPicPr>
          <p:nvPr/>
        </p:nvPicPr>
        <p:blipFill>
          <a:blip r:embed="rId5"/>
          <a:stretch>
            <a:fillRect/>
          </a:stretch>
        </p:blipFill>
        <p:spPr>
          <a:xfrm>
            <a:off x="3794760" y="3218688"/>
            <a:ext cx="164592" cy="164592"/>
          </a:xfrm>
          <a:prstGeom prst="rect">
            <a:avLst/>
          </a:prstGeom>
        </p:spPr>
      </p:pic>
      <p:sp>
        <p:nvSpPr>
          <p:cNvPr id="28" name="Shape 23"/>
          <p:cNvSpPr/>
          <p:nvPr/>
        </p:nvSpPr>
        <p:spPr>
          <a:xfrm>
            <a:off x="4114800" y="3108960"/>
            <a:ext cx="4572000" cy="411480"/>
          </a:xfrm>
          <a:prstGeom prst="rect">
            <a:avLst/>
          </a:prstGeom>
          <a:solidFill>
            <a:srgbClr val="FFFFFF"/>
          </a:solidFill>
          <a:ln/>
          <a:effectLst>
            <a:outerShdw blurRad="50800" dist="12700" dir="8100000" algn="bl" rotWithShape="0">
              <a:srgbClr val="000000">
                <a:alpha val="8000"/>
              </a:srgbClr>
            </a:outerShdw>
          </a:effectLst>
        </p:spPr>
      </p:sp>
      <p:sp>
        <p:nvSpPr>
          <p:cNvPr id="29" name="Shape 24"/>
          <p:cNvSpPr/>
          <p:nvPr/>
        </p:nvSpPr>
        <p:spPr>
          <a:xfrm>
            <a:off x="4114800" y="3108960"/>
            <a:ext cx="54864" cy="411480"/>
          </a:xfrm>
          <a:prstGeom prst="rect">
            <a:avLst/>
          </a:prstGeom>
          <a:solidFill>
            <a:srgbClr val="7A9E7E"/>
          </a:solidFill>
          <a:ln/>
        </p:spPr>
      </p:sp>
      <p:sp>
        <p:nvSpPr>
          <p:cNvPr id="30" name="Text 25"/>
          <p:cNvSpPr/>
          <p:nvPr/>
        </p:nvSpPr>
        <p:spPr>
          <a:xfrm>
            <a:off x="4251960" y="3108960"/>
            <a:ext cx="4297680" cy="411480"/>
          </a:xfrm>
          <a:prstGeom prst="rect">
            <a:avLst/>
          </a:prstGeom>
          <a:noFill/>
          <a:ln/>
        </p:spPr>
        <p:txBody>
          <a:bodyPr wrap="square" lIns="0" tIns="0" rIns="0" bIns="0" rtlCol="0" anchor="ctr"/>
          <a:lstStyle/>
          <a:p>
            <a:pPr marL="0" indent="0">
              <a:buNone/>
            </a:pPr>
            <a:r>
              <a:rPr lang="en-US" sz="900" b="1" dirty="0">
                <a:solidFill>
                  <a:srgbClr val="7A9E7E"/>
                </a:solidFill>
                <a:latin typeface="Calibri" pitchFamily="34" charset="0"/>
                <a:ea typeface="Calibri" pitchFamily="34" charset="-122"/>
                <a:cs typeface="Calibri" pitchFamily="34" charset="-120"/>
              </a:rPr>
              <a:t>Leave a VM to create curiosity</a:t>
            </a:r>
            <a:endParaRPr lang="en-US" sz="900" dirty="0"/>
          </a:p>
        </p:txBody>
      </p:sp>
      <p:sp>
        <p:nvSpPr>
          <p:cNvPr id="31" name="Shape 26"/>
          <p:cNvSpPr/>
          <p:nvPr/>
        </p:nvSpPr>
        <p:spPr>
          <a:xfrm>
            <a:off x="457200" y="3611880"/>
            <a:ext cx="3200400" cy="411480"/>
          </a:xfrm>
          <a:prstGeom prst="rect">
            <a:avLst/>
          </a:prstGeom>
          <a:solidFill>
            <a:srgbClr val="FFFFFF"/>
          </a:solidFill>
          <a:ln/>
          <a:effectLst>
            <a:outerShdw blurRad="50800" dist="12700" dir="8100000" algn="bl" rotWithShape="0">
              <a:srgbClr val="000000">
                <a:alpha val="8000"/>
              </a:srgbClr>
            </a:outerShdw>
          </a:effectLst>
        </p:spPr>
      </p:sp>
      <p:sp>
        <p:nvSpPr>
          <p:cNvPr id="32" name="Shape 27"/>
          <p:cNvSpPr/>
          <p:nvPr/>
        </p:nvSpPr>
        <p:spPr>
          <a:xfrm>
            <a:off x="457200" y="3611880"/>
            <a:ext cx="54864" cy="411480"/>
          </a:xfrm>
          <a:prstGeom prst="rect">
            <a:avLst/>
          </a:prstGeom>
          <a:solidFill>
            <a:srgbClr val="6B3A4A"/>
          </a:solidFill>
          <a:ln/>
        </p:spPr>
      </p:sp>
      <p:sp>
        <p:nvSpPr>
          <p:cNvPr id="33" name="Text 28"/>
          <p:cNvSpPr/>
          <p:nvPr/>
        </p:nvSpPr>
        <p:spPr>
          <a:xfrm>
            <a:off x="594360" y="3611880"/>
            <a:ext cx="2926080" cy="411480"/>
          </a:xfrm>
          <a:prstGeom prst="rect">
            <a:avLst/>
          </a:prstGeom>
          <a:noFill/>
          <a:ln/>
        </p:spPr>
        <p:txBody>
          <a:bodyPr wrap="square" lIns="0" tIns="0" rIns="0" bIns="0" rtlCol="0" anchor="ctr"/>
          <a:lstStyle/>
          <a:p>
            <a:pPr marL="0" indent="0">
              <a:buNone/>
            </a:pPr>
            <a:r>
              <a:rPr lang="en-US" sz="900" b="1" dirty="0">
                <a:solidFill>
                  <a:srgbClr val="6B3A4A"/>
                </a:solidFill>
                <a:latin typeface="Calibri" pitchFamily="34" charset="0"/>
                <a:ea typeface="Calibri" pitchFamily="34" charset="-122"/>
                <a:cs typeface="Calibri" pitchFamily="34" charset="-120"/>
              </a:rPr>
              <a:t>Tell them everything</a:t>
            </a:r>
            <a:endParaRPr lang="en-US" sz="900" dirty="0"/>
          </a:p>
        </p:txBody>
      </p:sp>
      <p:pic>
        <p:nvPicPr>
          <p:cNvPr id="34" name="Image 3" descr="preencoded.png"/>
          <p:cNvPicPr>
            <a:picLocks noChangeAspect="1"/>
          </p:cNvPicPr>
          <p:nvPr/>
        </p:nvPicPr>
        <p:blipFill>
          <a:blip r:embed="rId5"/>
          <a:stretch>
            <a:fillRect/>
          </a:stretch>
        </p:blipFill>
        <p:spPr>
          <a:xfrm>
            <a:off x="3794760" y="3721608"/>
            <a:ext cx="164592" cy="164592"/>
          </a:xfrm>
          <a:prstGeom prst="rect">
            <a:avLst/>
          </a:prstGeom>
        </p:spPr>
      </p:pic>
      <p:sp>
        <p:nvSpPr>
          <p:cNvPr id="35" name="Shape 29"/>
          <p:cNvSpPr/>
          <p:nvPr/>
        </p:nvSpPr>
        <p:spPr>
          <a:xfrm>
            <a:off x="4114800" y="3611880"/>
            <a:ext cx="4572000" cy="411480"/>
          </a:xfrm>
          <a:prstGeom prst="rect">
            <a:avLst/>
          </a:prstGeom>
          <a:solidFill>
            <a:srgbClr val="FFFFFF"/>
          </a:solidFill>
          <a:ln/>
          <a:effectLst>
            <a:outerShdw blurRad="50800" dist="12700" dir="8100000" algn="bl" rotWithShape="0">
              <a:srgbClr val="000000">
                <a:alpha val="8000"/>
              </a:srgbClr>
            </a:outerShdw>
          </a:effectLst>
        </p:spPr>
      </p:sp>
      <p:sp>
        <p:nvSpPr>
          <p:cNvPr id="36" name="Shape 30"/>
          <p:cNvSpPr/>
          <p:nvPr/>
        </p:nvSpPr>
        <p:spPr>
          <a:xfrm>
            <a:off x="4114800" y="3611880"/>
            <a:ext cx="54864" cy="411480"/>
          </a:xfrm>
          <a:prstGeom prst="rect">
            <a:avLst/>
          </a:prstGeom>
          <a:solidFill>
            <a:srgbClr val="7A9E7E"/>
          </a:solidFill>
          <a:ln/>
        </p:spPr>
      </p:sp>
      <p:sp>
        <p:nvSpPr>
          <p:cNvPr id="37" name="Text 31"/>
          <p:cNvSpPr/>
          <p:nvPr/>
        </p:nvSpPr>
        <p:spPr>
          <a:xfrm>
            <a:off x="4251960" y="3611880"/>
            <a:ext cx="4297680" cy="411480"/>
          </a:xfrm>
          <a:prstGeom prst="rect">
            <a:avLst/>
          </a:prstGeom>
          <a:noFill/>
          <a:ln/>
        </p:spPr>
        <p:txBody>
          <a:bodyPr wrap="square" lIns="0" tIns="0" rIns="0" bIns="0" rtlCol="0" anchor="ctr"/>
          <a:lstStyle/>
          <a:p>
            <a:pPr marL="0" indent="0">
              <a:buNone/>
            </a:pPr>
            <a:r>
              <a:rPr lang="en-US" sz="900" b="1" dirty="0">
                <a:solidFill>
                  <a:srgbClr val="7A9E7E"/>
                </a:solidFill>
                <a:latin typeface="Calibri" pitchFamily="34" charset="0"/>
                <a:ea typeface="Calibri" pitchFamily="34" charset="-122"/>
                <a:cs typeface="Calibri" pitchFamily="34" charset="-120"/>
              </a:rPr>
              <a:t>Tell them just enough to call back</a:t>
            </a:r>
            <a:endParaRPr lang="en-US" sz="900" dirty="0"/>
          </a:p>
        </p:txBody>
      </p:sp>
      <p:sp>
        <p:nvSpPr>
          <p:cNvPr id="38" name="Shape 32"/>
          <p:cNvSpPr/>
          <p:nvPr/>
        </p:nvSpPr>
        <p:spPr>
          <a:xfrm>
            <a:off x="457200" y="4114800"/>
            <a:ext cx="3200400" cy="411480"/>
          </a:xfrm>
          <a:prstGeom prst="rect">
            <a:avLst/>
          </a:prstGeom>
          <a:solidFill>
            <a:srgbClr val="FFFFFF"/>
          </a:solidFill>
          <a:ln/>
          <a:effectLst>
            <a:outerShdw blurRad="50800" dist="12700" dir="8100000" algn="bl" rotWithShape="0">
              <a:srgbClr val="000000">
                <a:alpha val="8000"/>
              </a:srgbClr>
            </a:outerShdw>
          </a:effectLst>
        </p:spPr>
      </p:sp>
      <p:sp>
        <p:nvSpPr>
          <p:cNvPr id="39" name="Shape 33"/>
          <p:cNvSpPr/>
          <p:nvPr/>
        </p:nvSpPr>
        <p:spPr>
          <a:xfrm>
            <a:off x="457200" y="4114800"/>
            <a:ext cx="54864" cy="411480"/>
          </a:xfrm>
          <a:prstGeom prst="rect">
            <a:avLst/>
          </a:prstGeom>
          <a:solidFill>
            <a:srgbClr val="6B3A4A"/>
          </a:solidFill>
          <a:ln/>
        </p:spPr>
      </p:sp>
      <p:sp>
        <p:nvSpPr>
          <p:cNvPr id="40" name="Text 34"/>
          <p:cNvSpPr/>
          <p:nvPr/>
        </p:nvSpPr>
        <p:spPr>
          <a:xfrm>
            <a:off x="594360" y="4114800"/>
            <a:ext cx="2926080" cy="411480"/>
          </a:xfrm>
          <a:prstGeom prst="rect">
            <a:avLst/>
          </a:prstGeom>
          <a:noFill/>
          <a:ln/>
        </p:spPr>
        <p:txBody>
          <a:bodyPr wrap="square" lIns="0" tIns="0" rIns="0" bIns="0" rtlCol="0" anchor="ctr"/>
          <a:lstStyle/>
          <a:p>
            <a:pPr marL="0" indent="0">
              <a:buNone/>
            </a:pPr>
            <a:r>
              <a:rPr lang="en-US" sz="900" b="1" dirty="0">
                <a:solidFill>
                  <a:srgbClr val="6B3A4A"/>
                </a:solidFill>
                <a:latin typeface="Calibri" pitchFamily="34" charset="0"/>
                <a:ea typeface="Calibri" pitchFamily="34" charset="-122"/>
                <a:cs typeface="Calibri" pitchFamily="34" charset="-120"/>
              </a:rPr>
              <a:t>Sound like every other rep</a:t>
            </a:r>
            <a:endParaRPr lang="en-US" sz="900" dirty="0"/>
          </a:p>
        </p:txBody>
      </p:sp>
      <p:pic>
        <p:nvPicPr>
          <p:cNvPr id="41" name="Image 4" descr="preencoded.png"/>
          <p:cNvPicPr>
            <a:picLocks noChangeAspect="1"/>
          </p:cNvPicPr>
          <p:nvPr/>
        </p:nvPicPr>
        <p:blipFill>
          <a:blip r:embed="rId5"/>
          <a:stretch>
            <a:fillRect/>
          </a:stretch>
        </p:blipFill>
        <p:spPr>
          <a:xfrm>
            <a:off x="3794760" y="4224528"/>
            <a:ext cx="164592" cy="164592"/>
          </a:xfrm>
          <a:prstGeom prst="rect">
            <a:avLst/>
          </a:prstGeom>
        </p:spPr>
      </p:pic>
      <p:sp>
        <p:nvSpPr>
          <p:cNvPr id="42" name="Shape 35"/>
          <p:cNvSpPr/>
          <p:nvPr/>
        </p:nvSpPr>
        <p:spPr>
          <a:xfrm>
            <a:off x="4114800" y="4114800"/>
            <a:ext cx="4572000" cy="411480"/>
          </a:xfrm>
          <a:prstGeom prst="rect">
            <a:avLst/>
          </a:prstGeom>
          <a:solidFill>
            <a:srgbClr val="FFFFFF"/>
          </a:solidFill>
          <a:ln/>
          <a:effectLst>
            <a:outerShdw blurRad="50800" dist="12700" dir="8100000" algn="bl" rotWithShape="0">
              <a:srgbClr val="000000">
                <a:alpha val="8000"/>
              </a:srgbClr>
            </a:outerShdw>
          </a:effectLst>
        </p:spPr>
      </p:sp>
      <p:sp>
        <p:nvSpPr>
          <p:cNvPr id="43" name="Shape 36"/>
          <p:cNvSpPr/>
          <p:nvPr/>
        </p:nvSpPr>
        <p:spPr>
          <a:xfrm>
            <a:off x="4114800" y="4114800"/>
            <a:ext cx="54864" cy="411480"/>
          </a:xfrm>
          <a:prstGeom prst="rect">
            <a:avLst/>
          </a:prstGeom>
          <a:solidFill>
            <a:srgbClr val="7A9E7E"/>
          </a:solidFill>
          <a:ln/>
        </p:spPr>
      </p:sp>
      <p:sp>
        <p:nvSpPr>
          <p:cNvPr id="44" name="Text 37"/>
          <p:cNvSpPr/>
          <p:nvPr/>
        </p:nvSpPr>
        <p:spPr>
          <a:xfrm>
            <a:off x="4251960" y="4114800"/>
            <a:ext cx="4297680" cy="411480"/>
          </a:xfrm>
          <a:prstGeom prst="rect">
            <a:avLst/>
          </a:prstGeom>
          <a:noFill/>
          <a:ln/>
        </p:spPr>
        <p:txBody>
          <a:bodyPr wrap="square" lIns="0" tIns="0" rIns="0" bIns="0" rtlCol="0" anchor="ctr"/>
          <a:lstStyle/>
          <a:p>
            <a:pPr marL="0" indent="0">
              <a:buNone/>
            </a:pPr>
            <a:r>
              <a:rPr lang="en-US" sz="900" b="1" dirty="0">
                <a:solidFill>
                  <a:srgbClr val="7A9E7E"/>
                </a:solidFill>
                <a:latin typeface="Calibri" pitchFamily="34" charset="0"/>
                <a:ea typeface="Calibri" pitchFamily="34" charset="-122"/>
                <a:cs typeface="Calibri" pitchFamily="34" charset="-120"/>
              </a:rPr>
              <a:t>Sound like someone who knows their world</a:t>
            </a:r>
            <a:endParaRPr lang="en-US" sz="900" dirty="0"/>
          </a:p>
        </p:txBody>
      </p:sp>
      <p:sp>
        <p:nvSpPr>
          <p:cNvPr id="45" name="Text 38"/>
          <p:cNvSpPr/>
          <p:nvPr/>
        </p:nvSpPr>
        <p:spPr>
          <a:xfrm>
            <a:off x="457200" y="4846320"/>
            <a:ext cx="5943600" cy="228600"/>
          </a:xfrm>
          <a:prstGeom prst="rect">
            <a:avLst/>
          </a:prstGeom>
          <a:noFill/>
          <a:ln/>
        </p:spPr>
        <p:txBody>
          <a:bodyPr wrap="square" lIns="0" tIns="0" rIns="0" bIns="0" rtlCol="0" anchor="ctr"/>
          <a:lstStyle/>
          <a:p>
            <a:pPr marL="0" indent="0">
              <a:buNone/>
            </a:pPr>
            <a:r>
              <a:rPr lang="en-US" sz="900" i="1" dirty="0">
                <a:solidFill>
                  <a:srgbClr val="9CA3AF"/>
                </a:solidFill>
                <a:latin typeface="Calibri" pitchFamily="34" charset="0"/>
                <a:ea typeface="Calibri" pitchFamily="34" charset="-122"/>
                <a:cs typeface="Calibri" pitchFamily="34" charset="-120"/>
              </a:rPr>
              <a:t>Commit to the process. Control the controllables.</a:t>
            </a:r>
            <a:endParaRPr lang="en-US" sz="900" dirty="0"/>
          </a:p>
        </p:txBody>
      </p:sp>
      <p:sp>
        <p:nvSpPr>
          <p:cNvPr id="46" name="Shape 39"/>
          <p:cNvSpPr/>
          <p:nvPr/>
        </p:nvSpPr>
        <p:spPr>
          <a:xfrm>
            <a:off x="6766560" y="4754880"/>
            <a:ext cx="502920" cy="320040"/>
          </a:xfrm>
          <a:prstGeom prst="rect">
            <a:avLst/>
          </a:prstGeom>
          <a:solidFill>
            <a:srgbClr val="1B6B93"/>
          </a:solidFill>
          <a:ln/>
        </p:spPr>
      </p:sp>
      <p:sp>
        <p:nvSpPr>
          <p:cNvPr id="47" name="Text 40"/>
          <p:cNvSpPr/>
          <p:nvPr/>
        </p:nvSpPr>
        <p:spPr>
          <a:xfrm>
            <a:off x="6766560" y="4754880"/>
            <a:ext cx="50292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01168"/>
            <a:ext cx="347472" cy="347472"/>
          </a:xfrm>
          <a:prstGeom prst="rect">
            <a:avLst/>
          </a:prstGeom>
        </p:spPr>
      </p:pic>
      <p:sp>
        <p:nvSpPr>
          <p:cNvPr id="3" name="Text 0"/>
          <p:cNvSpPr/>
          <p:nvPr/>
        </p:nvSpPr>
        <p:spPr>
          <a:xfrm>
            <a:off x="868680" y="164592"/>
            <a:ext cx="7315200" cy="548640"/>
          </a:xfrm>
          <a:prstGeom prst="rect">
            <a:avLst/>
          </a:prstGeom>
          <a:noFill/>
          <a:ln/>
        </p:spPr>
        <p:txBody>
          <a:bodyPr wrap="square" lIns="0" tIns="0" rIns="0" bIns="0" rtlCol="0" anchor="ctr"/>
          <a:lstStyle/>
          <a:p>
            <a:pPr marL="0" indent="0">
              <a:buNone/>
            </a:pPr>
            <a:r>
              <a:rPr lang="en-US" sz="2600" b="1" kern="0" spc="300" dirty="0">
                <a:solidFill>
                  <a:srgbClr val="36454F"/>
                </a:solidFill>
                <a:latin typeface="Trebuchet MS" pitchFamily="34" charset="0"/>
                <a:ea typeface="Trebuchet MS" pitchFamily="34" charset="-122"/>
                <a:cs typeface="Trebuchet MS" pitchFamily="34" charset="-120"/>
              </a:rPr>
              <a:t>The 4-Step Voicemail Formula</a:t>
            </a:r>
            <a:endParaRPr lang="en-US" sz="2600" dirty="0"/>
          </a:p>
        </p:txBody>
      </p:sp>
      <p:sp>
        <p:nvSpPr>
          <p:cNvPr id="4" name="Shape 1"/>
          <p:cNvSpPr/>
          <p:nvPr/>
        </p:nvSpPr>
        <p:spPr>
          <a:xfrm>
            <a:off x="548640" y="749808"/>
            <a:ext cx="1645920" cy="36576"/>
          </a:xfrm>
          <a:prstGeom prst="rect">
            <a:avLst/>
          </a:prstGeom>
          <a:solidFill>
            <a:srgbClr val="C67B5C"/>
          </a:solidFill>
          <a:ln/>
        </p:spPr>
      </p:sp>
      <p:pic>
        <p:nvPicPr>
          <p:cNvPr id="5" name="Image 1" descr="preencoded.png"/>
          <p:cNvPicPr>
            <a:picLocks noChangeAspect="1"/>
          </p:cNvPicPr>
          <p:nvPr/>
        </p:nvPicPr>
        <p:blipFill>
          <a:blip r:embed="rId4"/>
          <a:stretch>
            <a:fillRect/>
          </a:stretch>
        </p:blipFill>
        <p:spPr>
          <a:xfrm>
            <a:off x="7498080" y="4709160"/>
            <a:ext cx="1234440" cy="365760"/>
          </a:xfrm>
          <a:prstGeom prst="rect">
            <a:avLst/>
          </a:prstGeom>
        </p:spPr>
      </p:pic>
      <p:sp>
        <p:nvSpPr>
          <p:cNvPr id="6" name="Shape 2"/>
          <p:cNvSpPr/>
          <p:nvPr/>
        </p:nvSpPr>
        <p:spPr>
          <a:xfrm>
            <a:off x="457200" y="868680"/>
            <a:ext cx="8229600" cy="896112"/>
          </a:xfrm>
          <a:prstGeom prst="rect">
            <a:avLst/>
          </a:prstGeom>
          <a:solidFill>
            <a:srgbClr val="FFFFFF"/>
          </a:solidFill>
          <a:ln/>
          <a:effectLst>
            <a:outerShdw blurRad="50800" dist="12700" dir="8100000" algn="bl" rotWithShape="0">
              <a:srgbClr val="000000">
                <a:alpha val="8000"/>
              </a:srgbClr>
            </a:outerShdw>
          </a:effectLst>
        </p:spPr>
      </p:sp>
      <p:sp>
        <p:nvSpPr>
          <p:cNvPr id="7" name="Shape 3"/>
          <p:cNvSpPr/>
          <p:nvPr/>
        </p:nvSpPr>
        <p:spPr>
          <a:xfrm>
            <a:off x="548640" y="1005840"/>
            <a:ext cx="502920" cy="502920"/>
          </a:xfrm>
          <a:prstGeom prst="ellipse">
            <a:avLst/>
          </a:prstGeom>
          <a:solidFill>
            <a:srgbClr val="1B6B93"/>
          </a:solidFill>
          <a:ln/>
        </p:spPr>
      </p:sp>
      <p:sp>
        <p:nvSpPr>
          <p:cNvPr id="8" name="Text 4"/>
          <p:cNvSpPr/>
          <p:nvPr/>
        </p:nvSpPr>
        <p:spPr>
          <a:xfrm>
            <a:off x="548640" y="10058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1</a:t>
            </a:r>
            <a:endParaRPr lang="en-US" sz="2000" dirty="0"/>
          </a:p>
        </p:txBody>
      </p:sp>
      <p:sp>
        <p:nvSpPr>
          <p:cNvPr id="9" name="Text 5"/>
          <p:cNvSpPr/>
          <p:nvPr/>
        </p:nvSpPr>
        <p:spPr>
          <a:xfrm>
            <a:off x="1188720" y="896112"/>
            <a:ext cx="2743200" cy="256032"/>
          </a:xfrm>
          <a:prstGeom prst="rect">
            <a:avLst/>
          </a:prstGeom>
          <a:noFill/>
          <a:ln/>
        </p:spPr>
        <p:txBody>
          <a:bodyPr wrap="square" lIns="0" tIns="0" rIns="0" bIns="0" rtlCol="0" anchor="ctr"/>
          <a:lstStyle/>
          <a:p>
            <a:pPr marL="0" indent="0">
              <a:buNone/>
            </a:pPr>
            <a:r>
              <a:rPr lang="en-US" sz="1200" b="1" dirty="0">
                <a:solidFill>
                  <a:srgbClr val="36454F"/>
                </a:solidFill>
                <a:latin typeface="Trebuchet MS" pitchFamily="34" charset="0"/>
                <a:ea typeface="Trebuchet MS" pitchFamily="34" charset="-122"/>
                <a:cs typeface="Trebuchet MS" pitchFamily="34" charset="-120"/>
              </a:rPr>
              <a:t>YOUR NAME &amp; COMPANY</a:t>
            </a:r>
            <a:endParaRPr lang="en-US" sz="1200" dirty="0"/>
          </a:p>
        </p:txBody>
      </p:sp>
      <p:sp>
        <p:nvSpPr>
          <p:cNvPr id="10" name="Shape 6"/>
          <p:cNvSpPr/>
          <p:nvPr/>
        </p:nvSpPr>
        <p:spPr>
          <a:xfrm>
            <a:off x="4023360" y="923544"/>
            <a:ext cx="548640" cy="182880"/>
          </a:xfrm>
          <a:prstGeom prst="rect">
            <a:avLst/>
          </a:prstGeom>
          <a:solidFill>
            <a:srgbClr val="1B6B93"/>
          </a:solidFill>
          <a:ln/>
        </p:spPr>
      </p:sp>
      <p:sp>
        <p:nvSpPr>
          <p:cNvPr id="11" name="Text 7"/>
          <p:cNvSpPr/>
          <p:nvPr/>
        </p:nvSpPr>
        <p:spPr>
          <a:xfrm>
            <a:off x="4023360" y="923544"/>
            <a:ext cx="54864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3 sec</a:t>
            </a:r>
            <a:endParaRPr lang="en-US" sz="750" dirty="0"/>
          </a:p>
        </p:txBody>
      </p:sp>
      <p:sp>
        <p:nvSpPr>
          <p:cNvPr id="12" name="Text 8"/>
          <p:cNvSpPr/>
          <p:nvPr/>
        </p:nvSpPr>
        <p:spPr>
          <a:xfrm>
            <a:off x="1188720" y="1170432"/>
            <a:ext cx="3200400" cy="548640"/>
          </a:xfrm>
          <a:prstGeom prst="rect">
            <a:avLst/>
          </a:prstGeom>
          <a:noFill/>
          <a:ln/>
        </p:spPr>
        <p:txBody>
          <a:bodyPr wrap="square" lIns="0" tIns="0" rIns="0" bIns="0" rtlCol="0" anchor="ctr"/>
          <a:lstStyle/>
          <a:p>
            <a:pPr marL="0" indent="0">
              <a:buNone/>
            </a:pPr>
            <a:r>
              <a:rPr lang="en-US" sz="800" dirty="0">
                <a:latin typeface="Calibri"/>
                <a:ea typeface="Calibri"/>
                <a:cs typeface="Calibri"/>
              </a:rPr>
              <a:t>Say your name and Meevo clearly. Don’t rush it. Slow down on your name — they’re hearing it for the first time.</a:t>
            </a:r>
          </a:p>
        </p:txBody>
      </p:sp>
      <p:sp>
        <p:nvSpPr>
          <p:cNvPr id="13" name="Shape 9"/>
          <p:cNvSpPr/>
          <p:nvPr/>
        </p:nvSpPr>
        <p:spPr>
          <a:xfrm>
            <a:off x="4709160" y="914400"/>
            <a:ext cx="36576" cy="777240"/>
          </a:xfrm>
          <a:prstGeom prst="rect">
            <a:avLst/>
          </a:prstGeom>
          <a:solidFill>
            <a:srgbClr val="1B6B93"/>
          </a:solidFill>
          <a:ln/>
        </p:spPr>
      </p:sp>
      <p:sp>
        <p:nvSpPr>
          <p:cNvPr id="14" name="Text 10"/>
          <p:cNvSpPr/>
          <p:nvPr/>
        </p:nvSpPr>
        <p:spPr>
          <a:xfrm>
            <a:off x="4846320" y="896112"/>
            <a:ext cx="3703320" cy="347472"/>
          </a:xfrm>
          <a:prstGeom prst="rect">
            <a:avLst/>
          </a:prstGeom>
          <a:noFill/>
          <a:ln/>
        </p:spPr>
        <p:txBody>
          <a:bodyPr wrap="square" lIns="0" tIns="0" rIns="0" bIns="0" rtlCol="0" anchor="ctr"/>
          <a:lstStyle/>
          <a:p>
            <a:pPr marL="0" indent="0">
              <a:buNone/>
            </a:pPr>
            <a:r>
              <a:rPr lang="en-US" sz="900" i="1" dirty="0">
                <a:solidFill>
                  <a:srgbClr val="36454F"/>
                </a:solidFill>
                <a:latin typeface="Calibri" pitchFamily="34" charset="0"/>
                <a:ea typeface="Calibri" pitchFamily="34" charset="-122"/>
                <a:cs typeface="Calibri" pitchFamily="34" charset="-120"/>
              </a:rPr>
              <a:t>“Hey Nicole, it’s Terry from Meevo.”</a:t>
            </a:r>
            <a:endParaRPr lang="en-US" sz="900" dirty="0"/>
          </a:p>
        </p:txBody>
      </p:sp>
      <p:sp>
        <p:nvSpPr>
          <p:cNvPr id="15" name="Text 11"/>
          <p:cNvSpPr/>
          <p:nvPr/>
        </p:nvSpPr>
        <p:spPr>
          <a:xfrm>
            <a:off x="4846320" y="1280160"/>
            <a:ext cx="3703320" cy="438912"/>
          </a:xfrm>
          <a:prstGeom prst="rect">
            <a:avLst/>
          </a:prstGeom>
          <a:noFill/>
          <a:ln/>
        </p:spPr>
        <p:txBody>
          <a:bodyPr wrap="square" lIns="0" tIns="0" rIns="0" bIns="0" rtlCol="0" anchor="ctr"/>
          <a:lstStyle/>
          <a:p>
            <a:pPr marL="0" indent="0">
              <a:buNone/>
            </a:pPr>
            <a:r>
              <a:rPr lang="en-US" sz="800" dirty="0">
                <a:latin typeface="Calibri"/>
                <a:ea typeface="Calibri"/>
                <a:cs typeface="Calibri"/>
              </a:rPr>
              <a:t>Pro tip: Pause after your name. Let it land. If you rush, they mentally categorize you as spam.</a:t>
            </a:r>
          </a:p>
        </p:txBody>
      </p:sp>
      <p:sp>
        <p:nvSpPr>
          <p:cNvPr id="16" name="Shape 12"/>
          <p:cNvSpPr/>
          <p:nvPr/>
        </p:nvSpPr>
        <p:spPr>
          <a:xfrm>
            <a:off x="457200" y="1874520"/>
            <a:ext cx="8229600" cy="896112"/>
          </a:xfrm>
          <a:prstGeom prst="rect">
            <a:avLst/>
          </a:prstGeom>
          <a:solidFill>
            <a:srgbClr val="FFFFFF"/>
          </a:solidFill>
          <a:ln/>
          <a:effectLst>
            <a:outerShdw blurRad="50800" dist="12700" dir="8100000" algn="bl" rotWithShape="0">
              <a:srgbClr val="000000">
                <a:alpha val="8000"/>
              </a:srgbClr>
            </a:outerShdw>
          </a:effectLst>
        </p:spPr>
      </p:sp>
      <p:sp>
        <p:nvSpPr>
          <p:cNvPr id="17" name="Shape 13"/>
          <p:cNvSpPr/>
          <p:nvPr/>
        </p:nvSpPr>
        <p:spPr>
          <a:xfrm>
            <a:off x="548640" y="2011680"/>
            <a:ext cx="502920" cy="502920"/>
          </a:xfrm>
          <a:prstGeom prst="ellipse">
            <a:avLst/>
          </a:prstGeom>
          <a:solidFill>
            <a:srgbClr val="C67B5C"/>
          </a:solidFill>
          <a:ln/>
        </p:spPr>
      </p:sp>
      <p:sp>
        <p:nvSpPr>
          <p:cNvPr id="18" name="Text 14"/>
          <p:cNvSpPr/>
          <p:nvPr/>
        </p:nvSpPr>
        <p:spPr>
          <a:xfrm>
            <a:off x="548640" y="20116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2</a:t>
            </a:r>
            <a:endParaRPr lang="en-US" sz="2000" dirty="0"/>
          </a:p>
        </p:txBody>
      </p:sp>
      <p:sp>
        <p:nvSpPr>
          <p:cNvPr id="19" name="Text 15"/>
          <p:cNvSpPr/>
          <p:nvPr/>
        </p:nvSpPr>
        <p:spPr>
          <a:xfrm>
            <a:off x="1188720" y="1901952"/>
            <a:ext cx="2743200" cy="256032"/>
          </a:xfrm>
          <a:prstGeom prst="rect">
            <a:avLst/>
          </a:prstGeom>
          <a:noFill/>
          <a:ln/>
        </p:spPr>
        <p:txBody>
          <a:bodyPr wrap="square" lIns="0" tIns="0" rIns="0" bIns="0" rtlCol="0" anchor="ctr"/>
          <a:lstStyle/>
          <a:p>
            <a:pPr marL="0" indent="0">
              <a:buNone/>
            </a:pPr>
            <a:r>
              <a:rPr lang="en-US" sz="1200" b="1" dirty="0">
                <a:solidFill>
                  <a:srgbClr val="36454F"/>
                </a:solidFill>
                <a:latin typeface="Trebuchet MS" pitchFamily="34" charset="0"/>
                <a:ea typeface="Trebuchet MS" pitchFamily="34" charset="-122"/>
                <a:cs typeface="Trebuchet MS" pitchFamily="34" charset="-120"/>
              </a:rPr>
              <a:t>THE TRIGGER / REASON</a:t>
            </a:r>
            <a:endParaRPr lang="en-US" sz="1200" dirty="0"/>
          </a:p>
        </p:txBody>
      </p:sp>
      <p:sp>
        <p:nvSpPr>
          <p:cNvPr id="20" name="Shape 16"/>
          <p:cNvSpPr/>
          <p:nvPr/>
        </p:nvSpPr>
        <p:spPr>
          <a:xfrm>
            <a:off x="4023360" y="1929384"/>
            <a:ext cx="548640" cy="182880"/>
          </a:xfrm>
          <a:prstGeom prst="rect">
            <a:avLst/>
          </a:prstGeom>
          <a:solidFill>
            <a:srgbClr val="C67B5C"/>
          </a:solidFill>
          <a:ln/>
        </p:spPr>
      </p:sp>
      <p:sp>
        <p:nvSpPr>
          <p:cNvPr id="21" name="Text 17"/>
          <p:cNvSpPr/>
          <p:nvPr/>
        </p:nvSpPr>
        <p:spPr>
          <a:xfrm>
            <a:off x="4023360" y="1929384"/>
            <a:ext cx="54864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6–8 sec</a:t>
            </a:r>
            <a:endParaRPr lang="en-US" sz="750" dirty="0"/>
          </a:p>
        </p:txBody>
      </p:sp>
      <p:sp>
        <p:nvSpPr>
          <p:cNvPr id="22" name="Text 18"/>
          <p:cNvSpPr/>
          <p:nvPr/>
        </p:nvSpPr>
        <p:spPr>
          <a:xfrm>
            <a:off x="1188720" y="2176272"/>
            <a:ext cx="3200400" cy="548640"/>
          </a:xfrm>
          <a:prstGeom prst="rect">
            <a:avLst/>
          </a:prstGeom>
          <a:noFill/>
          <a:ln/>
        </p:spPr>
        <p:txBody>
          <a:bodyPr wrap="square" lIns="0" tIns="0" rIns="0" bIns="0" rtlCol="0" anchor="ctr"/>
          <a:lstStyle/>
          <a:p>
            <a:pPr marL="0" indent="0">
              <a:buNone/>
            </a:pPr>
            <a:r>
              <a:rPr lang="en-US" sz="800" dirty="0">
                <a:latin typeface="Calibri"/>
                <a:ea typeface="Calibri"/>
                <a:cs typeface="Calibri"/>
              </a:rPr>
              <a:t>This is why they should care. Reference something specific about THEIR business. A trigger makes it personal, not generic.</a:t>
            </a:r>
          </a:p>
        </p:txBody>
      </p:sp>
      <p:sp>
        <p:nvSpPr>
          <p:cNvPr id="23" name="Shape 19"/>
          <p:cNvSpPr/>
          <p:nvPr/>
        </p:nvSpPr>
        <p:spPr>
          <a:xfrm>
            <a:off x="4709160" y="1920240"/>
            <a:ext cx="36576" cy="777240"/>
          </a:xfrm>
          <a:prstGeom prst="rect">
            <a:avLst/>
          </a:prstGeom>
          <a:solidFill>
            <a:srgbClr val="C67B5C"/>
          </a:solidFill>
          <a:ln/>
        </p:spPr>
      </p:sp>
      <p:sp>
        <p:nvSpPr>
          <p:cNvPr id="24" name="Text 20"/>
          <p:cNvSpPr/>
          <p:nvPr/>
        </p:nvSpPr>
        <p:spPr>
          <a:xfrm>
            <a:off x="4846320" y="1901952"/>
            <a:ext cx="3703320" cy="347472"/>
          </a:xfrm>
          <a:prstGeom prst="rect">
            <a:avLst/>
          </a:prstGeom>
          <a:noFill/>
          <a:ln/>
        </p:spPr>
        <p:txBody>
          <a:bodyPr wrap="square" lIns="0" tIns="0" rIns="0" bIns="0" rtlCol="0" anchor="ctr"/>
          <a:lstStyle/>
          <a:p>
            <a:pPr marL="0" indent="0">
              <a:buNone/>
            </a:pPr>
            <a:r>
              <a:rPr lang="en-US" sz="900" i="1" dirty="0">
                <a:solidFill>
                  <a:srgbClr val="36454F"/>
                </a:solidFill>
                <a:latin typeface="Calibri" pitchFamily="34" charset="0"/>
                <a:ea typeface="Calibri" pitchFamily="34" charset="-122"/>
                <a:cs typeface="Calibri" pitchFamily="34" charset="-120"/>
              </a:rPr>
              <a:t>“I was looking at your website and noticed you recently launched a membership program — congrats on that.”</a:t>
            </a:r>
            <a:endParaRPr lang="en-US" sz="900" dirty="0"/>
          </a:p>
        </p:txBody>
      </p:sp>
      <p:sp>
        <p:nvSpPr>
          <p:cNvPr id="25" name="Text 21"/>
          <p:cNvSpPr/>
          <p:nvPr/>
        </p:nvSpPr>
        <p:spPr>
          <a:xfrm>
            <a:off x="4846320" y="2286000"/>
            <a:ext cx="3703320" cy="438912"/>
          </a:xfrm>
          <a:prstGeom prst="rect">
            <a:avLst/>
          </a:prstGeom>
          <a:noFill/>
          <a:ln/>
        </p:spPr>
        <p:txBody>
          <a:bodyPr wrap="square" lIns="0" tIns="0" rIns="0" bIns="0" rtlCol="0" anchor="ctr"/>
          <a:lstStyle/>
          <a:p>
            <a:pPr marL="0" indent="0">
              <a:buNone/>
            </a:pPr>
            <a:r>
              <a:rPr lang="en-US" sz="800" dirty="0">
                <a:latin typeface="Calibri"/>
                <a:ea typeface="Calibri"/>
                <a:cs typeface="Calibri"/>
              </a:rPr>
              <a:t>Pro tip: The trigger is the hook. No trigger = no callback. Always have one BEFORE you dial.</a:t>
            </a:r>
          </a:p>
        </p:txBody>
      </p:sp>
      <p:sp>
        <p:nvSpPr>
          <p:cNvPr id="26" name="Shape 22"/>
          <p:cNvSpPr/>
          <p:nvPr/>
        </p:nvSpPr>
        <p:spPr>
          <a:xfrm>
            <a:off x="457200" y="2880360"/>
            <a:ext cx="8229600" cy="896112"/>
          </a:xfrm>
          <a:prstGeom prst="rect">
            <a:avLst/>
          </a:prstGeom>
          <a:solidFill>
            <a:srgbClr val="FFFFFF"/>
          </a:solidFill>
          <a:ln/>
          <a:effectLst>
            <a:outerShdw blurRad="50800" dist="12700" dir="8100000" algn="bl" rotWithShape="0">
              <a:srgbClr val="000000">
                <a:alpha val="8000"/>
              </a:srgbClr>
            </a:outerShdw>
          </a:effectLst>
        </p:spPr>
      </p:sp>
      <p:sp>
        <p:nvSpPr>
          <p:cNvPr id="27" name="Shape 23"/>
          <p:cNvSpPr/>
          <p:nvPr/>
        </p:nvSpPr>
        <p:spPr>
          <a:xfrm>
            <a:off x="548640" y="3017520"/>
            <a:ext cx="502920" cy="502920"/>
          </a:xfrm>
          <a:prstGeom prst="ellipse">
            <a:avLst/>
          </a:prstGeom>
          <a:solidFill>
            <a:srgbClr val="7A9E7E"/>
          </a:solidFill>
          <a:ln/>
        </p:spPr>
      </p:sp>
      <p:sp>
        <p:nvSpPr>
          <p:cNvPr id="28" name="Text 24"/>
          <p:cNvSpPr/>
          <p:nvPr/>
        </p:nvSpPr>
        <p:spPr>
          <a:xfrm>
            <a:off x="548640" y="30175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3</a:t>
            </a:r>
            <a:endParaRPr lang="en-US" sz="2000" dirty="0"/>
          </a:p>
        </p:txBody>
      </p:sp>
      <p:sp>
        <p:nvSpPr>
          <p:cNvPr id="29" name="Text 25"/>
          <p:cNvSpPr/>
          <p:nvPr/>
        </p:nvSpPr>
        <p:spPr>
          <a:xfrm>
            <a:off x="1188720" y="2907792"/>
            <a:ext cx="2743200" cy="256032"/>
          </a:xfrm>
          <a:prstGeom prst="rect">
            <a:avLst/>
          </a:prstGeom>
          <a:noFill/>
          <a:ln/>
        </p:spPr>
        <p:txBody>
          <a:bodyPr wrap="square" lIns="0" tIns="0" rIns="0" bIns="0" rtlCol="0" anchor="ctr"/>
          <a:lstStyle/>
          <a:p>
            <a:pPr marL="0" indent="0">
              <a:buNone/>
            </a:pPr>
            <a:r>
              <a:rPr lang="en-US" sz="1200" b="1" dirty="0">
                <a:solidFill>
                  <a:srgbClr val="36454F"/>
                </a:solidFill>
                <a:latin typeface="Trebuchet MS" pitchFamily="34" charset="0"/>
                <a:ea typeface="Trebuchet MS" pitchFamily="34" charset="-122"/>
                <a:cs typeface="Trebuchet MS" pitchFamily="34" charset="-120"/>
              </a:rPr>
              <a:t>THE CURIOSITY GAP</a:t>
            </a:r>
            <a:endParaRPr lang="en-US" sz="1200" dirty="0"/>
          </a:p>
        </p:txBody>
      </p:sp>
      <p:sp>
        <p:nvSpPr>
          <p:cNvPr id="30" name="Shape 26"/>
          <p:cNvSpPr/>
          <p:nvPr/>
        </p:nvSpPr>
        <p:spPr>
          <a:xfrm>
            <a:off x="4023360" y="2935224"/>
            <a:ext cx="548640" cy="182880"/>
          </a:xfrm>
          <a:prstGeom prst="rect">
            <a:avLst/>
          </a:prstGeom>
          <a:solidFill>
            <a:srgbClr val="7A9E7E"/>
          </a:solidFill>
          <a:ln/>
        </p:spPr>
      </p:sp>
      <p:sp>
        <p:nvSpPr>
          <p:cNvPr id="31" name="Text 27"/>
          <p:cNvSpPr/>
          <p:nvPr/>
        </p:nvSpPr>
        <p:spPr>
          <a:xfrm>
            <a:off x="4023360" y="2935224"/>
            <a:ext cx="54864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4–5 sec</a:t>
            </a:r>
            <a:endParaRPr lang="en-US" sz="750" dirty="0"/>
          </a:p>
        </p:txBody>
      </p:sp>
      <p:sp>
        <p:nvSpPr>
          <p:cNvPr id="32" name="Text 28"/>
          <p:cNvSpPr/>
          <p:nvPr/>
        </p:nvSpPr>
        <p:spPr>
          <a:xfrm>
            <a:off x="1188720" y="3182112"/>
            <a:ext cx="3200400" cy="548640"/>
          </a:xfrm>
          <a:prstGeom prst="rect">
            <a:avLst/>
          </a:prstGeom>
          <a:noFill/>
          <a:ln/>
        </p:spPr>
        <p:txBody>
          <a:bodyPr wrap="square" lIns="0" tIns="0" rIns="0" bIns="0" rtlCol="0" anchor="ctr"/>
          <a:lstStyle/>
          <a:p>
            <a:pPr marL="0" indent="0">
              <a:buNone/>
            </a:pPr>
            <a:r>
              <a:rPr lang="en-US" sz="800" dirty="0">
                <a:latin typeface="Calibri"/>
                <a:ea typeface="Calibri"/>
                <a:cs typeface="Calibri"/>
              </a:rPr>
              <a:t>Create an open loop they can’t close without calling back. Don’t give them the answer — give them the question.</a:t>
            </a:r>
          </a:p>
        </p:txBody>
      </p:sp>
      <p:sp>
        <p:nvSpPr>
          <p:cNvPr id="33" name="Shape 29"/>
          <p:cNvSpPr/>
          <p:nvPr/>
        </p:nvSpPr>
        <p:spPr>
          <a:xfrm>
            <a:off x="4709160" y="2926080"/>
            <a:ext cx="36576" cy="777240"/>
          </a:xfrm>
          <a:prstGeom prst="rect">
            <a:avLst/>
          </a:prstGeom>
          <a:solidFill>
            <a:srgbClr val="7A9E7E"/>
          </a:solidFill>
          <a:ln/>
        </p:spPr>
      </p:sp>
      <p:sp>
        <p:nvSpPr>
          <p:cNvPr id="34" name="Text 30"/>
          <p:cNvSpPr/>
          <p:nvPr/>
        </p:nvSpPr>
        <p:spPr>
          <a:xfrm>
            <a:off x="4846320" y="2907792"/>
            <a:ext cx="3703320" cy="347472"/>
          </a:xfrm>
          <a:prstGeom prst="rect">
            <a:avLst/>
          </a:prstGeom>
          <a:noFill/>
          <a:ln/>
        </p:spPr>
        <p:txBody>
          <a:bodyPr wrap="square" lIns="0" tIns="0" rIns="0" bIns="0" rtlCol="0" anchor="ctr"/>
          <a:lstStyle/>
          <a:p>
            <a:pPr marL="0" indent="0">
              <a:buNone/>
            </a:pPr>
            <a:r>
              <a:rPr lang="en-US" sz="900" i="1" dirty="0">
                <a:solidFill>
                  <a:srgbClr val="36454F"/>
                </a:solidFill>
                <a:latin typeface="Calibri" pitchFamily="34" charset="0"/>
                <a:ea typeface="Calibri" pitchFamily="34" charset="-122"/>
                <a:cs typeface="Calibri" pitchFamily="34" charset="-120"/>
              </a:rPr>
              <a:t>“We’ve been helping salon owners like you turn that into their #1 revenue driver, and I had a quick idea I wanted to share.”</a:t>
            </a:r>
            <a:endParaRPr lang="en-US" sz="900" dirty="0"/>
          </a:p>
        </p:txBody>
      </p:sp>
      <p:sp>
        <p:nvSpPr>
          <p:cNvPr id="35" name="Text 31"/>
          <p:cNvSpPr/>
          <p:nvPr/>
        </p:nvSpPr>
        <p:spPr>
          <a:xfrm>
            <a:off x="4846320" y="3291840"/>
            <a:ext cx="3703320" cy="438912"/>
          </a:xfrm>
          <a:prstGeom prst="rect">
            <a:avLst/>
          </a:prstGeom>
          <a:noFill/>
          <a:ln/>
        </p:spPr>
        <p:txBody>
          <a:bodyPr wrap="square" lIns="0" tIns="0" rIns="0" bIns="0" rtlCol="0" anchor="ctr"/>
          <a:lstStyle/>
          <a:p>
            <a:pPr marL="0" indent="0">
              <a:buNone/>
            </a:pPr>
            <a:r>
              <a:rPr lang="en-US" sz="800" dirty="0">
                <a:latin typeface="Calibri"/>
                <a:ea typeface="Calibri"/>
                <a:cs typeface="Calibri"/>
              </a:rPr>
              <a:t>Pro tip: Never resolve the curiosity in the voicemail. If they know the answer, there’s no reason to call back.</a:t>
            </a:r>
          </a:p>
        </p:txBody>
      </p:sp>
      <p:sp>
        <p:nvSpPr>
          <p:cNvPr id="36" name="Shape 32"/>
          <p:cNvSpPr/>
          <p:nvPr/>
        </p:nvSpPr>
        <p:spPr>
          <a:xfrm>
            <a:off x="457200" y="3886200"/>
            <a:ext cx="8229600" cy="896112"/>
          </a:xfrm>
          <a:prstGeom prst="rect">
            <a:avLst/>
          </a:prstGeom>
          <a:solidFill>
            <a:srgbClr val="FFFFFF"/>
          </a:solidFill>
          <a:ln/>
          <a:effectLst>
            <a:outerShdw blurRad="50800" dist="12700" dir="8100000" algn="bl" rotWithShape="0">
              <a:srgbClr val="000000">
                <a:alpha val="8000"/>
              </a:srgbClr>
            </a:outerShdw>
          </a:effectLst>
        </p:spPr>
      </p:sp>
      <p:sp>
        <p:nvSpPr>
          <p:cNvPr id="37" name="Shape 33"/>
          <p:cNvSpPr/>
          <p:nvPr/>
        </p:nvSpPr>
        <p:spPr>
          <a:xfrm>
            <a:off x="548640" y="4023360"/>
            <a:ext cx="502920" cy="502920"/>
          </a:xfrm>
          <a:prstGeom prst="ellipse">
            <a:avLst/>
          </a:prstGeom>
          <a:solidFill>
            <a:srgbClr val="8B6F7C"/>
          </a:solidFill>
          <a:ln/>
        </p:spPr>
      </p:sp>
      <p:sp>
        <p:nvSpPr>
          <p:cNvPr id="38" name="Text 34"/>
          <p:cNvSpPr/>
          <p:nvPr/>
        </p:nvSpPr>
        <p:spPr>
          <a:xfrm>
            <a:off x="548640" y="40233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4</a:t>
            </a:r>
            <a:endParaRPr lang="en-US" sz="2000" dirty="0"/>
          </a:p>
        </p:txBody>
      </p:sp>
      <p:sp>
        <p:nvSpPr>
          <p:cNvPr id="39" name="Text 35"/>
          <p:cNvSpPr/>
          <p:nvPr/>
        </p:nvSpPr>
        <p:spPr>
          <a:xfrm>
            <a:off x="1188720" y="3913632"/>
            <a:ext cx="2743200" cy="256032"/>
          </a:xfrm>
          <a:prstGeom prst="rect">
            <a:avLst/>
          </a:prstGeom>
          <a:noFill/>
          <a:ln/>
        </p:spPr>
        <p:txBody>
          <a:bodyPr wrap="square" lIns="0" tIns="0" rIns="0" bIns="0" rtlCol="0" anchor="ctr"/>
          <a:lstStyle/>
          <a:p>
            <a:pPr marL="0" indent="0">
              <a:buNone/>
            </a:pPr>
            <a:r>
              <a:rPr lang="en-US" sz="1200" b="1" dirty="0">
                <a:solidFill>
                  <a:srgbClr val="36454F"/>
                </a:solidFill>
                <a:latin typeface="Trebuchet MS" pitchFamily="34" charset="0"/>
                <a:ea typeface="Trebuchet MS" pitchFamily="34" charset="-122"/>
                <a:cs typeface="Trebuchet MS" pitchFamily="34" charset="-120"/>
              </a:rPr>
              <a:t>SOFT CTA + PHONE NUMBER</a:t>
            </a:r>
            <a:endParaRPr lang="en-US" sz="1200" dirty="0"/>
          </a:p>
        </p:txBody>
      </p:sp>
      <p:sp>
        <p:nvSpPr>
          <p:cNvPr id="40" name="Shape 36"/>
          <p:cNvSpPr/>
          <p:nvPr/>
        </p:nvSpPr>
        <p:spPr>
          <a:xfrm>
            <a:off x="4023360" y="3941064"/>
            <a:ext cx="548640" cy="182880"/>
          </a:xfrm>
          <a:prstGeom prst="rect">
            <a:avLst/>
          </a:prstGeom>
          <a:solidFill>
            <a:srgbClr val="8B6F7C"/>
          </a:solidFill>
          <a:ln/>
        </p:spPr>
      </p:sp>
      <p:sp>
        <p:nvSpPr>
          <p:cNvPr id="41" name="Text 37"/>
          <p:cNvSpPr/>
          <p:nvPr/>
        </p:nvSpPr>
        <p:spPr>
          <a:xfrm>
            <a:off x="4023360" y="3941064"/>
            <a:ext cx="548640" cy="18288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4–5 sec</a:t>
            </a:r>
            <a:endParaRPr lang="en-US" sz="750" dirty="0"/>
          </a:p>
        </p:txBody>
      </p:sp>
      <p:sp>
        <p:nvSpPr>
          <p:cNvPr id="42" name="Text 38"/>
          <p:cNvSpPr/>
          <p:nvPr/>
        </p:nvSpPr>
        <p:spPr>
          <a:xfrm>
            <a:off x="1188720" y="4187952"/>
            <a:ext cx="3200400" cy="548640"/>
          </a:xfrm>
          <a:prstGeom prst="rect">
            <a:avLst/>
          </a:prstGeom>
          <a:noFill/>
          <a:ln/>
        </p:spPr>
        <p:txBody>
          <a:bodyPr wrap="square" lIns="0" tIns="0" rIns="0" bIns="0" rtlCol="0" anchor="ctr"/>
          <a:lstStyle/>
          <a:p>
            <a:pPr marL="0" indent="0">
              <a:buNone/>
            </a:pPr>
            <a:r>
              <a:rPr lang="en-US" sz="800" dirty="0">
                <a:latin typeface="Calibri"/>
                <a:ea typeface="Calibri"/>
                <a:cs typeface="Calibri"/>
              </a:rPr>
              <a:t>Low-pressure ask. Don’t say “call me back.” Give them a reason to AND make it easy.</a:t>
            </a:r>
          </a:p>
        </p:txBody>
      </p:sp>
      <p:sp>
        <p:nvSpPr>
          <p:cNvPr id="43" name="Shape 39"/>
          <p:cNvSpPr/>
          <p:nvPr/>
        </p:nvSpPr>
        <p:spPr>
          <a:xfrm>
            <a:off x="4709160" y="3931920"/>
            <a:ext cx="36576" cy="777240"/>
          </a:xfrm>
          <a:prstGeom prst="rect">
            <a:avLst/>
          </a:prstGeom>
          <a:solidFill>
            <a:srgbClr val="8B6F7C"/>
          </a:solidFill>
          <a:ln/>
        </p:spPr>
      </p:sp>
      <p:sp>
        <p:nvSpPr>
          <p:cNvPr id="44" name="Text 40"/>
          <p:cNvSpPr/>
          <p:nvPr/>
        </p:nvSpPr>
        <p:spPr>
          <a:xfrm>
            <a:off x="4846320" y="3913632"/>
            <a:ext cx="3703320" cy="347472"/>
          </a:xfrm>
          <a:prstGeom prst="rect">
            <a:avLst/>
          </a:prstGeom>
          <a:noFill/>
          <a:ln/>
        </p:spPr>
        <p:txBody>
          <a:bodyPr wrap="square" lIns="0" tIns="0" rIns="0" bIns="0" rtlCol="0" anchor="ctr"/>
          <a:lstStyle/>
          <a:p>
            <a:pPr marL="0" indent="0">
              <a:buNone/>
            </a:pPr>
            <a:r>
              <a:rPr lang="en-US" sz="900" i="1" dirty="0">
                <a:solidFill>
                  <a:srgbClr val="36454F"/>
                </a:solidFill>
                <a:latin typeface="Calibri" pitchFamily="34" charset="0"/>
                <a:ea typeface="Calibri" pitchFamily="34" charset="-122"/>
                <a:cs typeface="Calibri" pitchFamily="34" charset="-120"/>
              </a:rPr>
              <a:t>“If you’re curious, shoot me a text or call me back at 555-123-4567. Talk soon.”</a:t>
            </a:r>
            <a:endParaRPr lang="en-US" sz="900" dirty="0"/>
          </a:p>
        </p:txBody>
      </p:sp>
      <p:sp>
        <p:nvSpPr>
          <p:cNvPr id="45" name="Text 41"/>
          <p:cNvSpPr/>
          <p:nvPr/>
        </p:nvSpPr>
        <p:spPr>
          <a:xfrm>
            <a:off x="4846320" y="4297680"/>
            <a:ext cx="3703320" cy="438912"/>
          </a:xfrm>
          <a:prstGeom prst="rect">
            <a:avLst/>
          </a:prstGeom>
          <a:noFill/>
          <a:ln/>
        </p:spPr>
        <p:txBody>
          <a:bodyPr wrap="square" lIns="0" tIns="0" rIns="0" bIns="0" rtlCol="0" anchor="ctr"/>
          <a:lstStyle/>
          <a:p>
            <a:pPr marL="0" indent="0">
              <a:buNone/>
            </a:pPr>
            <a:r>
              <a:rPr lang="en-US" sz="800" dirty="0">
                <a:latin typeface="Calibri"/>
                <a:ea typeface="Calibri"/>
                <a:cs typeface="Calibri"/>
              </a:rPr>
              <a:t>Pro tip: Say your number SLOWLY. Twice if possible. “Text me” converts better than “call me.”</a:t>
            </a:r>
          </a:p>
        </p:txBody>
      </p:sp>
      <p:sp>
        <p:nvSpPr>
          <p:cNvPr id="46" name="Text 42"/>
          <p:cNvSpPr/>
          <p:nvPr/>
        </p:nvSpPr>
        <p:spPr>
          <a:xfrm>
            <a:off x="457200" y="4846320"/>
            <a:ext cx="5943600" cy="228600"/>
          </a:xfrm>
          <a:prstGeom prst="rect">
            <a:avLst/>
          </a:prstGeom>
          <a:noFill/>
          <a:ln/>
        </p:spPr>
        <p:txBody>
          <a:bodyPr wrap="square" lIns="0" tIns="0" rIns="0" bIns="0" rtlCol="0" anchor="ctr"/>
          <a:lstStyle/>
          <a:p>
            <a:pPr marL="0" indent="0">
              <a:buNone/>
            </a:pPr>
            <a:r>
              <a:rPr lang="en-US" sz="900" i="1" dirty="0">
                <a:solidFill>
                  <a:srgbClr val="9CA3AF"/>
                </a:solidFill>
                <a:latin typeface="Calibri" pitchFamily="34" charset="0"/>
                <a:ea typeface="Calibri" pitchFamily="34" charset="-122"/>
                <a:cs typeface="Calibri" pitchFamily="34" charset="-120"/>
              </a:rPr>
              <a:t>Commit to the process. Control the controllables.</a:t>
            </a:r>
            <a:endParaRPr lang="en-US" sz="900" dirty="0"/>
          </a:p>
        </p:txBody>
      </p:sp>
      <p:sp>
        <p:nvSpPr>
          <p:cNvPr id="47" name="Shape 43"/>
          <p:cNvSpPr/>
          <p:nvPr/>
        </p:nvSpPr>
        <p:spPr>
          <a:xfrm>
            <a:off x="6766560" y="4754880"/>
            <a:ext cx="502920" cy="320040"/>
          </a:xfrm>
          <a:prstGeom prst="rect">
            <a:avLst/>
          </a:prstGeom>
          <a:solidFill>
            <a:srgbClr val="1B6B93"/>
          </a:solidFill>
          <a:ln/>
        </p:spPr>
      </p:sp>
      <p:sp>
        <p:nvSpPr>
          <p:cNvPr id="48" name="Text 44"/>
          <p:cNvSpPr/>
          <p:nvPr/>
        </p:nvSpPr>
        <p:spPr>
          <a:xfrm>
            <a:off x="6766560" y="4754880"/>
            <a:ext cx="50292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01168"/>
            <a:ext cx="347472" cy="347472"/>
          </a:xfrm>
          <a:prstGeom prst="rect">
            <a:avLst/>
          </a:prstGeom>
        </p:spPr>
      </p:pic>
      <p:sp>
        <p:nvSpPr>
          <p:cNvPr id="3" name="Text 0"/>
          <p:cNvSpPr/>
          <p:nvPr/>
        </p:nvSpPr>
        <p:spPr>
          <a:xfrm>
            <a:off x="868680" y="164592"/>
            <a:ext cx="7315200" cy="548640"/>
          </a:xfrm>
          <a:prstGeom prst="rect">
            <a:avLst/>
          </a:prstGeom>
          <a:noFill/>
          <a:ln/>
        </p:spPr>
        <p:txBody>
          <a:bodyPr wrap="square" lIns="0" tIns="0" rIns="0" bIns="0" rtlCol="0" anchor="ctr"/>
          <a:lstStyle/>
          <a:p>
            <a:pPr marL="0" indent="0">
              <a:buNone/>
            </a:pPr>
            <a:r>
              <a:rPr lang="en-US" sz="2600" b="1" kern="0" spc="300" dirty="0">
                <a:solidFill>
                  <a:srgbClr val="36454F"/>
                </a:solidFill>
                <a:latin typeface="Trebuchet MS" pitchFamily="34" charset="0"/>
                <a:ea typeface="Trebuchet MS" pitchFamily="34" charset="-122"/>
                <a:cs typeface="Trebuchet MS" pitchFamily="34" charset="-120"/>
              </a:rPr>
              <a:t>Full Voicemail Scripts — Ready to Use</a:t>
            </a:r>
            <a:endParaRPr lang="en-US" sz="2600" dirty="0"/>
          </a:p>
        </p:txBody>
      </p:sp>
      <p:sp>
        <p:nvSpPr>
          <p:cNvPr id="4" name="Shape 1"/>
          <p:cNvSpPr/>
          <p:nvPr/>
        </p:nvSpPr>
        <p:spPr>
          <a:xfrm>
            <a:off x="548640" y="749808"/>
            <a:ext cx="1645920" cy="36576"/>
          </a:xfrm>
          <a:prstGeom prst="rect">
            <a:avLst/>
          </a:prstGeom>
          <a:solidFill>
            <a:srgbClr val="7A9E7E"/>
          </a:solidFill>
          <a:ln/>
        </p:spPr>
      </p:sp>
      <p:pic>
        <p:nvPicPr>
          <p:cNvPr id="5" name="Image 1" descr="preencoded.png"/>
          <p:cNvPicPr>
            <a:picLocks noChangeAspect="1"/>
          </p:cNvPicPr>
          <p:nvPr/>
        </p:nvPicPr>
        <p:blipFill>
          <a:blip r:embed="rId4"/>
          <a:stretch>
            <a:fillRect/>
          </a:stretch>
        </p:blipFill>
        <p:spPr>
          <a:xfrm>
            <a:off x="7498080" y="4709160"/>
            <a:ext cx="1234440" cy="365760"/>
          </a:xfrm>
          <a:prstGeom prst="rect">
            <a:avLst/>
          </a:prstGeom>
        </p:spPr>
      </p:pic>
      <p:sp>
        <p:nvSpPr>
          <p:cNvPr id="6" name="Shape 2"/>
          <p:cNvSpPr/>
          <p:nvPr/>
        </p:nvSpPr>
        <p:spPr>
          <a:xfrm>
            <a:off x="457200" y="868680"/>
            <a:ext cx="8229600" cy="713232"/>
          </a:xfrm>
          <a:prstGeom prst="rect">
            <a:avLst/>
          </a:prstGeom>
          <a:solidFill>
            <a:srgbClr val="FFFFFF"/>
          </a:solidFill>
          <a:ln/>
          <a:effectLst>
            <a:outerShdw blurRad="50800" dist="12700" dir="8100000" algn="bl" rotWithShape="0">
              <a:srgbClr val="000000">
                <a:alpha val="8000"/>
              </a:srgbClr>
            </a:outerShdw>
          </a:effectLst>
        </p:spPr>
      </p:sp>
      <p:sp>
        <p:nvSpPr>
          <p:cNvPr id="7" name="Shape 3"/>
          <p:cNvSpPr/>
          <p:nvPr/>
        </p:nvSpPr>
        <p:spPr>
          <a:xfrm>
            <a:off x="457200" y="868680"/>
            <a:ext cx="54864" cy="713232"/>
          </a:xfrm>
          <a:prstGeom prst="rect">
            <a:avLst/>
          </a:prstGeom>
          <a:solidFill>
            <a:srgbClr val="1B6B93"/>
          </a:solidFill>
          <a:ln/>
        </p:spPr>
      </p:sp>
      <p:sp>
        <p:nvSpPr>
          <p:cNvPr id="8" name="Shape 4"/>
          <p:cNvSpPr/>
          <p:nvPr/>
        </p:nvSpPr>
        <p:spPr>
          <a:xfrm>
            <a:off x="594360" y="914400"/>
            <a:ext cx="2011680" cy="182880"/>
          </a:xfrm>
          <a:prstGeom prst="rect">
            <a:avLst/>
          </a:prstGeom>
          <a:solidFill>
            <a:srgbClr val="1B6B93"/>
          </a:solidFill>
          <a:ln/>
        </p:spPr>
      </p:sp>
      <p:sp>
        <p:nvSpPr>
          <p:cNvPr id="9" name="Text 5"/>
          <p:cNvSpPr/>
          <p:nvPr/>
        </p:nvSpPr>
        <p:spPr>
          <a:xfrm>
            <a:off x="594360" y="914400"/>
            <a:ext cx="2011680" cy="182880"/>
          </a:xfrm>
          <a:prstGeom prst="rect">
            <a:avLst/>
          </a:prstGeom>
          <a:noFill/>
          <a:ln/>
        </p:spPr>
        <p:txBody>
          <a:bodyPr wrap="square" lIns="0" tIns="0" rIns="0" bIns="0" rtlCol="0" anchor="ctr"/>
          <a:lstStyle/>
          <a:p>
            <a:pPr marL="0" indent="0" algn="ctr">
              <a:buNone/>
            </a:pPr>
            <a:r>
              <a:rPr lang="en-US" sz="750" b="1" kern="0" spc="100" dirty="0">
                <a:solidFill>
                  <a:srgbClr val="F5F0EB"/>
                </a:solidFill>
                <a:latin typeface="Calibri" pitchFamily="34" charset="0"/>
                <a:ea typeface="Calibri" pitchFamily="34" charset="-122"/>
                <a:cs typeface="Calibri" pitchFamily="34" charset="-120"/>
              </a:rPr>
              <a:t>MEMBERSHIP TRIGGER</a:t>
            </a:r>
            <a:endParaRPr lang="en-US" sz="750" dirty="0"/>
          </a:p>
        </p:txBody>
      </p:sp>
      <p:sp>
        <p:nvSpPr>
          <p:cNvPr id="10" name="Text 6"/>
          <p:cNvSpPr/>
          <p:nvPr/>
        </p:nvSpPr>
        <p:spPr>
          <a:xfrm>
            <a:off x="594360" y="1143000"/>
            <a:ext cx="7955280" cy="402336"/>
          </a:xfrm>
          <a:prstGeom prst="rect">
            <a:avLst/>
          </a:prstGeom>
          <a:noFill/>
          <a:ln/>
        </p:spPr>
        <p:txBody>
          <a:bodyPr wrap="square" lIns="0" tIns="0" rIns="0" bIns="0" rtlCol="0" anchor="ctr"/>
          <a:lstStyle/>
          <a:p>
            <a:pPr marL="0" indent="0">
              <a:buNone/>
            </a:pPr>
            <a:r>
              <a:rPr lang="en-US" sz="850" i="1" dirty="0">
                <a:solidFill>
                  <a:srgbClr val="36454F"/>
                </a:solidFill>
                <a:latin typeface="Calibri" pitchFamily="34" charset="0"/>
                <a:ea typeface="Calibri" pitchFamily="34" charset="-122"/>
                <a:cs typeface="Calibri" pitchFamily="34" charset="-120"/>
              </a:rPr>
              <a:t>“Hey Nicole, it’s Terry from Meevo. I was checking out your Instagram and saw you just launched a membership program — congrats! We’ve been helping salon owners turn memberships into their number one revenue stream, and I had a quick idea I wanted to run by you. If you’re curious, shoot me a text at 555-123-4567. Talk soon.”</a:t>
            </a:r>
            <a:endParaRPr lang="en-US" sz="850" dirty="0"/>
          </a:p>
        </p:txBody>
      </p:sp>
      <p:sp>
        <p:nvSpPr>
          <p:cNvPr id="11" name="Shape 7"/>
          <p:cNvSpPr/>
          <p:nvPr/>
        </p:nvSpPr>
        <p:spPr>
          <a:xfrm>
            <a:off x="457200" y="1673352"/>
            <a:ext cx="8229600" cy="713232"/>
          </a:xfrm>
          <a:prstGeom prst="rect">
            <a:avLst/>
          </a:prstGeom>
          <a:solidFill>
            <a:srgbClr val="FFFFFF"/>
          </a:solidFill>
          <a:ln/>
          <a:effectLst>
            <a:outerShdw blurRad="50800" dist="12700" dir="8100000" algn="bl" rotWithShape="0">
              <a:srgbClr val="000000">
                <a:alpha val="8000"/>
              </a:srgbClr>
            </a:outerShdw>
          </a:effectLst>
        </p:spPr>
      </p:sp>
      <p:sp>
        <p:nvSpPr>
          <p:cNvPr id="12" name="Shape 8"/>
          <p:cNvSpPr/>
          <p:nvPr/>
        </p:nvSpPr>
        <p:spPr>
          <a:xfrm>
            <a:off x="457200" y="1673352"/>
            <a:ext cx="54864" cy="713232"/>
          </a:xfrm>
          <a:prstGeom prst="rect">
            <a:avLst/>
          </a:prstGeom>
          <a:solidFill>
            <a:srgbClr val="C67B5C"/>
          </a:solidFill>
          <a:ln/>
        </p:spPr>
      </p:sp>
      <p:sp>
        <p:nvSpPr>
          <p:cNvPr id="13" name="Shape 9"/>
          <p:cNvSpPr/>
          <p:nvPr/>
        </p:nvSpPr>
        <p:spPr>
          <a:xfrm>
            <a:off x="594360" y="1719072"/>
            <a:ext cx="2011680" cy="182880"/>
          </a:xfrm>
          <a:prstGeom prst="rect">
            <a:avLst/>
          </a:prstGeom>
          <a:solidFill>
            <a:srgbClr val="C67B5C"/>
          </a:solidFill>
          <a:ln/>
        </p:spPr>
      </p:sp>
      <p:sp>
        <p:nvSpPr>
          <p:cNvPr id="14" name="Text 10"/>
          <p:cNvSpPr/>
          <p:nvPr/>
        </p:nvSpPr>
        <p:spPr>
          <a:xfrm>
            <a:off x="594360" y="1719072"/>
            <a:ext cx="2011680" cy="182880"/>
          </a:xfrm>
          <a:prstGeom prst="rect">
            <a:avLst/>
          </a:prstGeom>
          <a:noFill/>
          <a:ln/>
        </p:spPr>
        <p:txBody>
          <a:bodyPr wrap="square" lIns="0" tIns="0" rIns="0" bIns="0" rtlCol="0" anchor="ctr"/>
          <a:lstStyle/>
          <a:p>
            <a:pPr marL="0" indent="0" algn="ctr">
              <a:buNone/>
            </a:pPr>
            <a:r>
              <a:rPr lang="en-US" sz="750" b="1" kern="0" spc="100" dirty="0">
                <a:solidFill>
                  <a:srgbClr val="F5F0EB"/>
                </a:solidFill>
                <a:latin typeface="Calibri" pitchFamily="34" charset="0"/>
                <a:ea typeface="Calibri" pitchFamily="34" charset="-122"/>
                <a:cs typeface="Calibri" pitchFamily="34" charset="-120"/>
              </a:rPr>
              <a:t>COMPETITOR TRIGGER (VAGARO)</a:t>
            </a:r>
            <a:endParaRPr lang="en-US" sz="750" dirty="0"/>
          </a:p>
        </p:txBody>
      </p:sp>
      <p:sp>
        <p:nvSpPr>
          <p:cNvPr id="15" name="Text 11"/>
          <p:cNvSpPr/>
          <p:nvPr/>
        </p:nvSpPr>
        <p:spPr>
          <a:xfrm>
            <a:off x="594360" y="1947672"/>
            <a:ext cx="7955280" cy="402336"/>
          </a:xfrm>
          <a:prstGeom prst="rect">
            <a:avLst/>
          </a:prstGeom>
          <a:noFill/>
          <a:ln/>
        </p:spPr>
        <p:txBody>
          <a:bodyPr wrap="square" lIns="0" tIns="0" rIns="0" bIns="0" rtlCol="0" anchor="ctr"/>
          <a:lstStyle/>
          <a:p>
            <a:pPr marL="0" indent="0">
              <a:buNone/>
            </a:pPr>
            <a:r>
              <a:rPr lang="en-US" sz="850" i="1" dirty="0">
                <a:solidFill>
                  <a:srgbClr val="36454F"/>
                </a:solidFill>
                <a:latin typeface="Calibri" pitchFamily="34" charset="0"/>
                <a:ea typeface="Calibri" pitchFamily="34" charset="-122"/>
                <a:cs typeface="Calibri" pitchFamily="34" charset="-120"/>
              </a:rPr>
              <a:t>“Hey Jason, Terry from Meevo. I’ve been talking to a lot of salon owners who started on Vagaro and hit a ceiling with reporting and provider goals once they grew past 8–10 chairs. Not sure if that’s something you’re running into, but if it is, I’d love to share what some owners in your area have done. Call or text me at 555-123-4567.”</a:t>
            </a:r>
            <a:endParaRPr lang="en-US" sz="850" dirty="0"/>
          </a:p>
        </p:txBody>
      </p:sp>
      <p:sp>
        <p:nvSpPr>
          <p:cNvPr id="16" name="Shape 12"/>
          <p:cNvSpPr/>
          <p:nvPr/>
        </p:nvSpPr>
        <p:spPr>
          <a:xfrm>
            <a:off x="457200" y="2478024"/>
            <a:ext cx="8229600" cy="713232"/>
          </a:xfrm>
          <a:prstGeom prst="rect">
            <a:avLst/>
          </a:prstGeom>
          <a:solidFill>
            <a:srgbClr val="FFFFFF"/>
          </a:solidFill>
          <a:ln/>
          <a:effectLst>
            <a:outerShdw blurRad="50800" dist="12700" dir="8100000" algn="bl" rotWithShape="0">
              <a:srgbClr val="000000">
                <a:alpha val="8000"/>
              </a:srgbClr>
            </a:outerShdw>
          </a:effectLst>
        </p:spPr>
      </p:sp>
      <p:sp>
        <p:nvSpPr>
          <p:cNvPr id="17" name="Shape 13"/>
          <p:cNvSpPr/>
          <p:nvPr/>
        </p:nvSpPr>
        <p:spPr>
          <a:xfrm>
            <a:off x="457200" y="2478024"/>
            <a:ext cx="54864" cy="713232"/>
          </a:xfrm>
          <a:prstGeom prst="rect">
            <a:avLst/>
          </a:prstGeom>
          <a:solidFill>
            <a:srgbClr val="7A9E7E"/>
          </a:solidFill>
          <a:ln/>
        </p:spPr>
      </p:sp>
      <p:sp>
        <p:nvSpPr>
          <p:cNvPr id="18" name="Shape 14"/>
          <p:cNvSpPr/>
          <p:nvPr/>
        </p:nvSpPr>
        <p:spPr>
          <a:xfrm>
            <a:off x="594360" y="2523744"/>
            <a:ext cx="2011680" cy="182880"/>
          </a:xfrm>
          <a:prstGeom prst="rect">
            <a:avLst/>
          </a:prstGeom>
          <a:solidFill>
            <a:srgbClr val="7A9E7E"/>
          </a:solidFill>
          <a:ln/>
        </p:spPr>
      </p:sp>
      <p:sp>
        <p:nvSpPr>
          <p:cNvPr id="19" name="Text 15"/>
          <p:cNvSpPr/>
          <p:nvPr/>
        </p:nvSpPr>
        <p:spPr>
          <a:xfrm>
            <a:off x="594360" y="2523744"/>
            <a:ext cx="2011680" cy="182880"/>
          </a:xfrm>
          <a:prstGeom prst="rect">
            <a:avLst/>
          </a:prstGeom>
          <a:noFill/>
          <a:ln/>
        </p:spPr>
        <p:txBody>
          <a:bodyPr wrap="square" lIns="0" tIns="0" rIns="0" bIns="0" rtlCol="0" anchor="ctr"/>
          <a:lstStyle/>
          <a:p>
            <a:pPr marL="0" indent="0" algn="ctr">
              <a:buNone/>
            </a:pPr>
            <a:r>
              <a:rPr lang="en-US" sz="750" b="1" kern="0" spc="100" dirty="0">
                <a:solidFill>
                  <a:srgbClr val="F5F0EB"/>
                </a:solidFill>
                <a:latin typeface="Calibri" pitchFamily="34" charset="0"/>
                <a:ea typeface="Calibri" pitchFamily="34" charset="-122"/>
                <a:cs typeface="Calibri" pitchFamily="34" charset="-120"/>
              </a:rPr>
              <a:t>GROWTH / NEW LOCATION TRIGGER</a:t>
            </a:r>
            <a:endParaRPr lang="en-US" sz="750" dirty="0"/>
          </a:p>
        </p:txBody>
      </p:sp>
      <p:sp>
        <p:nvSpPr>
          <p:cNvPr id="20" name="Text 16"/>
          <p:cNvSpPr/>
          <p:nvPr/>
        </p:nvSpPr>
        <p:spPr>
          <a:xfrm>
            <a:off x="594360" y="2752344"/>
            <a:ext cx="7955280" cy="402336"/>
          </a:xfrm>
          <a:prstGeom prst="rect">
            <a:avLst/>
          </a:prstGeom>
          <a:noFill/>
          <a:ln/>
        </p:spPr>
        <p:txBody>
          <a:bodyPr wrap="square" lIns="0" tIns="0" rIns="0" bIns="0" rtlCol="0" anchor="ctr"/>
          <a:lstStyle/>
          <a:p>
            <a:pPr marL="0" indent="0">
              <a:buNone/>
            </a:pPr>
            <a:r>
              <a:rPr lang="en-US" sz="850" i="1" dirty="0">
                <a:solidFill>
                  <a:srgbClr val="36454F"/>
                </a:solidFill>
                <a:latin typeface="Calibri" pitchFamily="34" charset="0"/>
                <a:ea typeface="Calibri" pitchFamily="34" charset="-122"/>
                <a:cs typeface="Calibri" pitchFamily="34" charset="-120"/>
              </a:rPr>
              <a:t>“Hey Sarah, Terry from Meevo. I saw you just opened your second location — that’s huge, congrats! A lot of multi-location owners I work with tell me the hardest part is getting both locations on the same page. We’ve built some tools specifically for that. Happy to share a quick idea if you’re open to it — 555-123-4567.”</a:t>
            </a:r>
            <a:endParaRPr lang="en-US" sz="850" dirty="0"/>
          </a:p>
        </p:txBody>
      </p:sp>
      <p:sp>
        <p:nvSpPr>
          <p:cNvPr id="21" name="Shape 17"/>
          <p:cNvSpPr/>
          <p:nvPr/>
        </p:nvSpPr>
        <p:spPr>
          <a:xfrm>
            <a:off x="457200" y="3282696"/>
            <a:ext cx="8229600" cy="713232"/>
          </a:xfrm>
          <a:prstGeom prst="rect">
            <a:avLst/>
          </a:prstGeom>
          <a:solidFill>
            <a:srgbClr val="FFFFFF"/>
          </a:solidFill>
          <a:ln/>
          <a:effectLst>
            <a:outerShdw blurRad="50800" dist="12700" dir="8100000" algn="bl" rotWithShape="0">
              <a:srgbClr val="000000">
                <a:alpha val="8000"/>
              </a:srgbClr>
            </a:outerShdw>
          </a:effectLst>
        </p:spPr>
      </p:sp>
      <p:sp>
        <p:nvSpPr>
          <p:cNvPr id="22" name="Shape 18"/>
          <p:cNvSpPr/>
          <p:nvPr/>
        </p:nvSpPr>
        <p:spPr>
          <a:xfrm>
            <a:off x="457200" y="3282696"/>
            <a:ext cx="54864" cy="713232"/>
          </a:xfrm>
          <a:prstGeom prst="rect">
            <a:avLst/>
          </a:prstGeom>
          <a:solidFill>
            <a:srgbClr val="8B6F7C"/>
          </a:solidFill>
          <a:ln/>
        </p:spPr>
      </p:sp>
      <p:sp>
        <p:nvSpPr>
          <p:cNvPr id="23" name="Shape 19"/>
          <p:cNvSpPr/>
          <p:nvPr/>
        </p:nvSpPr>
        <p:spPr>
          <a:xfrm>
            <a:off x="594360" y="3328416"/>
            <a:ext cx="2011680" cy="182880"/>
          </a:xfrm>
          <a:prstGeom prst="rect">
            <a:avLst/>
          </a:prstGeom>
          <a:solidFill>
            <a:srgbClr val="8B6F7C"/>
          </a:solidFill>
          <a:ln/>
        </p:spPr>
      </p:sp>
      <p:sp>
        <p:nvSpPr>
          <p:cNvPr id="24" name="Text 20"/>
          <p:cNvSpPr/>
          <p:nvPr/>
        </p:nvSpPr>
        <p:spPr>
          <a:xfrm>
            <a:off x="594360" y="3328416"/>
            <a:ext cx="2011680" cy="182880"/>
          </a:xfrm>
          <a:prstGeom prst="rect">
            <a:avLst/>
          </a:prstGeom>
          <a:noFill/>
          <a:ln/>
        </p:spPr>
        <p:txBody>
          <a:bodyPr wrap="square" lIns="0" tIns="0" rIns="0" bIns="0" rtlCol="0" anchor="ctr"/>
          <a:lstStyle/>
          <a:p>
            <a:pPr marL="0" indent="0" algn="ctr">
              <a:buNone/>
            </a:pPr>
            <a:r>
              <a:rPr lang="en-US" sz="750" b="1" kern="0" spc="100" dirty="0">
                <a:solidFill>
                  <a:srgbClr val="F5F0EB"/>
                </a:solidFill>
                <a:latin typeface="Calibri" pitchFamily="34" charset="0"/>
                <a:ea typeface="Calibri" pitchFamily="34" charset="-122"/>
                <a:cs typeface="Calibri" pitchFamily="34" charset="-120"/>
              </a:rPr>
              <a:t>BAD REVIEW TRIGGER</a:t>
            </a:r>
            <a:endParaRPr lang="en-US" sz="750" dirty="0"/>
          </a:p>
        </p:txBody>
      </p:sp>
      <p:sp>
        <p:nvSpPr>
          <p:cNvPr id="25" name="Text 21"/>
          <p:cNvSpPr/>
          <p:nvPr/>
        </p:nvSpPr>
        <p:spPr>
          <a:xfrm>
            <a:off x="594360" y="3557016"/>
            <a:ext cx="7955280" cy="402336"/>
          </a:xfrm>
          <a:prstGeom prst="rect">
            <a:avLst/>
          </a:prstGeom>
          <a:noFill/>
          <a:ln/>
        </p:spPr>
        <p:txBody>
          <a:bodyPr wrap="square" lIns="0" tIns="0" rIns="0" bIns="0" rtlCol="0" anchor="ctr"/>
          <a:lstStyle/>
          <a:p>
            <a:pPr marL="0" indent="0">
              <a:buNone/>
            </a:pPr>
            <a:r>
              <a:rPr lang="en-US" sz="850" i="1" dirty="0">
                <a:solidFill>
                  <a:srgbClr val="36454F"/>
                </a:solidFill>
                <a:latin typeface="Calibri" pitchFamily="34" charset="0"/>
                <a:ea typeface="Calibri" pitchFamily="34" charset="-122"/>
                <a:cs typeface="Calibri" pitchFamily="34" charset="-120"/>
              </a:rPr>
              <a:t>“Hey Maria, Terry from Meevo. I came across your spa on Google and noticed a couple of recent reviews mentioning booking issues. That’s actually something we hear a lot, and I had a thought on how to fix it without adding more work to your front desk. If you’re open to it, give me a ring at 555-123-4567.”</a:t>
            </a:r>
            <a:endParaRPr lang="en-US" sz="850" dirty="0"/>
          </a:p>
        </p:txBody>
      </p:sp>
      <p:sp>
        <p:nvSpPr>
          <p:cNvPr id="26" name="Shape 22"/>
          <p:cNvSpPr/>
          <p:nvPr/>
        </p:nvSpPr>
        <p:spPr>
          <a:xfrm>
            <a:off x="457200" y="4087368"/>
            <a:ext cx="8229600" cy="713232"/>
          </a:xfrm>
          <a:prstGeom prst="rect">
            <a:avLst/>
          </a:prstGeom>
          <a:solidFill>
            <a:srgbClr val="FFFFFF"/>
          </a:solidFill>
          <a:ln/>
          <a:effectLst>
            <a:outerShdw blurRad="50800" dist="12700" dir="8100000" algn="bl" rotWithShape="0">
              <a:srgbClr val="000000">
                <a:alpha val="8000"/>
              </a:srgbClr>
            </a:outerShdw>
          </a:effectLst>
        </p:spPr>
      </p:sp>
      <p:sp>
        <p:nvSpPr>
          <p:cNvPr id="27" name="Shape 23"/>
          <p:cNvSpPr/>
          <p:nvPr/>
        </p:nvSpPr>
        <p:spPr>
          <a:xfrm>
            <a:off x="457200" y="4087368"/>
            <a:ext cx="54864" cy="713232"/>
          </a:xfrm>
          <a:prstGeom prst="rect">
            <a:avLst/>
          </a:prstGeom>
          <a:solidFill>
            <a:srgbClr val="6B3A4A"/>
          </a:solidFill>
          <a:ln/>
        </p:spPr>
      </p:sp>
      <p:sp>
        <p:nvSpPr>
          <p:cNvPr id="28" name="Shape 24"/>
          <p:cNvSpPr/>
          <p:nvPr/>
        </p:nvSpPr>
        <p:spPr>
          <a:xfrm>
            <a:off x="594360" y="4133088"/>
            <a:ext cx="2011680" cy="182880"/>
          </a:xfrm>
          <a:prstGeom prst="rect">
            <a:avLst/>
          </a:prstGeom>
          <a:solidFill>
            <a:srgbClr val="6B3A4A"/>
          </a:solidFill>
          <a:ln/>
        </p:spPr>
      </p:sp>
      <p:sp>
        <p:nvSpPr>
          <p:cNvPr id="29" name="Text 25"/>
          <p:cNvSpPr/>
          <p:nvPr/>
        </p:nvSpPr>
        <p:spPr>
          <a:xfrm>
            <a:off x="594360" y="4133088"/>
            <a:ext cx="2011680" cy="182880"/>
          </a:xfrm>
          <a:prstGeom prst="rect">
            <a:avLst/>
          </a:prstGeom>
          <a:noFill/>
          <a:ln/>
        </p:spPr>
        <p:txBody>
          <a:bodyPr wrap="square" lIns="0" tIns="0" rIns="0" bIns="0" rtlCol="0" anchor="ctr"/>
          <a:lstStyle/>
          <a:p>
            <a:pPr marL="0" indent="0" algn="ctr">
              <a:buNone/>
            </a:pPr>
            <a:r>
              <a:rPr lang="en-US" sz="750" b="1" kern="0" spc="100" dirty="0">
                <a:solidFill>
                  <a:srgbClr val="F5F0EB"/>
                </a:solidFill>
                <a:latin typeface="Calibri" pitchFamily="34" charset="0"/>
                <a:ea typeface="Calibri" pitchFamily="34" charset="-122"/>
                <a:cs typeface="Calibri" pitchFamily="34" charset="-120"/>
              </a:rPr>
              <a:t>MEDSPA COMPLIANCE TRIGGER</a:t>
            </a:r>
            <a:endParaRPr lang="en-US" sz="750" dirty="0"/>
          </a:p>
        </p:txBody>
      </p:sp>
      <p:sp>
        <p:nvSpPr>
          <p:cNvPr id="30" name="Text 26"/>
          <p:cNvSpPr/>
          <p:nvPr/>
        </p:nvSpPr>
        <p:spPr>
          <a:xfrm>
            <a:off x="594360" y="4361688"/>
            <a:ext cx="7955280" cy="402336"/>
          </a:xfrm>
          <a:prstGeom prst="rect">
            <a:avLst/>
          </a:prstGeom>
          <a:noFill/>
          <a:ln/>
        </p:spPr>
        <p:txBody>
          <a:bodyPr wrap="square" lIns="0" tIns="0" rIns="0" bIns="0" rtlCol="0" anchor="ctr"/>
          <a:lstStyle/>
          <a:p>
            <a:pPr marL="0" indent="0">
              <a:buNone/>
            </a:pPr>
            <a:r>
              <a:rPr lang="en-US" sz="850" i="1" dirty="0">
                <a:solidFill>
                  <a:srgbClr val="36454F"/>
                </a:solidFill>
                <a:latin typeface="Calibri" pitchFamily="34" charset="0"/>
                <a:ea typeface="Calibri" pitchFamily="34" charset="-122"/>
                <a:cs typeface="Calibri" pitchFamily="34" charset="-120"/>
              </a:rPr>
              <a:t>“Hi Dr. Chen, this is Terry from Meevo. We work with a lot of medspas in your area, and one thing that keeps coming up is the gap between generic software and what you actually need for HIPAA compliance and treatment tracking. I had something specific I wanted to share with you. Call or text me at 555-123-4567.”</a:t>
            </a:r>
            <a:endParaRPr lang="en-US" sz="850" dirty="0"/>
          </a:p>
        </p:txBody>
      </p:sp>
      <p:sp>
        <p:nvSpPr>
          <p:cNvPr id="31" name="Text 27"/>
          <p:cNvSpPr/>
          <p:nvPr/>
        </p:nvSpPr>
        <p:spPr>
          <a:xfrm>
            <a:off x="457200" y="4846320"/>
            <a:ext cx="5943600" cy="228600"/>
          </a:xfrm>
          <a:prstGeom prst="rect">
            <a:avLst/>
          </a:prstGeom>
          <a:noFill/>
          <a:ln/>
        </p:spPr>
        <p:txBody>
          <a:bodyPr wrap="square" lIns="0" tIns="0" rIns="0" bIns="0" rtlCol="0" anchor="ctr"/>
          <a:lstStyle/>
          <a:p>
            <a:pPr marL="0" indent="0">
              <a:buNone/>
            </a:pPr>
            <a:r>
              <a:rPr lang="en-US" sz="900" i="1" dirty="0">
                <a:solidFill>
                  <a:srgbClr val="9CA3AF"/>
                </a:solidFill>
                <a:latin typeface="Calibri" pitchFamily="34" charset="0"/>
                <a:ea typeface="Calibri" pitchFamily="34" charset="-122"/>
                <a:cs typeface="Calibri" pitchFamily="34" charset="-120"/>
              </a:rPr>
              <a:t>Commit to the process. Control the controllables.</a:t>
            </a:r>
            <a:endParaRPr lang="en-US" sz="900" dirty="0"/>
          </a:p>
        </p:txBody>
      </p:sp>
      <p:sp>
        <p:nvSpPr>
          <p:cNvPr id="32" name="Shape 28"/>
          <p:cNvSpPr/>
          <p:nvPr/>
        </p:nvSpPr>
        <p:spPr>
          <a:xfrm>
            <a:off x="6766560" y="4754880"/>
            <a:ext cx="502920" cy="320040"/>
          </a:xfrm>
          <a:prstGeom prst="rect">
            <a:avLst/>
          </a:prstGeom>
          <a:solidFill>
            <a:srgbClr val="1B6B93"/>
          </a:solidFill>
          <a:ln/>
        </p:spPr>
      </p:sp>
      <p:sp>
        <p:nvSpPr>
          <p:cNvPr id="33" name="Text 29"/>
          <p:cNvSpPr/>
          <p:nvPr/>
        </p:nvSpPr>
        <p:spPr>
          <a:xfrm>
            <a:off x="6766560" y="4754880"/>
            <a:ext cx="50292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01168"/>
            <a:ext cx="347472" cy="347472"/>
          </a:xfrm>
          <a:prstGeom prst="rect">
            <a:avLst/>
          </a:prstGeom>
        </p:spPr>
      </p:pic>
      <p:sp>
        <p:nvSpPr>
          <p:cNvPr id="3" name="Text 0"/>
          <p:cNvSpPr/>
          <p:nvPr/>
        </p:nvSpPr>
        <p:spPr>
          <a:xfrm>
            <a:off x="868680" y="164592"/>
            <a:ext cx="7315200" cy="548640"/>
          </a:xfrm>
          <a:prstGeom prst="rect">
            <a:avLst/>
          </a:prstGeom>
          <a:noFill/>
          <a:ln/>
        </p:spPr>
        <p:txBody>
          <a:bodyPr wrap="square" lIns="0" tIns="0" rIns="0" bIns="0" rtlCol="0" anchor="ctr"/>
          <a:lstStyle/>
          <a:p>
            <a:pPr marL="0" indent="0">
              <a:buNone/>
            </a:pPr>
            <a:r>
              <a:rPr lang="en-US" sz="2600" b="1" kern="0" spc="300" dirty="0">
                <a:solidFill>
                  <a:srgbClr val="36454F"/>
                </a:solidFill>
                <a:latin typeface="Trebuchet MS" pitchFamily="34" charset="0"/>
                <a:ea typeface="Trebuchet MS" pitchFamily="34" charset="-122"/>
                <a:cs typeface="Trebuchet MS" pitchFamily="34" charset="-120"/>
              </a:rPr>
              <a:t>Tonality &amp; Delivery — How You Sound Matters</a:t>
            </a:r>
            <a:endParaRPr lang="en-US" sz="2600" dirty="0"/>
          </a:p>
        </p:txBody>
      </p:sp>
      <p:sp>
        <p:nvSpPr>
          <p:cNvPr id="4" name="Shape 1"/>
          <p:cNvSpPr/>
          <p:nvPr/>
        </p:nvSpPr>
        <p:spPr>
          <a:xfrm>
            <a:off x="548640" y="749808"/>
            <a:ext cx="1645920" cy="36576"/>
          </a:xfrm>
          <a:prstGeom prst="rect">
            <a:avLst/>
          </a:prstGeom>
          <a:solidFill>
            <a:srgbClr val="8B6F7C"/>
          </a:solidFill>
          <a:ln/>
        </p:spPr>
      </p:sp>
      <p:pic>
        <p:nvPicPr>
          <p:cNvPr id="5" name="Image 1" descr="preencoded.png"/>
          <p:cNvPicPr>
            <a:picLocks noChangeAspect="1"/>
          </p:cNvPicPr>
          <p:nvPr/>
        </p:nvPicPr>
        <p:blipFill>
          <a:blip r:embed="rId4"/>
          <a:stretch>
            <a:fillRect/>
          </a:stretch>
        </p:blipFill>
        <p:spPr>
          <a:xfrm>
            <a:off x="7498080" y="4709160"/>
            <a:ext cx="1234440" cy="365760"/>
          </a:xfrm>
          <a:prstGeom prst="rect">
            <a:avLst/>
          </a:prstGeom>
        </p:spPr>
      </p:pic>
      <p:sp>
        <p:nvSpPr>
          <p:cNvPr id="6" name="Shape 2"/>
          <p:cNvSpPr/>
          <p:nvPr/>
        </p:nvSpPr>
        <p:spPr>
          <a:xfrm>
            <a:off x="457200" y="868680"/>
            <a:ext cx="8229600" cy="457200"/>
          </a:xfrm>
          <a:prstGeom prst="rect">
            <a:avLst/>
          </a:prstGeom>
          <a:solidFill>
            <a:srgbClr val="1E2A33"/>
          </a:solidFill>
          <a:ln/>
          <a:effectLst>
            <a:outerShdw blurRad="76200" dist="25400" dir="8100000" algn="bl" rotWithShape="0">
              <a:srgbClr val="000000">
                <a:alpha val="12000"/>
              </a:srgbClr>
            </a:outerShdw>
          </a:effectLst>
        </p:spPr>
      </p:sp>
      <p:sp>
        <p:nvSpPr>
          <p:cNvPr id="7" name="Text 3"/>
          <p:cNvSpPr/>
          <p:nvPr/>
        </p:nvSpPr>
        <p:spPr>
          <a:xfrm>
            <a:off x="640080" y="868680"/>
            <a:ext cx="7863840" cy="457200"/>
          </a:xfrm>
          <a:prstGeom prst="rect">
            <a:avLst/>
          </a:prstGeom>
          <a:noFill/>
          <a:ln/>
        </p:spPr>
        <p:txBody>
          <a:bodyPr wrap="square" lIns="0" tIns="0" rIns="0" bIns="0" rtlCol="0" anchor="ctr"/>
          <a:lstStyle/>
          <a:p>
            <a:pPr marL="0" indent="0">
              <a:buNone/>
            </a:pPr>
            <a:r>
              <a:rPr lang="en-US" sz="1050" i="1" dirty="0">
                <a:solidFill>
                  <a:srgbClr val="F5F0EB"/>
                </a:solidFill>
                <a:latin typeface="Calibri" pitchFamily="34" charset="0"/>
                <a:ea typeface="Calibri" pitchFamily="34" charset="-122"/>
                <a:cs typeface="Calibri" pitchFamily="34" charset="-120"/>
              </a:rPr>
              <a:t>A perfect script delivered with robotic energy gets deleted. A mediocre script delivered with warmth, confidence, and pacing gets callbacks.</a:t>
            </a:r>
            <a:endParaRPr lang="en-US" sz="1050" dirty="0"/>
          </a:p>
        </p:txBody>
      </p:sp>
      <p:sp>
        <p:nvSpPr>
          <p:cNvPr id="8" name="Shape 4"/>
          <p:cNvSpPr/>
          <p:nvPr/>
        </p:nvSpPr>
        <p:spPr>
          <a:xfrm>
            <a:off x="457200" y="1463040"/>
            <a:ext cx="3931920" cy="3017520"/>
          </a:xfrm>
          <a:prstGeom prst="rect">
            <a:avLst/>
          </a:prstGeom>
          <a:solidFill>
            <a:srgbClr val="FFFFFF"/>
          </a:solidFill>
          <a:ln/>
          <a:effectLst>
            <a:outerShdw blurRad="76200" dist="25400" dir="8100000" algn="bl" rotWithShape="0">
              <a:srgbClr val="000000">
                <a:alpha val="12000"/>
              </a:srgbClr>
            </a:outerShdw>
          </a:effectLst>
        </p:spPr>
      </p:sp>
      <p:sp>
        <p:nvSpPr>
          <p:cNvPr id="9" name="Shape 5"/>
          <p:cNvSpPr/>
          <p:nvPr/>
        </p:nvSpPr>
        <p:spPr>
          <a:xfrm>
            <a:off x="457200" y="1463040"/>
            <a:ext cx="3931920" cy="411480"/>
          </a:xfrm>
          <a:prstGeom prst="rect">
            <a:avLst/>
          </a:prstGeom>
          <a:solidFill>
            <a:srgbClr val="7A9E7E"/>
          </a:solidFill>
          <a:ln/>
        </p:spPr>
      </p:sp>
      <p:pic>
        <p:nvPicPr>
          <p:cNvPr id="10" name="Image 2" descr="preencoded.png"/>
          <p:cNvPicPr>
            <a:picLocks noChangeAspect="1"/>
          </p:cNvPicPr>
          <p:nvPr/>
        </p:nvPicPr>
        <p:blipFill>
          <a:blip r:embed="rId5"/>
          <a:stretch>
            <a:fillRect/>
          </a:stretch>
        </p:blipFill>
        <p:spPr>
          <a:xfrm>
            <a:off x="548640" y="1527048"/>
            <a:ext cx="228600" cy="228600"/>
          </a:xfrm>
          <a:prstGeom prst="rect">
            <a:avLst/>
          </a:prstGeom>
        </p:spPr>
      </p:pic>
      <p:sp>
        <p:nvSpPr>
          <p:cNvPr id="11" name="Text 6"/>
          <p:cNvSpPr/>
          <p:nvPr/>
        </p:nvSpPr>
        <p:spPr>
          <a:xfrm>
            <a:off x="822960" y="1463040"/>
            <a:ext cx="3383280" cy="411480"/>
          </a:xfrm>
          <a:prstGeom prst="rect">
            <a:avLst/>
          </a:prstGeom>
          <a:noFill/>
          <a:ln/>
        </p:spPr>
        <p:txBody>
          <a:bodyPr wrap="square" lIns="0" tIns="0" rIns="0" bIns="0" rtlCol="0" anchor="ctr"/>
          <a:lstStyle/>
          <a:p>
            <a:pPr marL="0" indent="0">
              <a:buNone/>
            </a:pPr>
            <a:r>
              <a:rPr lang="en-US" sz="1200" b="1" kern="0" spc="200" dirty="0">
                <a:solidFill>
                  <a:srgbClr val="F5F0EB"/>
                </a:solidFill>
                <a:latin typeface="Calibri" pitchFamily="34" charset="0"/>
                <a:ea typeface="Calibri" pitchFamily="34" charset="-122"/>
                <a:cs typeface="Calibri" pitchFamily="34" charset="-120"/>
              </a:rPr>
              <a:t>DO THIS</a:t>
            </a:r>
            <a:endParaRPr lang="en-US" sz="1200" dirty="0"/>
          </a:p>
        </p:txBody>
      </p:sp>
      <p:sp>
        <p:nvSpPr>
          <p:cNvPr id="12" name="Text 7"/>
          <p:cNvSpPr/>
          <p:nvPr/>
        </p:nvSpPr>
        <p:spPr>
          <a:xfrm>
            <a:off x="594360" y="2326083"/>
            <a:ext cx="3657600" cy="24231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36454F"/>
                </a:solidFill>
                <a:latin typeface="Calibri" pitchFamily="34" charset="0"/>
                <a:ea typeface="Calibri" pitchFamily="34" charset="-122"/>
                <a:cs typeface="Calibri" pitchFamily="34" charset="-120"/>
              </a:rPr>
              <a:t>Smile when you speak — they can hear it in your tone</a:t>
            </a:r>
            <a:endParaRPr lang="en-US" sz="950" dirty="0"/>
          </a:p>
          <a:p>
            <a:pPr marL="342900" indent="-342900">
              <a:spcAft>
                <a:spcPts val="400"/>
              </a:spcAft>
              <a:buSzPct val="100000"/>
              <a:buChar char="•"/>
            </a:pPr>
            <a:r>
              <a:rPr lang="en-US" sz="950" dirty="0">
                <a:solidFill>
                  <a:srgbClr val="36454F"/>
                </a:solidFill>
                <a:latin typeface="Calibri" pitchFamily="34" charset="0"/>
                <a:ea typeface="Calibri" pitchFamily="34" charset="-122"/>
                <a:cs typeface="Calibri" pitchFamily="34" charset="-120"/>
              </a:rPr>
              <a:t>Slow down on your name and phone number</a:t>
            </a:r>
            <a:endParaRPr lang="en-US" sz="950" dirty="0"/>
          </a:p>
          <a:p>
            <a:pPr marL="342900" indent="-342900">
              <a:spcAft>
                <a:spcPts val="400"/>
              </a:spcAft>
              <a:buSzPct val="100000"/>
              <a:buChar char="•"/>
            </a:pPr>
            <a:r>
              <a:rPr lang="en-US" sz="950" dirty="0">
                <a:solidFill>
                  <a:srgbClr val="36454F"/>
                </a:solidFill>
                <a:latin typeface="Calibri" pitchFamily="34" charset="0"/>
                <a:ea typeface="Calibri" pitchFamily="34" charset="-122"/>
                <a:cs typeface="Calibri" pitchFamily="34" charset="-120"/>
              </a:rPr>
              <a:t>Use a slight downturn at the end of sentences (confidence, not question)</a:t>
            </a:r>
            <a:endParaRPr lang="en-US" sz="950" dirty="0"/>
          </a:p>
          <a:p>
            <a:pPr marL="342900" indent="-342900">
              <a:spcAft>
                <a:spcPts val="400"/>
              </a:spcAft>
              <a:buSzPct val="100000"/>
              <a:buChar char="•"/>
            </a:pPr>
            <a:r>
              <a:rPr lang="en-US" sz="950" dirty="0">
                <a:solidFill>
                  <a:srgbClr val="36454F"/>
                </a:solidFill>
                <a:latin typeface="Calibri" pitchFamily="34" charset="0"/>
                <a:ea typeface="Calibri" pitchFamily="34" charset="-122"/>
                <a:cs typeface="Calibri" pitchFamily="34" charset="-120"/>
              </a:rPr>
              <a:t>Pause after the trigger — let it land before the curiosity gap</a:t>
            </a:r>
            <a:endParaRPr lang="en-US" sz="950" dirty="0"/>
          </a:p>
          <a:p>
            <a:pPr marL="342900" indent="-342900">
              <a:spcAft>
                <a:spcPts val="400"/>
              </a:spcAft>
              <a:buSzPct val="100000"/>
              <a:buChar char="•"/>
            </a:pPr>
            <a:r>
              <a:rPr lang="en-US" sz="950" dirty="0">
                <a:solidFill>
                  <a:srgbClr val="36454F"/>
                </a:solidFill>
                <a:latin typeface="Calibri" pitchFamily="34" charset="0"/>
                <a:ea typeface="Calibri" pitchFamily="34" charset="-122"/>
                <a:cs typeface="Calibri" pitchFamily="34" charset="-120"/>
              </a:rPr>
              <a:t>Stand up while leaving voicemails (energy lifts)</a:t>
            </a:r>
            <a:endParaRPr lang="en-US" sz="950" dirty="0"/>
          </a:p>
          <a:p>
            <a:pPr marL="342900" indent="-342900">
              <a:spcAft>
                <a:spcPts val="400"/>
              </a:spcAft>
              <a:buSzPct val="100000"/>
              <a:buChar char="•"/>
            </a:pPr>
            <a:r>
              <a:rPr lang="en-US" sz="950" dirty="0">
                <a:solidFill>
                  <a:srgbClr val="36454F"/>
                </a:solidFill>
                <a:latin typeface="Calibri" pitchFamily="34" charset="0"/>
                <a:ea typeface="Calibri" pitchFamily="34" charset="-122"/>
                <a:cs typeface="Calibri" pitchFamily="34" charset="-120"/>
              </a:rPr>
              <a:t>Sound like you’re calling a friend, not reading a script</a:t>
            </a:r>
            <a:endParaRPr lang="en-US" sz="950" dirty="0"/>
          </a:p>
          <a:p>
            <a:pPr marL="342900" indent="-342900">
              <a:spcAft>
                <a:spcPts val="400"/>
              </a:spcAft>
              <a:buSzPct val="100000"/>
              <a:buChar char="•"/>
            </a:pPr>
            <a:r>
              <a:rPr lang="en-US" sz="950" dirty="0">
                <a:solidFill>
                  <a:srgbClr val="36454F"/>
                </a:solidFill>
                <a:latin typeface="Calibri" pitchFamily="34" charset="0"/>
                <a:ea typeface="Calibri" pitchFamily="34" charset="-122"/>
                <a:cs typeface="Calibri" pitchFamily="34" charset="-120"/>
              </a:rPr>
              <a:t>Record yourself — listen back — adjust weekly</a:t>
            </a:r>
            <a:endParaRPr lang="en-US" sz="950" dirty="0"/>
          </a:p>
        </p:txBody>
      </p:sp>
      <p:sp>
        <p:nvSpPr>
          <p:cNvPr id="13" name="Shape 8"/>
          <p:cNvSpPr/>
          <p:nvPr/>
        </p:nvSpPr>
        <p:spPr>
          <a:xfrm>
            <a:off x="4754880" y="1463040"/>
            <a:ext cx="3931920" cy="3017520"/>
          </a:xfrm>
          <a:prstGeom prst="rect">
            <a:avLst/>
          </a:prstGeom>
          <a:solidFill>
            <a:srgbClr val="FFFFFF"/>
          </a:solidFill>
          <a:ln/>
          <a:effectLst>
            <a:outerShdw blurRad="76200" dist="25400" dir="8100000" algn="bl" rotWithShape="0">
              <a:srgbClr val="000000">
                <a:alpha val="12000"/>
              </a:srgbClr>
            </a:outerShdw>
          </a:effectLst>
        </p:spPr>
      </p:sp>
      <p:sp>
        <p:nvSpPr>
          <p:cNvPr id="14" name="Shape 9"/>
          <p:cNvSpPr/>
          <p:nvPr/>
        </p:nvSpPr>
        <p:spPr>
          <a:xfrm>
            <a:off x="4754880" y="1463040"/>
            <a:ext cx="3931920" cy="411480"/>
          </a:xfrm>
          <a:prstGeom prst="rect">
            <a:avLst/>
          </a:prstGeom>
          <a:solidFill>
            <a:srgbClr val="6B3A4A"/>
          </a:solidFill>
          <a:ln/>
        </p:spPr>
      </p:sp>
      <p:pic>
        <p:nvPicPr>
          <p:cNvPr id="15" name="Image 3" descr="preencoded.png"/>
          <p:cNvPicPr>
            <a:picLocks noChangeAspect="1"/>
          </p:cNvPicPr>
          <p:nvPr/>
        </p:nvPicPr>
        <p:blipFill>
          <a:blip r:embed="rId6"/>
          <a:stretch>
            <a:fillRect/>
          </a:stretch>
        </p:blipFill>
        <p:spPr>
          <a:xfrm>
            <a:off x="4846320" y="1527048"/>
            <a:ext cx="228600" cy="228600"/>
          </a:xfrm>
          <a:prstGeom prst="rect">
            <a:avLst/>
          </a:prstGeom>
        </p:spPr>
      </p:pic>
      <p:sp>
        <p:nvSpPr>
          <p:cNvPr id="16" name="Text 10"/>
          <p:cNvSpPr/>
          <p:nvPr/>
        </p:nvSpPr>
        <p:spPr>
          <a:xfrm>
            <a:off x="5120640" y="1463040"/>
            <a:ext cx="3383280" cy="411480"/>
          </a:xfrm>
          <a:prstGeom prst="rect">
            <a:avLst/>
          </a:prstGeom>
          <a:noFill/>
          <a:ln/>
        </p:spPr>
        <p:txBody>
          <a:bodyPr wrap="square" lIns="0" tIns="0" rIns="0" bIns="0" rtlCol="0" anchor="ctr"/>
          <a:lstStyle/>
          <a:p>
            <a:pPr marL="0" indent="0">
              <a:buNone/>
            </a:pPr>
            <a:r>
              <a:rPr lang="en-US" sz="1200" b="1" kern="0" spc="200" dirty="0">
                <a:solidFill>
                  <a:srgbClr val="F5F0EB"/>
                </a:solidFill>
                <a:latin typeface="Calibri" pitchFamily="34" charset="0"/>
                <a:ea typeface="Calibri" pitchFamily="34" charset="-122"/>
                <a:cs typeface="Calibri" pitchFamily="34" charset="-120"/>
              </a:rPr>
              <a:t>NEVER DO THIS</a:t>
            </a:r>
            <a:endParaRPr lang="en-US" sz="1200" dirty="0"/>
          </a:p>
        </p:txBody>
      </p:sp>
      <p:sp>
        <p:nvSpPr>
          <p:cNvPr id="17" name="Text 11"/>
          <p:cNvSpPr/>
          <p:nvPr/>
        </p:nvSpPr>
        <p:spPr>
          <a:xfrm>
            <a:off x="4892040" y="2279111"/>
            <a:ext cx="3657600" cy="24231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36454F"/>
                </a:solidFill>
                <a:latin typeface="Calibri" pitchFamily="34" charset="0"/>
                <a:ea typeface="Calibri" pitchFamily="34" charset="-122"/>
                <a:cs typeface="Calibri" pitchFamily="34" charset="-120"/>
              </a:rPr>
              <a:t>Rush through your name (they’ll never catch it)</a:t>
            </a:r>
            <a:endParaRPr lang="en-US" sz="950" dirty="0"/>
          </a:p>
          <a:p>
            <a:pPr marL="342900" indent="-342900">
              <a:spcAft>
                <a:spcPts val="400"/>
              </a:spcAft>
              <a:buSzPct val="100000"/>
              <a:buChar char="•"/>
            </a:pPr>
            <a:r>
              <a:rPr lang="en-US" sz="950" dirty="0">
                <a:solidFill>
                  <a:srgbClr val="36454F"/>
                </a:solidFill>
                <a:latin typeface="Calibri" pitchFamily="34" charset="0"/>
                <a:ea typeface="Calibri" pitchFamily="34" charset="-122"/>
                <a:cs typeface="Calibri" pitchFamily="34" charset="-120"/>
              </a:rPr>
              <a:t>Leave a VM longer than 20 seconds</a:t>
            </a:r>
            <a:endParaRPr lang="en-US" sz="950" dirty="0"/>
          </a:p>
          <a:p>
            <a:pPr marL="342900" indent="-342900">
              <a:spcAft>
                <a:spcPts val="400"/>
              </a:spcAft>
              <a:buSzPct val="100000"/>
              <a:buChar char="•"/>
            </a:pPr>
            <a:r>
              <a:rPr lang="en-US" sz="950" dirty="0">
                <a:solidFill>
                  <a:srgbClr val="36454F"/>
                </a:solidFill>
                <a:latin typeface="Calibri" pitchFamily="34" charset="0"/>
                <a:ea typeface="Calibri" pitchFamily="34" charset="-122"/>
                <a:cs typeface="Calibri" pitchFamily="34" charset="-120"/>
              </a:rPr>
              <a:t>Pitch features or pricing in the voicemail</a:t>
            </a:r>
            <a:endParaRPr lang="en-US" sz="950" dirty="0"/>
          </a:p>
          <a:p>
            <a:pPr marL="342900" indent="-342900">
              <a:spcAft>
                <a:spcPts val="400"/>
              </a:spcAft>
              <a:buSzPct val="100000"/>
              <a:buChar char="•"/>
            </a:pPr>
            <a:r>
              <a:rPr lang="en-US" sz="950" dirty="0">
                <a:solidFill>
                  <a:srgbClr val="36454F"/>
                </a:solidFill>
                <a:latin typeface="Calibri" pitchFamily="34" charset="0"/>
                <a:ea typeface="Calibri" pitchFamily="34" charset="-122"/>
                <a:cs typeface="Calibri" pitchFamily="34" charset="-120"/>
              </a:rPr>
              <a:t>Say “I’m just calling to see if you’d be interested in...”</a:t>
            </a:r>
            <a:endParaRPr lang="en-US" sz="950" dirty="0"/>
          </a:p>
          <a:p>
            <a:pPr marL="342900" indent="-342900">
              <a:spcAft>
                <a:spcPts val="400"/>
              </a:spcAft>
              <a:buSzPct val="100000"/>
              <a:buChar char="•"/>
            </a:pPr>
            <a:r>
              <a:rPr lang="en-US" sz="950" dirty="0">
                <a:solidFill>
                  <a:srgbClr val="36454F"/>
                </a:solidFill>
                <a:latin typeface="Calibri" pitchFamily="34" charset="0"/>
                <a:ea typeface="Calibri" pitchFamily="34" charset="-122"/>
                <a:cs typeface="Calibri" pitchFamily="34" charset="-120"/>
              </a:rPr>
              <a:t>Use “I’m calling from” — sounds like a telemarketer</a:t>
            </a:r>
            <a:endParaRPr lang="en-US" sz="950" dirty="0"/>
          </a:p>
          <a:p>
            <a:pPr marL="342900" indent="-342900">
              <a:spcAft>
                <a:spcPts val="400"/>
              </a:spcAft>
              <a:buSzPct val="100000"/>
              <a:buChar char="•"/>
            </a:pPr>
            <a:r>
              <a:rPr lang="en-US" sz="950" dirty="0">
                <a:solidFill>
                  <a:srgbClr val="36454F"/>
                </a:solidFill>
                <a:latin typeface="Calibri" pitchFamily="34" charset="0"/>
                <a:ea typeface="Calibri" pitchFamily="34" charset="-122"/>
                <a:cs typeface="Calibri" pitchFamily="34" charset="-120"/>
              </a:rPr>
              <a:t>Leave the same generic VM for every prospect</a:t>
            </a:r>
            <a:endParaRPr lang="en-US" sz="950" dirty="0"/>
          </a:p>
          <a:p>
            <a:pPr marL="342900" indent="-342900">
              <a:spcAft>
                <a:spcPts val="400"/>
              </a:spcAft>
              <a:buSzPct val="100000"/>
              <a:buChar char="•"/>
            </a:pPr>
            <a:r>
              <a:rPr lang="en-US" sz="950" dirty="0">
                <a:solidFill>
                  <a:srgbClr val="36454F"/>
                </a:solidFill>
                <a:latin typeface="Calibri" pitchFamily="34" charset="0"/>
                <a:ea typeface="Calibri" pitchFamily="34" charset="-122"/>
                <a:cs typeface="Calibri" pitchFamily="34" charset="-120"/>
              </a:rPr>
              <a:t>Sound apologetic: “Sorry to bother you” kills your authority</a:t>
            </a:r>
            <a:endParaRPr lang="en-US" sz="950" dirty="0"/>
          </a:p>
        </p:txBody>
      </p:sp>
      <p:sp>
        <p:nvSpPr>
          <p:cNvPr id="18" name="Text 12"/>
          <p:cNvSpPr/>
          <p:nvPr/>
        </p:nvSpPr>
        <p:spPr>
          <a:xfrm>
            <a:off x="457200" y="4846320"/>
            <a:ext cx="5943600" cy="228600"/>
          </a:xfrm>
          <a:prstGeom prst="rect">
            <a:avLst/>
          </a:prstGeom>
          <a:noFill/>
          <a:ln/>
        </p:spPr>
        <p:txBody>
          <a:bodyPr wrap="square" lIns="0" tIns="0" rIns="0" bIns="0" rtlCol="0" anchor="ctr"/>
          <a:lstStyle/>
          <a:p>
            <a:pPr marL="0" indent="0">
              <a:buNone/>
            </a:pPr>
            <a:r>
              <a:rPr lang="en-US" sz="900" i="1" dirty="0">
                <a:solidFill>
                  <a:srgbClr val="9CA3AF"/>
                </a:solidFill>
                <a:latin typeface="Calibri" pitchFamily="34" charset="0"/>
                <a:ea typeface="Calibri" pitchFamily="34" charset="-122"/>
                <a:cs typeface="Calibri" pitchFamily="34" charset="-120"/>
              </a:rPr>
              <a:t>Commit to the process. Control the controllables.</a:t>
            </a:r>
            <a:endParaRPr lang="en-US" sz="900" dirty="0"/>
          </a:p>
        </p:txBody>
      </p:sp>
      <p:sp>
        <p:nvSpPr>
          <p:cNvPr id="19" name="Shape 13"/>
          <p:cNvSpPr/>
          <p:nvPr/>
        </p:nvSpPr>
        <p:spPr>
          <a:xfrm>
            <a:off x="6766560" y="4754880"/>
            <a:ext cx="502920" cy="320040"/>
          </a:xfrm>
          <a:prstGeom prst="rect">
            <a:avLst/>
          </a:prstGeom>
          <a:solidFill>
            <a:srgbClr val="1B6B93"/>
          </a:solidFill>
          <a:ln/>
        </p:spPr>
      </p:sp>
      <p:sp>
        <p:nvSpPr>
          <p:cNvPr id="20" name="Text 14"/>
          <p:cNvSpPr/>
          <p:nvPr/>
        </p:nvSpPr>
        <p:spPr>
          <a:xfrm>
            <a:off x="6766560" y="4754880"/>
            <a:ext cx="50292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67B5C"/>
          </a:solidFill>
          <a:ln/>
        </p:spPr>
      </p:sp>
      <p:sp>
        <p:nvSpPr>
          <p:cNvPr id="3" name="Shape 1"/>
          <p:cNvSpPr/>
          <p:nvPr/>
        </p:nvSpPr>
        <p:spPr>
          <a:xfrm>
            <a:off x="109728" y="0"/>
            <a:ext cx="9034272" cy="54864"/>
          </a:xfrm>
          <a:prstGeom prst="rect">
            <a:avLst/>
          </a:prstGeom>
          <a:solidFill>
            <a:srgbClr val="1B6B93"/>
          </a:solidFill>
          <a:ln/>
        </p:spPr>
      </p:sp>
      <p:pic>
        <p:nvPicPr>
          <p:cNvPr id="4" name="Image 0" descr="preencoded.png"/>
          <p:cNvPicPr>
            <a:picLocks noChangeAspect="1"/>
          </p:cNvPicPr>
          <p:nvPr/>
        </p:nvPicPr>
        <p:blipFill>
          <a:blip r:embed="rId3"/>
          <a:stretch>
            <a:fillRect/>
          </a:stretch>
        </p:blipFill>
        <p:spPr>
          <a:xfrm>
            <a:off x="7498080" y="4709160"/>
            <a:ext cx="1234440" cy="365760"/>
          </a:xfrm>
          <a:prstGeom prst="rect">
            <a:avLst/>
          </a:prstGeom>
        </p:spPr>
      </p:pic>
      <p:sp>
        <p:nvSpPr>
          <p:cNvPr id="5" name="Text 2"/>
          <p:cNvSpPr/>
          <p:nvPr/>
        </p:nvSpPr>
        <p:spPr>
          <a:xfrm>
            <a:off x="731520" y="1371600"/>
            <a:ext cx="7315200" cy="365760"/>
          </a:xfrm>
          <a:prstGeom prst="rect">
            <a:avLst/>
          </a:prstGeom>
          <a:noFill/>
          <a:ln/>
        </p:spPr>
        <p:txBody>
          <a:bodyPr wrap="square" lIns="0" tIns="0" rIns="0" bIns="0" rtlCol="0" anchor="ctr"/>
          <a:lstStyle/>
          <a:p>
            <a:pPr marL="0" indent="0">
              <a:buNone/>
            </a:pPr>
            <a:r>
              <a:rPr lang="en-US" sz="1200" kern="0" spc="500" dirty="0">
                <a:solidFill>
                  <a:srgbClr val="C67B5C"/>
                </a:solidFill>
                <a:latin typeface="Calibri" pitchFamily="34" charset="0"/>
                <a:ea typeface="Calibri" pitchFamily="34" charset="-122"/>
                <a:cs typeface="Calibri" pitchFamily="34" charset="-120"/>
              </a:rPr>
              <a:t>ADVANCED APPLICATION</a:t>
            </a:r>
            <a:endParaRPr lang="en-US" sz="1200" dirty="0"/>
          </a:p>
        </p:txBody>
      </p:sp>
      <p:sp>
        <p:nvSpPr>
          <p:cNvPr id="6" name="Text 3"/>
          <p:cNvSpPr/>
          <p:nvPr/>
        </p:nvSpPr>
        <p:spPr>
          <a:xfrm>
            <a:off x="731520" y="1737360"/>
            <a:ext cx="7315200" cy="914400"/>
          </a:xfrm>
          <a:prstGeom prst="rect">
            <a:avLst/>
          </a:prstGeom>
          <a:noFill/>
          <a:ln/>
        </p:spPr>
        <p:txBody>
          <a:bodyPr wrap="square" lIns="0" tIns="0" rIns="0" bIns="0" rtlCol="0" anchor="ctr"/>
          <a:lstStyle/>
          <a:p>
            <a:pPr marL="0" indent="0">
              <a:buNone/>
            </a:pPr>
            <a:r>
              <a:rPr lang="en-US" sz="3600" b="1" kern="0" spc="300" dirty="0">
                <a:solidFill>
                  <a:srgbClr val="F5F0EB"/>
                </a:solidFill>
                <a:latin typeface="Trebuchet MS" pitchFamily="34" charset="0"/>
                <a:ea typeface="Trebuchet MS" pitchFamily="34" charset="-122"/>
                <a:cs typeface="Trebuchet MS" pitchFamily="34" charset="-120"/>
              </a:rPr>
              <a:t>Voicemail Sequences</a:t>
            </a:r>
            <a:endParaRPr lang="en-US" sz="3600" dirty="0"/>
          </a:p>
          <a:p>
            <a:pPr marL="0" indent="0">
              <a:buNone/>
            </a:pPr>
            <a:r>
              <a:rPr lang="en-US" sz="3600" b="1" kern="0" spc="300" dirty="0">
                <a:solidFill>
                  <a:srgbClr val="F5F0EB"/>
                </a:solidFill>
                <a:latin typeface="Trebuchet MS" pitchFamily="34" charset="0"/>
                <a:ea typeface="Trebuchet MS" pitchFamily="34" charset="-122"/>
                <a:cs typeface="Trebuchet MS" pitchFamily="34" charset="-120"/>
              </a:rPr>
              <a:t>&amp; Follow-Up Strategy</a:t>
            </a:r>
            <a:endParaRPr lang="en-US" sz="3600" dirty="0"/>
          </a:p>
        </p:txBody>
      </p:sp>
      <p:sp>
        <p:nvSpPr>
          <p:cNvPr id="7" name="Text 4"/>
          <p:cNvSpPr/>
          <p:nvPr/>
        </p:nvSpPr>
        <p:spPr>
          <a:xfrm>
            <a:off x="731520" y="2651760"/>
            <a:ext cx="7315200" cy="365760"/>
          </a:xfrm>
          <a:prstGeom prst="rect">
            <a:avLst/>
          </a:prstGeom>
          <a:noFill/>
          <a:ln/>
        </p:spPr>
        <p:txBody>
          <a:bodyPr wrap="square" lIns="0" tIns="0" rIns="0" bIns="0" rtlCol="0" anchor="ctr"/>
          <a:lstStyle/>
          <a:p>
            <a:pPr marL="0" indent="0">
              <a:buNone/>
            </a:pPr>
            <a:r>
              <a:rPr lang="en-US" sz="1300" i="1" dirty="0">
                <a:solidFill>
                  <a:srgbClr val="E8E3DE"/>
                </a:solidFill>
                <a:latin typeface="Calibri" pitchFamily="34" charset="0"/>
                <a:ea typeface="Calibri" pitchFamily="34" charset="-122"/>
                <a:cs typeface="Calibri" pitchFamily="34" charset="-120"/>
              </a:rPr>
              <a:t>One voicemail won’t do it. A strategic sequence will.</a:t>
            </a:r>
            <a:endParaRPr lang="en-US" sz="1300" dirty="0"/>
          </a:p>
        </p:txBody>
      </p:sp>
      <p:sp>
        <p:nvSpPr>
          <p:cNvPr id="8" name="Shape 5"/>
          <p:cNvSpPr/>
          <p:nvPr/>
        </p:nvSpPr>
        <p:spPr>
          <a:xfrm>
            <a:off x="731520" y="3200400"/>
            <a:ext cx="1828800" cy="36576"/>
          </a:xfrm>
          <a:prstGeom prst="rect">
            <a:avLst/>
          </a:prstGeom>
          <a:solidFill>
            <a:srgbClr val="C67B5C"/>
          </a:solidFill>
          <a:ln/>
        </p:spPr>
      </p:sp>
      <p:sp>
        <p:nvSpPr>
          <p:cNvPr id="9" name="Text 6"/>
          <p:cNvSpPr/>
          <p:nvPr/>
        </p:nvSpPr>
        <p:spPr>
          <a:xfrm>
            <a:off x="731520" y="4617720"/>
            <a:ext cx="6400800" cy="182880"/>
          </a:xfrm>
          <a:prstGeom prst="rect">
            <a:avLst/>
          </a:prstGeom>
          <a:noFill/>
          <a:ln/>
        </p:spPr>
        <p:txBody>
          <a:bodyPr wrap="square" lIns="0" tIns="0" rIns="0" bIns="0" rtlCol="0" anchor="ctr"/>
          <a:lstStyle/>
          <a:p>
            <a:pPr marL="0" indent="0">
              <a:buNone/>
            </a:pPr>
            <a:r>
              <a:rPr lang="en-US" sz="800" dirty="0">
                <a:solidFill>
                  <a:srgbClr val="7A9E7E"/>
                </a:solidFill>
                <a:latin typeface="Calibri" pitchFamily="34" charset="0"/>
                <a:ea typeface="Calibri" pitchFamily="34" charset="-122"/>
                <a:cs typeface="Calibri" pitchFamily="34" charset="-120"/>
              </a:rPr>
              <a:t>[ATTRIBUTE: Drive / Competitive Fire #1 | Resilience / Grit #3]  [LEVEL: 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01168"/>
            <a:ext cx="347472" cy="347472"/>
          </a:xfrm>
          <a:prstGeom prst="rect">
            <a:avLst/>
          </a:prstGeom>
        </p:spPr>
      </p:pic>
      <p:sp>
        <p:nvSpPr>
          <p:cNvPr id="3" name="Text 0"/>
          <p:cNvSpPr/>
          <p:nvPr/>
        </p:nvSpPr>
        <p:spPr>
          <a:xfrm>
            <a:off x="868680" y="164592"/>
            <a:ext cx="7315200" cy="548640"/>
          </a:xfrm>
          <a:prstGeom prst="rect">
            <a:avLst/>
          </a:prstGeom>
          <a:noFill/>
          <a:ln/>
        </p:spPr>
        <p:txBody>
          <a:bodyPr wrap="square" lIns="0" tIns="0" rIns="0" bIns="0" rtlCol="0" anchor="ctr"/>
          <a:lstStyle/>
          <a:p>
            <a:pPr marL="0" indent="0">
              <a:buNone/>
            </a:pPr>
            <a:r>
              <a:rPr lang="en-US" sz="2600" b="1" kern="0" spc="300" dirty="0">
                <a:solidFill>
                  <a:srgbClr val="36454F"/>
                </a:solidFill>
                <a:latin typeface="Trebuchet MS" pitchFamily="34" charset="0"/>
                <a:ea typeface="Trebuchet MS" pitchFamily="34" charset="-122"/>
                <a:cs typeface="Trebuchet MS" pitchFamily="34" charset="-120"/>
              </a:rPr>
              <a:t>The 3-Touch Voicemail Sequence</a:t>
            </a:r>
            <a:endParaRPr lang="en-US" sz="2600" dirty="0"/>
          </a:p>
        </p:txBody>
      </p:sp>
      <p:sp>
        <p:nvSpPr>
          <p:cNvPr id="4" name="Shape 1"/>
          <p:cNvSpPr/>
          <p:nvPr/>
        </p:nvSpPr>
        <p:spPr>
          <a:xfrm>
            <a:off x="548640" y="749808"/>
            <a:ext cx="1645920" cy="36576"/>
          </a:xfrm>
          <a:prstGeom prst="rect">
            <a:avLst/>
          </a:prstGeom>
          <a:solidFill>
            <a:srgbClr val="1B6B93"/>
          </a:solidFill>
          <a:ln/>
        </p:spPr>
      </p:sp>
      <p:pic>
        <p:nvPicPr>
          <p:cNvPr id="5" name="Image 1" descr="preencoded.png"/>
          <p:cNvPicPr>
            <a:picLocks noChangeAspect="1"/>
          </p:cNvPicPr>
          <p:nvPr/>
        </p:nvPicPr>
        <p:blipFill>
          <a:blip r:embed="rId4"/>
          <a:stretch>
            <a:fillRect/>
          </a:stretch>
        </p:blipFill>
        <p:spPr>
          <a:xfrm>
            <a:off x="7498080" y="4709160"/>
            <a:ext cx="1234440" cy="365760"/>
          </a:xfrm>
          <a:prstGeom prst="rect">
            <a:avLst/>
          </a:prstGeom>
        </p:spPr>
      </p:pic>
      <p:sp>
        <p:nvSpPr>
          <p:cNvPr id="6" name="Shape 2"/>
          <p:cNvSpPr/>
          <p:nvPr/>
        </p:nvSpPr>
        <p:spPr>
          <a:xfrm>
            <a:off x="457200" y="868680"/>
            <a:ext cx="8229600" cy="411480"/>
          </a:xfrm>
          <a:prstGeom prst="rect">
            <a:avLst/>
          </a:prstGeom>
          <a:solidFill>
            <a:srgbClr val="1E2A33"/>
          </a:solidFill>
          <a:ln/>
        </p:spPr>
      </p:sp>
      <p:sp>
        <p:nvSpPr>
          <p:cNvPr id="7" name="Text 3"/>
          <p:cNvSpPr/>
          <p:nvPr/>
        </p:nvSpPr>
        <p:spPr>
          <a:xfrm>
            <a:off x="640080" y="868680"/>
            <a:ext cx="7863840" cy="411480"/>
          </a:xfrm>
          <a:prstGeom prst="rect">
            <a:avLst/>
          </a:prstGeom>
          <a:noFill/>
          <a:ln/>
        </p:spPr>
        <p:txBody>
          <a:bodyPr wrap="square" lIns="0" tIns="0" rIns="0" bIns="0" rtlCol="0" anchor="ctr"/>
          <a:lstStyle/>
          <a:p>
            <a:pPr marL="0" indent="0">
              <a:buNone/>
            </a:pPr>
            <a:r>
              <a:rPr lang="en-US" sz="1000" b="1" i="1" dirty="0">
                <a:solidFill>
                  <a:srgbClr val="C67B5C"/>
                </a:solidFill>
                <a:latin typeface="Calibri" pitchFamily="34" charset="0"/>
                <a:ea typeface="Calibri" pitchFamily="34" charset="-122"/>
                <a:cs typeface="Calibri" pitchFamily="34" charset="-120"/>
              </a:rPr>
              <a:t>Each voicemail should feel different. Different trigger, different angle, different curiosity gap. Never leave the same VM twice.</a:t>
            </a:r>
            <a:endParaRPr lang="en-US" sz="1000" dirty="0"/>
          </a:p>
        </p:txBody>
      </p:sp>
      <p:sp>
        <p:nvSpPr>
          <p:cNvPr id="8" name="Shape 4"/>
          <p:cNvSpPr/>
          <p:nvPr/>
        </p:nvSpPr>
        <p:spPr>
          <a:xfrm>
            <a:off x="457200" y="1417320"/>
            <a:ext cx="8229600" cy="1024128"/>
          </a:xfrm>
          <a:prstGeom prst="rect">
            <a:avLst/>
          </a:prstGeom>
          <a:solidFill>
            <a:srgbClr val="FFFFFF"/>
          </a:solidFill>
          <a:ln/>
          <a:effectLst>
            <a:outerShdw blurRad="50800" dist="12700" dir="8100000" algn="bl" rotWithShape="0">
              <a:srgbClr val="000000">
                <a:alpha val="8000"/>
              </a:srgbClr>
            </a:outerShdw>
          </a:effectLst>
        </p:spPr>
      </p:sp>
      <p:sp>
        <p:nvSpPr>
          <p:cNvPr id="9" name="Shape 5"/>
          <p:cNvSpPr/>
          <p:nvPr/>
        </p:nvSpPr>
        <p:spPr>
          <a:xfrm>
            <a:off x="457200" y="1417320"/>
            <a:ext cx="54864" cy="1024128"/>
          </a:xfrm>
          <a:prstGeom prst="rect">
            <a:avLst/>
          </a:prstGeom>
          <a:solidFill>
            <a:srgbClr val="1B6B93"/>
          </a:solidFill>
          <a:ln/>
        </p:spPr>
      </p:sp>
      <p:sp>
        <p:nvSpPr>
          <p:cNvPr id="10" name="Shape 6"/>
          <p:cNvSpPr/>
          <p:nvPr/>
        </p:nvSpPr>
        <p:spPr>
          <a:xfrm>
            <a:off x="594360" y="1463040"/>
            <a:ext cx="822960" cy="201168"/>
          </a:xfrm>
          <a:prstGeom prst="rect">
            <a:avLst/>
          </a:prstGeom>
          <a:solidFill>
            <a:srgbClr val="1B6B93"/>
          </a:solidFill>
          <a:ln/>
        </p:spPr>
      </p:sp>
      <p:sp>
        <p:nvSpPr>
          <p:cNvPr id="11" name="Text 7"/>
          <p:cNvSpPr/>
          <p:nvPr/>
        </p:nvSpPr>
        <p:spPr>
          <a:xfrm>
            <a:off x="594360" y="1463040"/>
            <a:ext cx="822960" cy="201168"/>
          </a:xfrm>
          <a:prstGeom prst="rect">
            <a:avLst/>
          </a:prstGeom>
          <a:noFill/>
          <a:ln/>
        </p:spPr>
        <p:txBody>
          <a:bodyPr wrap="square" lIns="0" tIns="0" rIns="0" bIns="0" rtlCol="0" anchor="ctr"/>
          <a:lstStyle/>
          <a:p>
            <a:pPr marL="0" indent="0" algn="ctr">
              <a:buNone/>
            </a:pPr>
            <a:r>
              <a:rPr lang="en-US" sz="800" b="1" dirty="0">
                <a:solidFill>
                  <a:srgbClr val="F5F0EB"/>
                </a:solidFill>
                <a:latin typeface="Calibri" pitchFamily="34" charset="0"/>
                <a:ea typeface="Calibri" pitchFamily="34" charset="-122"/>
                <a:cs typeface="Calibri" pitchFamily="34" charset="-120"/>
              </a:rPr>
              <a:t>TOUCH 1</a:t>
            </a:r>
            <a:endParaRPr lang="en-US" sz="800" dirty="0"/>
          </a:p>
        </p:txBody>
      </p:sp>
      <p:sp>
        <p:nvSpPr>
          <p:cNvPr id="12" name="Text 8"/>
          <p:cNvSpPr/>
          <p:nvPr/>
        </p:nvSpPr>
        <p:spPr>
          <a:xfrm>
            <a:off x="1463040" y="1463040"/>
            <a:ext cx="640080" cy="201168"/>
          </a:xfrm>
          <a:prstGeom prst="rect">
            <a:avLst/>
          </a:prstGeom>
          <a:noFill/>
          <a:ln/>
        </p:spPr>
        <p:txBody>
          <a:bodyPr wrap="square" lIns="0" tIns="0" rIns="0" bIns="0" rtlCol="0" anchor="ctr"/>
          <a:lstStyle/>
          <a:p>
            <a:pPr marL="0" indent="0">
              <a:buNone/>
            </a:pPr>
            <a:r>
              <a:rPr lang="en-US" sz="800" dirty="0">
                <a:solidFill>
                  <a:srgbClr val="9CA3AF"/>
                </a:solidFill>
                <a:latin typeface="Calibri" pitchFamily="34" charset="0"/>
                <a:ea typeface="Calibri" pitchFamily="34" charset="-122"/>
                <a:cs typeface="Calibri" pitchFamily="34" charset="-120"/>
              </a:rPr>
              <a:t>Day 1</a:t>
            </a:r>
            <a:endParaRPr lang="en-US" sz="800" dirty="0"/>
          </a:p>
        </p:txBody>
      </p:sp>
      <p:sp>
        <p:nvSpPr>
          <p:cNvPr id="13" name="Text 9"/>
          <p:cNvSpPr/>
          <p:nvPr/>
        </p:nvSpPr>
        <p:spPr>
          <a:xfrm>
            <a:off x="2103120" y="1463040"/>
            <a:ext cx="2286000" cy="201168"/>
          </a:xfrm>
          <a:prstGeom prst="rect">
            <a:avLst/>
          </a:prstGeom>
          <a:noFill/>
          <a:ln/>
        </p:spPr>
        <p:txBody>
          <a:bodyPr wrap="square" lIns="0" tIns="0" rIns="0" bIns="0" rtlCol="0" anchor="ctr"/>
          <a:lstStyle/>
          <a:p>
            <a:pPr marL="0" indent="0">
              <a:buNone/>
            </a:pPr>
            <a:r>
              <a:rPr lang="en-US" sz="1000" b="1" dirty="0">
                <a:solidFill>
                  <a:srgbClr val="36454F"/>
                </a:solidFill>
                <a:latin typeface="Calibri" pitchFamily="34" charset="0"/>
                <a:ea typeface="Calibri" pitchFamily="34" charset="-122"/>
                <a:cs typeface="Calibri" pitchFamily="34" charset="-120"/>
              </a:rPr>
              <a:t>The Trigger VM</a:t>
            </a:r>
            <a:endParaRPr lang="en-US" sz="1000" dirty="0"/>
          </a:p>
        </p:txBody>
      </p:sp>
      <p:sp>
        <p:nvSpPr>
          <p:cNvPr id="14" name="Text 10"/>
          <p:cNvSpPr/>
          <p:nvPr/>
        </p:nvSpPr>
        <p:spPr>
          <a:xfrm>
            <a:off x="594360" y="1719072"/>
            <a:ext cx="3931920" cy="320040"/>
          </a:xfrm>
          <a:prstGeom prst="rect">
            <a:avLst/>
          </a:prstGeom>
          <a:noFill/>
          <a:ln/>
        </p:spPr>
        <p:txBody>
          <a:bodyPr wrap="square" lIns="0" tIns="0" rIns="0" bIns="0" rtlCol="0" anchor="ctr"/>
          <a:lstStyle/>
          <a:p>
            <a:pPr marL="0" indent="0">
              <a:buNone/>
            </a:pPr>
            <a:r>
              <a:rPr lang="en-US" sz="800" dirty="0">
                <a:latin typeface="Calibri"/>
                <a:ea typeface="Calibri"/>
                <a:cs typeface="Calibri"/>
              </a:rPr>
              <a:t>Angle: Lead with something specific about their business. Website, Instagram, new hire, competitor, bad review.</a:t>
            </a:r>
          </a:p>
        </p:txBody>
      </p:sp>
      <p:sp>
        <p:nvSpPr>
          <p:cNvPr id="15" name="Text 11"/>
          <p:cNvSpPr/>
          <p:nvPr/>
        </p:nvSpPr>
        <p:spPr>
          <a:xfrm>
            <a:off x="594360" y="2057400"/>
            <a:ext cx="3931920" cy="320040"/>
          </a:xfrm>
          <a:prstGeom prst="rect">
            <a:avLst/>
          </a:prstGeom>
          <a:noFill/>
          <a:ln/>
        </p:spPr>
        <p:txBody>
          <a:bodyPr wrap="square" lIns="0" tIns="0" rIns="0" bIns="0" rtlCol="0" anchor="ctr"/>
          <a:lstStyle/>
          <a:p>
            <a:pPr marL="0" indent="0">
              <a:buNone/>
            </a:pPr>
            <a:r>
              <a:rPr lang="en-US" sz="800" b="1" dirty="0">
                <a:latin typeface="Calibri"/>
                <a:ea typeface="Calibri"/>
                <a:cs typeface="Calibri"/>
              </a:rPr>
              <a:t>Goal: Create initial curiosity. Plant the seed</a:t>
            </a:r>
            <a:r>
              <a:rPr lang="en-US" sz="800" b="1" dirty="0">
                <a:solidFill>
                  <a:srgbClr val="7A9E7E"/>
                </a:solidFill>
                <a:latin typeface="Calibri"/>
                <a:ea typeface="Calibri"/>
                <a:cs typeface="Calibri"/>
              </a:rPr>
              <a:t>.</a:t>
            </a:r>
            <a:endParaRPr lang="en-US" sz="800" dirty="0">
              <a:latin typeface="Calibri"/>
              <a:ea typeface="Calibri"/>
              <a:cs typeface="Calibri"/>
            </a:endParaRPr>
          </a:p>
        </p:txBody>
      </p:sp>
      <p:sp>
        <p:nvSpPr>
          <p:cNvPr id="16" name="Shape 12"/>
          <p:cNvSpPr/>
          <p:nvPr/>
        </p:nvSpPr>
        <p:spPr>
          <a:xfrm>
            <a:off x="4617720" y="1490472"/>
            <a:ext cx="36576" cy="868680"/>
          </a:xfrm>
          <a:prstGeom prst="rect">
            <a:avLst/>
          </a:prstGeom>
          <a:solidFill>
            <a:srgbClr val="1B6B93"/>
          </a:solidFill>
          <a:ln/>
        </p:spPr>
      </p:sp>
      <p:sp>
        <p:nvSpPr>
          <p:cNvPr id="17" name="Text 13"/>
          <p:cNvSpPr/>
          <p:nvPr/>
        </p:nvSpPr>
        <p:spPr>
          <a:xfrm>
            <a:off x="4754880" y="1490472"/>
            <a:ext cx="3794760" cy="868680"/>
          </a:xfrm>
          <a:prstGeom prst="rect">
            <a:avLst/>
          </a:prstGeom>
          <a:noFill/>
          <a:ln/>
        </p:spPr>
        <p:txBody>
          <a:bodyPr wrap="square" lIns="0" tIns="0" rIns="0" bIns="0" rtlCol="0" anchor="ctr"/>
          <a:lstStyle/>
          <a:p>
            <a:pPr marL="0" indent="0">
              <a:buNone/>
            </a:pPr>
            <a:r>
              <a:rPr lang="en-US" sz="850" i="1" dirty="0">
                <a:solidFill>
                  <a:srgbClr val="36454F"/>
                </a:solidFill>
                <a:latin typeface="Calibri" pitchFamily="34" charset="0"/>
                <a:ea typeface="Calibri" pitchFamily="34" charset="-122"/>
                <a:cs typeface="Calibri" pitchFamily="34" charset="-120"/>
              </a:rPr>
              <a:t>“Hey Nicole, Terry from Meevo. I noticed you just launched a membership program — congrats! I had a quick idea on how owners like you are turning that into their #1 revenue driver. Shoot me a text at 555-123-4567.”</a:t>
            </a:r>
            <a:endParaRPr lang="en-US" sz="850" dirty="0"/>
          </a:p>
        </p:txBody>
      </p:sp>
      <p:sp>
        <p:nvSpPr>
          <p:cNvPr id="18" name="Shape 14"/>
          <p:cNvSpPr/>
          <p:nvPr/>
        </p:nvSpPr>
        <p:spPr>
          <a:xfrm>
            <a:off x="457200" y="2560320"/>
            <a:ext cx="8229600" cy="1024128"/>
          </a:xfrm>
          <a:prstGeom prst="rect">
            <a:avLst/>
          </a:prstGeom>
          <a:solidFill>
            <a:srgbClr val="FFFFFF"/>
          </a:solidFill>
          <a:ln/>
          <a:effectLst>
            <a:outerShdw blurRad="50800" dist="12700" dir="8100000" algn="bl" rotWithShape="0">
              <a:srgbClr val="000000">
                <a:alpha val="8000"/>
              </a:srgbClr>
            </a:outerShdw>
          </a:effectLst>
        </p:spPr>
      </p:sp>
      <p:sp>
        <p:nvSpPr>
          <p:cNvPr id="19" name="Shape 15"/>
          <p:cNvSpPr/>
          <p:nvPr/>
        </p:nvSpPr>
        <p:spPr>
          <a:xfrm>
            <a:off x="457200" y="2560320"/>
            <a:ext cx="54864" cy="1024128"/>
          </a:xfrm>
          <a:prstGeom prst="rect">
            <a:avLst/>
          </a:prstGeom>
          <a:solidFill>
            <a:srgbClr val="C67B5C"/>
          </a:solidFill>
          <a:ln/>
        </p:spPr>
      </p:sp>
      <p:sp>
        <p:nvSpPr>
          <p:cNvPr id="20" name="Shape 16"/>
          <p:cNvSpPr/>
          <p:nvPr/>
        </p:nvSpPr>
        <p:spPr>
          <a:xfrm>
            <a:off x="594360" y="2606040"/>
            <a:ext cx="822960" cy="201168"/>
          </a:xfrm>
          <a:prstGeom prst="rect">
            <a:avLst/>
          </a:prstGeom>
          <a:solidFill>
            <a:srgbClr val="C67B5C"/>
          </a:solidFill>
          <a:ln/>
        </p:spPr>
      </p:sp>
      <p:sp>
        <p:nvSpPr>
          <p:cNvPr id="21" name="Text 17"/>
          <p:cNvSpPr/>
          <p:nvPr/>
        </p:nvSpPr>
        <p:spPr>
          <a:xfrm>
            <a:off x="594360" y="2606040"/>
            <a:ext cx="822960" cy="201168"/>
          </a:xfrm>
          <a:prstGeom prst="rect">
            <a:avLst/>
          </a:prstGeom>
          <a:noFill/>
          <a:ln/>
        </p:spPr>
        <p:txBody>
          <a:bodyPr wrap="square" lIns="0" tIns="0" rIns="0" bIns="0" rtlCol="0" anchor="ctr"/>
          <a:lstStyle/>
          <a:p>
            <a:pPr marL="0" indent="0" algn="ctr">
              <a:buNone/>
            </a:pPr>
            <a:r>
              <a:rPr lang="en-US" sz="800" b="1" dirty="0">
                <a:solidFill>
                  <a:srgbClr val="F5F0EB"/>
                </a:solidFill>
                <a:latin typeface="Calibri" pitchFamily="34" charset="0"/>
                <a:ea typeface="Calibri" pitchFamily="34" charset="-122"/>
                <a:cs typeface="Calibri" pitchFamily="34" charset="-120"/>
              </a:rPr>
              <a:t>TOUCH 2</a:t>
            </a:r>
            <a:endParaRPr lang="en-US" sz="800" dirty="0"/>
          </a:p>
        </p:txBody>
      </p:sp>
      <p:sp>
        <p:nvSpPr>
          <p:cNvPr id="22" name="Text 18"/>
          <p:cNvSpPr/>
          <p:nvPr/>
        </p:nvSpPr>
        <p:spPr>
          <a:xfrm>
            <a:off x="1463040" y="2606040"/>
            <a:ext cx="640080" cy="201168"/>
          </a:xfrm>
          <a:prstGeom prst="rect">
            <a:avLst/>
          </a:prstGeom>
          <a:noFill/>
          <a:ln/>
        </p:spPr>
        <p:txBody>
          <a:bodyPr wrap="square" lIns="0" tIns="0" rIns="0" bIns="0" rtlCol="0" anchor="ctr"/>
          <a:lstStyle/>
          <a:p>
            <a:pPr marL="0" indent="0">
              <a:buNone/>
            </a:pPr>
            <a:r>
              <a:rPr lang="en-US" sz="800" dirty="0">
                <a:solidFill>
                  <a:srgbClr val="9CA3AF"/>
                </a:solidFill>
                <a:latin typeface="Calibri" pitchFamily="34" charset="0"/>
                <a:ea typeface="Calibri" pitchFamily="34" charset="-122"/>
                <a:cs typeface="Calibri" pitchFamily="34" charset="-120"/>
              </a:rPr>
              <a:t>Day 3–4</a:t>
            </a:r>
            <a:endParaRPr lang="en-US" sz="800" dirty="0"/>
          </a:p>
        </p:txBody>
      </p:sp>
      <p:sp>
        <p:nvSpPr>
          <p:cNvPr id="23" name="Text 19"/>
          <p:cNvSpPr/>
          <p:nvPr/>
        </p:nvSpPr>
        <p:spPr>
          <a:xfrm>
            <a:off x="2103120" y="2606040"/>
            <a:ext cx="2286000" cy="201168"/>
          </a:xfrm>
          <a:prstGeom prst="rect">
            <a:avLst/>
          </a:prstGeom>
          <a:noFill/>
          <a:ln/>
        </p:spPr>
        <p:txBody>
          <a:bodyPr wrap="square" lIns="0" tIns="0" rIns="0" bIns="0" rtlCol="0" anchor="ctr"/>
          <a:lstStyle/>
          <a:p>
            <a:pPr marL="0" indent="0">
              <a:buNone/>
            </a:pPr>
            <a:r>
              <a:rPr lang="en-US" sz="1000" b="1" dirty="0">
                <a:solidFill>
                  <a:srgbClr val="36454F"/>
                </a:solidFill>
                <a:latin typeface="Calibri" pitchFamily="34" charset="0"/>
                <a:ea typeface="Calibri" pitchFamily="34" charset="-122"/>
                <a:cs typeface="Calibri" pitchFamily="34" charset="-120"/>
              </a:rPr>
              <a:t>The Social Proof VM</a:t>
            </a:r>
            <a:endParaRPr lang="en-US" sz="1000" dirty="0"/>
          </a:p>
        </p:txBody>
      </p:sp>
      <p:sp>
        <p:nvSpPr>
          <p:cNvPr id="24" name="Text 20"/>
          <p:cNvSpPr/>
          <p:nvPr/>
        </p:nvSpPr>
        <p:spPr>
          <a:xfrm>
            <a:off x="594360" y="2862072"/>
            <a:ext cx="3931920" cy="320040"/>
          </a:xfrm>
          <a:prstGeom prst="rect">
            <a:avLst/>
          </a:prstGeom>
          <a:noFill/>
          <a:ln/>
        </p:spPr>
        <p:txBody>
          <a:bodyPr wrap="square" lIns="0" tIns="0" rIns="0" bIns="0" rtlCol="0" anchor="ctr"/>
          <a:lstStyle/>
          <a:p>
            <a:pPr marL="0" indent="0">
              <a:buNone/>
            </a:pPr>
            <a:r>
              <a:rPr lang="en-US" sz="800" dirty="0">
                <a:latin typeface="Calibri"/>
                <a:ea typeface="Calibri"/>
                <a:cs typeface="Calibri"/>
              </a:rPr>
              <a:t>Angle: Reference a result from a similar business. Make it tangible and specific.</a:t>
            </a:r>
          </a:p>
        </p:txBody>
      </p:sp>
      <p:sp>
        <p:nvSpPr>
          <p:cNvPr id="25" name="Text 21"/>
          <p:cNvSpPr/>
          <p:nvPr/>
        </p:nvSpPr>
        <p:spPr>
          <a:xfrm>
            <a:off x="594360" y="3200400"/>
            <a:ext cx="3931920" cy="320040"/>
          </a:xfrm>
          <a:prstGeom prst="rect">
            <a:avLst/>
          </a:prstGeom>
          <a:noFill/>
          <a:ln/>
        </p:spPr>
        <p:txBody>
          <a:bodyPr wrap="square" lIns="0" tIns="0" rIns="0" bIns="0" rtlCol="0" anchor="ctr"/>
          <a:lstStyle/>
          <a:p>
            <a:pPr marL="0" indent="0">
              <a:buNone/>
            </a:pPr>
            <a:r>
              <a:rPr lang="en-US" sz="800" b="1" dirty="0">
                <a:latin typeface="Calibri"/>
                <a:ea typeface="Calibri"/>
                <a:cs typeface="Calibri"/>
              </a:rPr>
              <a:t>Goal: Build credibility. Anchor a real outcome.</a:t>
            </a:r>
            <a:endParaRPr lang="en-US" sz="800" dirty="0">
              <a:latin typeface="Calibri"/>
              <a:ea typeface="Calibri"/>
              <a:cs typeface="Calibri"/>
            </a:endParaRPr>
          </a:p>
        </p:txBody>
      </p:sp>
      <p:sp>
        <p:nvSpPr>
          <p:cNvPr id="26" name="Shape 22"/>
          <p:cNvSpPr/>
          <p:nvPr/>
        </p:nvSpPr>
        <p:spPr>
          <a:xfrm>
            <a:off x="4617720" y="2633472"/>
            <a:ext cx="36576" cy="868680"/>
          </a:xfrm>
          <a:prstGeom prst="rect">
            <a:avLst/>
          </a:prstGeom>
          <a:solidFill>
            <a:srgbClr val="C67B5C"/>
          </a:solidFill>
          <a:ln/>
        </p:spPr>
      </p:sp>
      <p:sp>
        <p:nvSpPr>
          <p:cNvPr id="27" name="Text 23"/>
          <p:cNvSpPr/>
          <p:nvPr/>
        </p:nvSpPr>
        <p:spPr>
          <a:xfrm>
            <a:off x="4754880" y="2633472"/>
            <a:ext cx="3794760" cy="868680"/>
          </a:xfrm>
          <a:prstGeom prst="rect">
            <a:avLst/>
          </a:prstGeom>
          <a:noFill/>
          <a:ln/>
        </p:spPr>
        <p:txBody>
          <a:bodyPr wrap="square" lIns="0" tIns="0" rIns="0" bIns="0" rtlCol="0" anchor="ctr"/>
          <a:lstStyle/>
          <a:p>
            <a:pPr marL="0" indent="0">
              <a:buNone/>
            </a:pPr>
            <a:r>
              <a:rPr lang="en-US" sz="850" i="1" dirty="0">
                <a:solidFill>
                  <a:srgbClr val="36454F"/>
                </a:solidFill>
                <a:latin typeface="Calibri" pitchFamily="34" charset="0"/>
                <a:ea typeface="Calibri" pitchFamily="34" charset="-122"/>
                <a:cs typeface="Calibri" pitchFamily="34" charset="-120"/>
              </a:rPr>
              <a:t>“Hey Nicole, Terry from Meevo again. Quick one — I was just working with a 12-chair salon in your area who increased their rebooking rate 30% in 90 days after making a switch. Thought it might be relevant for you. 555-123-4567 if you want the details.”</a:t>
            </a:r>
            <a:endParaRPr lang="en-US" sz="850" dirty="0"/>
          </a:p>
        </p:txBody>
      </p:sp>
      <p:sp>
        <p:nvSpPr>
          <p:cNvPr id="28" name="Shape 24"/>
          <p:cNvSpPr/>
          <p:nvPr/>
        </p:nvSpPr>
        <p:spPr>
          <a:xfrm>
            <a:off x="457200" y="3703320"/>
            <a:ext cx="8229600" cy="1024128"/>
          </a:xfrm>
          <a:prstGeom prst="rect">
            <a:avLst/>
          </a:prstGeom>
          <a:solidFill>
            <a:srgbClr val="FFFFFF"/>
          </a:solidFill>
          <a:ln/>
          <a:effectLst>
            <a:outerShdw blurRad="50800" dist="12700" dir="8100000" algn="bl" rotWithShape="0">
              <a:srgbClr val="000000">
                <a:alpha val="8000"/>
              </a:srgbClr>
            </a:outerShdw>
          </a:effectLst>
        </p:spPr>
      </p:sp>
      <p:sp>
        <p:nvSpPr>
          <p:cNvPr id="29" name="Shape 25"/>
          <p:cNvSpPr/>
          <p:nvPr/>
        </p:nvSpPr>
        <p:spPr>
          <a:xfrm>
            <a:off x="457200" y="3703320"/>
            <a:ext cx="54864" cy="1024128"/>
          </a:xfrm>
          <a:prstGeom prst="rect">
            <a:avLst/>
          </a:prstGeom>
          <a:solidFill>
            <a:srgbClr val="7A9E7E"/>
          </a:solidFill>
          <a:ln/>
        </p:spPr>
      </p:sp>
      <p:sp>
        <p:nvSpPr>
          <p:cNvPr id="30" name="Shape 26"/>
          <p:cNvSpPr/>
          <p:nvPr/>
        </p:nvSpPr>
        <p:spPr>
          <a:xfrm>
            <a:off x="594360" y="3749040"/>
            <a:ext cx="822960" cy="201168"/>
          </a:xfrm>
          <a:prstGeom prst="rect">
            <a:avLst/>
          </a:prstGeom>
          <a:solidFill>
            <a:srgbClr val="7A9E7E"/>
          </a:solidFill>
          <a:ln/>
        </p:spPr>
      </p:sp>
      <p:sp>
        <p:nvSpPr>
          <p:cNvPr id="31" name="Text 27"/>
          <p:cNvSpPr/>
          <p:nvPr/>
        </p:nvSpPr>
        <p:spPr>
          <a:xfrm>
            <a:off x="594360" y="3749040"/>
            <a:ext cx="822960" cy="201168"/>
          </a:xfrm>
          <a:prstGeom prst="rect">
            <a:avLst/>
          </a:prstGeom>
          <a:noFill/>
          <a:ln/>
        </p:spPr>
        <p:txBody>
          <a:bodyPr wrap="square" lIns="0" tIns="0" rIns="0" bIns="0" rtlCol="0" anchor="ctr"/>
          <a:lstStyle/>
          <a:p>
            <a:pPr marL="0" indent="0" algn="ctr">
              <a:buNone/>
            </a:pPr>
            <a:r>
              <a:rPr lang="en-US" sz="800" b="1" dirty="0">
                <a:solidFill>
                  <a:srgbClr val="F5F0EB"/>
                </a:solidFill>
                <a:latin typeface="Calibri" pitchFamily="34" charset="0"/>
                <a:ea typeface="Calibri" pitchFamily="34" charset="-122"/>
                <a:cs typeface="Calibri" pitchFamily="34" charset="-120"/>
              </a:rPr>
              <a:t>TOUCH 3</a:t>
            </a:r>
            <a:endParaRPr lang="en-US" sz="800" dirty="0"/>
          </a:p>
        </p:txBody>
      </p:sp>
      <p:sp>
        <p:nvSpPr>
          <p:cNvPr id="32" name="Text 28"/>
          <p:cNvSpPr/>
          <p:nvPr/>
        </p:nvSpPr>
        <p:spPr>
          <a:xfrm>
            <a:off x="1463040" y="3749040"/>
            <a:ext cx="640080" cy="201168"/>
          </a:xfrm>
          <a:prstGeom prst="rect">
            <a:avLst/>
          </a:prstGeom>
          <a:noFill/>
          <a:ln/>
        </p:spPr>
        <p:txBody>
          <a:bodyPr wrap="square" lIns="0" tIns="0" rIns="0" bIns="0" rtlCol="0" anchor="ctr"/>
          <a:lstStyle/>
          <a:p>
            <a:pPr marL="0" indent="0">
              <a:buNone/>
            </a:pPr>
            <a:r>
              <a:rPr lang="en-US" sz="800" dirty="0">
                <a:solidFill>
                  <a:srgbClr val="9CA3AF"/>
                </a:solidFill>
                <a:latin typeface="Calibri" pitchFamily="34" charset="0"/>
                <a:ea typeface="Calibri" pitchFamily="34" charset="-122"/>
                <a:cs typeface="Calibri" pitchFamily="34" charset="-120"/>
              </a:rPr>
              <a:t>Day 7–8</a:t>
            </a:r>
            <a:endParaRPr lang="en-US" sz="800" dirty="0"/>
          </a:p>
        </p:txBody>
      </p:sp>
      <p:sp>
        <p:nvSpPr>
          <p:cNvPr id="33" name="Text 29"/>
          <p:cNvSpPr/>
          <p:nvPr/>
        </p:nvSpPr>
        <p:spPr>
          <a:xfrm>
            <a:off x="2103120" y="3749040"/>
            <a:ext cx="2286000" cy="201168"/>
          </a:xfrm>
          <a:prstGeom prst="rect">
            <a:avLst/>
          </a:prstGeom>
          <a:noFill/>
          <a:ln/>
        </p:spPr>
        <p:txBody>
          <a:bodyPr wrap="square" lIns="0" tIns="0" rIns="0" bIns="0" rtlCol="0" anchor="ctr"/>
          <a:lstStyle/>
          <a:p>
            <a:pPr marL="0" indent="0">
              <a:buNone/>
            </a:pPr>
            <a:r>
              <a:rPr lang="en-US" sz="1000" b="1" dirty="0">
                <a:solidFill>
                  <a:srgbClr val="36454F"/>
                </a:solidFill>
                <a:latin typeface="Calibri" pitchFamily="34" charset="0"/>
                <a:ea typeface="Calibri" pitchFamily="34" charset="-122"/>
                <a:cs typeface="Calibri" pitchFamily="34" charset="-120"/>
              </a:rPr>
              <a:t>The Breakup VM</a:t>
            </a:r>
            <a:endParaRPr lang="en-US" sz="1000" dirty="0"/>
          </a:p>
        </p:txBody>
      </p:sp>
      <p:sp>
        <p:nvSpPr>
          <p:cNvPr id="34" name="Text 30"/>
          <p:cNvSpPr/>
          <p:nvPr/>
        </p:nvSpPr>
        <p:spPr>
          <a:xfrm>
            <a:off x="594360" y="4005072"/>
            <a:ext cx="3931920" cy="320040"/>
          </a:xfrm>
          <a:prstGeom prst="rect">
            <a:avLst/>
          </a:prstGeom>
          <a:noFill/>
          <a:ln/>
        </p:spPr>
        <p:txBody>
          <a:bodyPr wrap="square" lIns="0" tIns="0" rIns="0" bIns="0" rtlCol="0" anchor="ctr"/>
          <a:lstStyle/>
          <a:p>
            <a:pPr marL="0" indent="0">
              <a:buNone/>
            </a:pPr>
            <a:r>
              <a:rPr lang="en-US" sz="800" dirty="0">
                <a:latin typeface="Calibri"/>
                <a:ea typeface="Calibri"/>
                <a:cs typeface="Calibri"/>
              </a:rPr>
              <a:t>Angle: Low-pressure, high-dignity. Give them permission to say no — which often creates a yes.</a:t>
            </a:r>
          </a:p>
        </p:txBody>
      </p:sp>
      <p:sp>
        <p:nvSpPr>
          <p:cNvPr id="35" name="Text 31"/>
          <p:cNvSpPr/>
          <p:nvPr/>
        </p:nvSpPr>
        <p:spPr>
          <a:xfrm>
            <a:off x="594360" y="4343400"/>
            <a:ext cx="3931920" cy="320040"/>
          </a:xfrm>
          <a:prstGeom prst="rect">
            <a:avLst/>
          </a:prstGeom>
          <a:noFill/>
          <a:ln/>
        </p:spPr>
        <p:txBody>
          <a:bodyPr wrap="square" lIns="0" tIns="0" rIns="0" bIns="0" rtlCol="0" anchor="ctr"/>
          <a:lstStyle/>
          <a:p>
            <a:pPr marL="0" indent="0">
              <a:buNone/>
            </a:pPr>
            <a:r>
              <a:rPr lang="en-US" sz="800" b="1" dirty="0">
                <a:latin typeface="Calibri"/>
                <a:ea typeface="Calibri"/>
                <a:cs typeface="Calibri"/>
              </a:rPr>
              <a:t>Goal: Respect their time. Often triggers the callback because it’s the one that feels human.</a:t>
            </a:r>
            <a:endParaRPr lang="en-US" sz="800" dirty="0">
              <a:latin typeface="Calibri"/>
              <a:ea typeface="Calibri"/>
              <a:cs typeface="Calibri"/>
            </a:endParaRPr>
          </a:p>
        </p:txBody>
      </p:sp>
      <p:sp>
        <p:nvSpPr>
          <p:cNvPr id="36" name="Shape 32"/>
          <p:cNvSpPr/>
          <p:nvPr/>
        </p:nvSpPr>
        <p:spPr>
          <a:xfrm>
            <a:off x="4617720" y="3776472"/>
            <a:ext cx="36576" cy="868680"/>
          </a:xfrm>
          <a:prstGeom prst="rect">
            <a:avLst/>
          </a:prstGeom>
          <a:solidFill>
            <a:srgbClr val="7A9E7E"/>
          </a:solidFill>
          <a:ln/>
        </p:spPr>
      </p:sp>
      <p:sp>
        <p:nvSpPr>
          <p:cNvPr id="37" name="Text 33"/>
          <p:cNvSpPr/>
          <p:nvPr/>
        </p:nvSpPr>
        <p:spPr>
          <a:xfrm>
            <a:off x="4754880" y="3776472"/>
            <a:ext cx="3794760" cy="868680"/>
          </a:xfrm>
          <a:prstGeom prst="rect">
            <a:avLst/>
          </a:prstGeom>
          <a:noFill/>
          <a:ln/>
        </p:spPr>
        <p:txBody>
          <a:bodyPr wrap="square" lIns="0" tIns="0" rIns="0" bIns="0" rtlCol="0" anchor="ctr"/>
          <a:lstStyle/>
          <a:p>
            <a:pPr marL="0" indent="0">
              <a:buNone/>
            </a:pPr>
            <a:r>
              <a:rPr lang="en-US" sz="850" i="1" dirty="0">
                <a:solidFill>
                  <a:srgbClr val="36454F"/>
                </a:solidFill>
                <a:latin typeface="Calibri" pitchFamily="34" charset="0"/>
                <a:ea typeface="Calibri" pitchFamily="34" charset="-122"/>
                <a:cs typeface="Calibri" pitchFamily="34" charset="-120"/>
              </a:rPr>
              <a:t>“Hey Nicole, Terry from Meevo. I’ve left a couple messages and I know you’re busy. I don’t want to be a pest — if the timing isn’t right, totally get it. But if you ever want to explore what’s out there, I’m a quick call away. 555-123-4567. All the best.”</a:t>
            </a:r>
            <a:endParaRPr lang="en-US" sz="850" dirty="0"/>
          </a:p>
        </p:txBody>
      </p:sp>
      <p:sp>
        <p:nvSpPr>
          <p:cNvPr id="38" name="Text 34"/>
          <p:cNvSpPr/>
          <p:nvPr/>
        </p:nvSpPr>
        <p:spPr>
          <a:xfrm>
            <a:off x="457200" y="4846320"/>
            <a:ext cx="5943600" cy="228600"/>
          </a:xfrm>
          <a:prstGeom prst="rect">
            <a:avLst/>
          </a:prstGeom>
          <a:noFill/>
          <a:ln/>
        </p:spPr>
        <p:txBody>
          <a:bodyPr wrap="square" lIns="0" tIns="0" rIns="0" bIns="0" rtlCol="0" anchor="ctr"/>
          <a:lstStyle/>
          <a:p>
            <a:pPr marL="0" indent="0">
              <a:buNone/>
            </a:pPr>
            <a:r>
              <a:rPr lang="en-US" sz="900" i="1" dirty="0">
                <a:solidFill>
                  <a:srgbClr val="9CA3AF"/>
                </a:solidFill>
                <a:latin typeface="Calibri" pitchFamily="34" charset="0"/>
                <a:ea typeface="Calibri" pitchFamily="34" charset="-122"/>
                <a:cs typeface="Calibri" pitchFamily="34" charset="-120"/>
              </a:rPr>
              <a:t>Commit to the process. Control the controllables.</a:t>
            </a:r>
            <a:endParaRPr lang="en-US" sz="900" dirty="0"/>
          </a:p>
        </p:txBody>
      </p:sp>
      <p:sp>
        <p:nvSpPr>
          <p:cNvPr id="39" name="Shape 35"/>
          <p:cNvSpPr/>
          <p:nvPr/>
        </p:nvSpPr>
        <p:spPr>
          <a:xfrm>
            <a:off x="6766560" y="4754880"/>
            <a:ext cx="502920" cy="320040"/>
          </a:xfrm>
          <a:prstGeom prst="rect">
            <a:avLst/>
          </a:prstGeom>
          <a:solidFill>
            <a:srgbClr val="1B6B93"/>
          </a:solidFill>
          <a:ln/>
        </p:spPr>
      </p:sp>
      <p:sp>
        <p:nvSpPr>
          <p:cNvPr id="40" name="Text 36"/>
          <p:cNvSpPr/>
          <p:nvPr/>
        </p:nvSpPr>
        <p:spPr>
          <a:xfrm>
            <a:off x="6766560" y="4754880"/>
            <a:ext cx="50292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01168"/>
            <a:ext cx="347472" cy="347472"/>
          </a:xfrm>
          <a:prstGeom prst="rect">
            <a:avLst/>
          </a:prstGeom>
        </p:spPr>
      </p:pic>
      <p:sp>
        <p:nvSpPr>
          <p:cNvPr id="3" name="Text 0"/>
          <p:cNvSpPr/>
          <p:nvPr/>
        </p:nvSpPr>
        <p:spPr>
          <a:xfrm>
            <a:off x="868680" y="164592"/>
            <a:ext cx="7315200" cy="548640"/>
          </a:xfrm>
          <a:prstGeom prst="rect">
            <a:avLst/>
          </a:prstGeom>
          <a:noFill/>
          <a:ln/>
        </p:spPr>
        <p:txBody>
          <a:bodyPr wrap="square" lIns="0" tIns="0" rIns="0" bIns="0" rtlCol="0" anchor="ctr"/>
          <a:lstStyle/>
          <a:p>
            <a:pPr marL="0" indent="0">
              <a:buNone/>
            </a:pPr>
            <a:r>
              <a:rPr lang="en-US" b="1" kern="0" spc="300" dirty="0">
                <a:solidFill>
                  <a:srgbClr val="36454F"/>
                </a:solidFill>
                <a:latin typeface="Trebuchet MS"/>
                <a:ea typeface="Trebuchet MS" pitchFamily="34" charset="-122"/>
                <a:cs typeface="Trebuchet MS" pitchFamily="34" charset="-120"/>
              </a:rPr>
              <a:t>Top 7 Voicemail Mistakes — And How to Fix Them</a:t>
            </a:r>
            <a:endParaRPr lang="en-US">
              <a:latin typeface="Trebuchet MS"/>
              <a:ea typeface="Calibri"/>
              <a:cs typeface="Calibri"/>
            </a:endParaRPr>
          </a:p>
        </p:txBody>
      </p:sp>
      <p:sp>
        <p:nvSpPr>
          <p:cNvPr id="4" name="Shape 1"/>
          <p:cNvSpPr/>
          <p:nvPr/>
        </p:nvSpPr>
        <p:spPr>
          <a:xfrm>
            <a:off x="548640" y="749808"/>
            <a:ext cx="1645920" cy="36576"/>
          </a:xfrm>
          <a:prstGeom prst="rect">
            <a:avLst/>
          </a:prstGeom>
          <a:solidFill>
            <a:srgbClr val="6B3A4A"/>
          </a:solidFill>
          <a:ln/>
        </p:spPr>
      </p:sp>
      <p:pic>
        <p:nvPicPr>
          <p:cNvPr id="5" name="Image 1" descr="preencoded.png"/>
          <p:cNvPicPr>
            <a:picLocks noChangeAspect="1"/>
          </p:cNvPicPr>
          <p:nvPr/>
        </p:nvPicPr>
        <p:blipFill>
          <a:blip r:embed="rId4"/>
          <a:stretch>
            <a:fillRect/>
          </a:stretch>
        </p:blipFill>
        <p:spPr>
          <a:xfrm>
            <a:off x="7498080" y="4709160"/>
            <a:ext cx="1234440" cy="365760"/>
          </a:xfrm>
          <a:prstGeom prst="rect">
            <a:avLst/>
          </a:prstGeom>
        </p:spPr>
      </p:pic>
      <p:sp>
        <p:nvSpPr>
          <p:cNvPr id="6" name="Shape 2"/>
          <p:cNvSpPr/>
          <p:nvPr/>
        </p:nvSpPr>
        <p:spPr>
          <a:xfrm>
            <a:off x="457200" y="868680"/>
            <a:ext cx="8229600" cy="475488"/>
          </a:xfrm>
          <a:prstGeom prst="rect">
            <a:avLst/>
          </a:prstGeom>
          <a:solidFill>
            <a:srgbClr val="FFFFFF"/>
          </a:solidFill>
          <a:ln/>
        </p:spPr>
      </p:sp>
      <p:sp>
        <p:nvSpPr>
          <p:cNvPr id="7" name="Shape 3"/>
          <p:cNvSpPr/>
          <p:nvPr/>
        </p:nvSpPr>
        <p:spPr>
          <a:xfrm>
            <a:off x="457200" y="868680"/>
            <a:ext cx="54864" cy="475488"/>
          </a:xfrm>
          <a:prstGeom prst="rect">
            <a:avLst/>
          </a:prstGeom>
          <a:solidFill>
            <a:srgbClr val="C67B5C"/>
          </a:solidFill>
          <a:ln/>
        </p:spPr>
      </p:sp>
      <p:sp>
        <p:nvSpPr>
          <p:cNvPr id="8" name="Text 4"/>
          <p:cNvSpPr/>
          <p:nvPr/>
        </p:nvSpPr>
        <p:spPr>
          <a:xfrm>
            <a:off x="594360" y="868680"/>
            <a:ext cx="274320" cy="475488"/>
          </a:xfrm>
          <a:prstGeom prst="rect">
            <a:avLst/>
          </a:prstGeom>
          <a:noFill/>
          <a:ln/>
        </p:spPr>
        <p:txBody>
          <a:bodyPr wrap="square" lIns="0" tIns="0" rIns="0" bIns="0" rtlCol="0" anchor="ctr"/>
          <a:lstStyle/>
          <a:p>
            <a:pPr marL="0" indent="0">
              <a:buNone/>
            </a:pPr>
            <a:r>
              <a:rPr lang="en-US" sz="1100" b="1" dirty="0">
                <a:solidFill>
                  <a:srgbClr val="C67B5C"/>
                </a:solidFill>
                <a:latin typeface="Trebuchet MS" pitchFamily="34" charset="0"/>
                <a:ea typeface="Trebuchet MS" pitchFamily="34" charset="-122"/>
                <a:cs typeface="Trebuchet MS" pitchFamily="34" charset="-120"/>
              </a:rPr>
              <a:t>1.</a:t>
            </a:r>
            <a:endParaRPr lang="en-US" sz="1100" dirty="0"/>
          </a:p>
        </p:txBody>
      </p:sp>
      <p:sp>
        <p:nvSpPr>
          <p:cNvPr id="9" name="Text 5"/>
          <p:cNvSpPr/>
          <p:nvPr/>
        </p:nvSpPr>
        <p:spPr>
          <a:xfrm>
            <a:off x="914400" y="868680"/>
            <a:ext cx="2560320" cy="475488"/>
          </a:xfrm>
          <a:prstGeom prst="rect">
            <a:avLst/>
          </a:prstGeom>
          <a:noFill/>
          <a:ln/>
        </p:spPr>
        <p:txBody>
          <a:bodyPr wrap="square" lIns="0" tIns="0" rIns="0" bIns="0" rtlCol="0" anchor="ctr"/>
          <a:lstStyle/>
          <a:p>
            <a:pPr marL="0" indent="0">
              <a:buNone/>
            </a:pPr>
            <a:r>
              <a:rPr lang="en-US" sz="1000" b="1" dirty="0">
                <a:solidFill>
                  <a:srgbClr val="6B3A4A"/>
                </a:solidFill>
                <a:latin typeface="Calibri" pitchFamily="34" charset="0"/>
                <a:ea typeface="Calibri" pitchFamily="34" charset="-122"/>
                <a:cs typeface="Calibri" pitchFamily="34" charset="-120"/>
              </a:rPr>
              <a:t>Too long (30+ seconds)</a:t>
            </a:r>
            <a:endParaRPr lang="en-US" sz="1000" dirty="0"/>
          </a:p>
        </p:txBody>
      </p:sp>
      <p:pic>
        <p:nvPicPr>
          <p:cNvPr id="10" name="Image 2" descr="preencoded.png"/>
          <p:cNvPicPr>
            <a:picLocks noChangeAspect="1"/>
          </p:cNvPicPr>
          <p:nvPr/>
        </p:nvPicPr>
        <p:blipFill>
          <a:blip r:embed="rId5"/>
          <a:stretch>
            <a:fillRect/>
          </a:stretch>
        </p:blipFill>
        <p:spPr>
          <a:xfrm>
            <a:off x="3566160" y="1005840"/>
            <a:ext cx="164592" cy="164592"/>
          </a:xfrm>
          <a:prstGeom prst="rect">
            <a:avLst/>
          </a:prstGeom>
        </p:spPr>
      </p:pic>
      <p:sp>
        <p:nvSpPr>
          <p:cNvPr id="11" name="Text 6"/>
          <p:cNvSpPr/>
          <p:nvPr/>
        </p:nvSpPr>
        <p:spPr>
          <a:xfrm>
            <a:off x="3840480" y="868680"/>
            <a:ext cx="4754880" cy="475488"/>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Cap at 18–20 seconds. Time yourself until it’s muscle memory.</a:t>
            </a:r>
            <a:endParaRPr lang="en-US" sz="950" dirty="0"/>
          </a:p>
        </p:txBody>
      </p:sp>
      <p:sp>
        <p:nvSpPr>
          <p:cNvPr id="12" name="Shape 7"/>
          <p:cNvSpPr/>
          <p:nvPr/>
        </p:nvSpPr>
        <p:spPr>
          <a:xfrm>
            <a:off x="457200" y="1417320"/>
            <a:ext cx="8229600" cy="475488"/>
          </a:xfrm>
          <a:prstGeom prst="rect">
            <a:avLst/>
          </a:prstGeom>
          <a:solidFill>
            <a:srgbClr val="F5F0EB"/>
          </a:solidFill>
          <a:ln/>
        </p:spPr>
      </p:sp>
      <p:sp>
        <p:nvSpPr>
          <p:cNvPr id="13" name="Shape 8"/>
          <p:cNvSpPr/>
          <p:nvPr/>
        </p:nvSpPr>
        <p:spPr>
          <a:xfrm>
            <a:off x="457200" y="1417320"/>
            <a:ext cx="54864" cy="475488"/>
          </a:xfrm>
          <a:prstGeom prst="rect">
            <a:avLst/>
          </a:prstGeom>
          <a:solidFill>
            <a:srgbClr val="1B6B93"/>
          </a:solidFill>
          <a:ln/>
        </p:spPr>
      </p:sp>
      <p:sp>
        <p:nvSpPr>
          <p:cNvPr id="14" name="Text 9"/>
          <p:cNvSpPr/>
          <p:nvPr/>
        </p:nvSpPr>
        <p:spPr>
          <a:xfrm>
            <a:off x="594360" y="1417320"/>
            <a:ext cx="274320" cy="475488"/>
          </a:xfrm>
          <a:prstGeom prst="rect">
            <a:avLst/>
          </a:prstGeom>
          <a:noFill/>
          <a:ln/>
        </p:spPr>
        <p:txBody>
          <a:bodyPr wrap="square" lIns="0" tIns="0" rIns="0" bIns="0" rtlCol="0" anchor="ctr"/>
          <a:lstStyle/>
          <a:p>
            <a:pPr marL="0" indent="0">
              <a:buNone/>
            </a:pPr>
            <a:r>
              <a:rPr lang="en-US" sz="1100" b="1" dirty="0">
                <a:solidFill>
                  <a:srgbClr val="C67B5C"/>
                </a:solidFill>
                <a:latin typeface="Trebuchet MS" pitchFamily="34" charset="0"/>
                <a:ea typeface="Trebuchet MS" pitchFamily="34" charset="-122"/>
                <a:cs typeface="Trebuchet MS" pitchFamily="34" charset="-120"/>
              </a:rPr>
              <a:t>2.</a:t>
            </a:r>
            <a:endParaRPr lang="en-US" sz="1100" dirty="0"/>
          </a:p>
        </p:txBody>
      </p:sp>
      <p:sp>
        <p:nvSpPr>
          <p:cNvPr id="15" name="Text 10"/>
          <p:cNvSpPr/>
          <p:nvPr/>
        </p:nvSpPr>
        <p:spPr>
          <a:xfrm>
            <a:off x="914400" y="1417320"/>
            <a:ext cx="2560320" cy="475488"/>
          </a:xfrm>
          <a:prstGeom prst="rect">
            <a:avLst/>
          </a:prstGeom>
          <a:noFill/>
          <a:ln/>
        </p:spPr>
        <p:txBody>
          <a:bodyPr wrap="square" lIns="0" tIns="0" rIns="0" bIns="0" rtlCol="0" anchor="ctr"/>
          <a:lstStyle/>
          <a:p>
            <a:pPr marL="0" indent="0">
              <a:buNone/>
            </a:pPr>
            <a:r>
              <a:rPr lang="en-US" sz="1000" b="1" dirty="0">
                <a:solidFill>
                  <a:srgbClr val="6B3A4A"/>
                </a:solidFill>
                <a:latin typeface="Calibri" pitchFamily="34" charset="0"/>
                <a:ea typeface="Calibri" pitchFamily="34" charset="-122"/>
                <a:cs typeface="Calibri" pitchFamily="34" charset="-120"/>
              </a:rPr>
              <a:t>No trigger — generic pitch</a:t>
            </a:r>
            <a:endParaRPr lang="en-US" sz="1000" dirty="0"/>
          </a:p>
        </p:txBody>
      </p:sp>
      <p:pic>
        <p:nvPicPr>
          <p:cNvPr id="16" name="Image 3" descr="preencoded.png"/>
          <p:cNvPicPr>
            <a:picLocks noChangeAspect="1"/>
          </p:cNvPicPr>
          <p:nvPr/>
        </p:nvPicPr>
        <p:blipFill>
          <a:blip r:embed="rId5"/>
          <a:stretch>
            <a:fillRect/>
          </a:stretch>
        </p:blipFill>
        <p:spPr>
          <a:xfrm>
            <a:off x="3566160" y="1554480"/>
            <a:ext cx="164592" cy="164592"/>
          </a:xfrm>
          <a:prstGeom prst="rect">
            <a:avLst/>
          </a:prstGeom>
        </p:spPr>
      </p:pic>
      <p:sp>
        <p:nvSpPr>
          <p:cNvPr id="17" name="Text 11"/>
          <p:cNvSpPr/>
          <p:nvPr/>
        </p:nvSpPr>
        <p:spPr>
          <a:xfrm>
            <a:off x="3840480" y="1417320"/>
            <a:ext cx="4754880" cy="475488"/>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Never dial without a trigger. 3 minutes of research = 10x better VM.</a:t>
            </a:r>
            <a:endParaRPr lang="en-US" sz="950" dirty="0"/>
          </a:p>
        </p:txBody>
      </p:sp>
      <p:sp>
        <p:nvSpPr>
          <p:cNvPr id="18" name="Shape 12"/>
          <p:cNvSpPr/>
          <p:nvPr/>
        </p:nvSpPr>
        <p:spPr>
          <a:xfrm>
            <a:off x="457200" y="1965960"/>
            <a:ext cx="8229600" cy="475488"/>
          </a:xfrm>
          <a:prstGeom prst="rect">
            <a:avLst/>
          </a:prstGeom>
          <a:solidFill>
            <a:srgbClr val="FFFFFF"/>
          </a:solidFill>
          <a:ln/>
        </p:spPr>
      </p:sp>
      <p:sp>
        <p:nvSpPr>
          <p:cNvPr id="19" name="Shape 13"/>
          <p:cNvSpPr/>
          <p:nvPr/>
        </p:nvSpPr>
        <p:spPr>
          <a:xfrm>
            <a:off x="457200" y="1965960"/>
            <a:ext cx="54864" cy="475488"/>
          </a:xfrm>
          <a:prstGeom prst="rect">
            <a:avLst/>
          </a:prstGeom>
          <a:solidFill>
            <a:srgbClr val="7A9E7E"/>
          </a:solidFill>
          <a:ln/>
        </p:spPr>
      </p:sp>
      <p:sp>
        <p:nvSpPr>
          <p:cNvPr id="20" name="Text 14"/>
          <p:cNvSpPr/>
          <p:nvPr/>
        </p:nvSpPr>
        <p:spPr>
          <a:xfrm>
            <a:off x="594360" y="1965960"/>
            <a:ext cx="274320" cy="475488"/>
          </a:xfrm>
          <a:prstGeom prst="rect">
            <a:avLst/>
          </a:prstGeom>
          <a:noFill/>
          <a:ln/>
        </p:spPr>
        <p:txBody>
          <a:bodyPr wrap="square" lIns="0" tIns="0" rIns="0" bIns="0" rtlCol="0" anchor="ctr"/>
          <a:lstStyle/>
          <a:p>
            <a:pPr marL="0" indent="0">
              <a:buNone/>
            </a:pPr>
            <a:r>
              <a:rPr lang="en-US" sz="1100" b="1" dirty="0">
                <a:solidFill>
                  <a:srgbClr val="C67B5C"/>
                </a:solidFill>
                <a:latin typeface="Trebuchet MS" pitchFamily="34" charset="0"/>
                <a:ea typeface="Trebuchet MS" pitchFamily="34" charset="-122"/>
                <a:cs typeface="Trebuchet MS" pitchFamily="34" charset="-120"/>
              </a:rPr>
              <a:t>3.</a:t>
            </a:r>
            <a:endParaRPr lang="en-US" sz="1100" dirty="0"/>
          </a:p>
        </p:txBody>
      </p:sp>
      <p:sp>
        <p:nvSpPr>
          <p:cNvPr id="21" name="Text 15"/>
          <p:cNvSpPr/>
          <p:nvPr/>
        </p:nvSpPr>
        <p:spPr>
          <a:xfrm>
            <a:off x="914400" y="1965960"/>
            <a:ext cx="2560320" cy="475488"/>
          </a:xfrm>
          <a:prstGeom prst="rect">
            <a:avLst/>
          </a:prstGeom>
          <a:noFill/>
          <a:ln/>
        </p:spPr>
        <p:txBody>
          <a:bodyPr wrap="square" lIns="0" tIns="0" rIns="0" bIns="0" rtlCol="0" anchor="ctr"/>
          <a:lstStyle/>
          <a:p>
            <a:pPr marL="0" indent="0">
              <a:buNone/>
            </a:pPr>
            <a:r>
              <a:rPr lang="en-US" sz="1000" b="1" dirty="0">
                <a:solidFill>
                  <a:srgbClr val="6B3A4A"/>
                </a:solidFill>
                <a:latin typeface="Calibri" pitchFamily="34" charset="0"/>
                <a:ea typeface="Calibri" pitchFamily="34" charset="-122"/>
                <a:cs typeface="Calibri" pitchFamily="34" charset="-120"/>
              </a:rPr>
              <a:t>Rushing your name</a:t>
            </a:r>
            <a:endParaRPr lang="en-US" sz="1000" dirty="0"/>
          </a:p>
        </p:txBody>
      </p:sp>
      <p:pic>
        <p:nvPicPr>
          <p:cNvPr id="22" name="Image 4" descr="preencoded.png"/>
          <p:cNvPicPr>
            <a:picLocks noChangeAspect="1"/>
          </p:cNvPicPr>
          <p:nvPr/>
        </p:nvPicPr>
        <p:blipFill>
          <a:blip r:embed="rId5"/>
          <a:stretch>
            <a:fillRect/>
          </a:stretch>
        </p:blipFill>
        <p:spPr>
          <a:xfrm>
            <a:off x="3566160" y="2103120"/>
            <a:ext cx="164592" cy="164592"/>
          </a:xfrm>
          <a:prstGeom prst="rect">
            <a:avLst/>
          </a:prstGeom>
        </p:spPr>
      </p:pic>
      <p:sp>
        <p:nvSpPr>
          <p:cNvPr id="23" name="Text 16"/>
          <p:cNvSpPr/>
          <p:nvPr/>
        </p:nvSpPr>
        <p:spPr>
          <a:xfrm>
            <a:off x="3840480" y="1965960"/>
            <a:ext cx="4754880" cy="475488"/>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Slow down. Pause after your name. They’re hearing it for the first time.</a:t>
            </a:r>
            <a:endParaRPr lang="en-US" sz="950" dirty="0"/>
          </a:p>
        </p:txBody>
      </p:sp>
      <p:sp>
        <p:nvSpPr>
          <p:cNvPr id="24" name="Shape 17"/>
          <p:cNvSpPr/>
          <p:nvPr/>
        </p:nvSpPr>
        <p:spPr>
          <a:xfrm>
            <a:off x="457200" y="2514600"/>
            <a:ext cx="8229600" cy="475488"/>
          </a:xfrm>
          <a:prstGeom prst="rect">
            <a:avLst/>
          </a:prstGeom>
          <a:solidFill>
            <a:srgbClr val="F5F0EB"/>
          </a:solidFill>
          <a:ln/>
        </p:spPr>
      </p:sp>
      <p:sp>
        <p:nvSpPr>
          <p:cNvPr id="25" name="Shape 18"/>
          <p:cNvSpPr/>
          <p:nvPr/>
        </p:nvSpPr>
        <p:spPr>
          <a:xfrm>
            <a:off x="457200" y="2514600"/>
            <a:ext cx="54864" cy="475488"/>
          </a:xfrm>
          <a:prstGeom prst="rect">
            <a:avLst/>
          </a:prstGeom>
          <a:solidFill>
            <a:srgbClr val="8B6F7C"/>
          </a:solidFill>
          <a:ln/>
        </p:spPr>
      </p:sp>
      <p:sp>
        <p:nvSpPr>
          <p:cNvPr id="26" name="Text 19"/>
          <p:cNvSpPr/>
          <p:nvPr/>
        </p:nvSpPr>
        <p:spPr>
          <a:xfrm>
            <a:off x="594360" y="2514600"/>
            <a:ext cx="274320" cy="475488"/>
          </a:xfrm>
          <a:prstGeom prst="rect">
            <a:avLst/>
          </a:prstGeom>
          <a:noFill/>
          <a:ln/>
        </p:spPr>
        <p:txBody>
          <a:bodyPr wrap="square" lIns="0" tIns="0" rIns="0" bIns="0" rtlCol="0" anchor="ctr"/>
          <a:lstStyle/>
          <a:p>
            <a:pPr marL="0" indent="0">
              <a:buNone/>
            </a:pPr>
            <a:r>
              <a:rPr lang="en-US" sz="1100" b="1" dirty="0">
                <a:solidFill>
                  <a:srgbClr val="C67B5C"/>
                </a:solidFill>
                <a:latin typeface="Trebuchet MS" pitchFamily="34" charset="0"/>
                <a:ea typeface="Trebuchet MS" pitchFamily="34" charset="-122"/>
                <a:cs typeface="Trebuchet MS" pitchFamily="34" charset="-120"/>
              </a:rPr>
              <a:t>4.</a:t>
            </a:r>
            <a:endParaRPr lang="en-US" sz="1100" dirty="0"/>
          </a:p>
        </p:txBody>
      </p:sp>
      <p:sp>
        <p:nvSpPr>
          <p:cNvPr id="27" name="Text 20"/>
          <p:cNvSpPr/>
          <p:nvPr/>
        </p:nvSpPr>
        <p:spPr>
          <a:xfrm>
            <a:off x="914400" y="2514600"/>
            <a:ext cx="2560320" cy="475488"/>
          </a:xfrm>
          <a:prstGeom prst="rect">
            <a:avLst/>
          </a:prstGeom>
          <a:noFill/>
          <a:ln/>
        </p:spPr>
        <p:txBody>
          <a:bodyPr wrap="square" lIns="0" tIns="0" rIns="0" bIns="0" rtlCol="0" anchor="ctr"/>
          <a:lstStyle/>
          <a:p>
            <a:pPr marL="0" indent="0">
              <a:buNone/>
            </a:pPr>
            <a:r>
              <a:rPr lang="en-US" sz="1000" b="1" dirty="0">
                <a:solidFill>
                  <a:srgbClr val="6B3A4A"/>
                </a:solidFill>
                <a:latin typeface="Calibri" pitchFamily="34" charset="0"/>
                <a:ea typeface="Calibri" pitchFamily="34" charset="-122"/>
                <a:cs typeface="Calibri" pitchFamily="34" charset="-120"/>
              </a:rPr>
              <a:t>Resolving the curiosity gap</a:t>
            </a:r>
            <a:endParaRPr lang="en-US" sz="1000" dirty="0"/>
          </a:p>
        </p:txBody>
      </p:sp>
      <p:pic>
        <p:nvPicPr>
          <p:cNvPr id="28" name="Image 5" descr="preencoded.png"/>
          <p:cNvPicPr>
            <a:picLocks noChangeAspect="1"/>
          </p:cNvPicPr>
          <p:nvPr/>
        </p:nvPicPr>
        <p:blipFill>
          <a:blip r:embed="rId5"/>
          <a:stretch>
            <a:fillRect/>
          </a:stretch>
        </p:blipFill>
        <p:spPr>
          <a:xfrm>
            <a:off x="3566160" y="2651760"/>
            <a:ext cx="164592" cy="164592"/>
          </a:xfrm>
          <a:prstGeom prst="rect">
            <a:avLst/>
          </a:prstGeom>
        </p:spPr>
      </p:pic>
      <p:sp>
        <p:nvSpPr>
          <p:cNvPr id="29" name="Text 21"/>
          <p:cNvSpPr/>
          <p:nvPr/>
        </p:nvSpPr>
        <p:spPr>
          <a:xfrm>
            <a:off x="3840480" y="2514600"/>
            <a:ext cx="4754880" cy="475488"/>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Don’t give them the answer. The mystery is what drives the callback.</a:t>
            </a:r>
            <a:endParaRPr lang="en-US" sz="950" dirty="0"/>
          </a:p>
        </p:txBody>
      </p:sp>
      <p:sp>
        <p:nvSpPr>
          <p:cNvPr id="30" name="Shape 22"/>
          <p:cNvSpPr/>
          <p:nvPr/>
        </p:nvSpPr>
        <p:spPr>
          <a:xfrm>
            <a:off x="457200" y="3063240"/>
            <a:ext cx="8229600" cy="475488"/>
          </a:xfrm>
          <a:prstGeom prst="rect">
            <a:avLst/>
          </a:prstGeom>
          <a:solidFill>
            <a:srgbClr val="FFFFFF"/>
          </a:solidFill>
          <a:ln/>
        </p:spPr>
      </p:sp>
      <p:sp>
        <p:nvSpPr>
          <p:cNvPr id="31" name="Shape 23"/>
          <p:cNvSpPr/>
          <p:nvPr/>
        </p:nvSpPr>
        <p:spPr>
          <a:xfrm>
            <a:off x="457200" y="3063240"/>
            <a:ext cx="54864" cy="475488"/>
          </a:xfrm>
          <a:prstGeom prst="rect">
            <a:avLst/>
          </a:prstGeom>
          <a:solidFill>
            <a:srgbClr val="6B3A4A"/>
          </a:solidFill>
          <a:ln/>
        </p:spPr>
      </p:sp>
      <p:sp>
        <p:nvSpPr>
          <p:cNvPr id="32" name="Text 24"/>
          <p:cNvSpPr/>
          <p:nvPr/>
        </p:nvSpPr>
        <p:spPr>
          <a:xfrm>
            <a:off x="594360" y="3063240"/>
            <a:ext cx="274320" cy="475488"/>
          </a:xfrm>
          <a:prstGeom prst="rect">
            <a:avLst/>
          </a:prstGeom>
          <a:noFill/>
          <a:ln/>
        </p:spPr>
        <p:txBody>
          <a:bodyPr wrap="square" lIns="0" tIns="0" rIns="0" bIns="0" rtlCol="0" anchor="ctr"/>
          <a:lstStyle/>
          <a:p>
            <a:pPr marL="0" indent="0">
              <a:buNone/>
            </a:pPr>
            <a:r>
              <a:rPr lang="en-US" sz="1100" b="1" dirty="0">
                <a:solidFill>
                  <a:srgbClr val="C67B5C"/>
                </a:solidFill>
                <a:latin typeface="Trebuchet MS" pitchFamily="34" charset="0"/>
                <a:ea typeface="Trebuchet MS" pitchFamily="34" charset="-122"/>
                <a:cs typeface="Trebuchet MS" pitchFamily="34" charset="-120"/>
              </a:rPr>
              <a:t>5.</a:t>
            </a:r>
            <a:endParaRPr lang="en-US" sz="1100" dirty="0"/>
          </a:p>
        </p:txBody>
      </p:sp>
      <p:sp>
        <p:nvSpPr>
          <p:cNvPr id="33" name="Text 25"/>
          <p:cNvSpPr/>
          <p:nvPr/>
        </p:nvSpPr>
        <p:spPr>
          <a:xfrm>
            <a:off x="914400" y="3063240"/>
            <a:ext cx="2560320" cy="475488"/>
          </a:xfrm>
          <a:prstGeom prst="rect">
            <a:avLst/>
          </a:prstGeom>
          <a:noFill/>
          <a:ln/>
        </p:spPr>
        <p:txBody>
          <a:bodyPr wrap="square" lIns="0" tIns="0" rIns="0" bIns="0" rtlCol="0" anchor="ctr"/>
          <a:lstStyle/>
          <a:p>
            <a:pPr marL="0" indent="0">
              <a:buNone/>
            </a:pPr>
            <a:r>
              <a:rPr lang="en-US" sz="1000" b="1" dirty="0">
                <a:solidFill>
                  <a:srgbClr val="6B3A4A"/>
                </a:solidFill>
                <a:latin typeface="Calibri" pitchFamily="34" charset="0"/>
                <a:ea typeface="Calibri" pitchFamily="34" charset="-122"/>
                <a:cs typeface="Calibri" pitchFamily="34" charset="-120"/>
              </a:rPr>
              <a:t>Sounding apologetic</a:t>
            </a:r>
            <a:endParaRPr lang="en-US" sz="1000" dirty="0"/>
          </a:p>
        </p:txBody>
      </p:sp>
      <p:pic>
        <p:nvPicPr>
          <p:cNvPr id="34" name="Image 6" descr="preencoded.png"/>
          <p:cNvPicPr>
            <a:picLocks noChangeAspect="1"/>
          </p:cNvPicPr>
          <p:nvPr/>
        </p:nvPicPr>
        <p:blipFill>
          <a:blip r:embed="rId5"/>
          <a:stretch>
            <a:fillRect/>
          </a:stretch>
        </p:blipFill>
        <p:spPr>
          <a:xfrm>
            <a:off x="3566160" y="3200400"/>
            <a:ext cx="164592" cy="164592"/>
          </a:xfrm>
          <a:prstGeom prst="rect">
            <a:avLst/>
          </a:prstGeom>
        </p:spPr>
      </p:pic>
      <p:sp>
        <p:nvSpPr>
          <p:cNvPr id="35" name="Text 26"/>
          <p:cNvSpPr/>
          <p:nvPr/>
        </p:nvSpPr>
        <p:spPr>
          <a:xfrm>
            <a:off x="3840480" y="3063240"/>
            <a:ext cx="4754880" cy="475488"/>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Never say “sorry to bother you.” You’re calling with value, not an apology.</a:t>
            </a:r>
            <a:endParaRPr lang="en-US" sz="950" dirty="0"/>
          </a:p>
        </p:txBody>
      </p:sp>
      <p:sp>
        <p:nvSpPr>
          <p:cNvPr id="36" name="Shape 27"/>
          <p:cNvSpPr/>
          <p:nvPr/>
        </p:nvSpPr>
        <p:spPr>
          <a:xfrm>
            <a:off x="457200" y="3611880"/>
            <a:ext cx="8229600" cy="475488"/>
          </a:xfrm>
          <a:prstGeom prst="rect">
            <a:avLst/>
          </a:prstGeom>
          <a:solidFill>
            <a:srgbClr val="F5F0EB"/>
          </a:solidFill>
          <a:ln/>
        </p:spPr>
      </p:sp>
      <p:sp>
        <p:nvSpPr>
          <p:cNvPr id="37" name="Shape 28"/>
          <p:cNvSpPr/>
          <p:nvPr/>
        </p:nvSpPr>
        <p:spPr>
          <a:xfrm>
            <a:off x="457200" y="3611880"/>
            <a:ext cx="54864" cy="475488"/>
          </a:xfrm>
          <a:prstGeom prst="rect">
            <a:avLst/>
          </a:prstGeom>
          <a:solidFill>
            <a:srgbClr val="1B6B93"/>
          </a:solidFill>
          <a:ln/>
        </p:spPr>
      </p:sp>
      <p:sp>
        <p:nvSpPr>
          <p:cNvPr id="38" name="Text 29"/>
          <p:cNvSpPr/>
          <p:nvPr/>
        </p:nvSpPr>
        <p:spPr>
          <a:xfrm>
            <a:off x="594360" y="3611880"/>
            <a:ext cx="274320" cy="475488"/>
          </a:xfrm>
          <a:prstGeom prst="rect">
            <a:avLst/>
          </a:prstGeom>
          <a:noFill/>
          <a:ln/>
        </p:spPr>
        <p:txBody>
          <a:bodyPr wrap="square" lIns="0" tIns="0" rIns="0" bIns="0" rtlCol="0" anchor="ctr"/>
          <a:lstStyle/>
          <a:p>
            <a:pPr marL="0" indent="0">
              <a:buNone/>
            </a:pPr>
            <a:r>
              <a:rPr lang="en-US" sz="1100" b="1" dirty="0">
                <a:solidFill>
                  <a:srgbClr val="C67B5C"/>
                </a:solidFill>
                <a:latin typeface="Trebuchet MS" pitchFamily="34" charset="0"/>
                <a:ea typeface="Trebuchet MS" pitchFamily="34" charset="-122"/>
                <a:cs typeface="Trebuchet MS" pitchFamily="34" charset="-120"/>
              </a:rPr>
              <a:t>6.</a:t>
            </a:r>
            <a:endParaRPr lang="en-US" sz="1100" dirty="0"/>
          </a:p>
        </p:txBody>
      </p:sp>
      <p:sp>
        <p:nvSpPr>
          <p:cNvPr id="39" name="Text 30"/>
          <p:cNvSpPr/>
          <p:nvPr/>
        </p:nvSpPr>
        <p:spPr>
          <a:xfrm>
            <a:off x="914400" y="3611880"/>
            <a:ext cx="2560320" cy="475488"/>
          </a:xfrm>
          <a:prstGeom prst="rect">
            <a:avLst/>
          </a:prstGeom>
          <a:noFill/>
          <a:ln/>
        </p:spPr>
        <p:txBody>
          <a:bodyPr wrap="square" lIns="0" tIns="0" rIns="0" bIns="0" rtlCol="0" anchor="ctr"/>
          <a:lstStyle/>
          <a:p>
            <a:pPr marL="0" indent="0">
              <a:buNone/>
            </a:pPr>
            <a:r>
              <a:rPr lang="en-US" sz="1000" b="1" dirty="0">
                <a:solidFill>
                  <a:srgbClr val="6B3A4A"/>
                </a:solidFill>
                <a:latin typeface="Calibri" pitchFamily="34" charset="0"/>
                <a:ea typeface="Calibri" pitchFamily="34" charset="-122"/>
                <a:cs typeface="Calibri" pitchFamily="34" charset="-120"/>
              </a:rPr>
              <a:t>Same VM every time</a:t>
            </a:r>
            <a:endParaRPr lang="en-US" sz="1000" dirty="0"/>
          </a:p>
        </p:txBody>
      </p:sp>
      <p:pic>
        <p:nvPicPr>
          <p:cNvPr id="40" name="Image 7" descr="preencoded.png"/>
          <p:cNvPicPr>
            <a:picLocks noChangeAspect="1"/>
          </p:cNvPicPr>
          <p:nvPr/>
        </p:nvPicPr>
        <p:blipFill>
          <a:blip r:embed="rId5"/>
          <a:stretch>
            <a:fillRect/>
          </a:stretch>
        </p:blipFill>
        <p:spPr>
          <a:xfrm>
            <a:off x="3566160" y="3749040"/>
            <a:ext cx="164592" cy="164592"/>
          </a:xfrm>
          <a:prstGeom prst="rect">
            <a:avLst/>
          </a:prstGeom>
        </p:spPr>
      </p:pic>
      <p:sp>
        <p:nvSpPr>
          <p:cNvPr id="41" name="Text 31"/>
          <p:cNvSpPr/>
          <p:nvPr/>
        </p:nvSpPr>
        <p:spPr>
          <a:xfrm>
            <a:off x="3840480" y="3611880"/>
            <a:ext cx="4754880" cy="475488"/>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Vary your trigger, angle, and CTA across the 3-touch sequence.</a:t>
            </a:r>
            <a:endParaRPr lang="en-US" sz="950" dirty="0"/>
          </a:p>
        </p:txBody>
      </p:sp>
      <p:sp>
        <p:nvSpPr>
          <p:cNvPr id="42" name="Shape 32"/>
          <p:cNvSpPr/>
          <p:nvPr/>
        </p:nvSpPr>
        <p:spPr>
          <a:xfrm>
            <a:off x="457200" y="4160520"/>
            <a:ext cx="8229600" cy="475488"/>
          </a:xfrm>
          <a:prstGeom prst="rect">
            <a:avLst/>
          </a:prstGeom>
          <a:solidFill>
            <a:srgbClr val="FFFFFF"/>
          </a:solidFill>
          <a:ln/>
        </p:spPr>
      </p:sp>
      <p:sp>
        <p:nvSpPr>
          <p:cNvPr id="43" name="Shape 33"/>
          <p:cNvSpPr/>
          <p:nvPr/>
        </p:nvSpPr>
        <p:spPr>
          <a:xfrm>
            <a:off x="457200" y="4160520"/>
            <a:ext cx="54864" cy="475488"/>
          </a:xfrm>
          <a:prstGeom prst="rect">
            <a:avLst/>
          </a:prstGeom>
          <a:solidFill>
            <a:srgbClr val="C67B5C"/>
          </a:solidFill>
          <a:ln/>
        </p:spPr>
      </p:sp>
      <p:sp>
        <p:nvSpPr>
          <p:cNvPr id="44" name="Text 34"/>
          <p:cNvSpPr/>
          <p:nvPr/>
        </p:nvSpPr>
        <p:spPr>
          <a:xfrm>
            <a:off x="594360" y="4160520"/>
            <a:ext cx="274320" cy="475488"/>
          </a:xfrm>
          <a:prstGeom prst="rect">
            <a:avLst/>
          </a:prstGeom>
          <a:noFill/>
          <a:ln/>
        </p:spPr>
        <p:txBody>
          <a:bodyPr wrap="square" lIns="0" tIns="0" rIns="0" bIns="0" rtlCol="0" anchor="ctr"/>
          <a:lstStyle/>
          <a:p>
            <a:pPr marL="0" indent="0">
              <a:buNone/>
            </a:pPr>
            <a:r>
              <a:rPr lang="en-US" sz="1100" b="1" dirty="0">
                <a:solidFill>
                  <a:srgbClr val="C67B5C"/>
                </a:solidFill>
                <a:latin typeface="Trebuchet MS" pitchFamily="34" charset="0"/>
                <a:ea typeface="Trebuchet MS" pitchFamily="34" charset="-122"/>
                <a:cs typeface="Trebuchet MS" pitchFamily="34" charset="-120"/>
              </a:rPr>
              <a:t>7.</a:t>
            </a:r>
            <a:endParaRPr lang="en-US" sz="1100" dirty="0"/>
          </a:p>
        </p:txBody>
      </p:sp>
      <p:sp>
        <p:nvSpPr>
          <p:cNvPr id="45" name="Text 35"/>
          <p:cNvSpPr/>
          <p:nvPr/>
        </p:nvSpPr>
        <p:spPr>
          <a:xfrm>
            <a:off x="914400" y="4160520"/>
            <a:ext cx="2560320" cy="475488"/>
          </a:xfrm>
          <a:prstGeom prst="rect">
            <a:avLst/>
          </a:prstGeom>
          <a:noFill/>
          <a:ln/>
        </p:spPr>
        <p:txBody>
          <a:bodyPr wrap="square" lIns="0" tIns="0" rIns="0" bIns="0" rtlCol="0" anchor="ctr"/>
          <a:lstStyle/>
          <a:p>
            <a:pPr marL="0" indent="0">
              <a:buNone/>
            </a:pPr>
            <a:r>
              <a:rPr lang="en-US" sz="1000" b="1" dirty="0">
                <a:solidFill>
                  <a:srgbClr val="6B3A4A"/>
                </a:solidFill>
                <a:latin typeface="Calibri" pitchFamily="34" charset="0"/>
                <a:ea typeface="Calibri" pitchFamily="34" charset="-122"/>
                <a:cs typeface="Calibri" pitchFamily="34" charset="-120"/>
              </a:rPr>
              <a:t>Not leaving a VM at all</a:t>
            </a:r>
            <a:endParaRPr lang="en-US" sz="1000" dirty="0"/>
          </a:p>
        </p:txBody>
      </p:sp>
      <p:pic>
        <p:nvPicPr>
          <p:cNvPr id="46" name="Image 8" descr="preencoded.png"/>
          <p:cNvPicPr>
            <a:picLocks noChangeAspect="1"/>
          </p:cNvPicPr>
          <p:nvPr/>
        </p:nvPicPr>
        <p:blipFill>
          <a:blip r:embed="rId5"/>
          <a:stretch>
            <a:fillRect/>
          </a:stretch>
        </p:blipFill>
        <p:spPr>
          <a:xfrm>
            <a:off x="3566160" y="4297680"/>
            <a:ext cx="164592" cy="164592"/>
          </a:xfrm>
          <a:prstGeom prst="rect">
            <a:avLst/>
          </a:prstGeom>
        </p:spPr>
      </p:pic>
      <p:sp>
        <p:nvSpPr>
          <p:cNvPr id="47" name="Text 36"/>
          <p:cNvSpPr/>
          <p:nvPr/>
        </p:nvSpPr>
        <p:spPr>
          <a:xfrm>
            <a:off x="3840480" y="4160520"/>
            <a:ext cx="4754880" cy="475488"/>
          </a:xfrm>
          <a:prstGeom prst="rect">
            <a:avLst/>
          </a:prstGeom>
          <a:noFill/>
          <a:ln/>
        </p:spPr>
        <p:txBody>
          <a:bodyPr wrap="square" lIns="0" tIns="0" rIns="0" bIns="0" rtlCol="0" anchor="ctr"/>
          <a:lstStyle/>
          <a:p>
            <a:pPr marL="0" indent="0">
              <a:buNone/>
            </a:pPr>
            <a:r>
              <a:rPr lang="en-US" sz="950" dirty="0">
                <a:solidFill>
                  <a:srgbClr val="36454F"/>
                </a:solidFill>
                <a:latin typeface="Calibri" pitchFamily="34" charset="0"/>
                <a:ea typeface="Calibri" pitchFamily="34" charset="-122"/>
                <a:cs typeface="Calibri" pitchFamily="34" charset="-120"/>
              </a:rPr>
              <a:t>No VM = wasted dial. Every touchpoint compounds. Always leave one.</a:t>
            </a:r>
            <a:endParaRPr lang="en-US" sz="950" dirty="0"/>
          </a:p>
        </p:txBody>
      </p:sp>
      <p:sp>
        <p:nvSpPr>
          <p:cNvPr id="48" name="Text 37"/>
          <p:cNvSpPr/>
          <p:nvPr/>
        </p:nvSpPr>
        <p:spPr>
          <a:xfrm>
            <a:off x="457200" y="4846320"/>
            <a:ext cx="5943600" cy="228600"/>
          </a:xfrm>
          <a:prstGeom prst="rect">
            <a:avLst/>
          </a:prstGeom>
          <a:noFill/>
          <a:ln/>
        </p:spPr>
        <p:txBody>
          <a:bodyPr wrap="square" lIns="0" tIns="0" rIns="0" bIns="0" rtlCol="0" anchor="ctr"/>
          <a:lstStyle/>
          <a:p>
            <a:pPr marL="0" indent="0">
              <a:buNone/>
            </a:pPr>
            <a:r>
              <a:rPr lang="en-US" sz="900" i="1" dirty="0">
                <a:solidFill>
                  <a:srgbClr val="9CA3AF"/>
                </a:solidFill>
                <a:latin typeface="Calibri" pitchFamily="34" charset="0"/>
                <a:ea typeface="Calibri" pitchFamily="34" charset="-122"/>
                <a:cs typeface="Calibri" pitchFamily="34" charset="-120"/>
              </a:rPr>
              <a:t>Commit to the process. Control the controllables.</a:t>
            </a:r>
            <a:endParaRPr lang="en-US" sz="900" dirty="0"/>
          </a:p>
        </p:txBody>
      </p:sp>
      <p:sp>
        <p:nvSpPr>
          <p:cNvPr id="49" name="Shape 38"/>
          <p:cNvSpPr/>
          <p:nvPr/>
        </p:nvSpPr>
        <p:spPr>
          <a:xfrm>
            <a:off x="6766560" y="4754880"/>
            <a:ext cx="502920" cy="320040"/>
          </a:xfrm>
          <a:prstGeom prst="rect">
            <a:avLst/>
          </a:prstGeom>
          <a:solidFill>
            <a:srgbClr val="1B6B93"/>
          </a:solidFill>
          <a:ln/>
        </p:spPr>
      </p:sp>
      <p:sp>
        <p:nvSpPr>
          <p:cNvPr id="50" name="Text 39"/>
          <p:cNvSpPr/>
          <p:nvPr/>
        </p:nvSpPr>
        <p:spPr>
          <a:xfrm>
            <a:off x="6766560" y="4754880"/>
            <a:ext cx="50292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01168"/>
            <a:ext cx="347472" cy="347472"/>
          </a:xfrm>
          <a:prstGeom prst="rect">
            <a:avLst/>
          </a:prstGeom>
        </p:spPr>
      </p:pic>
      <p:sp>
        <p:nvSpPr>
          <p:cNvPr id="3" name="Text 0"/>
          <p:cNvSpPr/>
          <p:nvPr/>
        </p:nvSpPr>
        <p:spPr>
          <a:xfrm>
            <a:off x="868680" y="164592"/>
            <a:ext cx="7315200" cy="548640"/>
          </a:xfrm>
          <a:prstGeom prst="rect">
            <a:avLst/>
          </a:prstGeom>
          <a:noFill/>
          <a:ln/>
        </p:spPr>
        <p:txBody>
          <a:bodyPr wrap="square" lIns="0" tIns="0" rIns="0" bIns="0" rtlCol="0" anchor="ctr"/>
          <a:lstStyle/>
          <a:p>
            <a:pPr marL="0" indent="0">
              <a:buNone/>
            </a:pPr>
            <a:r>
              <a:rPr lang="en-US" sz="2600" b="1" kern="0" spc="300" dirty="0">
                <a:solidFill>
                  <a:srgbClr val="36454F"/>
                </a:solidFill>
                <a:latin typeface="Trebuchet MS" pitchFamily="34" charset="0"/>
                <a:ea typeface="Trebuchet MS" pitchFamily="34" charset="-122"/>
                <a:cs typeface="Trebuchet MS" pitchFamily="34" charset="-120"/>
              </a:rPr>
              <a:t>Practice &amp; Self-Assessment</a:t>
            </a:r>
            <a:endParaRPr lang="en-US" sz="2600" dirty="0"/>
          </a:p>
        </p:txBody>
      </p:sp>
      <p:sp>
        <p:nvSpPr>
          <p:cNvPr id="4" name="Shape 1"/>
          <p:cNvSpPr/>
          <p:nvPr/>
        </p:nvSpPr>
        <p:spPr>
          <a:xfrm>
            <a:off x="548640" y="749808"/>
            <a:ext cx="1645920" cy="36576"/>
          </a:xfrm>
          <a:prstGeom prst="rect">
            <a:avLst/>
          </a:prstGeom>
          <a:solidFill>
            <a:srgbClr val="7A9E7E"/>
          </a:solidFill>
          <a:ln/>
        </p:spPr>
      </p:sp>
      <p:pic>
        <p:nvPicPr>
          <p:cNvPr id="5" name="Image 1" descr="preencoded.png"/>
          <p:cNvPicPr>
            <a:picLocks noChangeAspect="1"/>
          </p:cNvPicPr>
          <p:nvPr/>
        </p:nvPicPr>
        <p:blipFill>
          <a:blip r:embed="rId4"/>
          <a:stretch>
            <a:fillRect/>
          </a:stretch>
        </p:blipFill>
        <p:spPr>
          <a:xfrm>
            <a:off x="7498080" y="4709160"/>
            <a:ext cx="1234440" cy="365760"/>
          </a:xfrm>
          <a:prstGeom prst="rect">
            <a:avLst/>
          </a:prstGeom>
        </p:spPr>
      </p:pic>
      <p:sp>
        <p:nvSpPr>
          <p:cNvPr id="6" name="Shape 2"/>
          <p:cNvSpPr/>
          <p:nvPr/>
        </p:nvSpPr>
        <p:spPr>
          <a:xfrm>
            <a:off x="365760" y="868680"/>
            <a:ext cx="4114800" cy="3657600"/>
          </a:xfrm>
          <a:prstGeom prst="rect">
            <a:avLst/>
          </a:prstGeom>
          <a:solidFill>
            <a:srgbClr val="FFFFFF"/>
          </a:solidFill>
          <a:ln/>
          <a:effectLst>
            <a:outerShdw blurRad="76200" dist="25400" dir="8100000" algn="bl" rotWithShape="0">
              <a:srgbClr val="000000">
                <a:alpha val="12000"/>
              </a:srgbClr>
            </a:outerShdw>
          </a:effectLst>
        </p:spPr>
      </p:sp>
      <p:sp>
        <p:nvSpPr>
          <p:cNvPr id="7" name="Shape 3"/>
          <p:cNvSpPr/>
          <p:nvPr/>
        </p:nvSpPr>
        <p:spPr>
          <a:xfrm>
            <a:off x="365760" y="868680"/>
            <a:ext cx="4114800" cy="411480"/>
          </a:xfrm>
          <a:prstGeom prst="rect">
            <a:avLst/>
          </a:prstGeom>
          <a:solidFill>
            <a:srgbClr val="1B6B93"/>
          </a:solidFill>
          <a:ln/>
        </p:spPr>
      </p:sp>
      <p:sp>
        <p:nvSpPr>
          <p:cNvPr id="8" name="Text 4"/>
          <p:cNvSpPr/>
          <p:nvPr/>
        </p:nvSpPr>
        <p:spPr>
          <a:xfrm>
            <a:off x="548640" y="868680"/>
            <a:ext cx="3749040" cy="411480"/>
          </a:xfrm>
          <a:prstGeom prst="rect">
            <a:avLst/>
          </a:prstGeom>
          <a:noFill/>
          <a:ln/>
        </p:spPr>
        <p:txBody>
          <a:bodyPr wrap="square" lIns="0" tIns="0" rIns="0" bIns="0" rtlCol="0" anchor="ctr"/>
          <a:lstStyle/>
          <a:p>
            <a:pPr marL="0" indent="0">
              <a:buNone/>
            </a:pPr>
            <a:r>
              <a:rPr lang="en-US" sz="1200" b="1" kern="0" spc="200" dirty="0">
                <a:solidFill>
                  <a:srgbClr val="F5F0EB"/>
                </a:solidFill>
                <a:latin typeface="Calibri" pitchFamily="34" charset="0"/>
                <a:ea typeface="Calibri" pitchFamily="34" charset="-122"/>
                <a:cs typeface="Calibri" pitchFamily="34" charset="-120"/>
              </a:rPr>
              <a:t>HOMEWORK &amp; PRACTICE</a:t>
            </a:r>
            <a:endParaRPr lang="en-US" sz="1200" dirty="0"/>
          </a:p>
        </p:txBody>
      </p:sp>
      <p:sp>
        <p:nvSpPr>
          <p:cNvPr id="9" name="Text 5"/>
          <p:cNvSpPr/>
          <p:nvPr/>
        </p:nvSpPr>
        <p:spPr>
          <a:xfrm>
            <a:off x="548640" y="1935271"/>
            <a:ext cx="3749040" cy="3017520"/>
          </a:xfrm>
          <a:prstGeom prst="rect">
            <a:avLst/>
          </a:prstGeom>
          <a:noFill/>
          <a:ln/>
        </p:spPr>
        <p:txBody>
          <a:bodyPr wrap="square" lIns="0" tIns="0" rIns="0" bIns="0" rtlCol="0" anchor="t"/>
          <a:lstStyle/>
          <a:p>
            <a:pPr marL="342900" indent="-342900">
              <a:spcAft>
                <a:spcPts val="600"/>
              </a:spcAft>
              <a:buSzPct val="100000"/>
              <a:buChar char="•"/>
            </a:pPr>
            <a:r>
              <a:rPr lang="en-US" sz="900" dirty="0">
                <a:solidFill>
                  <a:srgbClr val="36454F"/>
                </a:solidFill>
                <a:latin typeface="Calibri" pitchFamily="34" charset="0"/>
                <a:ea typeface="Calibri" pitchFamily="34" charset="-122"/>
                <a:cs typeface="Calibri" pitchFamily="34" charset="-120"/>
              </a:rPr>
              <a:t>Write your own 4-step VM for 3 different triggers (membership, competitor, growth). Record each one.</a:t>
            </a:r>
            <a:endParaRPr lang="en-US" sz="900" dirty="0"/>
          </a:p>
          <a:p>
            <a:pPr marL="342900" indent="-342900">
              <a:spcAft>
                <a:spcPts val="600"/>
              </a:spcAft>
              <a:buSzPct val="100000"/>
              <a:buChar char="•"/>
            </a:pPr>
            <a:r>
              <a:rPr lang="en-US" sz="900" dirty="0">
                <a:solidFill>
                  <a:srgbClr val="36454F"/>
                </a:solidFill>
                <a:latin typeface="Calibri" pitchFamily="34" charset="0"/>
                <a:ea typeface="Calibri" pitchFamily="34" charset="-122"/>
                <a:cs typeface="Calibri" pitchFamily="34" charset="-120"/>
              </a:rPr>
              <a:t>Time yourself. Every VM must be under 20 seconds. Re-record until you hit it consistently.</a:t>
            </a:r>
            <a:endParaRPr lang="en-US" sz="900" dirty="0"/>
          </a:p>
          <a:p>
            <a:pPr marL="342900" indent="-342900">
              <a:spcAft>
                <a:spcPts val="600"/>
              </a:spcAft>
              <a:buSzPct val="100000"/>
              <a:buChar char="•"/>
            </a:pPr>
            <a:r>
              <a:rPr lang="en-US" sz="900" dirty="0">
                <a:solidFill>
                  <a:srgbClr val="36454F"/>
                </a:solidFill>
                <a:latin typeface="Calibri" pitchFamily="34" charset="0"/>
                <a:ea typeface="Calibri" pitchFamily="34" charset="-122"/>
                <a:cs typeface="Calibri" pitchFamily="34" charset="-120"/>
              </a:rPr>
              <a:t>Leave 10 VMs tomorrow using the formula. Track which ones get callbacks.</a:t>
            </a:r>
            <a:endParaRPr lang="en-US" sz="900" dirty="0"/>
          </a:p>
          <a:p>
            <a:pPr marL="342900" indent="-342900">
              <a:spcAft>
                <a:spcPts val="600"/>
              </a:spcAft>
              <a:buSzPct val="100000"/>
              <a:buChar char="•"/>
            </a:pPr>
            <a:r>
              <a:rPr lang="en-US" sz="900" dirty="0">
                <a:solidFill>
                  <a:srgbClr val="36454F"/>
                </a:solidFill>
                <a:latin typeface="Calibri" pitchFamily="34" charset="0"/>
                <a:ea typeface="Calibri" pitchFamily="34" charset="-122"/>
                <a:cs typeface="Calibri" pitchFamily="34" charset="-120"/>
              </a:rPr>
              <a:t>Record yourself and play it back. Score your tonality: warm? confident? curious? or robotic?</a:t>
            </a:r>
            <a:endParaRPr lang="en-US" sz="900" dirty="0"/>
          </a:p>
          <a:p>
            <a:pPr marL="342900" indent="-342900">
              <a:spcAft>
                <a:spcPts val="600"/>
              </a:spcAft>
              <a:buSzPct val="100000"/>
              <a:buChar char="•"/>
            </a:pPr>
            <a:r>
              <a:rPr lang="en-US" sz="900" dirty="0">
                <a:solidFill>
                  <a:srgbClr val="36454F"/>
                </a:solidFill>
                <a:latin typeface="Calibri" pitchFamily="34" charset="0"/>
                <a:ea typeface="Calibri" pitchFamily="34" charset="-122"/>
                <a:cs typeface="Calibri" pitchFamily="34" charset="-120"/>
              </a:rPr>
              <a:t>Build a 3-touch sequence for your top 5 target accounts with different angles per touch.</a:t>
            </a:r>
            <a:endParaRPr lang="en-US" sz="900" dirty="0"/>
          </a:p>
          <a:p>
            <a:pPr marL="342900" indent="-342900">
              <a:spcAft>
                <a:spcPts val="600"/>
              </a:spcAft>
              <a:buSzPct val="100000"/>
              <a:buChar char="•"/>
            </a:pPr>
            <a:r>
              <a:rPr lang="en-US" sz="900" dirty="0">
                <a:solidFill>
                  <a:srgbClr val="36454F"/>
                </a:solidFill>
                <a:latin typeface="Calibri" pitchFamily="34" charset="0"/>
                <a:ea typeface="Calibri" pitchFamily="34" charset="-122"/>
                <a:cs typeface="Calibri" pitchFamily="34" charset="-120"/>
              </a:rPr>
              <a:t>Listen to 3 teammates’ voicemails. Give each other feedback using the Do/Don’t checklist.</a:t>
            </a:r>
            <a:endParaRPr lang="en-US" sz="900" dirty="0"/>
          </a:p>
        </p:txBody>
      </p:sp>
      <p:sp>
        <p:nvSpPr>
          <p:cNvPr id="10" name="Shape 6"/>
          <p:cNvSpPr/>
          <p:nvPr/>
        </p:nvSpPr>
        <p:spPr>
          <a:xfrm>
            <a:off x="4663440" y="868680"/>
            <a:ext cx="4114800" cy="3657600"/>
          </a:xfrm>
          <a:prstGeom prst="rect">
            <a:avLst/>
          </a:prstGeom>
          <a:solidFill>
            <a:srgbClr val="FFFFFF"/>
          </a:solidFill>
          <a:ln/>
          <a:effectLst>
            <a:outerShdw blurRad="76200" dist="25400" dir="8100000" algn="bl" rotWithShape="0">
              <a:srgbClr val="000000">
                <a:alpha val="12000"/>
              </a:srgbClr>
            </a:outerShdw>
          </a:effectLst>
        </p:spPr>
      </p:sp>
      <p:sp>
        <p:nvSpPr>
          <p:cNvPr id="11" name="Shape 7"/>
          <p:cNvSpPr/>
          <p:nvPr/>
        </p:nvSpPr>
        <p:spPr>
          <a:xfrm>
            <a:off x="4663440" y="868680"/>
            <a:ext cx="4114800" cy="411480"/>
          </a:xfrm>
          <a:prstGeom prst="rect">
            <a:avLst/>
          </a:prstGeom>
          <a:solidFill>
            <a:srgbClr val="C67B5C"/>
          </a:solidFill>
          <a:ln/>
        </p:spPr>
      </p:sp>
      <p:sp>
        <p:nvSpPr>
          <p:cNvPr id="12" name="Text 8"/>
          <p:cNvSpPr/>
          <p:nvPr/>
        </p:nvSpPr>
        <p:spPr>
          <a:xfrm>
            <a:off x="4846320" y="868680"/>
            <a:ext cx="3749040" cy="411480"/>
          </a:xfrm>
          <a:prstGeom prst="rect">
            <a:avLst/>
          </a:prstGeom>
          <a:noFill/>
          <a:ln/>
        </p:spPr>
        <p:txBody>
          <a:bodyPr wrap="square" lIns="0" tIns="0" rIns="0" bIns="0" rtlCol="0" anchor="ctr"/>
          <a:lstStyle/>
          <a:p>
            <a:pPr marL="0" indent="0">
              <a:buNone/>
            </a:pPr>
            <a:r>
              <a:rPr lang="en-US" sz="1200" b="1" kern="0" spc="200" dirty="0">
                <a:solidFill>
                  <a:srgbClr val="F5F0EB"/>
                </a:solidFill>
                <a:latin typeface="Calibri" pitchFamily="34" charset="0"/>
                <a:ea typeface="Calibri" pitchFamily="34" charset="-122"/>
                <a:cs typeface="Calibri" pitchFamily="34" charset="-120"/>
              </a:rPr>
              <a:t>SELF-ASSESSMENT (1–5 SCALE)</a:t>
            </a:r>
            <a:endParaRPr lang="en-US" sz="1200" dirty="0"/>
          </a:p>
        </p:txBody>
      </p:sp>
      <p:sp>
        <p:nvSpPr>
          <p:cNvPr id="13" name="Shape 9"/>
          <p:cNvSpPr/>
          <p:nvPr/>
        </p:nvSpPr>
        <p:spPr>
          <a:xfrm>
            <a:off x="4754880" y="1371600"/>
            <a:ext cx="3931920" cy="457200"/>
          </a:xfrm>
          <a:prstGeom prst="rect">
            <a:avLst/>
          </a:prstGeom>
          <a:solidFill>
            <a:srgbClr val="F5F0EB"/>
          </a:solidFill>
          <a:ln/>
        </p:spPr>
      </p:sp>
      <p:sp>
        <p:nvSpPr>
          <p:cNvPr id="14" name="Shape 10"/>
          <p:cNvSpPr/>
          <p:nvPr/>
        </p:nvSpPr>
        <p:spPr>
          <a:xfrm>
            <a:off x="4754880" y="1371600"/>
            <a:ext cx="54864" cy="457200"/>
          </a:xfrm>
          <a:prstGeom prst="rect">
            <a:avLst/>
          </a:prstGeom>
          <a:solidFill>
            <a:srgbClr val="C67B5C"/>
          </a:solidFill>
          <a:ln/>
        </p:spPr>
      </p:sp>
      <p:sp>
        <p:nvSpPr>
          <p:cNvPr id="15" name="Text 11"/>
          <p:cNvSpPr/>
          <p:nvPr/>
        </p:nvSpPr>
        <p:spPr>
          <a:xfrm>
            <a:off x="4892040" y="1389888"/>
            <a:ext cx="3703320" cy="256032"/>
          </a:xfrm>
          <a:prstGeom prst="rect">
            <a:avLst/>
          </a:prstGeom>
          <a:noFill/>
          <a:ln/>
        </p:spPr>
        <p:txBody>
          <a:bodyPr wrap="square" lIns="0" tIns="0" rIns="0" bIns="0" rtlCol="0" anchor="ctr"/>
          <a:lstStyle/>
          <a:p>
            <a:pPr marL="0" indent="0">
              <a:buNone/>
            </a:pPr>
            <a:r>
              <a:rPr lang="en-US" sz="800" dirty="0">
                <a:solidFill>
                  <a:srgbClr val="36454F"/>
                </a:solidFill>
                <a:latin typeface="Calibri" pitchFamily="34" charset="0"/>
                <a:ea typeface="Calibri" pitchFamily="34" charset="-122"/>
                <a:cs typeface="Calibri" pitchFamily="34" charset="-120"/>
              </a:rPr>
              <a:t>Every VM I leave is under 20 seconds and follows the 4-step formula</a:t>
            </a:r>
            <a:endParaRPr lang="en-US" sz="800" dirty="0"/>
          </a:p>
        </p:txBody>
      </p:sp>
      <p:sp>
        <p:nvSpPr>
          <p:cNvPr id="17" name="Shape 13"/>
          <p:cNvSpPr/>
          <p:nvPr/>
        </p:nvSpPr>
        <p:spPr>
          <a:xfrm>
            <a:off x="4754880" y="1883664"/>
            <a:ext cx="3931920" cy="457200"/>
          </a:xfrm>
          <a:prstGeom prst="rect">
            <a:avLst/>
          </a:prstGeom>
          <a:solidFill>
            <a:srgbClr val="FFFFFF"/>
          </a:solidFill>
          <a:ln/>
        </p:spPr>
      </p:sp>
      <p:sp>
        <p:nvSpPr>
          <p:cNvPr id="18" name="Shape 14"/>
          <p:cNvSpPr/>
          <p:nvPr/>
        </p:nvSpPr>
        <p:spPr>
          <a:xfrm>
            <a:off x="4754880" y="1883664"/>
            <a:ext cx="54864" cy="457200"/>
          </a:xfrm>
          <a:prstGeom prst="rect">
            <a:avLst/>
          </a:prstGeom>
          <a:solidFill>
            <a:srgbClr val="C67B5C"/>
          </a:solidFill>
          <a:ln/>
        </p:spPr>
      </p:sp>
      <p:sp>
        <p:nvSpPr>
          <p:cNvPr id="19" name="Text 15"/>
          <p:cNvSpPr/>
          <p:nvPr/>
        </p:nvSpPr>
        <p:spPr>
          <a:xfrm>
            <a:off x="4892040" y="1901952"/>
            <a:ext cx="3703320" cy="256032"/>
          </a:xfrm>
          <a:prstGeom prst="rect">
            <a:avLst/>
          </a:prstGeom>
          <a:noFill/>
          <a:ln/>
        </p:spPr>
        <p:txBody>
          <a:bodyPr wrap="square" lIns="0" tIns="0" rIns="0" bIns="0" rtlCol="0" anchor="ctr"/>
          <a:lstStyle/>
          <a:p>
            <a:pPr marL="0" indent="0">
              <a:buNone/>
            </a:pPr>
            <a:r>
              <a:rPr lang="en-US" sz="800" dirty="0">
                <a:solidFill>
                  <a:srgbClr val="36454F"/>
                </a:solidFill>
                <a:latin typeface="Calibri" pitchFamily="34" charset="0"/>
                <a:ea typeface="Calibri" pitchFamily="34" charset="-122"/>
                <a:cs typeface="Calibri" pitchFamily="34" charset="-120"/>
              </a:rPr>
              <a:t>I research a trigger for every prospect BEFORE I dial — no generic VMs</a:t>
            </a:r>
            <a:endParaRPr lang="en-US" sz="800" dirty="0"/>
          </a:p>
        </p:txBody>
      </p:sp>
      <p:sp>
        <p:nvSpPr>
          <p:cNvPr id="21" name="Shape 17"/>
          <p:cNvSpPr/>
          <p:nvPr/>
        </p:nvSpPr>
        <p:spPr>
          <a:xfrm>
            <a:off x="4754880" y="2395728"/>
            <a:ext cx="3931920" cy="457200"/>
          </a:xfrm>
          <a:prstGeom prst="rect">
            <a:avLst/>
          </a:prstGeom>
          <a:solidFill>
            <a:srgbClr val="F5F0EB"/>
          </a:solidFill>
          <a:ln/>
        </p:spPr>
      </p:sp>
      <p:sp>
        <p:nvSpPr>
          <p:cNvPr id="22" name="Shape 18"/>
          <p:cNvSpPr/>
          <p:nvPr/>
        </p:nvSpPr>
        <p:spPr>
          <a:xfrm>
            <a:off x="4754880" y="2395728"/>
            <a:ext cx="54864" cy="457200"/>
          </a:xfrm>
          <a:prstGeom prst="rect">
            <a:avLst/>
          </a:prstGeom>
          <a:solidFill>
            <a:srgbClr val="C67B5C"/>
          </a:solidFill>
          <a:ln/>
        </p:spPr>
      </p:sp>
      <p:sp>
        <p:nvSpPr>
          <p:cNvPr id="23" name="Text 19"/>
          <p:cNvSpPr/>
          <p:nvPr/>
        </p:nvSpPr>
        <p:spPr>
          <a:xfrm>
            <a:off x="4892040" y="2414016"/>
            <a:ext cx="3703320" cy="256032"/>
          </a:xfrm>
          <a:prstGeom prst="rect">
            <a:avLst/>
          </a:prstGeom>
          <a:noFill/>
          <a:ln/>
        </p:spPr>
        <p:txBody>
          <a:bodyPr wrap="square" lIns="0" tIns="0" rIns="0" bIns="0" rtlCol="0" anchor="ctr"/>
          <a:lstStyle/>
          <a:p>
            <a:pPr marL="0" indent="0">
              <a:buNone/>
            </a:pPr>
            <a:r>
              <a:rPr lang="en-US" sz="800" dirty="0">
                <a:solidFill>
                  <a:srgbClr val="36454F"/>
                </a:solidFill>
                <a:latin typeface="Calibri" pitchFamily="34" charset="0"/>
                <a:ea typeface="Calibri" pitchFamily="34" charset="-122"/>
                <a:cs typeface="Calibri" pitchFamily="34" charset="-120"/>
              </a:rPr>
              <a:t>I create a curiosity gap without resolving it — they have to call back to find out</a:t>
            </a:r>
            <a:endParaRPr lang="en-US" sz="800" dirty="0"/>
          </a:p>
        </p:txBody>
      </p:sp>
      <p:sp>
        <p:nvSpPr>
          <p:cNvPr id="25" name="Shape 21"/>
          <p:cNvSpPr/>
          <p:nvPr/>
        </p:nvSpPr>
        <p:spPr>
          <a:xfrm>
            <a:off x="4754880" y="2907792"/>
            <a:ext cx="3931920" cy="457200"/>
          </a:xfrm>
          <a:prstGeom prst="rect">
            <a:avLst/>
          </a:prstGeom>
          <a:solidFill>
            <a:srgbClr val="FFFFFF"/>
          </a:solidFill>
          <a:ln/>
        </p:spPr>
      </p:sp>
      <p:sp>
        <p:nvSpPr>
          <p:cNvPr id="26" name="Shape 22"/>
          <p:cNvSpPr/>
          <p:nvPr/>
        </p:nvSpPr>
        <p:spPr>
          <a:xfrm>
            <a:off x="4754880" y="2907792"/>
            <a:ext cx="54864" cy="457200"/>
          </a:xfrm>
          <a:prstGeom prst="rect">
            <a:avLst/>
          </a:prstGeom>
          <a:solidFill>
            <a:srgbClr val="C67B5C"/>
          </a:solidFill>
          <a:ln/>
        </p:spPr>
      </p:sp>
      <p:sp>
        <p:nvSpPr>
          <p:cNvPr id="27" name="Text 23"/>
          <p:cNvSpPr/>
          <p:nvPr/>
        </p:nvSpPr>
        <p:spPr>
          <a:xfrm>
            <a:off x="4892040" y="2926080"/>
            <a:ext cx="3703320" cy="256032"/>
          </a:xfrm>
          <a:prstGeom prst="rect">
            <a:avLst/>
          </a:prstGeom>
          <a:noFill/>
          <a:ln/>
        </p:spPr>
        <p:txBody>
          <a:bodyPr wrap="square" lIns="0" tIns="0" rIns="0" bIns="0" rtlCol="0" anchor="ctr"/>
          <a:lstStyle/>
          <a:p>
            <a:pPr marL="0" indent="0">
              <a:buNone/>
            </a:pPr>
            <a:r>
              <a:rPr lang="en-US" sz="800" dirty="0">
                <a:solidFill>
                  <a:srgbClr val="36454F"/>
                </a:solidFill>
                <a:latin typeface="Calibri" pitchFamily="34" charset="0"/>
                <a:ea typeface="Calibri" pitchFamily="34" charset="-122"/>
                <a:cs typeface="Calibri" pitchFamily="34" charset="-120"/>
              </a:rPr>
              <a:t>I vary my voicemails across a 3-touch sequence (trigger, social proof, breakup)</a:t>
            </a:r>
            <a:endParaRPr lang="en-US" sz="800" dirty="0"/>
          </a:p>
        </p:txBody>
      </p:sp>
      <p:sp>
        <p:nvSpPr>
          <p:cNvPr id="29" name="Shape 25"/>
          <p:cNvSpPr/>
          <p:nvPr/>
        </p:nvSpPr>
        <p:spPr>
          <a:xfrm>
            <a:off x="4754880" y="3419856"/>
            <a:ext cx="3931920" cy="457200"/>
          </a:xfrm>
          <a:prstGeom prst="rect">
            <a:avLst/>
          </a:prstGeom>
          <a:solidFill>
            <a:srgbClr val="F5F0EB"/>
          </a:solidFill>
          <a:ln/>
        </p:spPr>
      </p:sp>
      <p:sp>
        <p:nvSpPr>
          <p:cNvPr id="30" name="Shape 26"/>
          <p:cNvSpPr/>
          <p:nvPr/>
        </p:nvSpPr>
        <p:spPr>
          <a:xfrm>
            <a:off x="4754880" y="3419856"/>
            <a:ext cx="54864" cy="457200"/>
          </a:xfrm>
          <a:prstGeom prst="rect">
            <a:avLst/>
          </a:prstGeom>
          <a:solidFill>
            <a:srgbClr val="C67B5C"/>
          </a:solidFill>
          <a:ln/>
        </p:spPr>
      </p:sp>
      <p:sp>
        <p:nvSpPr>
          <p:cNvPr id="31" name="Text 27"/>
          <p:cNvSpPr/>
          <p:nvPr/>
        </p:nvSpPr>
        <p:spPr>
          <a:xfrm>
            <a:off x="4892040" y="3438144"/>
            <a:ext cx="3703320" cy="256032"/>
          </a:xfrm>
          <a:prstGeom prst="rect">
            <a:avLst/>
          </a:prstGeom>
          <a:noFill/>
          <a:ln/>
        </p:spPr>
        <p:txBody>
          <a:bodyPr wrap="square" lIns="0" tIns="0" rIns="0" bIns="0" rtlCol="0" anchor="ctr"/>
          <a:lstStyle/>
          <a:p>
            <a:pPr marL="0" indent="0">
              <a:buNone/>
            </a:pPr>
            <a:r>
              <a:rPr lang="en-US" sz="800" dirty="0">
                <a:solidFill>
                  <a:srgbClr val="36454F"/>
                </a:solidFill>
                <a:latin typeface="Calibri" pitchFamily="34" charset="0"/>
                <a:ea typeface="Calibri" pitchFamily="34" charset="-122"/>
                <a:cs typeface="Calibri" pitchFamily="34" charset="-120"/>
              </a:rPr>
              <a:t>My tonality sounds warm and confident — not robotic, rushed, or apologetic</a:t>
            </a:r>
            <a:endParaRPr lang="en-US" sz="800" dirty="0"/>
          </a:p>
        </p:txBody>
      </p:sp>
      <p:sp>
        <p:nvSpPr>
          <p:cNvPr id="33" name="Shape 29"/>
          <p:cNvSpPr/>
          <p:nvPr/>
        </p:nvSpPr>
        <p:spPr>
          <a:xfrm>
            <a:off x="4754880" y="3931920"/>
            <a:ext cx="3931920" cy="457200"/>
          </a:xfrm>
          <a:prstGeom prst="rect">
            <a:avLst/>
          </a:prstGeom>
          <a:solidFill>
            <a:srgbClr val="FFFFFF"/>
          </a:solidFill>
          <a:ln/>
        </p:spPr>
      </p:sp>
      <p:sp>
        <p:nvSpPr>
          <p:cNvPr id="34" name="Shape 30"/>
          <p:cNvSpPr/>
          <p:nvPr/>
        </p:nvSpPr>
        <p:spPr>
          <a:xfrm>
            <a:off x="4754880" y="3931920"/>
            <a:ext cx="54864" cy="457200"/>
          </a:xfrm>
          <a:prstGeom prst="rect">
            <a:avLst/>
          </a:prstGeom>
          <a:solidFill>
            <a:srgbClr val="C67B5C"/>
          </a:solidFill>
          <a:ln/>
        </p:spPr>
      </p:sp>
      <p:sp>
        <p:nvSpPr>
          <p:cNvPr id="35" name="Text 31"/>
          <p:cNvSpPr/>
          <p:nvPr/>
        </p:nvSpPr>
        <p:spPr>
          <a:xfrm>
            <a:off x="4892040" y="3950208"/>
            <a:ext cx="3703320" cy="256032"/>
          </a:xfrm>
          <a:prstGeom prst="rect">
            <a:avLst/>
          </a:prstGeom>
          <a:noFill/>
          <a:ln/>
        </p:spPr>
        <p:txBody>
          <a:bodyPr wrap="square" lIns="0" tIns="0" rIns="0" bIns="0" rtlCol="0" anchor="ctr"/>
          <a:lstStyle/>
          <a:p>
            <a:pPr marL="0" indent="0">
              <a:buNone/>
            </a:pPr>
            <a:r>
              <a:rPr lang="en-US" sz="800" dirty="0">
                <a:solidFill>
                  <a:srgbClr val="36454F"/>
                </a:solidFill>
                <a:latin typeface="Calibri" pitchFamily="34" charset="0"/>
                <a:ea typeface="Calibri" pitchFamily="34" charset="-122"/>
                <a:cs typeface="Calibri" pitchFamily="34" charset="-120"/>
              </a:rPr>
              <a:t>I leave a VM on every dial that hits voicemail — no wasted touches</a:t>
            </a:r>
            <a:endParaRPr lang="en-US" sz="800" dirty="0"/>
          </a:p>
        </p:txBody>
      </p:sp>
      <p:sp>
        <p:nvSpPr>
          <p:cNvPr id="37" name="Text 33"/>
          <p:cNvSpPr/>
          <p:nvPr/>
        </p:nvSpPr>
        <p:spPr>
          <a:xfrm>
            <a:off x="4846320" y="4300185"/>
            <a:ext cx="3749040" cy="228600"/>
          </a:xfrm>
          <a:prstGeom prst="rect">
            <a:avLst/>
          </a:prstGeom>
          <a:noFill/>
          <a:ln/>
        </p:spPr>
        <p:txBody>
          <a:bodyPr wrap="square" lIns="0" tIns="0" rIns="0" bIns="0" rtlCol="0" anchor="ctr"/>
          <a:lstStyle/>
          <a:p>
            <a:pPr marL="0" indent="0">
              <a:buNone/>
            </a:pPr>
            <a:r>
              <a:rPr lang="en-US" sz="800" b="1" i="1" dirty="0">
                <a:solidFill>
                  <a:srgbClr val="6B3A4A"/>
                </a:solidFill>
                <a:latin typeface="Calibri" pitchFamily="34" charset="0"/>
                <a:ea typeface="Calibri" pitchFamily="34" charset="-122"/>
                <a:cs typeface="Calibri" pitchFamily="34" charset="-120"/>
              </a:rPr>
              <a:t>Score yourself 1–5. Below 3 = your coaching focus for next 2 weeks.</a:t>
            </a:r>
            <a:endParaRPr lang="en-US" sz="800" dirty="0"/>
          </a:p>
        </p:txBody>
      </p:sp>
      <p:sp>
        <p:nvSpPr>
          <p:cNvPr id="38" name="Text 34"/>
          <p:cNvSpPr/>
          <p:nvPr/>
        </p:nvSpPr>
        <p:spPr>
          <a:xfrm>
            <a:off x="457200" y="4846320"/>
            <a:ext cx="5943600" cy="228600"/>
          </a:xfrm>
          <a:prstGeom prst="rect">
            <a:avLst/>
          </a:prstGeom>
          <a:noFill/>
          <a:ln/>
        </p:spPr>
        <p:txBody>
          <a:bodyPr wrap="square" lIns="0" tIns="0" rIns="0" bIns="0" rtlCol="0" anchor="ctr"/>
          <a:lstStyle/>
          <a:p>
            <a:pPr marL="0" indent="0">
              <a:buNone/>
            </a:pPr>
            <a:r>
              <a:rPr lang="en-US" sz="900" i="1" dirty="0">
                <a:solidFill>
                  <a:srgbClr val="9CA3AF"/>
                </a:solidFill>
                <a:latin typeface="Calibri" pitchFamily="34" charset="0"/>
                <a:ea typeface="Calibri" pitchFamily="34" charset="-122"/>
                <a:cs typeface="Calibri" pitchFamily="34" charset="-120"/>
              </a:rPr>
              <a:t>Commit to the process. Control the controllables.</a:t>
            </a:r>
            <a:endParaRPr lang="en-US" sz="900" dirty="0"/>
          </a:p>
        </p:txBody>
      </p:sp>
      <p:sp>
        <p:nvSpPr>
          <p:cNvPr id="39" name="Shape 35"/>
          <p:cNvSpPr/>
          <p:nvPr/>
        </p:nvSpPr>
        <p:spPr>
          <a:xfrm>
            <a:off x="6766560" y="4754880"/>
            <a:ext cx="502920" cy="320040"/>
          </a:xfrm>
          <a:prstGeom prst="rect">
            <a:avLst/>
          </a:prstGeom>
          <a:solidFill>
            <a:srgbClr val="1B6B93"/>
          </a:solidFill>
          <a:ln/>
        </p:spPr>
      </p:sp>
      <p:sp>
        <p:nvSpPr>
          <p:cNvPr id="40" name="Text 36"/>
          <p:cNvSpPr/>
          <p:nvPr/>
        </p:nvSpPr>
        <p:spPr>
          <a:xfrm>
            <a:off x="6766560" y="4754880"/>
            <a:ext cx="50292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67B5C"/>
          </a:solidFill>
          <a:ln/>
        </p:spPr>
      </p:sp>
      <p:sp>
        <p:nvSpPr>
          <p:cNvPr id="3" name="Shape 1"/>
          <p:cNvSpPr/>
          <p:nvPr/>
        </p:nvSpPr>
        <p:spPr>
          <a:xfrm>
            <a:off x="109728" y="0"/>
            <a:ext cx="9034272" cy="54864"/>
          </a:xfrm>
          <a:prstGeom prst="rect">
            <a:avLst/>
          </a:prstGeom>
          <a:solidFill>
            <a:srgbClr val="1B6B93"/>
          </a:solidFill>
          <a:ln/>
        </p:spPr>
      </p:sp>
      <p:pic>
        <p:nvPicPr>
          <p:cNvPr id="4" name="Image 0" descr="preencoded.png"/>
          <p:cNvPicPr>
            <a:picLocks noChangeAspect="1"/>
          </p:cNvPicPr>
          <p:nvPr/>
        </p:nvPicPr>
        <p:blipFill>
          <a:blip r:embed="rId3"/>
          <a:stretch>
            <a:fillRect/>
          </a:stretch>
        </p:blipFill>
        <p:spPr>
          <a:xfrm>
            <a:off x="7498080" y="4709160"/>
            <a:ext cx="1234440" cy="365760"/>
          </a:xfrm>
          <a:prstGeom prst="rect">
            <a:avLst/>
          </a:prstGeom>
        </p:spPr>
      </p:pic>
      <p:sp>
        <p:nvSpPr>
          <p:cNvPr id="5" name="Text 2"/>
          <p:cNvSpPr/>
          <p:nvPr/>
        </p:nvSpPr>
        <p:spPr>
          <a:xfrm>
            <a:off x="731520" y="320040"/>
            <a:ext cx="7315200" cy="594360"/>
          </a:xfrm>
          <a:prstGeom prst="rect">
            <a:avLst/>
          </a:prstGeom>
          <a:noFill/>
          <a:ln/>
        </p:spPr>
        <p:txBody>
          <a:bodyPr wrap="square" lIns="0" tIns="0" rIns="0" bIns="0" rtlCol="0" anchor="ctr"/>
          <a:lstStyle/>
          <a:p>
            <a:pPr marL="0" indent="0">
              <a:buNone/>
            </a:pPr>
            <a:r>
              <a:rPr lang="en-US" sz="3200" b="1" kern="0" spc="300" dirty="0">
                <a:solidFill>
                  <a:srgbClr val="F5F0EB"/>
                </a:solidFill>
                <a:latin typeface="Trebuchet MS" pitchFamily="34" charset="0"/>
                <a:ea typeface="Trebuchet MS" pitchFamily="34" charset="-122"/>
                <a:cs typeface="Trebuchet MS" pitchFamily="34" charset="-120"/>
              </a:rPr>
              <a:t>Key Takeaways</a:t>
            </a:r>
            <a:endParaRPr lang="en-US" sz="3200" dirty="0"/>
          </a:p>
        </p:txBody>
      </p:sp>
      <p:sp>
        <p:nvSpPr>
          <p:cNvPr id="6" name="Shape 3"/>
          <p:cNvSpPr/>
          <p:nvPr/>
        </p:nvSpPr>
        <p:spPr>
          <a:xfrm>
            <a:off x="731520" y="914400"/>
            <a:ext cx="1645920" cy="36576"/>
          </a:xfrm>
          <a:prstGeom prst="rect">
            <a:avLst/>
          </a:prstGeom>
          <a:solidFill>
            <a:srgbClr val="C67B5C"/>
          </a:solidFill>
          <a:ln/>
        </p:spPr>
      </p:sp>
      <p:sp>
        <p:nvSpPr>
          <p:cNvPr id="7" name="Text 4"/>
          <p:cNvSpPr/>
          <p:nvPr/>
        </p:nvSpPr>
        <p:spPr>
          <a:xfrm>
            <a:off x="731520" y="1097280"/>
            <a:ext cx="457200" cy="365760"/>
          </a:xfrm>
          <a:prstGeom prst="rect">
            <a:avLst/>
          </a:prstGeom>
          <a:noFill/>
          <a:ln/>
        </p:spPr>
        <p:txBody>
          <a:bodyPr wrap="square" lIns="0" tIns="0" rIns="0" bIns="0" rtlCol="0" anchor="t"/>
          <a:lstStyle/>
          <a:p>
            <a:pPr marL="0" indent="0">
              <a:buNone/>
            </a:pPr>
            <a:r>
              <a:rPr lang="en-US" sz="1800" b="1" dirty="0">
                <a:solidFill>
                  <a:srgbClr val="C67B5C"/>
                </a:solidFill>
                <a:latin typeface="Trebuchet MS" pitchFamily="34" charset="0"/>
                <a:ea typeface="Trebuchet MS" pitchFamily="34" charset="-122"/>
                <a:cs typeface="Trebuchet MS" pitchFamily="34" charset="-120"/>
              </a:rPr>
              <a:t>01</a:t>
            </a:r>
            <a:endParaRPr lang="en-US" sz="1800" dirty="0"/>
          </a:p>
        </p:txBody>
      </p:sp>
      <p:sp>
        <p:nvSpPr>
          <p:cNvPr id="8" name="Text 5"/>
          <p:cNvSpPr/>
          <p:nvPr/>
        </p:nvSpPr>
        <p:spPr>
          <a:xfrm>
            <a:off x="1280160" y="1097280"/>
            <a:ext cx="6858000" cy="365760"/>
          </a:xfrm>
          <a:prstGeom prst="rect">
            <a:avLst/>
          </a:prstGeom>
          <a:noFill/>
          <a:ln/>
        </p:spPr>
        <p:txBody>
          <a:bodyPr wrap="square" lIns="0" tIns="0" rIns="0" bIns="0" rtlCol="0" anchor="t"/>
          <a:lstStyle/>
          <a:p>
            <a:pPr marL="0" indent="0">
              <a:buNone/>
            </a:pPr>
            <a:r>
              <a:rPr lang="en-US" sz="1050" dirty="0">
                <a:solidFill>
                  <a:srgbClr val="E8E3DE"/>
                </a:solidFill>
                <a:latin typeface="Calibri" pitchFamily="34" charset="0"/>
                <a:ea typeface="Calibri" pitchFamily="34" charset="-122"/>
                <a:cs typeface="Calibri" pitchFamily="34" charset="-120"/>
              </a:rPr>
              <a:t>80% of cold calls go to voicemail. Master this or waste 80% of your activity.</a:t>
            </a:r>
            <a:endParaRPr lang="en-US" sz="1050" dirty="0"/>
          </a:p>
        </p:txBody>
      </p:sp>
      <p:sp>
        <p:nvSpPr>
          <p:cNvPr id="9" name="Text 6"/>
          <p:cNvSpPr/>
          <p:nvPr/>
        </p:nvSpPr>
        <p:spPr>
          <a:xfrm>
            <a:off x="731520" y="1536192"/>
            <a:ext cx="457200" cy="365760"/>
          </a:xfrm>
          <a:prstGeom prst="rect">
            <a:avLst/>
          </a:prstGeom>
          <a:noFill/>
          <a:ln/>
        </p:spPr>
        <p:txBody>
          <a:bodyPr wrap="square" lIns="0" tIns="0" rIns="0" bIns="0" rtlCol="0" anchor="t"/>
          <a:lstStyle/>
          <a:p>
            <a:pPr marL="0" indent="0">
              <a:buNone/>
            </a:pPr>
            <a:r>
              <a:rPr lang="en-US" sz="1800" b="1" dirty="0">
                <a:solidFill>
                  <a:srgbClr val="C67B5C"/>
                </a:solidFill>
                <a:latin typeface="Trebuchet MS" pitchFamily="34" charset="0"/>
                <a:ea typeface="Trebuchet MS" pitchFamily="34" charset="-122"/>
                <a:cs typeface="Trebuchet MS" pitchFamily="34" charset="-120"/>
              </a:rPr>
              <a:t>02</a:t>
            </a:r>
            <a:endParaRPr lang="en-US" sz="1800" dirty="0"/>
          </a:p>
        </p:txBody>
      </p:sp>
      <p:sp>
        <p:nvSpPr>
          <p:cNvPr id="10" name="Text 7"/>
          <p:cNvSpPr/>
          <p:nvPr/>
        </p:nvSpPr>
        <p:spPr>
          <a:xfrm>
            <a:off x="1280160" y="1536192"/>
            <a:ext cx="6858000" cy="365760"/>
          </a:xfrm>
          <a:prstGeom prst="rect">
            <a:avLst/>
          </a:prstGeom>
          <a:noFill/>
          <a:ln/>
        </p:spPr>
        <p:txBody>
          <a:bodyPr wrap="square" lIns="0" tIns="0" rIns="0" bIns="0" rtlCol="0" anchor="t"/>
          <a:lstStyle/>
          <a:p>
            <a:pPr marL="0" indent="0">
              <a:buNone/>
            </a:pPr>
            <a:r>
              <a:rPr lang="en-US" sz="1050" dirty="0">
                <a:solidFill>
                  <a:srgbClr val="E8E3DE"/>
                </a:solidFill>
                <a:latin typeface="Calibri" pitchFamily="34" charset="0"/>
                <a:ea typeface="Calibri" pitchFamily="34" charset="-122"/>
                <a:cs typeface="Calibri" pitchFamily="34" charset="-120"/>
              </a:rPr>
              <a:t>18 seconds. That’s your window. Name, trigger, curiosity gap, soft CTA. Nothing else.</a:t>
            </a:r>
            <a:endParaRPr lang="en-US" sz="1050" dirty="0"/>
          </a:p>
        </p:txBody>
      </p:sp>
      <p:sp>
        <p:nvSpPr>
          <p:cNvPr id="11" name="Text 8"/>
          <p:cNvSpPr/>
          <p:nvPr/>
        </p:nvSpPr>
        <p:spPr>
          <a:xfrm>
            <a:off x="731520" y="1975104"/>
            <a:ext cx="457200" cy="365760"/>
          </a:xfrm>
          <a:prstGeom prst="rect">
            <a:avLst/>
          </a:prstGeom>
          <a:noFill/>
          <a:ln/>
        </p:spPr>
        <p:txBody>
          <a:bodyPr wrap="square" lIns="0" tIns="0" rIns="0" bIns="0" rtlCol="0" anchor="t"/>
          <a:lstStyle/>
          <a:p>
            <a:pPr marL="0" indent="0">
              <a:buNone/>
            </a:pPr>
            <a:r>
              <a:rPr lang="en-US" sz="1800" b="1" dirty="0">
                <a:solidFill>
                  <a:srgbClr val="C67B5C"/>
                </a:solidFill>
                <a:latin typeface="Trebuchet MS" pitchFamily="34" charset="0"/>
                <a:ea typeface="Trebuchet MS" pitchFamily="34" charset="-122"/>
                <a:cs typeface="Trebuchet MS" pitchFamily="34" charset="-120"/>
              </a:rPr>
              <a:t>03</a:t>
            </a:r>
            <a:endParaRPr lang="en-US" sz="1800" dirty="0"/>
          </a:p>
        </p:txBody>
      </p:sp>
      <p:sp>
        <p:nvSpPr>
          <p:cNvPr id="12" name="Text 9"/>
          <p:cNvSpPr/>
          <p:nvPr/>
        </p:nvSpPr>
        <p:spPr>
          <a:xfrm>
            <a:off x="1280160" y="1975104"/>
            <a:ext cx="6858000" cy="365760"/>
          </a:xfrm>
          <a:prstGeom prst="rect">
            <a:avLst/>
          </a:prstGeom>
          <a:noFill/>
          <a:ln/>
        </p:spPr>
        <p:txBody>
          <a:bodyPr wrap="square" lIns="0" tIns="0" rIns="0" bIns="0" rtlCol="0" anchor="t"/>
          <a:lstStyle/>
          <a:p>
            <a:pPr marL="0" indent="0">
              <a:buNone/>
            </a:pPr>
            <a:r>
              <a:rPr lang="en-US" sz="1050" dirty="0">
                <a:solidFill>
                  <a:srgbClr val="E8E3DE"/>
                </a:solidFill>
                <a:latin typeface="Calibri" pitchFamily="34" charset="0"/>
                <a:ea typeface="Calibri" pitchFamily="34" charset="-122"/>
                <a:cs typeface="Calibri" pitchFamily="34" charset="-120"/>
              </a:rPr>
              <a:t>The trigger is the hook. No trigger = no callback. Research before you dial. Always.</a:t>
            </a:r>
            <a:endParaRPr lang="en-US" sz="1050" dirty="0"/>
          </a:p>
        </p:txBody>
      </p:sp>
      <p:sp>
        <p:nvSpPr>
          <p:cNvPr id="13" name="Text 10"/>
          <p:cNvSpPr/>
          <p:nvPr/>
        </p:nvSpPr>
        <p:spPr>
          <a:xfrm>
            <a:off x="731520" y="2414016"/>
            <a:ext cx="457200" cy="365760"/>
          </a:xfrm>
          <a:prstGeom prst="rect">
            <a:avLst/>
          </a:prstGeom>
          <a:noFill/>
          <a:ln/>
        </p:spPr>
        <p:txBody>
          <a:bodyPr wrap="square" lIns="0" tIns="0" rIns="0" bIns="0" rtlCol="0" anchor="t"/>
          <a:lstStyle/>
          <a:p>
            <a:pPr marL="0" indent="0">
              <a:buNone/>
            </a:pPr>
            <a:r>
              <a:rPr lang="en-US" sz="1800" b="1" dirty="0">
                <a:solidFill>
                  <a:srgbClr val="C67B5C"/>
                </a:solidFill>
                <a:latin typeface="Trebuchet MS" pitchFamily="34" charset="0"/>
                <a:ea typeface="Trebuchet MS" pitchFamily="34" charset="-122"/>
                <a:cs typeface="Trebuchet MS" pitchFamily="34" charset="-120"/>
              </a:rPr>
              <a:t>04</a:t>
            </a:r>
            <a:endParaRPr lang="en-US" sz="1800" dirty="0"/>
          </a:p>
        </p:txBody>
      </p:sp>
      <p:sp>
        <p:nvSpPr>
          <p:cNvPr id="14" name="Text 11"/>
          <p:cNvSpPr/>
          <p:nvPr/>
        </p:nvSpPr>
        <p:spPr>
          <a:xfrm>
            <a:off x="1280160" y="2414016"/>
            <a:ext cx="6858000" cy="365760"/>
          </a:xfrm>
          <a:prstGeom prst="rect">
            <a:avLst/>
          </a:prstGeom>
          <a:noFill/>
          <a:ln/>
        </p:spPr>
        <p:txBody>
          <a:bodyPr wrap="square" lIns="0" tIns="0" rIns="0" bIns="0" rtlCol="0" anchor="t"/>
          <a:lstStyle/>
          <a:p>
            <a:pPr marL="0" indent="0">
              <a:buNone/>
            </a:pPr>
            <a:r>
              <a:rPr lang="en-US" sz="1050" dirty="0">
                <a:solidFill>
                  <a:srgbClr val="E8E3DE"/>
                </a:solidFill>
                <a:latin typeface="Calibri" pitchFamily="34" charset="0"/>
                <a:ea typeface="Calibri" pitchFamily="34" charset="-122"/>
                <a:cs typeface="Calibri" pitchFamily="34" charset="-120"/>
              </a:rPr>
              <a:t>Create curiosity, not clarity. If they know the answer, they won’t call back.</a:t>
            </a:r>
            <a:endParaRPr lang="en-US" sz="1050" dirty="0"/>
          </a:p>
        </p:txBody>
      </p:sp>
      <p:sp>
        <p:nvSpPr>
          <p:cNvPr id="15" name="Text 12"/>
          <p:cNvSpPr/>
          <p:nvPr/>
        </p:nvSpPr>
        <p:spPr>
          <a:xfrm>
            <a:off x="731520" y="2852928"/>
            <a:ext cx="457200" cy="365760"/>
          </a:xfrm>
          <a:prstGeom prst="rect">
            <a:avLst/>
          </a:prstGeom>
          <a:noFill/>
          <a:ln/>
        </p:spPr>
        <p:txBody>
          <a:bodyPr wrap="square" lIns="0" tIns="0" rIns="0" bIns="0" rtlCol="0" anchor="t"/>
          <a:lstStyle/>
          <a:p>
            <a:pPr marL="0" indent="0">
              <a:buNone/>
            </a:pPr>
            <a:r>
              <a:rPr lang="en-US" sz="1800" b="1" dirty="0">
                <a:solidFill>
                  <a:srgbClr val="C67B5C"/>
                </a:solidFill>
                <a:latin typeface="Trebuchet MS" pitchFamily="34" charset="0"/>
                <a:ea typeface="Trebuchet MS" pitchFamily="34" charset="-122"/>
                <a:cs typeface="Trebuchet MS" pitchFamily="34" charset="-120"/>
              </a:rPr>
              <a:t>05</a:t>
            </a:r>
            <a:endParaRPr lang="en-US" sz="1800" dirty="0"/>
          </a:p>
        </p:txBody>
      </p:sp>
      <p:sp>
        <p:nvSpPr>
          <p:cNvPr id="16" name="Text 13"/>
          <p:cNvSpPr/>
          <p:nvPr/>
        </p:nvSpPr>
        <p:spPr>
          <a:xfrm>
            <a:off x="1280160" y="2852928"/>
            <a:ext cx="6858000" cy="365760"/>
          </a:xfrm>
          <a:prstGeom prst="rect">
            <a:avLst/>
          </a:prstGeom>
          <a:noFill/>
          <a:ln/>
        </p:spPr>
        <p:txBody>
          <a:bodyPr wrap="square" lIns="0" tIns="0" rIns="0" bIns="0" rtlCol="0" anchor="t"/>
          <a:lstStyle/>
          <a:p>
            <a:pPr marL="0" indent="0">
              <a:buNone/>
            </a:pPr>
            <a:r>
              <a:rPr lang="en-US" sz="1050" dirty="0">
                <a:solidFill>
                  <a:srgbClr val="E8E3DE"/>
                </a:solidFill>
                <a:latin typeface="Calibri" pitchFamily="34" charset="0"/>
                <a:ea typeface="Calibri" pitchFamily="34" charset="-122"/>
                <a:cs typeface="Calibri" pitchFamily="34" charset="-120"/>
              </a:rPr>
              <a:t>Tonality trumps script. Warm, confident, curious. Never robotic, rushed, or apologetic.</a:t>
            </a:r>
            <a:endParaRPr lang="en-US" sz="1050" dirty="0"/>
          </a:p>
        </p:txBody>
      </p:sp>
      <p:sp>
        <p:nvSpPr>
          <p:cNvPr id="17" name="Text 14"/>
          <p:cNvSpPr/>
          <p:nvPr/>
        </p:nvSpPr>
        <p:spPr>
          <a:xfrm>
            <a:off x="731520" y="3291840"/>
            <a:ext cx="457200" cy="365760"/>
          </a:xfrm>
          <a:prstGeom prst="rect">
            <a:avLst/>
          </a:prstGeom>
          <a:noFill/>
          <a:ln/>
        </p:spPr>
        <p:txBody>
          <a:bodyPr wrap="square" lIns="0" tIns="0" rIns="0" bIns="0" rtlCol="0" anchor="t"/>
          <a:lstStyle/>
          <a:p>
            <a:pPr marL="0" indent="0">
              <a:buNone/>
            </a:pPr>
            <a:r>
              <a:rPr lang="en-US" sz="1800" b="1" dirty="0">
                <a:solidFill>
                  <a:srgbClr val="C67B5C"/>
                </a:solidFill>
                <a:latin typeface="Trebuchet MS" pitchFamily="34" charset="0"/>
                <a:ea typeface="Trebuchet MS" pitchFamily="34" charset="-122"/>
                <a:cs typeface="Trebuchet MS" pitchFamily="34" charset="-120"/>
              </a:rPr>
              <a:t>06</a:t>
            </a:r>
            <a:endParaRPr lang="en-US" sz="1800" dirty="0"/>
          </a:p>
        </p:txBody>
      </p:sp>
      <p:sp>
        <p:nvSpPr>
          <p:cNvPr id="18" name="Text 15"/>
          <p:cNvSpPr/>
          <p:nvPr/>
        </p:nvSpPr>
        <p:spPr>
          <a:xfrm>
            <a:off x="1280160" y="3291840"/>
            <a:ext cx="6858000" cy="365760"/>
          </a:xfrm>
          <a:prstGeom prst="rect">
            <a:avLst/>
          </a:prstGeom>
          <a:noFill/>
          <a:ln/>
        </p:spPr>
        <p:txBody>
          <a:bodyPr wrap="square" lIns="0" tIns="0" rIns="0" bIns="0" rtlCol="0" anchor="t"/>
          <a:lstStyle/>
          <a:p>
            <a:pPr marL="0" indent="0">
              <a:buNone/>
            </a:pPr>
            <a:r>
              <a:rPr lang="en-US" sz="1050" dirty="0">
                <a:solidFill>
                  <a:srgbClr val="E8E3DE"/>
                </a:solidFill>
                <a:latin typeface="Calibri" pitchFamily="34" charset="0"/>
                <a:ea typeface="Calibri" pitchFamily="34" charset="-122"/>
                <a:cs typeface="Calibri" pitchFamily="34" charset="-120"/>
              </a:rPr>
              <a:t>Use the 3-touch sequence: Trigger VM → Social Proof VM → Breakup VM. Never repeat.</a:t>
            </a:r>
            <a:endParaRPr lang="en-US" sz="1050" dirty="0"/>
          </a:p>
        </p:txBody>
      </p:sp>
      <p:sp>
        <p:nvSpPr>
          <p:cNvPr id="19" name="Text 16"/>
          <p:cNvSpPr/>
          <p:nvPr/>
        </p:nvSpPr>
        <p:spPr>
          <a:xfrm>
            <a:off x="731520" y="3730752"/>
            <a:ext cx="457200" cy="365760"/>
          </a:xfrm>
          <a:prstGeom prst="rect">
            <a:avLst/>
          </a:prstGeom>
          <a:noFill/>
          <a:ln/>
        </p:spPr>
        <p:txBody>
          <a:bodyPr wrap="square" lIns="0" tIns="0" rIns="0" bIns="0" rtlCol="0" anchor="t"/>
          <a:lstStyle/>
          <a:p>
            <a:pPr marL="0" indent="0">
              <a:buNone/>
            </a:pPr>
            <a:r>
              <a:rPr lang="en-US" sz="1800" b="1" dirty="0">
                <a:solidFill>
                  <a:srgbClr val="C67B5C"/>
                </a:solidFill>
                <a:latin typeface="Trebuchet MS" pitchFamily="34" charset="0"/>
                <a:ea typeface="Trebuchet MS" pitchFamily="34" charset="-122"/>
                <a:cs typeface="Trebuchet MS" pitchFamily="34" charset="-120"/>
              </a:rPr>
              <a:t>07</a:t>
            </a:r>
            <a:endParaRPr lang="en-US" sz="1800" dirty="0"/>
          </a:p>
        </p:txBody>
      </p:sp>
      <p:sp>
        <p:nvSpPr>
          <p:cNvPr id="20" name="Text 17"/>
          <p:cNvSpPr/>
          <p:nvPr/>
        </p:nvSpPr>
        <p:spPr>
          <a:xfrm>
            <a:off x="1280160" y="3730752"/>
            <a:ext cx="6858000" cy="365760"/>
          </a:xfrm>
          <a:prstGeom prst="rect">
            <a:avLst/>
          </a:prstGeom>
          <a:noFill/>
          <a:ln/>
        </p:spPr>
        <p:txBody>
          <a:bodyPr wrap="square" lIns="0" tIns="0" rIns="0" bIns="0" rtlCol="0" anchor="t"/>
          <a:lstStyle/>
          <a:p>
            <a:pPr marL="0" indent="0">
              <a:buNone/>
            </a:pPr>
            <a:r>
              <a:rPr lang="en-US" sz="1050" dirty="0">
                <a:solidFill>
                  <a:srgbClr val="E8E3DE"/>
                </a:solidFill>
                <a:latin typeface="Calibri" pitchFamily="34" charset="0"/>
                <a:ea typeface="Calibri" pitchFamily="34" charset="-122"/>
                <a:cs typeface="Calibri" pitchFamily="34" charset="-120"/>
              </a:rPr>
              <a:t>Say your number slowly. Twice. “Text me” converts better than “call me back.”</a:t>
            </a:r>
            <a:endParaRPr lang="en-US" sz="1050" dirty="0"/>
          </a:p>
        </p:txBody>
      </p:sp>
      <p:sp>
        <p:nvSpPr>
          <p:cNvPr id="21" name="Text 18"/>
          <p:cNvSpPr/>
          <p:nvPr/>
        </p:nvSpPr>
        <p:spPr>
          <a:xfrm>
            <a:off x="731520" y="4169664"/>
            <a:ext cx="457200" cy="365760"/>
          </a:xfrm>
          <a:prstGeom prst="rect">
            <a:avLst/>
          </a:prstGeom>
          <a:noFill/>
          <a:ln/>
        </p:spPr>
        <p:txBody>
          <a:bodyPr wrap="square" lIns="0" tIns="0" rIns="0" bIns="0" rtlCol="0" anchor="t"/>
          <a:lstStyle/>
          <a:p>
            <a:pPr marL="0" indent="0">
              <a:buNone/>
            </a:pPr>
            <a:r>
              <a:rPr lang="en-US" sz="1800" b="1" dirty="0">
                <a:solidFill>
                  <a:srgbClr val="C67B5C"/>
                </a:solidFill>
                <a:latin typeface="Trebuchet MS" pitchFamily="34" charset="0"/>
                <a:ea typeface="Trebuchet MS" pitchFamily="34" charset="-122"/>
                <a:cs typeface="Trebuchet MS" pitchFamily="34" charset="-120"/>
              </a:rPr>
              <a:t>08</a:t>
            </a:r>
            <a:endParaRPr lang="en-US" sz="1800" dirty="0"/>
          </a:p>
        </p:txBody>
      </p:sp>
      <p:sp>
        <p:nvSpPr>
          <p:cNvPr id="22" name="Text 19"/>
          <p:cNvSpPr/>
          <p:nvPr/>
        </p:nvSpPr>
        <p:spPr>
          <a:xfrm>
            <a:off x="1280160" y="4169664"/>
            <a:ext cx="6858000" cy="365760"/>
          </a:xfrm>
          <a:prstGeom prst="rect">
            <a:avLst/>
          </a:prstGeom>
          <a:noFill/>
          <a:ln/>
        </p:spPr>
        <p:txBody>
          <a:bodyPr wrap="square" lIns="0" tIns="0" rIns="0" bIns="0" rtlCol="0" anchor="t"/>
          <a:lstStyle/>
          <a:p>
            <a:pPr marL="0" indent="0">
              <a:buNone/>
            </a:pPr>
            <a:r>
              <a:rPr lang="en-US" sz="1050" dirty="0">
                <a:solidFill>
                  <a:srgbClr val="E8E3DE"/>
                </a:solidFill>
                <a:latin typeface="Calibri" pitchFamily="34" charset="0"/>
                <a:ea typeface="Calibri" pitchFamily="34" charset="-122"/>
                <a:cs typeface="Calibri" pitchFamily="34" charset="-120"/>
              </a:rPr>
              <a:t>Every dial that hits voicemail is an opportunity. No VM = wasted touch. Always leave one.</a:t>
            </a:r>
            <a:endParaRPr lang="en-US" sz="1050" dirty="0"/>
          </a:p>
        </p:txBody>
      </p:sp>
      <p:sp>
        <p:nvSpPr>
          <p:cNvPr id="24" name="Text 21"/>
          <p:cNvSpPr/>
          <p:nvPr/>
        </p:nvSpPr>
        <p:spPr>
          <a:xfrm>
            <a:off x="731520" y="4593921"/>
            <a:ext cx="6400800" cy="228600"/>
          </a:xfrm>
          <a:prstGeom prst="rect">
            <a:avLst/>
          </a:prstGeom>
          <a:noFill/>
          <a:ln/>
        </p:spPr>
        <p:txBody>
          <a:bodyPr wrap="square" lIns="0" tIns="0" rIns="0" bIns="0" rtlCol="0" anchor="ctr"/>
          <a:lstStyle/>
          <a:p>
            <a:pPr marL="0" indent="0">
              <a:buNone/>
            </a:pPr>
            <a:r>
              <a:rPr lang="en-US" sz="900" i="1" dirty="0">
                <a:solidFill>
                  <a:srgbClr val="9CA3AF"/>
                </a:solidFill>
                <a:latin typeface="Calibri" pitchFamily="34" charset="0"/>
                <a:ea typeface="Calibri" pitchFamily="34" charset="-122"/>
                <a:cs typeface="Calibri" pitchFamily="34" charset="-120"/>
              </a:rPr>
              <a:t>Commit to the process. Control the controllables.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22</cp:revision>
  <dcterms:created xsi:type="dcterms:W3CDTF">2026-03-09T15:59:19Z</dcterms:created>
  <dcterms:modified xsi:type="dcterms:W3CDTF">2026-03-10T15:44:30Z</dcterms:modified>
</cp:coreProperties>
</file>