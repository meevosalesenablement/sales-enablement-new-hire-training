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E43A22-56BD-F99F-EFF2-278FD75AD5FA}" v="62" dt="2026-03-13T13:38:44.5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ry Moorehead" userId="S::tmoorehead@meevo.com::a2a6df63-b8e3-4cea-aa6c-ded8cdcb5bd7" providerId="AD" clId="Web-{C0E43A22-56BD-F99F-EFF2-278FD75AD5FA}"/>
    <pc:docChg chg="modSld">
      <pc:chgData name="Terry Moorehead" userId="S::tmoorehead@meevo.com::a2a6df63-b8e3-4cea-aa6c-ded8cdcb5bd7" providerId="AD" clId="Web-{C0E43A22-56BD-F99F-EFF2-278FD75AD5FA}" dt="2026-03-13T13:38:44.568" v="60" actId="1076"/>
      <pc:docMkLst>
        <pc:docMk/>
      </pc:docMkLst>
      <pc:sldChg chg="modSp">
        <pc:chgData name="Terry Moorehead" userId="S::tmoorehead@meevo.com::a2a6df63-b8e3-4cea-aa6c-ded8cdcb5bd7" providerId="AD" clId="Web-{C0E43A22-56BD-F99F-EFF2-278FD75AD5FA}" dt="2026-03-13T13:09:52.829" v="0" actId="20577"/>
        <pc:sldMkLst>
          <pc:docMk/>
          <pc:sldMk cId="0" sldId="256"/>
        </pc:sldMkLst>
        <pc:spChg chg="mod">
          <ac:chgData name="Terry Moorehead" userId="S::tmoorehead@meevo.com::a2a6df63-b8e3-4cea-aa6c-ded8cdcb5bd7" providerId="AD" clId="Web-{C0E43A22-56BD-F99F-EFF2-278FD75AD5FA}" dt="2026-03-13T13:09:52.829" v="0" actId="20577"/>
          <ac:spMkLst>
            <pc:docMk/>
            <pc:sldMk cId="0" sldId="256"/>
            <ac:spMk id="9" creationId="{00000000-0000-0000-0000-000000000000}"/>
          </ac:spMkLst>
        </pc:spChg>
      </pc:sldChg>
      <pc:sldChg chg="modSp">
        <pc:chgData name="Terry Moorehead" userId="S::tmoorehead@meevo.com::a2a6df63-b8e3-4cea-aa6c-ded8cdcb5bd7" providerId="AD" clId="Web-{C0E43A22-56BD-F99F-EFF2-278FD75AD5FA}" dt="2026-03-13T13:14:13.096" v="3" actId="20577"/>
        <pc:sldMkLst>
          <pc:docMk/>
          <pc:sldMk cId="0" sldId="257"/>
        </pc:sldMkLst>
        <pc:spChg chg="mod">
          <ac:chgData name="Terry Moorehead" userId="S::tmoorehead@meevo.com::a2a6df63-b8e3-4cea-aa6c-ded8cdcb5bd7" providerId="AD" clId="Web-{C0E43A22-56BD-F99F-EFF2-278FD75AD5FA}" dt="2026-03-13T13:13:52.034" v="1" actId="20577"/>
          <ac:spMkLst>
            <pc:docMk/>
            <pc:sldMk cId="0" sldId="257"/>
            <ac:spMk id="3" creationId="{00000000-0000-0000-0000-000000000000}"/>
          </ac:spMkLst>
        </pc:spChg>
        <pc:spChg chg="mod">
          <ac:chgData name="Terry Moorehead" userId="S::tmoorehead@meevo.com::a2a6df63-b8e3-4cea-aa6c-ded8cdcb5bd7" providerId="AD" clId="Web-{C0E43A22-56BD-F99F-EFF2-278FD75AD5FA}" dt="2026-03-13T13:14:13.096" v="3" actId="20577"/>
          <ac:spMkLst>
            <pc:docMk/>
            <pc:sldMk cId="0" sldId="257"/>
            <ac:spMk id="10" creationId="{00000000-0000-0000-0000-000000000000}"/>
          </ac:spMkLst>
        </pc:spChg>
      </pc:sldChg>
      <pc:sldChg chg="modSp">
        <pc:chgData name="Terry Moorehead" userId="S::tmoorehead@meevo.com::a2a6df63-b8e3-4cea-aa6c-ded8cdcb5bd7" providerId="AD" clId="Web-{C0E43A22-56BD-F99F-EFF2-278FD75AD5FA}" dt="2026-03-13T13:14:39.659" v="8" actId="20577"/>
        <pc:sldMkLst>
          <pc:docMk/>
          <pc:sldMk cId="0" sldId="258"/>
        </pc:sldMkLst>
        <pc:spChg chg="mod">
          <ac:chgData name="Terry Moorehead" userId="S::tmoorehead@meevo.com::a2a6df63-b8e3-4cea-aa6c-ded8cdcb5bd7" providerId="AD" clId="Web-{C0E43A22-56BD-F99F-EFF2-278FD75AD5FA}" dt="2026-03-13T13:14:26.737" v="5" actId="20577"/>
          <ac:spMkLst>
            <pc:docMk/>
            <pc:sldMk cId="0" sldId="258"/>
            <ac:spMk id="9" creationId="{00000000-0000-0000-0000-000000000000}"/>
          </ac:spMkLst>
        </pc:spChg>
        <pc:spChg chg="mod">
          <ac:chgData name="Terry Moorehead" userId="S::tmoorehead@meevo.com::a2a6df63-b8e3-4cea-aa6c-ded8cdcb5bd7" providerId="AD" clId="Web-{C0E43A22-56BD-F99F-EFF2-278FD75AD5FA}" dt="2026-03-13T13:14:30.081" v="6" actId="20577"/>
          <ac:spMkLst>
            <pc:docMk/>
            <pc:sldMk cId="0" sldId="258"/>
            <ac:spMk id="17" creationId="{00000000-0000-0000-0000-000000000000}"/>
          </ac:spMkLst>
        </pc:spChg>
        <pc:spChg chg="mod">
          <ac:chgData name="Terry Moorehead" userId="S::tmoorehead@meevo.com::a2a6df63-b8e3-4cea-aa6c-ded8cdcb5bd7" providerId="AD" clId="Web-{C0E43A22-56BD-F99F-EFF2-278FD75AD5FA}" dt="2026-03-13T13:14:35.018" v="7" actId="20577"/>
          <ac:spMkLst>
            <pc:docMk/>
            <pc:sldMk cId="0" sldId="258"/>
            <ac:spMk id="25" creationId="{00000000-0000-0000-0000-000000000000}"/>
          </ac:spMkLst>
        </pc:spChg>
        <pc:spChg chg="mod">
          <ac:chgData name="Terry Moorehead" userId="S::tmoorehead@meevo.com::a2a6df63-b8e3-4cea-aa6c-ded8cdcb5bd7" providerId="AD" clId="Web-{C0E43A22-56BD-F99F-EFF2-278FD75AD5FA}" dt="2026-03-13T13:14:39.659" v="8" actId="20577"/>
          <ac:spMkLst>
            <pc:docMk/>
            <pc:sldMk cId="0" sldId="258"/>
            <ac:spMk id="33" creationId="{00000000-0000-0000-0000-000000000000}"/>
          </ac:spMkLst>
        </pc:spChg>
      </pc:sldChg>
      <pc:sldChg chg="modSp">
        <pc:chgData name="Terry Moorehead" userId="S::tmoorehead@meevo.com::a2a6df63-b8e3-4cea-aa6c-ded8cdcb5bd7" providerId="AD" clId="Web-{C0E43A22-56BD-F99F-EFF2-278FD75AD5FA}" dt="2026-03-13T13:29:46.092" v="17" actId="20577"/>
        <pc:sldMkLst>
          <pc:docMk/>
          <pc:sldMk cId="0" sldId="261"/>
        </pc:sldMkLst>
        <pc:spChg chg="mod">
          <ac:chgData name="Terry Moorehead" userId="S::tmoorehead@meevo.com::a2a6df63-b8e3-4cea-aa6c-ded8cdcb5bd7" providerId="AD" clId="Web-{C0E43A22-56BD-F99F-EFF2-278FD75AD5FA}" dt="2026-03-13T13:29:13.090" v="10" actId="20577"/>
          <ac:spMkLst>
            <pc:docMk/>
            <pc:sldMk cId="0" sldId="261"/>
            <ac:spMk id="7" creationId="{00000000-0000-0000-0000-000000000000}"/>
          </ac:spMkLst>
        </pc:spChg>
        <pc:spChg chg="mod">
          <ac:chgData name="Terry Moorehead" userId="S::tmoorehead@meevo.com::a2a6df63-b8e3-4cea-aa6c-ded8cdcb5bd7" providerId="AD" clId="Web-{C0E43A22-56BD-F99F-EFF2-278FD75AD5FA}" dt="2026-03-13T13:29:16.372" v="11" actId="20577"/>
          <ac:spMkLst>
            <pc:docMk/>
            <pc:sldMk cId="0" sldId="261"/>
            <ac:spMk id="8" creationId="{00000000-0000-0000-0000-000000000000}"/>
          </ac:spMkLst>
        </pc:spChg>
        <pc:spChg chg="mod">
          <ac:chgData name="Terry Moorehead" userId="S::tmoorehead@meevo.com::a2a6df63-b8e3-4cea-aa6c-ded8cdcb5bd7" providerId="AD" clId="Web-{C0E43A22-56BD-F99F-EFF2-278FD75AD5FA}" dt="2026-03-13T13:29:20.810" v="12" actId="20577"/>
          <ac:spMkLst>
            <pc:docMk/>
            <pc:sldMk cId="0" sldId="261"/>
            <ac:spMk id="9" creationId="{00000000-0000-0000-0000-000000000000}"/>
          </ac:spMkLst>
        </pc:spChg>
        <pc:spChg chg="mod">
          <ac:chgData name="Terry Moorehead" userId="S::tmoorehead@meevo.com::a2a6df63-b8e3-4cea-aa6c-ded8cdcb5bd7" providerId="AD" clId="Web-{C0E43A22-56BD-F99F-EFF2-278FD75AD5FA}" dt="2026-03-13T13:29:25.357" v="13" actId="20577"/>
          <ac:spMkLst>
            <pc:docMk/>
            <pc:sldMk cId="0" sldId="261"/>
            <ac:spMk id="10" creationId="{00000000-0000-0000-0000-000000000000}"/>
          </ac:spMkLst>
        </pc:spChg>
        <pc:spChg chg="mod">
          <ac:chgData name="Terry Moorehead" userId="S::tmoorehead@meevo.com::a2a6df63-b8e3-4cea-aa6c-ded8cdcb5bd7" providerId="AD" clId="Web-{C0E43A22-56BD-F99F-EFF2-278FD75AD5FA}" dt="2026-03-13T13:29:31.685" v="14" actId="20577"/>
          <ac:spMkLst>
            <pc:docMk/>
            <pc:sldMk cId="0" sldId="261"/>
            <ac:spMk id="15" creationId="{00000000-0000-0000-0000-000000000000}"/>
          </ac:spMkLst>
        </pc:spChg>
        <pc:spChg chg="mod">
          <ac:chgData name="Terry Moorehead" userId="S::tmoorehead@meevo.com::a2a6df63-b8e3-4cea-aa6c-ded8cdcb5bd7" providerId="AD" clId="Web-{C0E43A22-56BD-F99F-EFF2-278FD75AD5FA}" dt="2026-03-13T13:29:36.701" v="15" actId="20577"/>
          <ac:spMkLst>
            <pc:docMk/>
            <pc:sldMk cId="0" sldId="261"/>
            <ac:spMk id="16" creationId="{00000000-0000-0000-0000-000000000000}"/>
          </ac:spMkLst>
        </pc:spChg>
        <pc:spChg chg="mod">
          <ac:chgData name="Terry Moorehead" userId="S::tmoorehead@meevo.com::a2a6df63-b8e3-4cea-aa6c-ded8cdcb5bd7" providerId="AD" clId="Web-{C0E43A22-56BD-F99F-EFF2-278FD75AD5FA}" dt="2026-03-13T13:29:41.248" v="16" actId="20577"/>
          <ac:spMkLst>
            <pc:docMk/>
            <pc:sldMk cId="0" sldId="261"/>
            <ac:spMk id="17" creationId="{00000000-0000-0000-0000-000000000000}"/>
          </ac:spMkLst>
        </pc:spChg>
        <pc:spChg chg="mod">
          <ac:chgData name="Terry Moorehead" userId="S::tmoorehead@meevo.com::a2a6df63-b8e3-4cea-aa6c-ded8cdcb5bd7" providerId="AD" clId="Web-{C0E43A22-56BD-F99F-EFF2-278FD75AD5FA}" dt="2026-03-13T13:29:46.092" v="17" actId="20577"/>
          <ac:spMkLst>
            <pc:docMk/>
            <pc:sldMk cId="0" sldId="261"/>
            <ac:spMk id="18" creationId="{00000000-0000-0000-0000-000000000000}"/>
          </ac:spMkLst>
        </pc:spChg>
      </pc:sldChg>
      <pc:sldChg chg="modSp">
        <pc:chgData name="Terry Moorehead" userId="S::tmoorehead@meevo.com::a2a6df63-b8e3-4cea-aa6c-ded8cdcb5bd7" providerId="AD" clId="Web-{C0E43A22-56BD-F99F-EFF2-278FD75AD5FA}" dt="2026-03-13T13:36:28.339" v="26" actId="20577"/>
        <pc:sldMkLst>
          <pc:docMk/>
          <pc:sldMk cId="0" sldId="263"/>
        </pc:sldMkLst>
        <pc:spChg chg="mod">
          <ac:chgData name="Terry Moorehead" userId="S::tmoorehead@meevo.com::a2a6df63-b8e3-4cea-aa6c-ded8cdcb5bd7" providerId="AD" clId="Web-{C0E43A22-56BD-F99F-EFF2-278FD75AD5FA}" dt="2026-03-13T13:35:56.586" v="18" actId="20577"/>
          <ac:spMkLst>
            <pc:docMk/>
            <pc:sldMk cId="0" sldId="263"/>
            <ac:spMk id="7" creationId="{00000000-0000-0000-0000-000000000000}"/>
          </ac:spMkLst>
        </pc:spChg>
        <pc:spChg chg="mod">
          <ac:chgData name="Terry Moorehead" userId="S::tmoorehead@meevo.com::a2a6df63-b8e3-4cea-aa6c-ded8cdcb5bd7" providerId="AD" clId="Web-{C0E43A22-56BD-F99F-EFF2-278FD75AD5FA}" dt="2026-03-13T13:36:01.430" v="19" actId="20577"/>
          <ac:spMkLst>
            <pc:docMk/>
            <pc:sldMk cId="0" sldId="263"/>
            <ac:spMk id="8" creationId="{00000000-0000-0000-0000-000000000000}"/>
          </ac:spMkLst>
        </pc:spChg>
        <pc:spChg chg="mod">
          <ac:chgData name="Terry Moorehead" userId="S::tmoorehead@meevo.com::a2a6df63-b8e3-4cea-aa6c-ded8cdcb5bd7" providerId="AD" clId="Web-{C0E43A22-56BD-F99F-EFF2-278FD75AD5FA}" dt="2026-03-13T13:36:05.274" v="20" actId="20577"/>
          <ac:spMkLst>
            <pc:docMk/>
            <pc:sldMk cId="0" sldId="263"/>
            <ac:spMk id="9" creationId="{00000000-0000-0000-0000-000000000000}"/>
          </ac:spMkLst>
        </pc:spChg>
        <pc:spChg chg="mod">
          <ac:chgData name="Terry Moorehead" userId="S::tmoorehead@meevo.com::a2a6df63-b8e3-4cea-aa6c-ded8cdcb5bd7" providerId="AD" clId="Web-{C0E43A22-56BD-F99F-EFF2-278FD75AD5FA}" dt="2026-03-13T13:36:09.603" v="21" actId="20577"/>
          <ac:spMkLst>
            <pc:docMk/>
            <pc:sldMk cId="0" sldId="263"/>
            <ac:spMk id="10" creationId="{00000000-0000-0000-0000-000000000000}"/>
          </ac:spMkLst>
        </pc:spChg>
        <pc:spChg chg="mod">
          <ac:chgData name="Terry Moorehead" userId="S::tmoorehead@meevo.com::a2a6df63-b8e3-4cea-aa6c-ded8cdcb5bd7" providerId="AD" clId="Web-{C0E43A22-56BD-F99F-EFF2-278FD75AD5FA}" dt="2026-03-13T13:36:14.494" v="22" actId="20577"/>
          <ac:spMkLst>
            <pc:docMk/>
            <pc:sldMk cId="0" sldId="263"/>
            <ac:spMk id="15" creationId="{00000000-0000-0000-0000-000000000000}"/>
          </ac:spMkLst>
        </pc:spChg>
        <pc:spChg chg="mod">
          <ac:chgData name="Terry Moorehead" userId="S::tmoorehead@meevo.com::a2a6df63-b8e3-4cea-aa6c-ded8cdcb5bd7" providerId="AD" clId="Web-{C0E43A22-56BD-F99F-EFF2-278FD75AD5FA}" dt="2026-03-13T13:36:18.822" v="23" actId="20577"/>
          <ac:spMkLst>
            <pc:docMk/>
            <pc:sldMk cId="0" sldId="263"/>
            <ac:spMk id="16" creationId="{00000000-0000-0000-0000-000000000000}"/>
          </ac:spMkLst>
        </pc:spChg>
        <pc:spChg chg="mod">
          <ac:chgData name="Terry Moorehead" userId="S::tmoorehead@meevo.com::a2a6df63-b8e3-4cea-aa6c-ded8cdcb5bd7" providerId="AD" clId="Web-{C0E43A22-56BD-F99F-EFF2-278FD75AD5FA}" dt="2026-03-13T13:36:23.385" v="24" actId="20577"/>
          <ac:spMkLst>
            <pc:docMk/>
            <pc:sldMk cId="0" sldId="263"/>
            <ac:spMk id="17" creationId="{00000000-0000-0000-0000-000000000000}"/>
          </ac:spMkLst>
        </pc:spChg>
        <pc:spChg chg="mod">
          <ac:chgData name="Terry Moorehead" userId="S::tmoorehead@meevo.com::a2a6df63-b8e3-4cea-aa6c-ded8cdcb5bd7" providerId="AD" clId="Web-{C0E43A22-56BD-F99F-EFF2-278FD75AD5FA}" dt="2026-03-13T13:36:28.339" v="26" actId="20577"/>
          <ac:spMkLst>
            <pc:docMk/>
            <pc:sldMk cId="0" sldId="263"/>
            <ac:spMk id="18" creationId="{00000000-0000-0000-0000-000000000000}"/>
          </ac:spMkLst>
        </pc:spChg>
      </pc:sldChg>
      <pc:sldChg chg="modSp">
        <pc:chgData name="Terry Moorehead" userId="S::tmoorehead@meevo.com::a2a6df63-b8e3-4cea-aa6c-ded8cdcb5bd7" providerId="AD" clId="Web-{C0E43A22-56BD-F99F-EFF2-278FD75AD5FA}" dt="2026-03-13T13:37:27.704" v="36" actId="20577"/>
        <pc:sldMkLst>
          <pc:docMk/>
          <pc:sldMk cId="0" sldId="265"/>
        </pc:sldMkLst>
        <pc:spChg chg="mod">
          <ac:chgData name="Terry Moorehead" userId="S::tmoorehead@meevo.com::a2a6df63-b8e3-4cea-aa6c-ded8cdcb5bd7" providerId="AD" clId="Web-{C0E43A22-56BD-F99F-EFF2-278FD75AD5FA}" dt="2026-03-13T13:36:59.811" v="27" actId="20577"/>
          <ac:spMkLst>
            <pc:docMk/>
            <pc:sldMk cId="0" sldId="265"/>
            <ac:spMk id="7" creationId="{00000000-0000-0000-0000-000000000000}"/>
          </ac:spMkLst>
        </pc:spChg>
        <pc:spChg chg="mod">
          <ac:chgData name="Terry Moorehead" userId="S::tmoorehead@meevo.com::a2a6df63-b8e3-4cea-aa6c-ded8cdcb5bd7" providerId="AD" clId="Web-{C0E43A22-56BD-F99F-EFF2-278FD75AD5FA}" dt="2026-03-13T13:37:03.170" v="28" actId="20577"/>
          <ac:spMkLst>
            <pc:docMk/>
            <pc:sldMk cId="0" sldId="265"/>
            <ac:spMk id="8" creationId="{00000000-0000-0000-0000-000000000000}"/>
          </ac:spMkLst>
        </pc:spChg>
        <pc:spChg chg="mod">
          <ac:chgData name="Terry Moorehead" userId="S::tmoorehead@meevo.com::a2a6df63-b8e3-4cea-aa6c-ded8cdcb5bd7" providerId="AD" clId="Web-{C0E43A22-56BD-F99F-EFF2-278FD75AD5FA}" dt="2026-03-13T13:37:07.280" v="30" actId="20577"/>
          <ac:spMkLst>
            <pc:docMk/>
            <pc:sldMk cId="0" sldId="265"/>
            <ac:spMk id="9" creationId="{00000000-0000-0000-0000-000000000000}"/>
          </ac:spMkLst>
        </pc:spChg>
        <pc:spChg chg="mod">
          <ac:chgData name="Terry Moorehead" userId="S::tmoorehead@meevo.com::a2a6df63-b8e3-4cea-aa6c-ded8cdcb5bd7" providerId="AD" clId="Web-{C0E43A22-56BD-F99F-EFF2-278FD75AD5FA}" dt="2026-03-13T13:37:10.374" v="31" actId="20577"/>
          <ac:spMkLst>
            <pc:docMk/>
            <pc:sldMk cId="0" sldId="265"/>
            <ac:spMk id="10" creationId="{00000000-0000-0000-0000-000000000000}"/>
          </ac:spMkLst>
        </pc:spChg>
        <pc:spChg chg="mod">
          <ac:chgData name="Terry Moorehead" userId="S::tmoorehead@meevo.com::a2a6df63-b8e3-4cea-aa6c-ded8cdcb5bd7" providerId="AD" clId="Web-{C0E43A22-56BD-F99F-EFF2-278FD75AD5FA}" dt="2026-03-13T13:37:14.781" v="32" actId="20577"/>
          <ac:spMkLst>
            <pc:docMk/>
            <pc:sldMk cId="0" sldId="265"/>
            <ac:spMk id="15" creationId="{00000000-0000-0000-0000-000000000000}"/>
          </ac:spMkLst>
        </pc:spChg>
        <pc:spChg chg="mod">
          <ac:chgData name="Terry Moorehead" userId="S::tmoorehead@meevo.com::a2a6df63-b8e3-4cea-aa6c-ded8cdcb5bd7" providerId="AD" clId="Web-{C0E43A22-56BD-F99F-EFF2-278FD75AD5FA}" dt="2026-03-13T13:37:18.515" v="33" actId="20577"/>
          <ac:spMkLst>
            <pc:docMk/>
            <pc:sldMk cId="0" sldId="265"/>
            <ac:spMk id="16" creationId="{00000000-0000-0000-0000-000000000000}"/>
          </ac:spMkLst>
        </pc:spChg>
        <pc:spChg chg="mod">
          <ac:chgData name="Terry Moorehead" userId="S::tmoorehead@meevo.com::a2a6df63-b8e3-4cea-aa6c-ded8cdcb5bd7" providerId="AD" clId="Web-{C0E43A22-56BD-F99F-EFF2-278FD75AD5FA}" dt="2026-03-13T13:37:22.750" v="34" actId="20577"/>
          <ac:spMkLst>
            <pc:docMk/>
            <pc:sldMk cId="0" sldId="265"/>
            <ac:spMk id="17" creationId="{00000000-0000-0000-0000-000000000000}"/>
          </ac:spMkLst>
        </pc:spChg>
        <pc:spChg chg="mod">
          <ac:chgData name="Terry Moorehead" userId="S::tmoorehead@meevo.com::a2a6df63-b8e3-4cea-aa6c-ded8cdcb5bd7" providerId="AD" clId="Web-{C0E43A22-56BD-F99F-EFF2-278FD75AD5FA}" dt="2026-03-13T13:37:27.704" v="36" actId="20577"/>
          <ac:spMkLst>
            <pc:docMk/>
            <pc:sldMk cId="0" sldId="265"/>
            <ac:spMk id="18" creationId="{00000000-0000-0000-0000-000000000000}"/>
          </ac:spMkLst>
        </pc:spChg>
      </pc:sldChg>
      <pc:sldChg chg="modSp">
        <pc:chgData name="Terry Moorehead" userId="S::tmoorehead@meevo.com::a2a6df63-b8e3-4cea-aa6c-ded8cdcb5bd7" providerId="AD" clId="Web-{C0E43A22-56BD-F99F-EFF2-278FD75AD5FA}" dt="2026-03-13T13:38:22.426" v="57" actId="20577"/>
        <pc:sldMkLst>
          <pc:docMk/>
          <pc:sldMk cId="0" sldId="266"/>
        </pc:sldMkLst>
        <pc:spChg chg="mod">
          <ac:chgData name="Terry Moorehead" userId="S::tmoorehead@meevo.com::a2a6df63-b8e3-4cea-aa6c-ded8cdcb5bd7" providerId="AD" clId="Web-{C0E43A22-56BD-F99F-EFF2-278FD75AD5FA}" dt="2026-03-13T13:37:38.298" v="37" actId="20577"/>
          <ac:spMkLst>
            <pc:docMk/>
            <pc:sldMk cId="0" sldId="266"/>
            <ac:spMk id="7" creationId="{00000000-0000-0000-0000-000000000000}"/>
          </ac:spMkLst>
        </pc:spChg>
        <pc:spChg chg="mod">
          <ac:chgData name="Terry Moorehead" userId="S::tmoorehead@meevo.com::a2a6df63-b8e3-4cea-aa6c-ded8cdcb5bd7" providerId="AD" clId="Web-{C0E43A22-56BD-F99F-EFF2-278FD75AD5FA}" dt="2026-03-13T13:38:08.957" v="54" actId="20577"/>
          <ac:spMkLst>
            <pc:docMk/>
            <pc:sldMk cId="0" sldId="266"/>
            <ac:spMk id="11" creationId="{00000000-0000-0000-0000-000000000000}"/>
          </ac:spMkLst>
        </pc:spChg>
        <pc:spChg chg="mod">
          <ac:chgData name="Terry Moorehead" userId="S::tmoorehead@meevo.com::a2a6df63-b8e3-4cea-aa6c-ded8cdcb5bd7" providerId="AD" clId="Web-{C0E43A22-56BD-F99F-EFF2-278FD75AD5FA}" dt="2026-03-13T13:38:12.394" v="55" actId="20577"/>
          <ac:spMkLst>
            <pc:docMk/>
            <pc:sldMk cId="0" sldId="266"/>
            <ac:spMk id="15" creationId="{00000000-0000-0000-0000-000000000000}"/>
          </ac:spMkLst>
        </pc:spChg>
        <pc:spChg chg="mod">
          <ac:chgData name="Terry Moorehead" userId="S::tmoorehead@meevo.com::a2a6df63-b8e3-4cea-aa6c-ded8cdcb5bd7" providerId="AD" clId="Web-{C0E43A22-56BD-F99F-EFF2-278FD75AD5FA}" dt="2026-03-13T13:38:18.567" v="56" actId="20577"/>
          <ac:spMkLst>
            <pc:docMk/>
            <pc:sldMk cId="0" sldId="266"/>
            <ac:spMk id="19" creationId="{00000000-0000-0000-0000-000000000000}"/>
          </ac:spMkLst>
        </pc:spChg>
        <pc:spChg chg="mod">
          <ac:chgData name="Terry Moorehead" userId="S::tmoorehead@meevo.com::a2a6df63-b8e3-4cea-aa6c-ded8cdcb5bd7" providerId="AD" clId="Web-{C0E43A22-56BD-F99F-EFF2-278FD75AD5FA}" dt="2026-03-13T13:38:22.426" v="57" actId="20577"/>
          <ac:spMkLst>
            <pc:docMk/>
            <pc:sldMk cId="0" sldId="266"/>
            <ac:spMk id="23" creationId="{00000000-0000-0000-0000-000000000000}"/>
          </ac:spMkLst>
        </pc:spChg>
      </pc:sldChg>
      <pc:sldChg chg="modSp">
        <pc:chgData name="Terry Moorehead" userId="S::tmoorehead@meevo.com::a2a6df63-b8e3-4cea-aa6c-ded8cdcb5bd7" providerId="AD" clId="Web-{C0E43A22-56BD-F99F-EFF2-278FD75AD5FA}" dt="2026-03-13T13:38:44.568" v="60" actId="1076"/>
        <pc:sldMkLst>
          <pc:docMk/>
          <pc:sldMk cId="0" sldId="268"/>
        </pc:sldMkLst>
        <pc:spChg chg="mod">
          <ac:chgData name="Terry Moorehead" userId="S::tmoorehead@meevo.com::a2a6df63-b8e3-4cea-aa6c-ded8cdcb5bd7" providerId="AD" clId="Web-{C0E43A22-56BD-F99F-EFF2-278FD75AD5FA}" dt="2026-03-13T13:38:44.568" v="60" actId="1076"/>
          <ac:spMkLst>
            <pc:docMk/>
            <pc:sldMk cId="0" sldId="268"/>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C84931A-9005-4A65-B89B-F4EC0AD05D68}" type="datetimeFigureOut">
              <a:t>3/13/2026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9E04C06-F5F8-40F3-80C3-A11E53BCCC32}" type="slidenum">
              <a:t>‹#›</a:t>
            </a:fld>
            <a:endParaRPr lang="en-US"/>
          </a:p>
        </p:txBody>
      </p:sp>
    </p:spTree>
    <p:extLst>
      <p:ext uri="{BB962C8B-B14F-4D97-AF65-F5344CB8AC3E}">
        <p14:creationId xmlns:p14="http://schemas.microsoft.com/office/powerpoint/2010/main" val="281014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4C7A0"/>
          </a:solidFill>
          <a:ln/>
        </p:spPr>
      </p:sp>
      <p:sp>
        <p:nvSpPr>
          <p:cNvPr id="3" name="Shape 1"/>
          <p:cNvSpPr/>
          <p:nvPr/>
        </p:nvSpPr>
        <p:spPr>
          <a:xfrm>
            <a:off x="5669280" y="548640"/>
            <a:ext cx="3017520" cy="4023360"/>
          </a:xfrm>
          <a:prstGeom prst="rect">
            <a:avLst/>
          </a:prstGeom>
          <a:solidFill>
            <a:srgbClr val="13818D"/>
          </a:solidFill>
          <a:ln/>
          <a:effectLst>
            <a:outerShdw blurRad="50800" dist="25400" dir="8100000" algn="bl" rotWithShape="0">
              <a:srgbClr val="000000">
                <a:alpha val="10000"/>
              </a:srgbClr>
            </a:outerShdw>
          </a:effectLst>
        </p:spPr>
      </p:sp>
      <p:pic>
        <p:nvPicPr>
          <p:cNvPr id="4" name="Image 0" descr="preencoded.png"/>
          <p:cNvPicPr>
            <a:picLocks noChangeAspect="1"/>
          </p:cNvPicPr>
          <p:nvPr/>
        </p:nvPicPr>
        <p:blipFill>
          <a:blip r:embed="rId3"/>
          <a:stretch>
            <a:fillRect/>
          </a:stretch>
        </p:blipFill>
        <p:spPr>
          <a:xfrm>
            <a:off x="6537960" y="1463040"/>
            <a:ext cx="1280160" cy="1280160"/>
          </a:xfrm>
          <a:prstGeom prst="rect">
            <a:avLst/>
          </a:prstGeom>
        </p:spPr>
      </p:pic>
      <p:sp>
        <p:nvSpPr>
          <p:cNvPr id="5" name="Text 2"/>
          <p:cNvSpPr/>
          <p:nvPr/>
        </p:nvSpPr>
        <p:spPr>
          <a:xfrm>
            <a:off x="5852160" y="2834640"/>
            <a:ext cx="2651760" cy="365760"/>
          </a:xfrm>
          <a:prstGeom prst="rect">
            <a:avLst/>
          </a:prstGeom>
          <a:noFill/>
          <a:ln/>
        </p:spPr>
        <p:txBody>
          <a:bodyPr wrap="square" lIns="0" tIns="0" rIns="0" bIns="0" rtlCol="0" anchor="ctr"/>
          <a:lstStyle/>
          <a:p>
            <a:pPr marL="0" indent="0" algn="ctr">
              <a:buNone/>
            </a:pPr>
            <a:r>
              <a:rPr lang="en-US" sz="1400" b="1" kern="0" spc="500" dirty="0">
                <a:solidFill>
                  <a:srgbClr val="44C7A0"/>
                </a:solidFill>
                <a:latin typeface="Trebuchet MS" pitchFamily="34" charset="0"/>
                <a:ea typeface="Trebuchet MS" pitchFamily="34" charset="-122"/>
                <a:cs typeface="Trebuchet MS" pitchFamily="34" charset="-120"/>
              </a:rPr>
              <a:t>LIVE PRACTICE</a:t>
            </a:r>
            <a:endParaRPr lang="en-US" sz="1400" dirty="0"/>
          </a:p>
        </p:txBody>
      </p:sp>
      <p:sp>
        <p:nvSpPr>
          <p:cNvPr id="6" name="Text 3"/>
          <p:cNvSpPr/>
          <p:nvPr/>
        </p:nvSpPr>
        <p:spPr>
          <a:xfrm>
            <a:off x="5852160" y="3154680"/>
            <a:ext cx="2651760" cy="365760"/>
          </a:xfrm>
          <a:prstGeom prst="rect">
            <a:avLst/>
          </a:prstGeom>
          <a:noFill/>
          <a:ln/>
        </p:spPr>
        <p:txBody>
          <a:bodyPr wrap="square" lIns="0" tIns="0" rIns="0" bIns="0" rtlCol="0" anchor="ctr"/>
          <a:lstStyle/>
          <a:p>
            <a:pPr marL="0" indent="0" algn="ctr">
              <a:buNone/>
            </a:pPr>
            <a:r>
              <a:rPr lang="en-US" sz="1400" b="1" kern="0" spc="500" dirty="0">
                <a:solidFill>
                  <a:srgbClr val="44C7A0"/>
                </a:solidFill>
                <a:latin typeface="Trebuchet MS" pitchFamily="34" charset="0"/>
                <a:ea typeface="Trebuchet MS" pitchFamily="34" charset="-122"/>
                <a:cs typeface="Trebuchet MS" pitchFamily="34" charset="-120"/>
              </a:rPr>
              <a:t>&amp; COACHING</a:t>
            </a:r>
            <a:endParaRPr lang="en-US" sz="1400" dirty="0"/>
          </a:p>
        </p:txBody>
      </p:sp>
      <p:sp>
        <p:nvSpPr>
          <p:cNvPr id="7" name="Text 4"/>
          <p:cNvSpPr/>
          <p:nvPr/>
        </p:nvSpPr>
        <p:spPr>
          <a:xfrm>
            <a:off x="640080" y="914400"/>
            <a:ext cx="4754880" cy="2011680"/>
          </a:xfrm>
          <a:prstGeom prst="rect">
            <a:avLst/>
          </a:prstGeom>
          <a:noFill/>
          <a:ln/>
        </p:spPr>
        <p:txBody>
          <a:bodyPr wrap="square" lIns="0" tIns="0" rIns="0" bIns="0" rtlCol="0" anchor="ctr"/>
          <a:lstStyle/>
          <a:p>
            <a:pPr marL="0" indent="0">
              <a:lnSpc>
                <a:spcPct val="110000"/>
              </a:lnSpc>
              <a:buNone/>
            </a:pPr>
            <a:r>
              <a:rPr lang="en-US" sz="4600" b="1" dirty="0">
                <a:solidFill>
                  <a:srgbClr val="FFFFFF"/>
                </a:solidFill>
                <a:latin typeface="Trebuchet MS" pitchFamily="34" charset="0"/>
                <a:ea typeface="Trebuchet MS" pitchFamily="34" charset="-122"/>
                <a:cs typeface="Trebuchet MS" pitchFamily="34" charset="-120"/>
              </a:rPr>
              <a:t>Objection</a:t>
            </a:r>
            <a:endParaRPr lang="en-US" sz="4600" dirty="0"/>
          </a:p>
          <a:p>
            <a:pPr marL="0" indent="0">
              <a:lnSpc>
                <a:spcPct val="110000"/>
              </a:lnSpc>
              <a:buNone/>
            </a:pPr>
            <a:r>
              <a:rPr lang="en-US" sz="4600" b="1" dirty="0">
                <a:solidFill>
                  <a:srgbClr val="FFFFFF"/>
                </a:solidFill>
                <a:latin typeface="Trebuchet MS" pitchFamily="34" charset="0"/>
                <a:ea typeface="Trebuchet MS" pitchFamily="34" charset="-122"/>
                <a:cs typeface="Trebuchet MS" pitchFamily="34" charset="-120"/>
              </a:rPr>
              <a:t>Role-Play</a:t>
            </a:r>
            <a:endParaRPr lang="en-US" sz="4600" dirty="0"/>
          </a:p>
        </p:txBody>
      </p:sp>
      <p:sp>
        <p:nvSpPr>
          <p:cNvPr id="8" name="Text 5"/>
          <p:cNvSpPr/>
          <p:nvPr/>
        </p:nvSpPr>
        <p:spPr>
          <a:xfrm>
            <a:off x="640080" y="2926080"/>
            <a:ext cx="4754880" cy="457200"/>
          </a:xfrm>
          <a:prstGeom prst="rect">
            <a:avLst/>
          </a:prstGeom>
          <a:noFill/>
          <a:ln/>
        </p:spPr>
        <p:txBody>
          <a:bodyPr wrap="square" lIns="0" tIns="0" rIns="0" bIns="0" rtlCol="0" anchor="ctr"/>
          <a:lstStyle/>
          <a:p>
            <a:pPr marL="0" indent="0">
              <a:buNone/>
            </a:pPr>
            <a:r>
              <a:rPr lang="en-US" sz="1600" dirty="0">
                <a:solidFill>
                  <a:srgbClr val="44C7A0"/>
                </a:solidFill>
                <a:latin typeface="Calibri" pitchFamily="34" charset="0"/>
                <a:ea typeface="Calibri" pitchFamily="34" charset="-122"/>
                <a:cs typeface="Calibri" pitchFamily="34" charset="-120"/>
              </a:rPr>
              <a:t>Practice Real Scenarios with Real Buyer Personas</a:t>
            </a:r>
            <a:endParaRPr lang="en-US" sz="1600" dirty="0"/>
          </a:p>
        </p:txBody>
      </p:sp>
      <p:sp>
        <p:nvSpPr>
          <p:cNvPr id="9" name="Text 6"/>
          <p:cNvSpPr/>
          <p:nvPr/>
        </p:nvSpPr>
        <p:spPr>
          <a:xfrm>
            <a:off x="640080" y="4206240"/>
            <a:ext cx="4754880" cy="365760"/>
          </a:xfrm>
          <a:prstGeom prst="rect">
            <a:avLst/>
          </a:prstGeom>
          <a:noFill/>
          <a:ln/>
        </p:spPr>
        <p:txBody>
          <a:bodyPr wrap="square" lIns="0" tIns="0" rIns="0" bIns="0" rtlCol="0" anchor="ctr"/>
          <a:lstStyle/>
          <a:p>
            <a:pPr marL="0" indent="0">
              <a:buNone/>
            </a:pPr>
            <a:r>
              <a:rPr lang="en-US" sz="1200" dirty="0">
                <a:solidFill>
                  <a:schemeClr val="bg1"/>
                </a:solidFill>
                <a:latin typeface="Calibri"/>
                <a:ea typeface="Calibri"/>
                <a:cs typeface="Calibri"/>
              </a:rPr>
              <a:t>Meevo Sales Enablement  |  AE + SDR Session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594360"/>
          </a:xfrm>
          <a:prstGeom prst="rect">
            <a:avLst/>
          </a:prstGeom>
          <a:noFill/>
          <a:ln/>
        </p:spPr>
        <p:txBody>
          <a:bodyPr wrap="square" lIns="0" tIns="0" rIns="0" bIns="0" rtlCol="0" anchor="ctr"/>
          <a:lstStyle/>
          <a:p>
            <a:pPr marL="0" indent="0">
              <a:buNone/>
            </a:pPr>
            <a:r>
              <a:rPr lang="en-US" sz="3200" b="1" dirty="0">
                <a:solidFill>
                  <a:srgbClr val="0B2545"/>
                </a:solidFill>
                <a:latin typeface="Trebuchet MS" pitchFamily="34" charset="0"/>
                <a:ea typeface="Trebuchet MS" pitchFamily="34" charset="-122"/>
                <a:cs typeface="Trebuchet MS" pitchFamily="34" charset="-120"/>
              </a:rPr>
              <a:t>Session Goals</a:t>
            </a:r>
            <a:endParaRPr lang="en-US" sz="3200" dirty="0"/>
          </a:p>
        </p:txBody>
      </p:sp>
      <p:sp>
        <p:nvSpPr>
          <p:cNvPr id="3" name="Text 1"/>
          <p:cNvSpPr/>
          <p:nvPr/>
        </p:nvSpPr>
        <p:spPr>
          <a:xfrm>
            <a:off x="640080" y="914400"/>
            <a:ext cx="7863840" cy="457200"/>
          </a:xfrm>
          <a:prstGeom prst="rect">
            <a:avLst/>
          </a:prstGeom>
          <a:noFill/>
          <a:ln/>
        </p:spPr>
        <p:txBody>
          <a:bodyPr wrap="square" lIns="0" tIns="0" rIns="0" bIns="0" rtlCol="0" anchor="ctr"/>
          <a:lstStyle/>
          <a:p>
            <a:pPr marL="0" indent="0">
              <a:buNone/>
            </a:pPr>
            <a:r>
              <a:rPr lang="en-US" sz="1400" dirty="0">
                <a:latin typeface="Calibri"/>
                <a:ea typeface="Calibri"/>
                <a:cs typeface="Calibri"/>
              </a:rPr>
              <a:t>Today is about reps, not theory. You'll practice handling the objections you hear every day — against realistic buyer personas.</a:t>
            </a:r>
          </a:p>
        </p:txBody>
      </p:sp>
      <p:sp>
        <p:nvSpPr>
          <p:cNvPr id="4" name="Shape 2"/>
          <p:cNvSpPr/>
          <p:nvPr/>
        </p:nvSpPr>
        <p:spPr>
          <a:xfrm>
            <a:off x="640080" y="1554480"/>
            <a:ext cx="7863840" cy="640080"/>
          </a:xfrm>
          <a:prstGeom prst="rect">
            <a:avLst/>
          </a:prstGeom>
          <a:solidFill>
            <a:srgbClr val="FFFFFF"/>
          </a:solidFill>
          <a:ln/>
          <a:effectLst>
            <a:outerShdw blurRad="50800" dist="25400" dir="8100000" algn="bl" rotWithShape="0">
              <a:srgbClr val="000000">
                <a:alpha val="10000"/>
              </a:srgbClr>
            </a:outerShdw>
          </a:effectLst>
        </p:spPr>
      </p:sp>
      <p:sp>
        <p:nvSpPr>
          <p:cNvPr id="5" name="Shape 3"/>
          <p:cNvSpPr/>
          <p:nvPr/>
        </p:nvSpPr>
        <p:spPr>
          <a:xfrm>
            <a:off x="640080" y="1554480"/>
            <a:ext cx="64008" cy="640080"/>
          </a:xfrm>
          <a:prstGeom prst="rect">
            <a:avLst/>
          </a:prstGeom>
          <a:solidFill>
            <a:srgbClr val="13818D"/>
          </a:solidFill>
          <a:ln/>
        </p:spPr>
      </p:sp>
      <p:sp>
        <p:nvSpPr>
          <p:cNvPr id="6" name="Text 4"/>
          <p:cNvSpPr/>
          <p:nvPr/>
        </p:nvSpPr>
        <p:spPr>
          <a:xfrm>
            <a:off x="914400" y="1645920"/>
            <a:ext cx="41148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7" name="Shape 5"/>
          <p:cNvSpPr/>
          <p:nvPr/>
        </p:nvSpPr>
        <p:spPr>
          <a:xfrm>
            <a:off x="914400" y="1664208"/>
            <a:ext cx="384048" cy="384048"/>
          </a:xfrm>
          <a:prstGeom prst="ellipse">
            <a:avLst/>
          </a:prstGeom>
          <a:solidFill>
            <a:srgbClr val="13818D"/>
          </a:solidFill>
          <a:ln/>
        </p:spPr>
      </p:sp>
      <p:sp>
        <p:nvSpPr>
          <p:cNvPr id="8" name="Text 6"/>
          <p:cNvSpPr/>
          <p:nvPr/>
        </p:nvSpPr>
        <p:spPr>
          <a:xfrm>
            <a:off x="914400" y="1664208"/>
            <a:ext cx="384048" cy="38404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1</a:t>
            </a:r>
            <a:endParaRPr lang="en-US" sz="1700" dirty="0"/>
          </a:p>
        </p:txBody>
      </p:sp>
      <p:sp>
        <p:nvSpPr>
          <p:cNvPr id="9" name="Text 7"/>
          <p:cNvSpPr/>
          <p:nvPr/>
        </p:nvSpPr>
        <p:spPr>
          <a:xfrm>
            <a:off x="1508760" y="1572768"/>
            <a:ext cx="3657600" cy="320040"/>
          </a:xfrm>
          <a:prstGeom prst="rect">
            <a:avLst/>
          </a:prstGeom>
          <a:noFill/>
          <a:ln/>
        </p:spPr>
        <p:txBody>
          <a:bodyPr wrap="square" lIns="0" tIns="0" rIns="0" bIns="0" rtlCol="0" anchor="ctr"/>
          <a:lstStyle/>
          <a:p>
            <a:pPr marL="0" indent="0">
              <a:buNone/>
            </a:pPr>
            <a:r>
              <a:rPr lang="en-US" sz="1500" b="1" dirty="0">
                <a:solidFill>
                  <a:srgbClr val="0B2545"/>
                </a:solidFill>
                <a:latin typeface="Trebuchet MS" pitchFamily="34" charset="0"/>
                <a:ea typeface="Trebuchet MS" pitchFamily="34" charset="-122"/>
                <a:cs typeface="Trebuchet MS" pitchFamily="34" charset="-120"/>
              </a:rPr>
              <a:t>Apply Frameworks Under Pressure</a:t>
            </a:r>
            <a:endParaRPr lang="en-US" sz="1500" dirty="0"/>
          </a:p>
        </p:txBody>
      </p:sp>
      <p:sp>
        <p:nvSpPr>
          <p:cNvPr id="10" name="Text 8"/>
          <p:cNvSpPr/>
          <p:nvPr/>
        </p:nvSpPr>
        <p:spPr>
          <a:xfrm>
            <a:off x="1508760" y="1874520"/>
            <a:ext cx="6766560" cy="274320"/>
          </a:xfrm>
          <a:prstGeom prst="rect">
            <a:avLst/>
          </a:prstGeom>
          <a:noFill/>
          <a:ln/>
        </p:spPr>
        <p:txBody>
          <a:bodyPr wrap="square" lIns="0" tIns="0" rIns="0" bIns="0" rtlCol="0" anchor="ctr"/>
          <a:lstStyle/>
          <a:p>
            <a:pPr marL="0" indent="0">
              <a:buNone/>
            </a:pPr>
            <a:r>
              <a:rPr lang="en-US" sz="1250">
                <a:solidFill>
                  <a:srgbClr val="6B6B7B"/>
                </a:solidFill>
                <a:latin typeface="Calibri"/>
                <a:ea typeface="Calibri"/>
                <a:cs typeface="Calibri"/>
              </a:rPr>
              <a:t>Use Feel-Felt-Found</a:t>
            </a:r>
            <a:endParaRPr lang="en-US" sz="1250">
              <a:latin typeface="Calibri"/>
              <a:ea typeface="Calibri"/>
              <a:cs typeface="Calibri"/>
            </a:endParaRPr>
          </a:p>
        </p:txBody>
      </p:sp>
      <p:sp>
        <p:nvSpPr>
          <p:cNvPr id="11" name="Shape 9"/>
          <p:cNvSpPr/>
          <p:nvPr/>
        </p:nvSpPr>
        <p:spPr>
          <a:xfrm>
            <a:off x="640080" y="2331720"/>
            <a:ext cx="7863840" cy="640080"/>
          </a:xfrm>
          <a:prstGeom prst="rect">
            <a:avLst/>
          </a:prstGeom>
          <a:solidFill>
            <a:srgbClr val="FFFFFF"/>
          </a:solidFill>
          <a:ln/>
          <a:effectLst>
            <a:outerShdw blurRad="50800" dist="25400" dir="8100000" algn="bl" rotWithShape="0">
              <a:srgbClr val="000000">
                <a:alpha val="10000"/>
              </a:srgbClr>
            </a:outerShdw>
          </a:effectLst>
        </p:spPr>
      </p:sp>
      <p:sp>
        <p:nvSpPr>
          <p:cNvPr id="12" name="Shape 10"/>
          <p:cNvSpPr/>
          <p:nvPr/>
        </p:nvSpPr>
        <p:spPr>
          <a:xfrm>
            <a:off x="640080" y="2331720"/>
            <a:ext cx="64008" cy="640080"/>
          </a:xfrm>
          <a:prstGeom prst="rect">
            <a:avLst/>
          </a:prstGeom>
          <a:solidFill>
            <a:srgbClr val="13818D"/>
          </a:solidFill>
          <a:ln/>
        </p:spPr>
      </p:sp>
      <p:sp>
        <p:nvSpPr>
          <p:cNvPr id="13" name="Text 11"/>
          <p:cNvSpPr/>
          <p:nvPr/>
        </p:nvSpPr>
        <p:spPr>
          <a:xfrm>
            <a:off x="914400" y="2423160"/>
            <a:ext cx="41148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4" name="Shape 12"/>
          <p:cNvSpPr/>
          <p:nvPr/>
        </p:nvSpPr>
        <p:spPr>
          <a:xfrm>
            <a:off x="914400" y="2441448"/>
            <a:ext cx="384048" cy="384048"/>
          </a:xfrm>
          <a:prstGeom prst="ellipse">
            <a:avLst/>
          </a:prstGeom>
          <a:solidFill>
            <a:srgbClr val="13818D"/>
          </a:solidFill>
          <a:ln/>
        </p:spPr>
      </p:sp>
      <p:sp>
        <p:nvSpPr>
          <p:cNvPr id="15" name="Text 13"/>
          <p:cNvSpPr/>
          <p:nvPr/>
        </p:nvSpPr>
        <p:spPr>
          <a:xfrm>
            <a:off x="914400" y="2441448"/>
            <a:ext cx="384048" cy="38404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2</a:t>
            </a:r>
            <a:endParaRPr lang="en-US" sz="1700" dirty="0"/>
          </a:p>
        </p:txBody>
      </p:sp>
      <p:sp>
        <p:nvSpPr>
          <p:cNvPr id="16" name="Text 14"/>
          <p:cNvSpPr/>
          <p:nvPr/>
        </p:nvSpPr>
        <p:spPr>
          <a:xfrm>
            <a:off x="1508760" y="2350008"/>
            <a:ext cx="3657600" cy="320040"/>
          </a:xfrm>
          <a:prstGeom prst="rect">
            <a:avLst/>
          </a:prstGeom>
          <a:noFill/>
          <a:ln/>
        </p:spPr>
        <p:txBody>
          <a:bodyPr wrap="square" lIns="0" tIns="0" rIns="0" bIns="0" rtlCol="0" anchor="ctr"/>
          <a:lstStyle/>
          <a:p>
            <a:pPr marL="0" indent="0">
              <a:buNone/>
            </a:pPr>
            <a:r>
              <a:rPr lang="en-US" sz="1500" b="1" dirty="0">
                <a:solidFill>
                  <a:srgbClr val="0B2545"/>
                </a:solidFill>
                <a:latin typeface="Trebuchet MS" pitchFamily="34" charset="0"/>
                <a:ea typeface="Trebuchet MS" pitchFamily="34" charset="-122"/>
                <a:cs typeface="Trebuchet MS" pitchFamily="34" charset="-120"/>
              </a:rPr>
              <a:t>Read the Buyer Persona</a:t>
            </a:r>
            <a:endParaRPr lang="en-US" sz="1500" dirty="0"/>
          </a:p>
        </p:txBody>
      </p:sp>
      <p:sp>
        <p:nvSpPr>
          <p:cNvPr id="17" name="Text 15"/>
          <p:cNvSpPr/>
          <p:nvPr/>
        </p:nvSpPr>
        <p:spPr>
          <a:xfrm>
            <a:off x="1508760" y="2651760"/>
            <a:ext cx="6766560" cy="274320"/>
          </a:xfrm>
          <a:prstGeom prst="rect">
            <a:avLst/>
          </a:prstGeom>
          <a:noFill/>
          <a:ln/>
        </p:spPr>
        <p:txBody>
          <a:bodyPr wrap="square" lIns="0" tIns="0" rIns="0" bIns="0" rtlCol="0" anchor="ctr"/>
          <a:lstStyle/>
          <a:p>
            <a:pPr marL="0" indent="0">
              <a:buNone/>
            </a:pPr>
            <a:r>
              <a:rPr lang="en-US" sz="1250" dirty="0">
                <a:solidFill>
                  <a:srgbClr val="6B6B7B"/>
                </a:solidFill>
                <a:latin typeface="Calibri" pitchFamily="34" charset="0"/>
                <a:ea typeface="Calibri" pitchFamily="34" charset="-122"/>
                <a:cs typeface="Calibri" pitchFamily="34" charset="-120"/>
              </a:rPr>
              <a:t>Adapt your response based on who you're talking to</a:t>
            </a:r>
            <a:endParaRPr lang="en-US" sz="1250" dirty="0"/>
          </a:p>
        </p:txBody>
      </p:sp>
      <p:sp>
        <p:nvSpPr>
          <p:cNvPr id="18" name="Shape 16"/>
          <p:cNvSpPr/>
          <p:nvPr/>
        </p:nvSpPr>
        <p:spPr>
          <a:xfrm>
            <a:off x="640080" y="3108960"/>
            <a:ext cx="7863840" cy="640080"/>
          </a:xfrm>
          <a:prstGeom prst="rect">
            <a:avLst/>
          </a:prstGeom>
          <a:solidFill>
            <a:srgbClr val="FFFFFF"/>
          </a:solidFill>
          <a:ln/>
          <a:effectLst>
            <a:outerShdw blurRad="50800" dist="25400" dir="8100000" algn="bl" rotWithShape="0">
              <a:srgbClr val="000000">
                <a:alpha val="10000"/>
              </a:srgbClr>
            </a:outerShdw>
          </a:effectLst>
        </p:spPr>
      </p:sp>
      <p:sp>
        <p:nvSpPr>
          <p:cNvPr id="19" name="Shape 17"/>
          <p:cNvSpPr/>
          <p:nvPr/>
        </p:nvSpPr>
        <p:spPr>
          <a:xfrm>
            <a:off x="640080" y="3108960"/>
            <a:ext cx="64008" cy="640080"/>
          </a:xfrm>
          <a:prstGeom prst="rect">
            <a:avLst/>
          </a:prstGeom>
          <a:solidFill>
            <a:srgbClr val="13818D"/>
          </a:solidFill>
          <a:ln/>
        </p:spPr>
      </p:sp>
      <p:sp>
        <p:nvSpPr>
          <p:cNvPr id="20" name="Text 18"/>
          <p:cNvSpPr/>
          <p:nvPr/>
        </p:nvSpPr>
        <p:spPr>
          <a:xfrm>
            <a:off x="914400" y="3200400"/>
            <a:ext cx="41148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21" name="Shape 19"/>
          <p:cNvSpPr/>
          <p:nvPr/>
        </p:nvSpPr>
        <p:spPr>
          <a:xfrm>
            <a:off x="914400" y="3218688"/>
            <a:ext cx="384048" cy="384048"/>
          </a:xfrm>
          <a:prstGeom prst="ellipse">
            <a:avLst/>
          </a:prstGeom>
          <a:solidFill>
            <a:srgbClr val="13818D"/>
          </a:solidFill>
          <a:ln/>
        </p:spPr>
      </p:sp>
      <p:sp>
        <p:nvSpPr>
          <p:cNvPr id="22" name="Text 20"/>
          <p:cNvSpPr/>
          <p:nvPr/>
        </p:nvSpPr>
        <p:spPr>
          <a:xfrm>
            <a:off x="914400" y="3218688"/>
            <a:ext cx="384048" cy="38404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3</a:t>
            </a:r>
            <a:endParaRPr lang="en-US" sz="1700" dirty="0"/>
          </a:p>
        </p:txBody>
      </p:sp>
      <p:sp>
        <p:nvSpPr>
          <p:cNvPr id="23" name="Text 21"/>
          <p:cNvSpPr/>
          <p:nvPr/>
        </p:nvSpPr>
        <p:spPr>
          <a:xfrm>
            <a:off x="1508760" y="3127248"/>
            <a:ext cx="3657600" cy="320040"/>
          </a:xfrm>
          <a:prstGeom prst="rect">
            <a:avLst/>
          </a:prstGeom>
          <a:noFill/>
          <a:ln/>
        </p:spPr>
        <p:txBody>
          <a:bodyPr wrap="square" lIns="0" tIns="0" rIns="0" bIns="0" rtlCol="0" anchor="ctr"/>
          <a:lstStyle/>
          <a:p>
            <a:pPr marL="0" indent="0">
              <a:buNone/>
            </a:pPr>
            <a:r>
              <a:rPr lang="en-US" sz="1500" b="1" dirty="0">
                <a:solidFill>
                  <a:srgbClr val="0B2545"/>
                </a:solidFill>
                <a:latin typeface="Trebuchet MS" pitchFamily="34" charset="0"/>
                <a:ea typeface="Trebuchet MS" pitchFamily="34" charset="-122"/>
                <a:cs typeface="Trebuchet MS" pitchFamily="34" charset="-120"/>
              </a:rPr>
              <a:t>Get Real-Time Coaching</a:t>
            </a:r>
            <a:endParaRPr lang="en-US" sz="1500" dirty="0"/>
          </a:p>
        </p:txBody>
      </p:sp>
      <p:sp>
        <p:nvSpPr>
          <p:cNvPr id="24" name="Text 22"/>
          <p:cNvSpPr/>
          <p:nvPr/>
        </p:nvSpPr>
        <p:spPr>
          <a:xfrm>
            <a:off x="1508760" y="3429000"/>
            <a:ext cx="6766560" cy="274320"/>
          </a:xfrm>
          <a:prstGeom prst="rect">
            <a:avLst/>
          </a:prstGeom>
          <a:noFill/>
          <a:ln/>
        </p:spPr>
        <p:txBody>
          <a:bodyPr wrap="square" lIns="0" tIns="0" rIns="0" bIns="0" rtlCol="0" anchor="ctr"/>
          <a:lstStyle/>
          <a:p>
            <a:pPr marL="0" indent="0">
              <a:buNone/>
            </a:pPr>
            <a:r>
              <a:rPr lang="en-US" sz="1250" dirty="0">
                <a:solidFill>
                  <a:srgbClr val="6B6B7B"/>
                </a:solidFill>
                <a:latin typeface="Calibri" pitchFamily="34" charset="0"/>
                <a:ea typeface="Calibri" pitchFamily="34" charset="-122"/>
                <a:cs typeface="Calibri" pitchFamily="34" charset="-120"/>
              </a:rPr>
              <a:t>Peer and leader feedback after every round</a:t>
            </a:r>
            <a:endParaRPr lang="en-US" sz="1250" dirty="0"/>
          </a:p>
        </p:txBody>
      </p:sp>
      <p:sp>
        <p:nvSpPr>
          <p:cNvPr id="25" name="Shape 23"/>
          <p:cNvSpPr/>
          <p:nvPr/>
        </p:nvSpPr>
        <p:spPr>
          <a:xfrm>
            <a:off x="640080" y="3886200"/>
            <a:ext cx="7863840" cy="640080"/>
          </a:xfrm>
          <a:prstGeom prst="rect">
            <a:avLst/>
          </a:prstGeom>
          <a:solidFill>
            <a:srgbClr val="FFFFFF"/>
          </a:solidFill>
          <a:ln/>
          <a:effectLst>
            <a:outerShdw blurRad="50800" dist="25400" dir="8100000" algn="bl" rotWithShape="0">
              <a:srgbClr val="000000">
                <a:alpha val="10000"/>
              </a:srgbClr>
            </a:outerShdw>
          </a:effectLst>
        </p:spPr>
      </p:sp>
      <p:sp>
        <p:nvSpPr>
          <p:cNvPr id="26" name="Shape 24"/>
          <p:cNvSpPr/>
          <p:nvPr/>
        </p:nvSpPr>
        <p:spPr>
          <a:xfrm>
            <a:off x="640080" y="3886200"/>
            <a:ext cx="64008" cy="640080"/>
          </a:xfrm>
          <a:prstGeom prst="rect">
            <a:avLst/>
          </a:prstGeom>
          <a:solidFill>
            <a:srgbClr val="13818D"/>
          </a:solidFill>
          <a:ln/>
        </p:spPr>
      </p:sp>
      <p:sp>
        <p:nvSpPr>
          <p:cNvPr id="27" name="Text 25"/>
          <p:cNvSpPr/>
          <p:nvPr/>
        </p:nvSpPr>
        <p:spPr>
          <a:xfrm>
            <a:off x="914400" y="3977640"/>
            <a:ext cx="41148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28" name="Shape 26"/>
          <p:cNvSpPr/>
          <p:nvPr/>
        </p:nvSpPr>
        <p:spPr>
          <a:xfrm>
            <a:off x="914400" y="3995928"/>
            <a:ext cx="384048" cy="384048"/>
          </a:xfrm>
          <a:prstGeom prst="ellipse">
            <a:avLst/>
          </a:prstGeom>
          <a:solidFill>
            <a:srgbClr val="13818D"/>
          </a:solidFill>
          <a:ln/>
        </p:spPr>
      </p:sp>
      <p:sp>
        <p:nvSpPr>
          <p:cNvPr id="29" name="Text 27"/>
          <p:cNvSpPr/>
          <p:nvPr/>
        </p:nvSpPr>
        <p:spPr>
          <a:xfrm>
            <a:off x="914400" y="3995928"/>
            <a:ext cx="384048" cy="38404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4</a:t>
            </a:r>
            <a:endParaRPr lang="en-US" sz="1700" dirty="0"/>
          </a:p>
        </p:txBody>
      </p:sp>
      <p:sp>
        <p:nvSpPr>
          <p:cNvPr id="30" name="Text 28"/>
          <p:cNvSpPr/>
          <p:nvPr/>
        </p:nvSpPr>
        <p:spPr>
          <a:xfrm>
            <a:off x="1508760" y="3904488"/>
            <a:ext cx="3657600" cy="320040"/>
          </a:xfrm>
          <a:prstGeom prst="rect">
            <a:avLst/>
          </a:prstGeom>
          <a:noFill/>
          <a:ln/>
        </p:spPr>
        <p:txBody>
          <a:bodyPr wrap="square" lIns="0" tIns="0" rIns="0" bIns="0" rtlCol="0" anchor="ctr"/>
          <a:lstStyle/>
          <a:p>
            <a:pPr marL="0" indent="0">
              <a:buNone/>
            </a:pPr>
            <a:r>
              <a:rPr lang="en-US" sz="1500" b="1" dirty="0">
                <a:solidFill>
                  <a:srgbClr val="0B2545"/>
                </a:solidFill>
                <a:latin typeface="Trebuchet MS" pitchFamily="34" charset="0"/>
                <a:ea typeface="Trebuchet MS" pitchFamily="34" charset="-122"/>
                <a:cs typeface="Trebuchet MS" pitchFamily="34" charset="-120"/>
              </a:rPr>
              <a:t>Build Muscle Memory</a:t>
            </a:r>
            <a:endParaRPr lang="en-US" sz="1500" dirty="0"/>
          </a:p>
        </p:txBody>
      </p:sp>
      <p:sp>
        <p:nvSpPr>
          <p:cNvPr id="31" name="Text 29"/>
          <p:cNvSpPr/>
          <p:nvPr/>
        </p:nvSpPr>
        <p:spPr>
          <a:xfrm>
            <a:off x="1508760" y="4206240"/>
            <a:ext cx="6766560" cy="274320"/>
          </a:xfrm>
          <a:prstGeom prst="rect">
            <a:avLst/>
          </a:prstGeom>
          <a:noFill/>
          <a:ln/>
        </p:spPr>
        <p:txBody>
          <a:bodyPr wrap="square" lIns="0" tIns="0" rIns="0" bIns="0" rtlCol="0" anchor="ctr"/>
          <a:lstStyle/>
          <a:p>
            <a:pPr marL="0" indent="0">
              <a:buNone/>
            </a:pPr>
            <a:r>
              <a:rPr lang="en-US" sz="1250" dirty="0">
                <a:solidFill>
                  <a:srgbClr val="6B6B7B"/>
                </a:solidFill>
                <a:latin typeface="Calibri" pitchFamily="34" charset="0"/>
                <a:ea typeface="Calibri" pitchFamily="34" charset="-122"/>
                <a:cs typeface="Calibri" pitchFamily="34" charset="-120"/>
              </a:rPr>
              <a:t>Repetition turns technique into instinct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How Today Works</a:t>
            </a:r>
            <a:endParaRPr lang="en-US" sz="3000" dirty="0"/>
          </a:p>
        </p:txBody>
      </p:sp>
      <p:sp>
        <p:nvSpPr>
          <p:cNvPr id="3" name="Text 1"/>
          <p:cNvSpPr/>
          <p:nvPr/>
        </p:nvSpPr>
        <p:spPr>
          <a:xfrm>
            <a:off x="640080" y="777240"/>
            <a:ext cx="7315200" cy="365760"/>
          </a:xfrm>
          <a:prstGeom prst="rect">
            <a:avLst/>
          </a:prstGeom>
          <a:noFill/>
          <a:ln/>
        </p:spPr>
        <p:txBody>
          <a:bodyPr wrap="square" lIns="0" tIns="0" rIns="0" bIns="0" rtlCol="0" anchor="ctr"/>
          <a:lstStyle/>
          <a:p>
            <a:pPr marL="0" indent="0">
              <a:buNone/>
            </a:pPr>
            <a:r>
              <a:rPr lang="en-US" sz="1500" dirty="0">
                <a:solidFill>
                  <a:srgbClr val="44C7A0"/>
                </a:solidFill>
                <a:latin typeface="Calibri" pitchFamily="34" charset="0"/>
                <a:ea typeface="Calibri" pitchFamily="34" charset="-122"/>
                <a:cs typeface="Calibri" pitchFamily="34" charset="-120"/>
              </a:rPr>
              <a:t>3 rounds  |  3 personas  |  Real-time feedback</a:t>
            </a:r>
            <a:endParaRPr lang="en-US" sz="1500" dirty="0"/>
          </a:p>
        </p:txBody>
      </p:sp>
      <p:sp>
        <p:nvSpPr>
          <p:cNvPr id="4" name="Shape 2"/>
          <p:cNvSpPr/>
          <p:nvPr/>
        </p:nvSpPr>
        <p:spPr>
          <a:xfrm>
            <a:off x="457200" y="1417320"/>
            <a:ext cx="1965960" cy="2926080"/>
          </a:xfrm>
          <a:prstGeom prst="rect">
            <a:avLst/>
          </a:prstGeom>
          <a:solidFill>
            <a:srgbClr val="0E3158"/>
          </a:solidFill>
          <a:ln/>
          <a:effectLst>
            <a:outerShdw blurRad="50800" dist="25400" dir="8100000" algn="bl" rotWithShape="0">
              <a:srgbClr val="000000">
                <a:alpha val="10000"/>
              </a:srgbClr>
            </a:outerShdw>
          </a:effectLst>
        </p:spPr>
      </p:sp>
      <p:sp>
        <p:nvSpPr>
          <p:cNvPr id="5" name="Shape 3"/>
          <p:cNvSpPr/>
          <p:nvPr/>
        </p:nvSpPr>
        <p:spPr>
          <a:xfrm>
            <a:off x="457200" y="1417320"/>
            <a:ext cx="1965960" cy="54864"/>
          </a:xfrm>
          <a:prstGeom prst="rect">
            <a:avLst/>
          </a:prstGeom>
          <a:solidFill>
            <a:srgbClr val="44C7A0"/>
          </a:solidFill>
          <a:ln/>
        </p:spPr>
      </p:sp>
      <p:sp>
        <p:nvSpPr>
          <p:cNvPr id="6" name="Shape 4"/>
          <p:cNvSpPr/>
          <p:nvPr/>
        </p:nvSpPr>
        <p:spPr>
          <a:xfrm>
            <a:off x="1143000" y="1691640"/>
            <a:ext cx="594360" cy="594360"/>
          </a:xfrm>
          <a:prstGeom prst="ellipse">
            <a:avLst/>
          </a:prstGeom>
          <a:solidFill>
            <a:srgbClr val="13818D"/>
          </a:solidFill>
          <a:ln/>
        </p:spPr>
      </p:sp>
      <p:sp>
        <p:nvSpPr>
          <p:cNvPr id="7" name="Text 5"/>
          <p:cNvSpPr/>
          <p:nvPr/>
        </p:nvSpPr>
        <p:spPr>
          <a:xfrm>
            <a:off x="1143000" y="16916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1</a:t>
            </a:r>
            <a:endParaRPr lang="en-US" sz="2400" dirty="0"/>
          </a:p>
        </p:txBody>
      </p:sp>
      <p:sp>
        <p:nvSpPr>
          <p:cNvPr id="8" name="Text 6"/>
          <p:cNvSpPr/>
          <p:nvPr/>
        </p:nvSpPr>
        <p:spPr>
          <a:xfrm>
            <a:off x="457200" y="2423160"/>
            <a:ext cx="1965960" cy="365760"/>
          </a:xfrm>
          <a:prstGeom prst="rect">
            <a:avLst/>
          </a:prstGeom>
          <a:noFill/>
          <a:ln/>
        </p:spPr>
        <p:txBody>
          <a:bodyPr wrap="square" lIns="0" tIns="0" rIns="0" bIns="0" rtlCol="0" anchor="ctr"/>
          <a:lstStyle/>
          <a:p>
            <a:pPr marL="0" indent="0" algn="ctr">
              <a:buNone/>
            </a:pPr>
            <a:r>
              <a:rPr lang="en-US" sz="1600" b="1" kern="0" spc="300" dirty="0">
                <a:solidFill>
                  <a:srgbClr val="FFFFFF"/>
                </a:solidFill>
                <a:latin typeface="Trebuchet MS" pitchFamily="34" charset="0"/>
                <a:ea typeface="Trebuchet MS" pitchFamily="34" charset="-122"/>
                <a:cs typeface="Trebuchet MS" pitchFamily="34" charset="-120"/>
              </a:rPr>
              <a:t>PAIR UP</a:t>
            </a:r>
            <a:endParaRPr lang="en-US" sz="1600" dirty="0"/>
          </a:p>
        </p:txBody>
      </p:sp>
      <p:sp>
        <p:nvSpPr>
          <p:cNvPr id="9" name="Text 7"/>
          <p:cNvSpPr/>
          <p:nvPr/>
        </p:nvSpPr>
        <p:spPr>
          <a:xfrm>
            <a:off x="594360" y="2834640"/>
            <a:ext cx="1691640" cy="822960"/>
          </a:xfrm>
          <a:prstGeom prst="rect">
            <a:avLst/>
          </a:prstGeom>
          <a:noFill/>
          <a:ln/>
        </p:spPr>
        <p:txBody>
          <a:bodyPr wrap="square" lIns="0" tIns="0" rIns="0" bIns="0" rtlCol="0" anchor="ctr"/>
          <a:lstStyle/>
          <a:p>
            <a:pPr marL="0" indent="0" algn="ctr">
              <a:buNone/>
            </a:pPr>
            <a:r>
              <a:rPr lang="en-US" sz="1150" dirty="0">
                <a:solidFill>
                  <a:schemeClr val="bg1"/>
                </a:solidFill>
                <a:latin typeface="Calibri"/>
                <a:ea typeface="Calibri"/>
                <a:cs typeface="Calibri"/>
              </a:rPr>
              <a:t>One person plays the prospect,</a:t>
            </a:r>
            <a:endParaRPr lang="en-US" sz="1150">
              <a:solidFill>
                <a:schemeClr val="bg1"/>
              </a:solidFill>
              <a:latin typeface="Calibri"/>
              <a:ea typeface="Calibri"/>
              <a:cs typeface="Calibri"/>
            </a:endParaRPr>
          </a:p>
          <a:p>
            <a:pPr marL="0" indent="0" algn="ctr">
              <a:buNone/>
            </a:pPr>
            <a:r>
              <a:rPr lang="en-US" sz="1150" dirty="0">
                <a:solidFill>
                  <a:schemeClr val="bg1"/>
                </a:solidFill>
                <a:latin typeface="Calibri"/>
                <a:ea typeface="Calibri"/>
                <a:cs typeface="Calibri"/>
              </a:rPr>
              <a:t>one plays the rep. You'll switch.</a:t>
            </a:r>
          </a:p>
        </p:txBody>
      </p:sp>
      <p:sp>
        <p:nvSpPr>
          <p:cNvPr id="10" name="Shape 8"/>
          <p:cNvSpPr/>
          <p:nvPr/>
        </p:nvSpPr>
        <p:spPr>
          <a:xfrm>
            <a:off x="960120" y="3794760"/>
            <a:ext cx="960120" cy="320040"/>
          </a:xfrm>
          <a:prstGeom prst="rect">
            <a:avLst/>
          </a:prstGeom>
          <a:solidFill>
            <a:srgbClr val="44C7A0"/>
          </a:solidFill>
          <a:ln/>
        </p:spPr>
      </p:sp>
      <p:sp>
        <p:nvSpPr>
          <p:cNvPr id="11" name="Text 9"/>
          <p:cNvSpPr/>
          <p:nvPr/>
        </p:nvSpPr>
        <p:spPr>
          <a:xfrm>
            <a:off x="960120" y="3794760"/>
            <a:ext cx="960120" cy="32004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1 min</a:t>
            </a:r>
            <a:endParaRPr lang="en-US" sz="1200" dirty="0"/>
          </a:p>
        </p:txBody>
      </p:sp>
      <p:sp>
        <p:nvSpPr>
          <p:cNvPr id="12" name="Shape 10"/>
          <p:cNvSpPr/>
          <p:nvPr/>
        </p:nvSpPr>
        <p:spPr>
          <a:xfrm>
            <a:off x="2651760" y="1417320"/>
            <a:ext cx="1965960" cy="2926080"/>
          </a:xfrm>
          <a:prstGeom prst="rect">
            <a:avLst/>
          </a:prstGeom>
          <a:solidFill>
            <a:srgbClr val="0E3158"/>
          </a:solidFill>
          <a:ln/>
          <a:effectLst>
            <a:outerShdw blurRad="50800" dist="25400" dir="8100000" algn="bl" rotWithShape="0">
              <a:srgbClr val="000000">
                <a:alpha val="10000"/>
              </a:srgbClr>
            </a:outerShdw>
          </a:effectLst>
        </p:spPr>
      </p:sp>
      <p:sp>
        <p:nvSpPr>
          <p:cNvPr id="13" name="Shape 11"/>
          <p:cNvSpPr/>
          <p:nvPr/>
        </p:nvSpPr>
        <p:spPr>
          <a:xfrm>
            <a:off x="2651760" y="1417320"/>
            <a:ext cx="1965960" cy="54864"/>
          </a:xfrm>
          <a:prstGeom prst="rect">
            <a:avLst/>
          </a:prstGeom>
          <a:solidFill>
            <a:srgbClr val="44C7A0"/>
          </a:solidFill>
          <a:ln/>
        </p:spPr>
      </p:sp>
      <p:sp>
        <p:nvSpPr>
          <p:cNvPr id="14" name="Shape 12"/>
          <p:cNvSpPr/>
          <p:nvPr/>
        </p:nvSpPr>
        <p:spPr>
          <a:xfrm>
            <a:off x="3337560" y="1691640"/>
            <a:ext cx="594360" cy="594360"/>
          </a:xfrm>
          <a:prstGeom prst="ellipse">
            <a:avLst/>
          </a:prstGeom>
          <a:solidFill>
            <a:srgbClr val="13818D"/>
          </a:solidFill>
          <a:ln/>
        </p:spPr>
      </p:sp>
      <p:sp>
        <p:nvSpPr>
          <p:cNvPr id="15" name="Text 13"/>
          <p:cNvSpPr/>
          <p:nvPr/>
        </p:nvSpPr>
        <p:spPr>
          <a:xfrm>
            <a:off x="3337560" y="16916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2</a:t>
            </a:r>
            <a:endParaRPr lang="en-US" sz="2400" dirty="0"/>
          </a:p>
        </p:txBody>
      </p:sp>
      <p:sp>
        <p:nvSpPr>
          <p:cNvPr id="16" name="Text 14"/>
          <p:cNvSpPr/>
          <p:nvPr/>
        </p:nvSpPr>
        <p:spPr>
          <a:xfrm>
            <a:off x="2651760" y="2423160"/>
            <a:ext cx="1965960" cy="365760"/>
          </a:xfrm>
          <a:prstGeom prst="rect">
            <a:avLst/>
          </a:prstGeom>
          <a:noFill/>
          <a:ln/>
        </p:spPr>
        <p:txBody>
          <a:bodyPr wrap="square" lIns="0" tIns="0" rIns="0" bIns="0" rtlCol="0" anchor="ctr"/>
          <a:lstStyle/>
          <a:p>
            <a:pPr marL="0" indent="0" algn="ctr">
              <a:buNone/>
            </a:pPr>
            <a:r>
              <a:rPr lang="en-US" sz="1600" b="1" kern="0" spc="300" dirty="0">
                <a:solidFill>
                  <a:srgbClr val="FFFFFF"/>
                </a:solidFill>
                <a:latin typeface="Trebuchet MS" pitchFamily="34" charset="0"/>
                <a:ea typeface="Trebuchet MS" pitchFamily="34" charset="-122"/>
                <a:cs typeface="Trebuchet MS" pitchFamily="34" charset="-120"/>
              </a:rPr>
              <a:t>ROLE-PLAY</a:t>
            </a:r>
            <a:endParaRPr lang="en-US" sz="1600" dirty="0"/>
          </a:p>
        </p:txBody>
      </p:sp>
      <p:sp>
        <p:nvSpPr>
          <p:cNvPr id="17" name="Text 15"/>
          <p:cNvSpPr/>
          <p:nvPr/>
        </p:nvSpPr>
        <p:spPr>
          <a:xfrm>
            <a:off x="2788920" y="2834640"/>
            <a:ext cx="1691640" cy="822960"/>
          </a:xfrm>
          <a:prstGeom prst="rect">
            <a:avLst/>
          </a:prstGeom>
          <a:noFill/>
          <a:ln/>
        </p:spPr>
        <p:txBody>
          <a:bodyPr wrap="square" lIns="0" tIns="0" rIns="0" bIns="0" rtlCol="0" anchor="ctr"/>
          <a:lstStyle/>
          <a:p>
            <a:pPr marL="0" indent="0" algn="ctr">
              <a:buNone/>
            </a:pPr>
            <a:r>
              <a:rPr lang="en-US" sz="1150" dirty="0">
                <a:solidFill>
                  <a:schemeClr val="bg1"/>
                </a:solidFill>
                <a:latin typeface="Calibri"/>
                <a:ea typeface="Calibri"/>
                <a:cs typeface="Calibri"/>
              </a:rPr>
              <a:t>Prospect delivers the objection.</a:t>
            </a:r>
            <a:endParaRPr lang="en-US" sz="1150">
              <a:solidFill>
                <a:schemeClr val="bg1"/>
              </a:solidFill>
              <a:latin typeface="Calibri"/>
              <a:ea typeface="Calibri"/>
              <a:cs typeface="Calibri"/>
            </a:endParaRPr>
          </a:p>
          <a:p>
            <a:pPr marL="0" indent="0" algn="ctr">
              <a:buNone/>
            </a:pPr>
            <a:r>
              <a:rPr lang="en-US" sz="1150" dirty="0">
                <a:solidFill>
                  <a:schemeClr val="bg1"/>
                </a:solidFill>
                <a:latin typeface="Calibri"/>
                <a:ea typeface="Calibri"/>
                <a:cs typeface="Calibri"/>
              </a:rPr>
              <a:t>Rep responds using a framework.</a:t>
            </a:r>
          </a:p>
        </p:txBody>
      </p:sp>
      <p:sp>
        <p:nvSpPr>
          <p:cNvPr id="18" name="Shape 16"/>
          <p:cNvSpPr/>
          <p:nvPr/>
        </p:nvSpPr>
        <p:spPr>
          <a:xfrm>
            <a:off x="3154680" y="3794760"/>
            <a:ext cx="960120" cy="320040"/>
          </a:xfrm>
          <a:prstGeom prst="rect">
            <a:avLst/>
          </a:prstGeom>
          <a:solidFill>
            <a:srgbClr val="44C7A0"/>
          </a:solidFill>
          <a:ln/>
        </p:spPr>
      </p:sp>
      <p:sp>
        <p:nvSpPr>
          <p:cNvPr id="19" name="Text 17"/>
          <p:cNvSpPr/>
          <p:nvPr/>
        </p:nvSpPr>
        <p:spPr>
          <a:xfrm>
            <a:off x="3154680" y="3794760"/>
            <a:ext cx="960120" cy="32004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3 min</a:t>
            </a:r>
            <a:endParaRPr lang="en-US" sz="1200" dirty="0"/>
          </a:p>
        </p:txBody>
      </p:sp>
      <p:sp>
        <p:nvSpPr>
          <p:cNvPr id="20" name="Shape 18"/>
          <p:cNvSpPr/>
          <p:nvPr/>
        </p:nvSpPr>
        <p:spPr>
          <a:xfrm>
            <a:off x="4846320" y="1417320"/>
            <a:ext cx="1965960" cy="2926080"/>
          </a:xfrm>
          <a:prstGeom prst="rect">
            <a:avLst/>
          </a:prstGeom>
          <a:solidFill>
            <a:srgbClr val="0E3158"/>
          </a:solidFill>
          <a:ln/>
          <a:effectLst>
            <a:outerShdw blurRad="50800" dist="25400" dir="8100000" algn="bl" rotWithShape="0">
              <a:srgbClr val="000000">
                <a:alpha val="10000"/>
              </a:srgbClr>
            </a:outerShdw>
          </a:effectLst>
        </p:spPr>
      </p:sp>
      <p:sp>
        <p:nvSpPr>
          <p:cNvPr id="21" name="Shape 19"/>
          <p:cNvSpPr/>
          <p:nvPr/>
        </p:nvSpPr>
        <p:spPr>
          <a:xfrm>
            <a:off x="4846320" y="1417320"/>
            <a:ext cx="1965960" cy="54864"/>
          </a:xfrm>
          <a:prstGeom prst="rect">
            <a:avLst/>
          </a:prstGeom>
          <a:solidFill>
            <a:srgbClr val="44C7A0"/>
          </a:solidFill>
          <a:ln/>
        </p:spPr>
      </p:sp>
      <p:sp>
        <p:nvSpPr>
          <p:cNvPr id="22" name="Shape 20"/>
          <p:cNvSpPr/>
          <p:nvPr/>
        </p:nvSpPr>
        <p:spPr>
          <a:xfrm>
            <a:off x="5532120" y="1691640"/>
            <a:ext cx="594360" cy="594360"/>
          </a:xfrm>
          <a:prstGeom prst="ellipse">
            <a:avLst/>
          </a:prstGeom>
          <a:solidFill>
            <a:srgbClr val="13818D"/>
          </a:solidFill>
          <a:ln/>
        </p:spPr>
      </p:sp>
      <p:sp>
        <p:nvSpPr>
          <p:cNvPr id="23" name="Text 21"/>
          <p:cNvSpPr/>
          <p:nvPr/>
        </p:nvSpPr>
        <p:spPr>
          <a:xfrm>
            <a:off x="5532120" y="16916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3</a:t>
            </a:r>
            <a:endParaRPr lang="en-US" sz="2400" dirty="0"/>
          </a:p>
        </p:txBody>
      </p:sp>
      <p:sp>
        <p:nvSpPr>
          <p:cNvPr id="24" name="Text 22"/>
          <p:cNvSpPr/>
          <p:nvPr/>
        </p:nvSpPr>
        <p:spPr>
          <a:xfrm>
            <a:off x="4846320" y="2423160"/>
            <a:ext cx="1965960" cy="365760"/>
          </a:xfrm>
          <a:prstGeom prst="rect">
            <a:avLst/>
          </a:prstGeom>
          <a:noFill/>
          <a:ln/>
        </p:spPr>
        <p:txBody>
          <a:bodyPr wrap="square" lIns="0" tIns="0" rIns="0" bIns="0" rtlCol="0" anchor="ctr"/>
          <a:lstStyle/>
          <a:p>
            <a:pPr marL="0" indent="0" algn="ctr">
              <a:buNone/>
            </a:pPr>
            <a:r>
              <a:rPr lang="en-US" sz="1600" b="1" kern="0" spc="300" dirty="0">
                <a:solidFill>
                  <a:srgbClr val="FFFFFF"/>
                </a:solidFill>
                <a:latin typeface="Trebuchet MS" pitchFamily="34" charset="0"/>
                <a:ea typeface="Trebuchet MS" pitchFamily="34" charset="-122"/>
                <a:cs typeface="Trebuchet MS" pitchFamily="34" charset="-120"/>
              </a:rPr>
              <a:t>DEBRIEF</a:t>
            </a:r>
            <a:endParaRPr lang="en-US" sz="1600" dirty="0"/>
          </a:p>
        </p:txBody>
      </p:sp>
      <p:sp>
        <p:nvSpPr>
          <p:cNvPr id="25" name="Text 23"/>
          <p:cNvSpPr/>
          <p:nvPr/>
        </p:nvSpPr>
        <p:spPr>
          <a:xfrm>
            <a:off x="4983480" y="2834640"/>
            <a:ext cx="1691640" cy="822960"/>
          </a:xfrm>
          <a:prstGeom prst="rect">
            <a:avLst/>
          </a:prstGeom>
          <a:noFill/>
          <a:ln/>
        </p:spPr>
        <p:txBody>
          <a:bodyPr wrap="square" lIns="0" tIns="0" rIns="0" bIns="0" rtlCol="0" anchor="ctr"/>
          <a:lstStyle/>
          <a:p>
            <a:pPr marL="0" indent="0" algn="ctr">
              <a:buNone/>
            </a:pPr>
            <a:r>
              <a:rPr lang="en-US" sz="1150" dirty="0">
                <a:solidFill>
                  <a:schemeClr val="bg1"/>
                </a:solidFill>
                <a:latin typeface="Calibri"/>
                <a:ea typeface="Calibri"/>
                <a:cs typeface="Calibri"/>
              </a:rPr>
              <a:t>Partner gives feedback.</a:t>
            </a:r>
            <a:endParaRPr lang="en-US" sz="1150">
              <a:solidFill>
                <a:schemeClr val="bg1"/>
              </a:solidFill>
              <a:latin typeface="Calibri"/>
              <a:ea typeface="Calibri"/>
              <a:cs typeface="Calibri"/>
            </a:endParaRPr>
          </a:p>
          <a:p>
            <a:pPr marL="0" indent="0" algn="ctr">
              <a:buNone/>
            </a:pPr>
            <a:r>
              <a:rPr lang="en-US" sz="1150" dirty="0">
                <a:solidFill>
                  <a:schemeClr val="bg1"/>
                </a:solidFill>
                <a:latin typeface="Calibri"/>
                <a:ea typeface="Calibri"/>
                <a:cs typeface="Calibri"/>
              </a:rPr>
              <a:t>Group discusses what worked.</a:t>
            </a:r>
          </a:p>
        </p:txBody>
      </p:sp>
      <p:sp>
        <p:nvSpPr>
          <p:cNvPr id="26" name="Shape 24"/>
          <p:cNvSpPr/>
          <p:nvPr/>
        </p:nvSpPr>
        <p:spPr>
          <a:xfrm>
            <a:off x="5349240" y="3794760"/>
            <a:ext cx="960120" cy="320040"/>
          </a:xfrm>
          <a:prstGeom prst="rect">
            <a:avLst/>
          </a:prstGeom>
          <a:solidFill>
            <a:srgbClr val="44C7A0"/>
          </a:solidFill>
          <a:ln/>
        </p:spPr>
      </p:sp>
      <p:sp>
        <p:nvSpPr>
          <p:cNvPr id="27" name="Text 25"/>
          <p:cNvSpPr/>
          <p:nvPr/>
        </p:nvSpPr>
        <p:spPr>
          <a:xfrm>
            <a:off x="5349240" y="3794760"/>
            <a:ext cx="960120" cy="32004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3 min</a:t>
            </a:r>
            <a:endParaRPr lang="en-US" sz="1200" dirty="0"/>
          </a:p>
        </p:txBody>
      </p:sp>
      <p:sp>
        <p:nvSpPr>
          <p:cNvPr id="28" name="Shape 26"/>
          <p:cNvSpPr/>
          <p:nvPr/>
        </p:nvSpPr>
        <p:spPr>
          <a:xfrm>
            <a:off x="7040880" y="1417320"/>
            <a:ext cx="1965960" cy="2926080"/>
          </a:xfrm>
          <a:prstGeom prst="rect">
            <a:avLst/>
          </a:prstGeom>
          <a:solidFill>
            <a:srgbClr val="0E3158"/>
          </a:solidFill>
          <a:ln/>
          <a:effectLst>
            <a:outerShdw blurRad="50800" dist="25400" dir="8100000" algn="bl" rotWithShape="0">
              <a:srgbClr val="000000">
                <a:alpha val="10000"/>
              </a:srgbClr>
            </a:outerShdw>
          </a:effectLst>
        </p:spPr>
      </p:sp>
      <p:sp>
        <p:nvSpPr>
          <p:cNvPr id="29" name="Shape 27"/>
          <p:cNvSpPr/>
          <p:nvPr/>
        </p:nvSpPr>
        <p:spPr>
          <a:xfrm>
            <a:off x="7040880" y="1417320"/>
            <a:ext cx="1965960" cy="54864"/>
          </a:xfrm>
          <a:prstGeom prst="rect">
            <a:avLst/>
          </a:prstGeom>
          <a:solidFill>
            <a:srgbClr val="44C7A0"/>
          </a:solidFill>
          <a:ln/>
        </p:spPr>
      </p:sp>
      <p:sp>
        <p:nvSpPr>
          <p:cNvPr id="30" name="Shape 28"/>
          <p:cNvSpPr/>
          <p:nvPr/>
        </p:nvSpPr>
        <p:spPr>
          <a:xfrm>
            <a:off x="7726680" y="1691640"/>
            <a:ext cx="594360" cy="594360"/>
          </a:xfrm>
          <a:prstGeom prst="ellipse">
            <a:avLst/>
          </a:prstGeom>
          <a:solidFill>
            <a:srgbClr val="13818D"/>
          </a:solidFill>
          <a:ln/>
        </p:spPr>
      </p:sp>
      <p:sp>
        <p:nvSpPr>
          <p:cNvPr id="31" name="Text 29"/>
          <p:cNvSpPr/>
          <p:nvPr/>
        </p:nvSpPr>
        <p:spPr>
          <a:xfrm>
            <a:off x="7726680" y="16916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4</a:t>
            </a:r>
            <a:endParaRPr lang="en-US" sz="2400" dirty="0"/>
          </a:p>
        </p:txBody>
      </p:sp>
      <p:sp>
        <p:nvSpPr>
          <p:cNvPr id="32" name="Text 30"/>
          <p:cNvSpPr/>
          <p:nvPr/>
        </p:nvSpPr>
        <p:spPr>
          <a:xfrm>
            <a:off x="7040880" y="2423160"/>
            <a:ext cx="1965960" cy="365760"/>
          </a:xfrm>
          <a:prstGeom prst="rect">
            <a:avLst/>
          </a:prstGeom>
          <a:noFill/>
          <a:ln/>
        </p:spPr>
        <p:txBody>
          <a:bodyPr wrap="square" lIns="0" tIns="0" rIns="0" bIns="0" rtlCol="0" anchor="ctr"/>
          <a:lstStyle/>
          <a:p>
            <a:pPr marL="0" indent="0" algn="ctr">
              <a:buNone/>
            </a:pPr>
            <a:r>
              <a:rPr lang="en-US" sz="1600" b="1" kern="0" spc="300" dirty="0">
                <a:solidFill>
                  <a:srgbClr val="FFFFFF"/>
                </a:solidFill>
                <a:latin typeface="Trebuchet MS" pitchFamily="34" charset="0"/>
                <a:ea typeface="Trebuchet MS" pitchFamily="34" charset="-122"/>
                <a:cs typeface="Trebuchet MS" pitchFamily="34" charset="-120"/>
              </a:rPr>
              <a:t>ROTATE</a:t>
            </a:r>
            <a:endParaRPr lang="en-US" sz="1600" dirty="0"/>
          </a:p>
        </p:txBody>
      </p:sp>
      <p:sp>
        <p:nvSpPr>
          <p:cNvPr id="33" name="Text 31"/>
          <p:cNvSpPr/>
          <p:nvPr/>
        </p:nvSpPr>
        <p:spPr>
          <a:xfrm>
            <a:off x="7178040" y="2834640"/>
            <a:ext cx="1691640" cy="822960"/>
          </a:xfrm>
          <a:prstGeom prst="rect">
            <a:avLst/>
          </a:prstGeom>
          <a:noFill/>
          <a:ln/>
        </p:spPr>
        <p:txBody>
          <a:bodyPr wrap="square" lIns="0" tIns="0" rIns="0" bIns="0" rtlCol="0" anchor="ctr"/>
          <a:lstStyle/>
          <a:p>
            <a:pPr marL="0" indent="0" algn="ctr">
              <a:buNone/>
            </a:pPr>
            <a:r>
              <a:rPr lang="en-US" sz="1150" dirty="0">
                <a:solidFill>
                  <a:schemeClr val="bg1"/>
                </a:solidFill>
                <a:latin typeface="Calibri"/>
                <a:ea typeface="Calibri"/>
                <a:cs typeface="Calibri"/>
              </a:rPr>
              <a:t>New persona, new objection.</a:t>
            </a:r>
            <a:endParaRPr lang="en-US" sz="1150">
              <a:solidFill>
                <a:schemeClr val="bg1"/>
              </a:solidFill>
              <a:latin typeface="Calibri"/>
              <a:ea typeface="Calibri"/>
              <a:cs typeface="Calibri"/>
            </a:endParaRPr>
          </a:p>
          <a:p>
            <a:pPr marL="0" indent="0" algn="ctr">
              <a:buNone/>
            </a:pPr>
            <a:r>
              <a:rPr lang="en-US" sz="1150" dirty="0">
                <a:solidFill>
                  <a:schemeClr val="bg1"/>
                </a:solidFill>
                <a:latin typeface="Calibri"/>
                <a:ea typeface="Calibri"/>
                <a:cs typeface="Calibri"/>
              </a:rPr>
              <a:t>Switch roles each round</a:t>
            </a:r>
            <a:r>
              <a:rPr lang="en-US" sz="1150" dirty="0">
                <a:solidFill>
                  <a:srgbClr val="6B6B7B"/>
                </a:solidFill>
                <a:latin typeface="Calibri"/>
                <a:ea typeface="Calibri"/>
                <a:cs typeface="Calibri"/>
              </a:rPr>
              <a:t>.</a:t>
            </a:r>
            <a:endParaRPr lang="en-US" sz="1150" dirty="0">
              <a:latin typeface="Calibri"/>
              <a:ea typeface="Calibri"/>
              <a:cs typeface="Calibri"/>
            </a:endParaRPr>
          </a:p>
        </p:txBody>
      </p:sp>
      <p:sp>
        <p:nvSpPr>
          <p:cNvPr id="34" name="Shape 32"/>
          <p:cNvSpPr/>
          <p:nvPr/>
        </p:nvSpPr>
        <p:spPr>
          <a:xfrm>
            <a:off x="7543800" y="3794760"/>
            <a:ext cx="960120" cy="320040"/>
          </a:xfrm>
          <a:prstGeom prst="rect">
            <a:avLst/>
          </a:prstGeom>
          <a:solidFill>
            <a:srgbClr val="44C7A0"/>
          </a:solidFill>
          <a:ln/>
        </p:spPr>
      </p:sp>
      <p:sp>
        <p:nvSpPr>
          <p:cNvPr id="35" name="Text 33"/>
          <p:cNvSpPr/>
          <p:nvPr/>
        </p:nvSpPr>
        <p:spPr>
          <a:xfrm>
            <a:off x="7543800" y="3794760"/>
            <a:ext cx="960120" cy="32004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Repeat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548640"/>
          </a:xfrm>
          <a:prstGeom prst="rect">
            <a:avLst/>
          </a:prstGeom>
          <a:noFill/>
          <a:ln/>
        </p:spPr>
        <p:txBody>
          <a:bodyPr wrap="square" lIns="0" tIns="0" rIns="0" bIns="0" rtlCol="0" anchor="ctr"/>
          <a:lstStyle/>
          <a:p>
            <a:pPr marL="0" indent="0">
              <a:buNone/>
            </a:pPr>
            <a:r>
              <a:rPr lang="en-US" sz="3000" b="1" dirty="0">
                <a:solidFill>
                  <a:srgbClr val="0B2545"/>
                </a:solidFill>
                <a:latin typeface="Trebuchet MS" pitchFamily="34" charset="0"/>
                <a:ea typeface="Trebuchet MS" pitchFamily="34" charset="-122"/>
                <a:cs typeface="Trebuchet MS" pitchFamily="34" charset="-120"/>
              </a:rPr>
              <a:t>Meet the Buyer Personas</a:t>
            </a:r>
            <a:endParaRPr lang="en-US" sz="3000" dirty="0"/>
          </a:p>
        </p:txBody>
      </p:sp>
      <p:sp>
        <p:nvSpPr>
          <p:cNvPr id="3" name="Text 1"/>
          <p:cNvSpPr/>
          <p:nvPr/>
        </p:nvSpPr>
        <p:spPr>
          <a:xfrm>
            <a:off x="640080" y="777240"/>
            <a:ext cx="7863840" cy="365760"/>
          </a:xfrm>
          <a:prstGeom prst="rect">
            <a:avLst/>
          </a:prstGeom>
          <a:noFill/>
          <a:ln/>
        </p:spPr>
        <p:txBody>
          <a:bodyPr wrap="square" lIns="0" tIns="0" rIns="0" bIns="0" rtlCol="0" anchor="ctr"/>
          <a:lstStyle/>
          <a:p>
            <a:pPr marL="0" indent="0">
              <a:buNone/>
            </a:pPr>
            <a:r>
              <a:rPr lang="en-US" sz="1400" dirty="0">
                <a:solidFill>
                  <a:srgbClr val="6B6B7B"/>
                </a:solidFill>
                <a:latin typeface="Calibri" pitchFamily="34" charset="0"/>
                <a:ea typeface="Calibri" pitchFamily="34" charset="-122"/>
                <a:cs typeface="Calibri" pitchFamily="34" charset="-120"/>
              </a:rPr>
              <a:t>Each round, you'll face a different buyer. Know their mindset before you respond.</a:t>
            </a:r>
            <a:endParaRPr lang="en-US" sz="1400" dirty="0"/>
          </a:p>
        </p:txBody>
      </p:sp>
      <p:sp>
        <p:nvSpPr>
          <p:cNvPr id="4" name="Shape 2"/>
          <p:cNvSpPr/>
          <p:nvPr/>
        </p:nvSpPr>
        <p:spPr>
          <a:xfrm>
            <a:off x="457200" y="1325880"/>
            <a:ext cx="2651760" cy="3200400"/>
          </a:xfrm>
          <a:prstGeom prst="rect">
            <a:avLst/>
          </a:prstGeom>
          <a:solidFill>
            <a:srgbClr val="FFFFFF"/>
          </a:solidFill>
          <a:ln/>
          <a:effectLst>
            <a:outerShdw blurRad="50800" dist="25400" dir="8100000" algn="bl" rotWithShape="0">
              <a:srgbClr val="000000">
                <a:alpha val="10000"/>
              </a:srgbClr>
            </a:outerShdw>
          </a:effectLst>
        </p:spPr>
      </p:sp>
      <p:sp>
        <p:nvSpPr>
          <p:cNvPr id="5" name="Shape 3"/>
          <p:cNvSpPr/>
          <p:nvPr/>
        </p:nvSpPr>
        <p:spPr>
          <a:xfrm>
            <a:off x="457200" y="1325880"/>
            <a:ext cx="2651760" cy="64008"/>
          </a:xfrm>
          <a:prstGeom prst="rect">
            <a:avLst/>
          </a:prstGeom>
          <a:solidFill>
            <a:srgbClr val="13818D"/>
          </a:solidFill>
          <a:ln/>
        </p:spPr>
      </p:sp>
      <p:pic>
        <p:nvPicPr>
          <p:cNvPr id="6" name="Image 0" descr="preencoded.png"/>
          <p:cNvPicPr>
            <a:picLocks noChangeAspect="1"/>
          </p:cNvPicPr>
          <p:nvPr/>
        </p:nvPicPr>
        <p:blipFill>
          <a:blip r:embed="rId3"/>
          <a:stretch>
            <a:fillRect/>
          </a:stretch>
        </p:blipFill>
        <p:spPr>
          <a:xfrm>
            <a:off x="1463040" y="1554480"/>
            <a:ext cx="548640" cy="548640"/>
          </a:xfrm>
          <a:prstGeom prst="rect">
            <a:avLst/>
          </a:prstGeom>
        </p:spPr>
      </p:pic>
      <p:sp>
        <p:nvSpPr>
          <p:cNvPr id="7" name="Text 4"/>
          <p:cNvSpPr/>
          <p:nvPr/>
        </p:nvSpPr>
        <p:spPr>
          <a:xfrm>
            <a:off x="457200" y="2194560"/>
            <a:ext cx="2651760" cy="365760"/>
          </a:xfrm>
          <a:prstGeom prst="rect">
            <a:avLst/>
          </a:prstGeom>
          <a:noFill/>
          <a:ln/>
        </p:spPr>
        <p:txBody>
          <a:bodyPr wrap="square" lIns="0" tIns="0" rIns="0" bIns="0" rtlCol="0" anchor="ctr"/>
          <a:lstStyle/>
          <a:p>
            <a:pPr marL="0" indent="0" algn="ctr">
              <a:buNone/>
            </a:pPr>
            <a:r>
              <a:rPr lang="en-US" sz="1700" b="1" dirty="0">
                <a:solidFill>
                  <a:srgbClr val="0B2545"/>
                </a:solidFill>
                <a:latin typeface="Trebuchet MS" pitchFamily="34" charset="0"/>
                <a:ea typeface="Trebuchet MS" pitchFamily="34" charset="-122"/>
                <a:cs typeface="Trebuchet MS" pitchFamily="34" charset="-120"/>
              </a:rPr>
              <a:t>The Owner</a:t>
            </a:r>
            <a:endParaRPr lang="en-US" sz="1700" dirty="0"/>
          </a:p>
        </p:txBody>
      </p:sp>
      <p:sp>
        <p:nvSpPr>
          <p:cNvPr id="8" name="Text 5"/>
          <p:cNvSpPr/>
          <p:nvPr/>
        </p:nvSpPr>
        <p:spPr>
          <a:xfrm>
            <a:off x="457200" y="2514600"/>
            <a:ext cx="2651760" cy="320040"/>
          </a:xfrm>
          <a:prstGeom prst="rect">
            <a:avLst/>
          </a:prstGeom>
          <a:noFill/>
          <a:ln/>
        </p:spPr>
        <p:txBody>
          <a:bodyPr wrap="square" lIns="0" tIns="0" rIns="0" bIns="0" rtlCol="0" anchor="ctr"/>
          <a:lstStyle/>
          <a:p>
            <a:pPr marL="0" indent="0" algn="ctr">
              <a:buNone/>
            </a:pPr>
            <a:r>
              <a:rPr lang="en-US" sz="1200" i="1" dirty="0">
                <a:solidFill>
                  <a:srgbClr val="13818D"/>
                </a:solidFill>
                <a:latin typeface="Calibri" pitchFamily="34" charset="0"/>
                <a:ea typeface="Calibri" pitchFamily="34" charset="-122"/>
                <a:cs typeface="Calibri" pitchFamily="34" charset="-120"/>
              </a:rPr>
              <a:t>"Show me the ROI"</a:t>
            </a:r>
            <a:endParaRPr lang="en-US" sz="1200" dirty="0"/>
          </a:p>
        </p:txBody>
      </p:sp>
      <p:sp>
        <p:nvSpPr>
          <p:cNvPr id="9" name="Shape 6"/>
          <p:cNvSpPr/>
          <p:nvPr/>
        </p:nvSpPr>
        <p:spPr>
          <a:xfrm>
            <a:off x="731520" y="2880360"/>
            <a:ext cx="2103120" cy="18288"/>
          </a:xfrm>
          <a:prstGeom prst="rect">
            <a:avLst/>
          </a:prstGeom>
          <a:solidFill>
            <a:srgbClr val="F5F0E8"/>
          </a:solidFill>
          <a:ln/>
        </p:spPr>
      </p:sp>
      <p:sp>
        <p:nvSpPr>
          <p:cNvPr id="10" name="Text 7"/>
          <p:cNvSpPr/>
          <p:nvPr/>
        </p:nvSpPr>
        <p:spPr>
          <a:xfrm>
            <a:off x="685800" y="3017520"/>
            <a:ext cx="2194560" cy="1371600"/>
          </a:xfrm>
          <a:prstGeom prst="rect">
            <a:avLst/>
          </a:prstGeom>
          <a:noFill/>
          <a:ln/>
        </p:spPr>
        <p:txBody>
          <a:bodyPr wrap="square" lIns="0" tIns="0" rIns="0" bIns="0" rtlCol="0" anchor="ctr"/>
          <a:lstStyle/>
          <a:p>
            <a:pPr marL="0" indent="0">
              <a:buNone/>
            </a:pPr>
            <a:r>
              <a:rPr lang="en-US" sz="1100" dirty="0">
                <a:solidFill>
                  <a:srgbClr val="6B6B7B"/>
                </a:solidFill>
                <a:latin typeface="Calibri" pitchFamily="34" charset="0"/>
                <a:ea typeface="Calibri" pitchFamily="34" charset="-122"/>
                <a:cs typeface="Calibri" pitchFamily="34" charset="-120"/>
              </a:rPr>
              <a:t>Big-picture thinker. Cares about revenue, growth, and ROI. Time-starved. Skeptical of change unless the numbers make sense.</a:t>
            </a:r>
            <a:endParaRPr lang="en-US" sz="1100" dirty="0"/>
          </a:p>
        </p:txBody>
      </p:sp>
      <p:sp>
        <p:nvSpPr>
          <p:cNvPr id="11" name="Shape 8"/>
          <p:cNvSpPr/>
          <p:nvPr/>
        </p:nvSpPr>
        <p:spPr>
          <a:xfrm>
            <a:off x="3337560" y="1325880"/>
            <a:ext cx="2651760" cy="3200400"/>
          </a:xfrm>
          <a:prstGeom prst="rect">
            <a:avLst/>
          </a:prstGeom>
          <a:solidFill>
            <a:srgbClr val="FFFFFF"/>
          </a:solidFill>
          <a:ln/>
          <a:effectLst>
            <a:outerShdw blurRad="50800" dist="25400" dir="8100000" algn="bl" rotWithShape="0">
              <a:srgbClr val="000000">
                <a:alpha val="10000"/>
              </a:srgbClr>
            </a:outerShdw>
          </a:effectLst>
        </p:spPr>
      </p:sp>
      <p:sp>
        <p:nvSpPr>
          <p:cNvPr id="12" name="Shape 9"/>
          <p:cNvSpPr/>
          <p:nvPr/>
        </p:nvSpPr>
        <p:spPr>
          <a:xfrm>
            <a:off x="3337560" y="1325880"/>
            <a:ext cx="2651760" cy="64008"/>
          </a:xfrm>
          <a:prstGeom prst="rect">
            <a:avLst/>
          </a:prstGeom>
          <a:solidFill>
            <a:srgbClr val="E8B44B"/>
          </a:solidFill>
          <a:ln/>
        </p:spPr>
      </p:sp>
      <p:pic>
        <p:nvPicPr>
          <p:cNvPr id="13" name="Image 1" descr="preencoded.png"/>
          <p:cNvPicPr>
            <a:picLocks noChangeAspect="1"/>
          </p:cNvPicPr>
          <p:nvPr/>
        </p:nvPicPr>
        <p:blipFill>
          <a:blip r:embed="rId4"/>
          <a:stretch>
            <a:fillRect/>
          </a:stretch>
        </p:blipFill>
        <p:spPr>
          <a:xfrm>
            <a:off x="4343400" y="1554480"/>
            <a:ext cx="548640" cy="548640"/>
          </a:xfrm>
          <a:prstGeom prst="rect">
            <a:avLst/>
          </a:prstGeom>
        </p:spPr>
      </p:pic>
      <p:sp>
        <p:nvSpPr>
          <p:cNvPr id="14" name="Text 10"/>
          <p:cNvSpPr/>
          <p:nvPr/>
        </p:nvSpPr>
        <p:spPr>
          <a:xfrm>
            <a:off x="3337560" y="2194560"/>
            <a:ext cx="2651760" cy="365760"/>
          </a:xfrm>
          <a:prstGeom prst="rect">
            <a:avLst/>
          </a:prstGeom>
          <a:noFill/>
          <a:ln/>
        </p:spPr>
        <p:txBody>
          <a:bodyPr wrap="square" lIns="0" tIns="0" rIns="0" bIns="0" rtlCol="0" anchor="ctr"/>
          <a:lstStyle/>
          <a:p>
            <a:pPr marL="0" indent="0" algn="ctr">
              <a:buNone/>
            </a:pPr>
            <a:r>
              <a:rPr lang="en-US" sz="1700" b="1" dirty="0">
                <a:solidFill>
                  <a:srgbClr val="0B2545"/>
                </a:solidFill>
                <a:latin typeface="Trebuchet MS" pitchFamily="34" charset="0"/>
                <a:ea typeface="Trebuchet MS" pitchFamily="34" charset="-122"/>
                <a:cs typeface="Trebuchet MS" pitchFamily="34" charset="-120"/>
              </a:rPr>
              <a:t>The Manager</a:t>
            </a:r>
            <a:endParaRPr lang="en-US" sz="1700" dirty="0"/>
          </a:p>
        </p:txBody>
      </p:sp>
      <p:sp>
        <p:nvSpPr>
          <p:cNvPr id="15" name="Text 11"/>
          <p:cNvSpPr/>
          <p:nvPr/>
        </p:nvSpPr>
        <p:spPr>
          <a:xfrm>
            <a:off x="3337560" y="2514600"/>
            <a:ext cx="2651760" cy="320040"/>
          </a:xfrm>
          <a:prstGeom prst="rect">
            <a:avLst/>
          </a:prstGeom>
          <a:noFill/>
          <a:ln/>
        </p:spPr>
        <p:txBody>
          <a:bodyPr wrap="square" lIns="0" tIns="0" rIns="0" bIns="0" rtlCol="0" anchor="ctr"/>
          <a:lstStyle/>
          <a:p>
            <a:pPr marL="0" indent="0" algn="ctr">
              <a:buNone/>
            </a:pPr>
            <a:r>
              <a:rPr lang="en-US" sz="1200" i="1" dirty="0">
                <a:solidFill>
                  <a:srgbClr val="E8B44B"/>
                </a:solidFill>
                <a:latin typeface="Calibri" pitchFamily="34" charset="0"/>
                <a:ea typeface="Calibri" pitchFamily="34" charset="-122"/>
                <a:cs typeface="Calibri" pitchFamily="34" charset="-120"/>
              </a:rPr>
              <a:t>"Will this make my life harder?"</a:t>
            </a:r>
            <a:endParaRPr lang="en-US" sz="1200" dirty="0"/>
          </a:p>
        </p:txBody>
      </p:sp>
      <p:sp>
        <p:nvSpPr>
          <p:cNvPr id="16" name="Shape 12"/>
          <p:cNvSpPr/>
          <p:nvPr/>
        </p:nvSpPr>
        <p:spPr>
          <a:xfrm>
            <a:off x="3611880" y="2880360"/>
            <a:ext cx="2103120" cy="18288"/>
          </a:xfrm>
          <a:prstGeom prst="rect">
            <a:avLst/>
          </a:prstGeom>
          <a:solidFill>
            <a:srgbClr val="F5F0E8"/>
          </a:solidFill>
          <a:ln/>
        </p:spPr>
      </p:sp>
      <p:sp>
        <p:nvSpPr>
          <p:cNvPr id="17" name="Text 13"/>
          <p:cNvSpPr/>
          <p:nvPr/>
        </p:nvSpPr>
        <p:spPr>
          <a:xfrm>
            <a:off x="3566160" y="3017520"/>
            <a:ext cx="2194560" cy="1371600"/>
          </a:xfrm>
          <a:prstGeom prst="rect">
            <a:avLst/>
          </a:prstGeom>
          <a:noFill/>
          <a:ln/>
        </p:spPr>
        <p:txBody>
          <a:bodyPr wrap="square" lIns="0" tIns="0" rIns="0" bIns="0" rtlCol="0" anchor="ctr"/>
          <a:lstStyle/>
          <a:p>
            <a:pPr marL="0" indent="0">
              <a:buNone/>
            </a:pPr>
            <a:r>
              <a:rPr lang="en-US" sz="1100" dirty="0">
                <a:solidFill>
                  <a:srgbClr val="6B6B7B"/>
                </a:solidFill>
                <a:latin typeface="Calibri" pitchFamily="34" charset="0"/>
                <a:ea typeface="Calibri" pitchFamily="34" charset="-122"/>
                <a:cs typeface="Calibri" pitchFamily="34" charset="-120"/>
              </a:rPr>
              <a:t>Day-to-day operator. Worried about onboarding pain, staff pushback, and workflow disruption. Needs reassurance.</a:t>
            </a:r>
            <a:endParaRPr lang="en-US" sz="1100" dirty="0"/>
          </a:p>
        </p:txBody>
      </p:sp>
      <p:sp>
        <p:nvSpPr>
          <p:cNvPr id="18" name="Shape 14"/>
          <p:cNvSpPr/>
          <p:nvPr/>
        </p:nvSpPr>
        <p:spPr>
          <a:xfrm>
            <a:off x="6217920" y="1325880"/>
            <a:ext cx="2651760" cy="3200400"/>
          </a:xfrm>
          <a:prstGeom prst="rect">
            <a:avLst/>
          </a:prstGeom>
          <a:solidFill>
            <a:srgbClr val="FFFFFF"/>
          </a:solidFill>
          <a:ln/>
          <a:effectLst>
            <a:outerShdw blurRad="50800" dist="25400" dir="8100000" algn="bl" rotWithShape="0">
              <a:srgbClr val="000000">
                <a:alpha val="10000"/>
              </a:srgbClr>
            </a:outerShdw>
          </a:effectLst>
        </p:spPr>
      </p:sp>
      <p:sp>
        <p:nvSpPr>
          <p:cNvPr id="19" name="Shape 15"/>
          <p:cNvSpPr/>
          <p:nvPr/>
        </p:nvSpPr>
        <p:spPr>
          <a:xfrm>
            <a:off x="6217920" y="1325880"/>
            <a:ext cx="2651760" cy="64008"/>
          </a:xfrm>
          <a:prstGeom prst="rect">
            <a:avLst/>
          </a:prstGeom>
          <a:solidFill>
            <a:srgbClr val="E85D5D"/>
          </a:solidFill>
          <a:ln/>
        </p:spPr>
      </p:sp>
      <p:pic>
        <p:nvPicPr>
          <p:cNvPr id="20" name="Image 2" descr="preencoded.png"/>
          <p:cNvPicPr>
            <a:picLocks noChangeAspect="1"/>
          </p:cNvPicPr>
          <p:nvPr/>
        </p:nvPicPr>
        <p:blipFill>
          <a:blip r:embed="rId5"/>
          <a:stretch>
            <a:fillRect/>
          </a:stretch>
        </p:blipFill>
        <p:spPr>
          <a:xfrm>
            <a:off x="7223760" y="1554480"/>
            <a:ext cx="548640" cy="548640"/>
          </a:xfrm>
          <a:prstGeom prst="rect">
            <a:avLst/>
          </a:prstGeom>
        </p:spPr>
      </p:pic>
      <p:sp>
        <p:nvSpPr>
          <p:cNvPr id="21" name="Text 16"/>
          <p:cNvSpPr/>
          <p:nvPr/>
        </p:nvSpPr>
        <p:spPr>
          <a:xfrm>
            <a:off x="6217920" y="2194560"/>
            <a:ext cx="2651760" cy="365760"/>
          </a:xfrm>
          <a:prstGeom prst="rect">
            <a:avLst/>
          </a:prstGeom>
          <a:noFill/>
          <a:ln/>
        </p:spPr>
        <p:txBody>
          <a:bodyPr wrap="square" lIns="0" tIns="0" rIns="0" bIns="0" rtlCol="0" anchor="ctr"/>
          <a:lstStyle/>
          <a:p>
            <a:pPr marL="0" indent="0" algn="ctr">
              <a:buNone/>
            </a:pPr>
            <a:r>
              <a:rPr lang="en-US" sz="1700" b="1" dirty="0">
                <a:solidFill>
                  <a:srgbClr val="0B2545"/>
                </a:solidFill>
                <a:latin typeface="Trebuchet MS" pitchFamily="34" charset="0"/>
                <a:ea typeface="Trebuchet MS" pitchFamily="34" charset="-122"/>
                <a:cs typeface="Trebuchet MS" pitchFamily="34" charset="-120"/>
              </a:rPr>
              <a:t>The Committee</a:t>
            </a:r>
            <a:endParaRPr lang="en-US" sz="1700" dirty="0"/>
          </a:p>
        </p:txBody>
      </p:sp>
      <p:sp>
        <p:nvSpPr>
          <p:cNvPr id="22" name="Text 17"/>
          <p:cNvSpPr/>
          <p:nvPr/>
        </p:nvSpPr>
        <p:spPr>
          <a:xfrm>
            <a:off x="6217920" y="2514600"/>
            <a:ext cx="2651760" cy="320040"/>
          </a:xfrm>
          <a:prstGeom prst="rect">
            <a:avLst/>
          </a:prstGeom>
          <a:noFill/>
          <a:ln/>
        </p:spPr>
        <p:txBody>
          <a:bodyPr wrap="square" lIns="0" tIns="0" rIns="0" bIns="0" rtlCol="0" anchor="ctr"/>
          <a:lstStyle/>
          <a:p>
            <a:pPr marL="0" indent="0" algn="ctr">
              <a:buNone/>
            </a:pPr>
            <a:r>
              <a:rPr lang="en-US" sz="1200" i="1" dirty="0">
                <a:solidFill>
                  <a:srgbClr val="E85D5D"/>
                </a:solidFill>
                <a:latin typeface="Calibri" pitchFamily="34" charset="0"/>
                <a:ea typeface="Calibri" pitchFamily="34" charset="-122"/>
                <a:cs typeface="Calibri" pitchFamily="34" charset="-120"/>
              </a:rPr>
              <a:t>"We need to loop in others"</a:t>
            </a:r>
            <a:endParaRPr lang="en-US" sz="1200" dirty="0"/>
          </a:p>
        </p:txBody>
      </p:sp>
      <p:sp>
        <p:nvSpPr>
          <p:cNvPr id="23" name="Shape 18"/>
          <p:cNvSpPr/>
          <p:nvPr/>
        </p:nvSpPr>
        <p:spPr>
          <a:xfrm>
            <a:off x="6492240" y="2880360"/>
            <a:ext cx="2103120" cy="18288"/>
          </a:xfrm>
          <a:prstGeom prst="rect">
            <a:avLst/>
          </a:prstGeom>
          <a:solidFill>
            <a:srgbClr val="F5F0E8"/>
          </a:solidFill>
          <a:ln/>
        </p:spPr>
      </p:sp>
      <p:sp>
        <p:nvSpPr>
          <p:cNvPr id="24" name="Text 19"/>
          <p:cNvSpPr/>
          <p:nvPr/>
        </p:nvSpPr>
        <p:spPr>
          <a:xfrm>
            <a:off x="6446520" y="3017520"/>
            <a:ext cx="2194560" cy="1371600"/>
          </a:xfrm>
          <a:prstGeom prst="rect">
            <a:avLst/>
          </a:prstGeom>
          <a:noFill/>
          <a:ln/>
        </p:spPr>
        <p:txBody>
          <a:bodyPr wrap="square" lIns="0" tIns="0" rIns="0" bIns="0" rtlCol="0" anchor="ctr"/>
          <a:lstStyle/>
          <a:p>
            <a:pPr marL="0" indent="0">
              <a:buNone/>
            </a:pPr>
            <a:r>
              <a:rPr lang="en-US" sz="1100" dirty="0">
                <a:solidFill>
                  <a:srgbClr val="6B6B7B"/>
                </a:solidFill>
                <a:latin typeface="Calibri" pitchFamily="34" charset="0"/>
                <a:ea typeface="Calibri" pitchFamily="34" charset="-122"/>
                <a:cs typeface="Calibri" pitchFamily="34" charset="-120"/>
              </a:rPr>
              <a:t>Multiple decision-makers. Consensus-driven. Moves slowly. Objections are often proxies for uncertainty about internal alignment.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3818D"/>
          </a:solidFill>
          <a:ln/>
        </p:spPr>
      </p:sp>
      <p:sp>
        <p:nvSpPr>
          <p:cNvPr id="3" name="Text 1"/>
          <p:cNvSpPr/>
          <p:nvPr/>
        </p:nvSpPr>
        <p:spPr>
          <a:xfrm>
            <a:off x="640080" y="45720"/>
            <a:ext cx="1828800" cy="365760"/>
          </a:xfrm>
          <a:prstGeom prst="rect">
            <a:avLst/>
          </a:prstGeom>
          <a:noFill/>
          <a:ln/>
        </p:spPr>
        <p:txBody>
          <a:bodyPr wrap="square" lIns="0" tIns="0" rIns="0" bIns="0" rtlCol="0" anchor="ctr"/>
          <a:lstStyle/>
          <a:p>
            <a:pPr marL="0" indent="0">
              <a:buNone/>
            </a:pPr>
            <a:r>
              <a:rPr lang="en-US" sz="1300" b="1" kern="0" spc="500" dirty="0">
                <a:solidFill>
                  <a:srgbClr val="44C7A0"/>
                </a:solidFill>
                <a:latin typeface="Trebuchet MS" pitchFamily="34" charset="0"/>
                <a:ea typeface="Trebuchet MS" pitchFamily="34" charset="-122"/>
                <a:cs typeface="Trebuchet MS" pitchFamily="34" charset="-120"/>
              </a:rPr>
              <a:t>ROUND 1</a:t>
            </a:r>
            <a:endParaRPr lang="en-US" sz="1300" dirty="0"/>
          </a:p>
        </p:txBody>
      </p:sp>
      <p:sp>
        <p:nvSpPr>
          <p:cNvPr id="4" name="Text 2"/>
          <p:cNvSpPr/>
          <p:nvPr/>
        </p:nvSpPr>
        <p:spPr>
          <a:xfrm>
            <a:off x="640080" y="320040"/>
            <a:ext cx="7315200" cy="4114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The Owner — "This Costs Too Much"</a:t>
            </a:r>
            <a:endParaRPr lang="en-US" sz="2200" dirty="0"/>
          </a:p>
        </p:txBody>
      </p:sp>
      <p:sp>
        <p:nvSpPr>
          <p:cNvPr id="5" name="Shape 3"/>
          <p:cNvSpPr/>
          <p:nvPr/>
        </p:nvSpPr>
        <p:spPr>
          <a:xfrm>
            <a:off x="457200" y="1051560"/>
            <a:ext cx="8229600" cy="1371600"/>
          </a:xfrm>
          <a:prstGeom prst="rect">
            <a:avLst/>
          </a:prstGeom>
          <a:solidFill>
            <a:srgbClr val="FFFFFF"/>
          </a:solidFill>
          <a:ln/>
          <a:effectLst>
            <a:outerShdw blurRad="50800" dist="25400" dir="8100000" algn="bl" rotWithShape="0">
              <a:srgbClr val="000000">
                <a:alpha val="10000"/>
              </a:srgbClr>
            </a:outerShdw>
          </a:effectLst>
        </p:spPr>
      </p:sp>
      <p:sp>
        <p:nvSpPr>
          <p:cNvPr id="6" name="Shape 4"/>
          <p:cNvSpPr/>
          <p:nvPr/>
        </p:nvSpPr>
        <p:spPr>
          <a:xfrm>
            <a:off x="457200" y="1051560"/>
            <a:ext cx="64008" cy="1371600"/>
          </a:xfrm>
          <a:prstGeom prst="rect">
            <a:avLst/>
          </a:prstGeom>
          <a:solidFill>
            <a:srgbClr val="E85D5D"/>
          </a:solidFill>
          <a:ln/>
        </p:spPr>
      </p:sp>
      <p:pic>
        <p:nvPicPr>
          <p:cNvPr id="7" name="Image 0" descr="preencoded.png"/>
          <p:cNvPicPr>
            <a:picLocks noChangeAspect="1"/>
          </p:cNvPicPr>
          <p:nvPr/>
        </p:nvPicPr>
        <p:blipFill>
          <a:blip r:embed="rId3"/>
          <a:stretch>
            <a:fillRect/>
          </a:stretch>
        </p:blipFill>
        <p:spPr>
          <a:xfrm>
            <a:off x="731520" y="1234440"/>
            <a:ext cx="320040" cy="320040"/>
          </a:xfrm>
          <a:prstGeom prst="rect">
            <a:avLst/>
          </a:prstGeom>
        </p:spPr>
      </p:pic>
      <p:sp>
        <p:nvSpPr>
          <p:cNvPr id="8" name="Text 5"/>
          <p:cNvSpPr/>
          <p:nvPr/>
        </p:nvSpPr>
        <p:spPr>
          <a:xfrm>
            <a:off x="1188720" y="1143000"/>
            <a:ext cx="2743200" cy="320040"/>
          </a:xfrm>
          <a:prstGeom prst="rect">
            <a:avLst/>
          </a:prstGeom>
          <a:noFill/>
          <a:ln/>
        </p:spPr>
        <p:txBody>
          <a:bodyPr wrap="square" lIns="0" tIns="0" rIns="0" bIns="0" rtlCol="0" anchor="ctr"/>
          <a:lstStyle/>
          <a:p>
            <a:pPr marL="0" indent="0">
              <a:buNone/>
            </a:pPr>
            <a:r>
              <a:rPr lang="en-US" sz="1200" b="1" kern="0" spc="300" dirty="0">
                <a:solidFill>
                  <a:srgbClr val="E85D5D"/>
                </a:solidFill>
                <a:latin typeface="Trebuchet MS" pitchFamily="34" charset="0"/>
                <a:ea typeface="Trebuchet MS" pitchFamily="34" charset="-122"/>
                <a:cs typeface="Trebuchet MS" pitchFamily="34" charset="-120"/>
              </a:rPr>
              <a:t>THE OBJECTION</a:t>
            </a:r>
            <a:endParaRPr lang="en-US" sz="1200" dirty="0"/>
          </a:p>
        </p:txBody>
      </p:sp>
      <p:sp>
        <p:nvSpPr>
          <p:cNvPr id="9" name="Text 6"/>
          <p:cNvSpPr/>
          <p:nvPr/>
        </p:nvSpPr>
        <p:spPr>
          <a:xfrm>
            <a:off x="1188720" y="1463040"/>
            <a:ext cx="7223760" cy="822960"/>
          </a:xfrm>
          <a:prstGeom prst="rect">
            <a:avLst/>
          </a:prstGeom>
          <a:noFill/>
          <a:ln/>
        </p:spPr>
        <p:txBody>
          <a:bodyPr wrap="square" lIns="0" tIns="0" rIns="0" bIns="0" rtlCol="0" anchor="ctr"/>
          <a:lstStyle/>
          <a:p>
            <a:pPr marL="0" indent="0">
              <a:buNone/>
            </a:pPr>
            <a:r>
              <a:rPr lang="en-US" sz="1300" i="1" dirty="0">
                <a:solidFill>
                  <a:srgbClr val="0B2545"/>
                </a:solidFill>
                <a:latin typeface="Calibri" pitchFamily="34" charset="0"/>
                <a:ea typeface="Calibri" pitchFamily="34" charset="-122"/>
                <a:cs typeface="Calibri" pitchFamily="34" charset="-120"/>
              </a:rPr>
              <a:t>"We just renewed with [Competitor] six months ago. I can't justify switching software right now — the cost to move would be insane, and my team is already overwhelmed."</a:t>
            </a:r>
            <a:endParaRPr lang="en-US" sz="1300" dirty="0"/>
          </a:p>
        </p:txBody>
      </p:sp>
      <p:sp>
        <p:nvSpPr>
          <p:cNvPr id="10" name="Shape 7"/>
          <p:cNvSpPr/>
          <p:nvPr/>
        </p:nvSpPr>
        <p:spPr>
          <a:xfrm>
            <a:off x="457200" y="2651760"/>
            <a:ext cx="3977640" cy="2011680"/>
          </a:xfrm>
          <a:prstGeom prst="rect">
            <a:avLst/>
          </a:prstGeom>
          <a:solidFill>
            <a:srgbClr val="FFFFFF"/>
          </a:solidFill>
          <a:ln/>
          <a:effectLst>
            <a:outerShdw blurRad="50800" dist="25400" dir="8100000" algn="bl" rotWithShape="0">
              <a:srgbClr val="000000">
                <a:alpha val="10000"/>
              </a:srgbClr>
            </a:outerShdw>
          </a:effectLst>
        </p:spPr>
      </p:sp>
      <p:sp>
        <p:nvSpPr>
          <p:cNvPr id="11" name="Shape 8"/>
          <p:cNvSpPr/>
          <p:nvPr/>
        </p:nvSpPr>
        <p:spPr>
          <a:xfrm>
            <a:off x="457200" y="2651760"/>
            <a:ext cx="3977640" cy="365760"/>
          </a:xfrm>
          <a:prstGeom prst="rect">
            <a:avLst/>
          </a:prstGeom>
          <a:solidFill>
            <a:srgbClr val="0B2545"/>
          </a:solidFill>
          <a:ln/>
        </p:spPr>
      </p:sp>
      <p:sp>
        <p:nvSpPr>
          <p:cNvPr id="12" name="Text 9"/>
          <p:cNvSpPr/>
          <p:nvPr/>
        </p:nvSpPr>
        <p:spPr>
          <a:xfrm>
            <a:off x="640080" y="2651760"/>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PROSPECT BRIEF (for role-player)</a:t>
            </a:r>
            <a:endParaRPr lang="en-US" sz="1100" dirty="0"/>
          </a:p>
        </p:txBody>
      </p:sp>
      <p:sp>
        <p:nvSpPr>
          <p:cNvPr id="13" name="Text 10"/>
          <p:cNvSpPr/>
          <p:nvPr/>
        </p:nvSpPr>
        <p:spPr>
          <a:xfrm>
            <a:off x="640080" y="3108960"/>
            <a:ext cx="3611880" cy="1463040"/>
          </a:xfrm>
          <a:prstGeom prst="rect">
            <a:avLst/>
          </a:prstGeom>
          <a:noFill/>
          <a:ln/>
        </p:spPr>
        <p:txBody>
          <a:bodyPr wrap="square" lIns="0" tIns="0" rIns="0" bIns="0" rtlCol="0" anchor="ctr"/>
          <a:lstStyle/>
          <a:p>
            <a:pPr marL="0" indent="0">
              <a:buNone/>
            </a:pPr>
            <a:r>
              <a:rPr lang="en-US" sz="1200" dirty="0">
                <a:solidFill>
                  <a:srgbClr val="6B6B7B"/>
                </a:solidFill>
                <a:latin typeface="Calibri" pitchFamily="34" charset="0"/>
                <a:ea typeface="Calibri" pitchFamily="34" charset="-122"/>
                <a:cs typeface="Calibri" pitchFamily="34" charset="-120"/>
              </a:rPr>
              <a:t>You're Dana, owner of a 2-location salon doing $1.2M/yr.</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You signed a 2-year deal with Vagaro 6 months ago.</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Pain: reporting is terrible, but switching feels risky.</a:t>
            </a:r>
            <a:endParaRPr lang="en-US" sz="1200" dirty="0"/>
          </a:p>
          <a:p>
            <a:pPr marL="0" indent="0">
              <a:buNone/>
            </a:pPr>
            <a:r>
              <a:rPr lang="en-US" sz="1200" b="1" dirty="0">
                <a:solidFill>
                  <a:srgbClr val="13818D"/>
                </a:solidFill>
                <a:latin typeface="Calibri" pitchFamily="34" charset="0"/>
                <a:ea typeface="Calibri" pitchFamily="34" charset="-122"/>
                <a:cs typeface="Calibri" pitchFamily="34" charset="-120"/>
              </a:rPr>
              <a:t>You'll soften IF the rep addresses cost AND disruption.</a:t>
            </a:r>
            <a:endParaRPr lang="en-US" sz="1200" dirty="0"/>
          </a:p>
        </p:txBody>
      </p:sp>
      <p:sp>
        <p:nvSpPr>
          <p:cNvPr id="14" name="Shape 11"/>
          <p:cNvSpPr/>
          <p:nvPr/>
        </p:nvSpPr>
        <p:spPr>
          <a:xfrm>
            <a:off x="4709160" y="2651760"/>
            <a:ext cx="3977640" cy="2011680"/>
          </a:xfrm>
          <a:prstGeom prst="rect">
            <a:avLst/>
          </a:prstGeom>
          <a:solidFill>
            <a:srgbClr val="FFFFFF"/>
          </a:solidFill>
          <a:ln/>
          <a:effectLst>
            <a:outerShdw blurRad="50800" dist="25400" dir="8100000" algn="bl" rotWithShape="0">
              <a:srgbClr val="000000">
                <a:alpha val="10000"/>
              </a:srgbClr>
            </a:outerShdw>
          </a:effectLst>
        </p:spPr>
      </p:sp>
      <p:sp>
        <p:nvSpPr>
          <p:cNvPr id="15" name="Shape 12"/>
          <p:cNvSpPr/>
          <p:nvPr/>
        </p:nvSpPr>
        <p:spPr>
          <a:xfrm>
            <a:off x="4709160" y="2651760"/>
            <a:ext cx="3977640" cy="365760"/>
          </a:xfrm>
          <a:prstGeom prst="rect">
            <a:avLst/>
          </a:prstGeom>
          <a:solidFill>
            <a:srgbClr val="13818D"/>
          </a:solidFill>
          <a:ln/>
        </p:spPr>
      </p:sp>
      <p:sp>
        <p:nvSpPr>
          <p:cNvPr id="16" name="Text 13"/>
          <p:cNvSpPr/>
          <p:nvPr/>
        </p:nvSpPr>
        <p:spPr>
          <a:xfrm>
            <a:off x="4892040" y="2651760"/>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REP PLAYBOOK</a:t>
            </a:r>
            <a:endParaRPr lang="en-US" sz="1100" dirty="0"/>
          </a:p>
        </p:txBody>
      </p:sp>
      <p:sp>
        <p:nvSpPr>
          <p:cNvPr id="17" name="Text 14"/>
          <p:cNvSpPr/>
          <p:nvPr/>
        </p:nvSpPr>
        <p:spPr>
          <a:xfrm>
            <a:off x="4892040" y="3108960"/>
            <a:ext cx="3611880" cy="146304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Framework: Feel, Felt, Found</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Acknowledge the cost concern — don't dismiss it.</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Pivot to cost of inaction (bad reporting = lost revenue).</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Offer a side-by-side ROI comparison as next step.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Round 1 Debrief: The Owner</a:t>
            </a:r>
            <a:endParaRPr lang="en-US" sz="2800" dirty="0"/>
          </a:p>
        </p:txBody>
      </p:sp>
      <p:sp>
        <p:nvSpPr>
          <p:cNvPr id="3" name="Shape 1"/>
          <p:cNvSpPr/>
          <p:nvPr/>
        </p:nvSpPr>
        <p:spPr>
          <a:xfrm>
            <a:off x="457200" y="1005840"/>
            <a:ext cx="3977640" cy="3017520"/>
          </a:xfrm>
          <a:prstGeom prst="rect">
            <a:avLst/>
          </a:prstGeom>
          <a:solidFill>
            <a:srgbClr val="0E3158"/>
          </a:solidFill>
          <a:ln/>
          <a:effectLst>
            <a:outerShdw blurRad="50800" dist="25400" dir="8100000" algn="bl" rotWithShape="0">
              <a:srgbClr val="000000">
                <a:alpha val="10000"/>
              </a:srgbClr>
            </a:outerShdw>
          </a:effectLst>
        </p:spPr>
      </p:sp>
      <p:sp>
        <p:nvSpPr>
          <p:cNvPr id="4" name="Shape 2"/>
          <p:cNvSpPr/>
          <p:nvPr/>
        </p:nvSpPr>
        <p:spPr>
          <a:xfrm>
            <a:off x="457200" y="1005840"/>
            <a:ext cx="3977640" cy="64008"/>
          </a:xfrm>
          <a:prstGeom prst="rect">
            <a:avLst/>
          </a:prstGeom>
          <a:solidFill>
            <a:srgbClr val="44C7A0"/>
          </a:solidFill>
          <a:ln/>
        </p:spPr>
      </p:sp>
      <p:pic>
        <p:nvPicPr>
          <p:cNvPr id="5" name="Image 0" descr="preencoded.png"/>
          <p:cNvPicPr>
            <a:picLocks noChangeAspect="1"/>
          </p:cNvPicPr>
          <p:nvPr/>
        </p:nvPicPr>
        <p:blipFill>
          <a:blip r:embed="rId3"/>
          <a:stretch>
            <a:fillRect/>
          </a:stretch>
        </p:blipFill>
        <p:spPr>
          <a:xfrm>
            <a:off x="685800" y="1188720"/>
            <a:ext cx="320040" cy="320040"/>
          </a:xfrm>
          <a:prstGeom prst="rect">
            <a:avLst/>
          </a:prstGeom>
        </p:spPr>
      </p:pic>
      <p:sp>
        <p:nvSpPr>
          <p:cNvPr id="6" name="Text 3"/>
          <p:cNvSpPr/>
          <p:nvPr/>
        </p:nvSpPr>
        <p:spPr>
          <a:xfrm>
            <a:off x="1097280" y="1188720"/>
            <a:ext cx="3108960" cy="320040"/>
          </a:xfrm>
          <a:prstGeom prst="rect">
            <a:avLst/>
          </a:prstGeom>
          <a:noFill/>
          <a:ln/>
        </p:spPr>
        <p:txBody>
          <a:bodyPr wrap="square" lIns="0" tIns="0" rIns="0" bIns="0" rtlCol="0" anchor="ctr"/>
          <a:lstStyle/>
          <a:p>
            <a:pPr marL="0" indent="0">
              <a:buNone/>
            </a:pPr>
            <a:r>
              <a:rPr lang="en-US" sz="1200" b="1" kern="0" spc="200" dirty="0">
                <a:solidFill>
                  <a:srgbClr val="44C7A0"/>
                </a:solidFill>
                <a:latin typeface="Trebuchet MS" pitchFamily="34" charset="0"/>
                <a:ea typeface="Trebuchet MS" pitchFamily="34" charset="-122"/>
                <a:cs typeface="Trebuchet MS" pitchFamily="34" charset="-120"/>
              </a:rPr>
              <a:t>WHAT GREAT LOOKS LIKE</a:t>
            </a:r>
            <a:endParaRPr lang="en-US" sz="1200" dirty="0"/>
          </a:p>
        </p:txBody>
      </p:sp>
      <p:sp>
        <p:nvSpPr>
          <p:cNvPr id="7" name="Text 4"/>
          <p:cNvSpPr/>
          <p:nvPr/>
        </p:nvSpPr>
        <p:spPr>
          <a:xfrm>
            <a:off x="685800" y="164592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"I totally understand — that's a real investment." (Validate</a:t>
            </a:r>
            <a:r>
              <a:rPr lang="en-US" sz="1100" dirty="0">
                <a:solidFill>
                  <a:srgbClr val="C0D0E0"/>
                </a:solidFill>
                <a:latin typeface="Calibri"/>
                <a:ea typeface="Calibri"/>
                <a:cs typeface="Calibri"/>
              </a:rPr>
              <a:t>)</a:t>
            </a:r>
            <a:endParaRPr lang="en-US" sz="1100" dirty="0">
              <a:latin typeface="Calibri"/>
              <a:ea typeface="Calibri"/>
              <a:cs typeface="Calibri"/>
            </a:endParaRPr>
          </a:p>
        </p:txBody>
      </p:sp>
      <p:sp>
        <p:nvSpPr>
          <p:cNvPr id="8" name="Text 5"/>
          <p:cNvSpPr/>
          <p:nvPr/>
        </p:nvSpPr>
        <p:spPr>
          <a:xfrm>
            <a:off x="685800" y="219456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"A few owners felt the same way, then found the reporting gaps were costing more than the switch." (FFF)</a:t>
            </a:r>
          </a:p>
        </p:txBody>
      </p:sp>
      <p:sp>
        <p:nvSpPr>
          <p:cNvPr id="9" name="Text 6"/>
          <p:cNvSpPr/>
          <p:nvPr/>
        </p:nvSpPr>
        <p:spPr>
          <a:xfrm>
            <a:off x="685800" y="274320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Ask: "What's your visibility into per-location P&amp;L right now?" (Isolate the pain)</a:t>
            </a:r>
          </a:p>
        </p:txBody>
      </p:sp>
      <p:sp>
        <p:nvSpPr>
          <p:cNvPr id="10" name="Text 7"/>
          <p:cNvSpPr/>
          <p:nvPr/>
        </p:nvSpPr>
        <p:spPr>
          <a:xfrm>
            <a:off x="685800" y="329184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Offer a no-pressure ROI walkthrough as next step</a:t>
            </a:r>
          </a:p>
        </p:txBody>
      </p:sp>
      <p:sp>
        <p:nvSpPr>
          <p:cNvPr id="11" name="Shape 8"/>
          <p:cNvSpPr/>
          <p:nvPr/>
        </p:nvSpPr>
        <p:spPr>
          <a:xfrm>
            <a:off x="4709160" y="1005840"/>
            <a:ext cx="3977640" cy="3017520"/>
          </a:xfrm>
          <a:prstGeom prst="rect">
            <a:avLst/>
          </a:prstGeom>
          <a:solidFill>
            <a:srgbClr val="0E3158"/>
          </a:solidFill>
          <a:ln/>
          <a:effectLst>
            <a:outerShdw blurRad="50800" dist="25400" dir="8100000" algn="bl" rotWithShape="0">
              <a:srgbClr val="000000">
                <a:alpha val="10000"/>
              </a:srgbClr>
            </a:outerShdw>
          </a:effectLst>
        </p:spPr>
      </p:sp>
      <p:sp>
        <p:nvSpPr>
          <p:cNvPr id="12" name="Shape 9"/>
          <p:cNvSpPr/>
          <p:nvPr/>
        </p:nvSpPr>
        <p:spPr>
          <a:xfrm>
            <a:off x="4709160" y="1005840"/>
            <a:ext cx="3977640" cy="64008"/>
          </a:xfrm>
          <a:prstGeom prst="rect">
            <a:avLst/>
          </a:prstGeom>
          <a:solidFill>
            <a:srgbClr val="E85D5D"/>
          </a:solidFill>
          <a:ln/>
        </p:spPr>
      </p:sp>
      <p:pic>
        <p:nvPicPr>
          <p:cNvPr id="13" name="Image 1" descr="preencoded.png"/>
          <p:cNvPicPr>
            <a:picLocks noChangeAspect="1"/>
          </p:cNvPicPr>
          <p:nvPr/>
        </p:nvPicPr>
        <p:blipFill>
          <a:blip r:embed="rId4"/>
          <a:stretch>
            <a:fillRect/>
          </a:stretch>
        </p:blipFill>
        <p:spPr>
          <a:xfrm>
            <a:off x="4937760" y="1188720"/>
            <a:ext cx="320040" cy="320040"/>
          </a:xfrm>
          <a:prstGeom prst="rect">
            <a:avLst/>
          </a:prstGeom>
        </p:spPr>
      </p:pic>
      <p:sp>
        <p:nvSpPr>
          <p:cNvPr id="14" name="Text 10"/>
          <p:cNvSpPr/>
          <p:nvPr/>
        </p:nvSpPr>
        <p:spPr>
          <a:xfrm>
            <a:off x="5349240" y="1188720"/>
            <a:ext cx="3108960" cy="320040"/>
          </a:xfrm>
          <a:prstGeom prst="rect">
            <a:avLst/>
          </a:prstGeom>
          <a:noFill/>
          <a:ln/>
        </p:spPr>
        <p:txBody>
          <a:bodyPr wrap="square" lIns="0" tIns="0" rIns="0" bIns="0" rtlCol="0" anchor="ctr"/>
          <a:lstStyle/>
          <a:p>
            <a:pPr marL="0" indent="0">
              <a:buNone/>
            </a:pPr>
            <a:r>
              <a:rPr lang="en-US" sz="1200" b="1" kern="0" spc="200" dirty="0">
                <a:solidFill>
                  <a:srgbClr val="E85D5D"/>
                </a:solidFill>
                <a:latin typeface="Trebuchet MS" pitchFamily="34" charset="0"/>
                <a:ea typeface="Trebuchet MS" pitchFamily="34" charset="-122"/>
                <a:cs typeface="Trebuchet MS" pitchFamily="34" charset="-120"/>
              </a:rPr>
              <a:t>COMMON MISTAKES</a:t>
            </a:r>
            <a:endParaRPr lang="en-US" sz="1200" dirty="0"/>
          </a:p>
        </p:txBody>
      </p:sp>
      <p:sp>
        <p:nvSpPr>
          <p:cNvPr id="15" name="Text 11"/>
          <p:cNvSpPr/>
          <p:nvPr/>
        </p:nvSpPr>
        <p:spPr>
          <a:xfrm>
            <a:off x="4937760" y="164592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Jumping straight to features or pricing tiers</a:t>
            </a:r>
          </a:p>
        </p:txBody>
      </p:sp>
      <p:sp>
        <p:nvSpPr>
          <p:cNvPr id="16" name="Text 12"/>
          <p:cNvSpPr/>
          <p:nvPr/>
        </p:nvSpPr>
        <p:spPr>
          <a:xfrm>
            <a:off x="4937760" y="219456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"But we're actually cheaper than..." (sounds defensive)</a:t>
            </a:r>
          </a:p>
        </p:txBody>
      </p:sp>
      <p:sp>
        <p:nvSpPr>
          <p:cNvPr id="17" name="Text 13"/>
          <p:cNvSpPr/>
          <p:nvPr/>
        </p:nvSpPr>
        <p:spPr>
          <a:xfrm>
            <a:off x="4937760" y="274320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Ignoring the switching cost fear entirely</a:t>
            </a:r>
          </a:p>
        </p:txBody>
      </p:sp>
      <p:sp>
        <p:nvSpPr>
          <p:cNvPr id="18" name="Text 14"/>
          <p:cNvSpPr/>
          <p:nvPr/>
        </p:nvSpPr>
        <p:spPr>
          <a:xfrm>
            <a:off x="4937760" y="329184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Pushing for a demo before earning the right to one</a:t>
            </a:r>
          </a:p>
        </p:txBody>
      </p:sp>
      <p:sp>
        <p:nvSpPr>
          <p:cNvPr id="19" name="Shape 15"/>
          <p:cNvSpPr/>
          <p:nvPr/>
        </p:nvSpPr>
        <p:spPr>
          <a:xfrm>
            <a:off x="457200" y="4251960"/>
            <a:ext cx="8229600" cy="457200"/>
          </a:xfrm>
          <a:prstGeom prst="rect">
            <a:avLst/>
          </a:prstGeom>
          <a:solidFill>
            <a:srgbClr val="13818D"/>
          </a:solidFill>
          <a:ln/>
        </p:spPr>
      </p:sp>
      <p:sp>
        <p:nvSpPr>
          <p:cNvPr id="20" name="Text 16"/>
          <p:cNvSpPr/>
          <p:nvPr/>
        </p:nvSpPr>
        <p:spPr>
          <a:xfrm>
            <a:off x="640080" y="4251960"/>
            <a:ext cx="78638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Coaching Q: "Did the rep make Dana feel heard before pivoting to value?"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E8B44B"/>
          </a:solidFill>
          <a:ln/>
        </p:spPr>
      </p:sp>
      <p:sp>
        <p:nvSpPr>
          <p:cNvPr id="3" name="Text 1"/>
          <p:cNvSpPr/>
          <p:nvPr/>
        </p:nvSpPr>
        <p:spPr>
          <a:xfrm>
            <a:off x="640080" y="45720"/>
            <a:ext cx="1828800" cy="365760"/>
          </a:xfrm>
          <a:prstGeom prst="rect">
            <a:avLst/>
          </a:prstGeom>
          <a:noFill/>
          <a:ln/>
        </p:spPr>
        <p:txBody>
          <a:bodyPr wrap="square" lIns="0" tIns="0" rIns="0" bIns="0" rtlCol="0" anchor="ctr"/>
          <a:lstStyle/>
          <a:p>
            <a:pPr marL="0" indent="0">
              <a:buNone/>
            </a:pPr>
            <a:r>
              <a:rPr lang="en-US" sz="1300" b="1" kern="0" spc="500" dirty="0">
                <a:solidFill>
                  <a:srgbClr val="0B2545"/>
                </a:solidFill>
                <a:latin typeface="Trebuchet MS" pitchFamily="34" charset="0"/>
                <a:ea typeface="Trebuchet MS" pitchFamily="34" charset="-122"/>
                <a:cs typeface="Trebuchet MS" pitchFamily="34" charset="-120"/>
              </a:rPr>
              <a:t>ROUND 2</a:t>
            </a:r>
            <a:endParaRPr lang="en-US" sz="1300" dirty="0"/>
          </a:p>
        </p:txBody>
      </p:sp>
      <p:sp>
        <p:nvSpPr>
          <p:cNvPr id="4" name="Text 2"/>
          <p:cNvSpPr/>
          <p:nvPr/>
        </p:nvSpPr>
        <p:spPr>
          <a:xfrm>
            <a:off x="640080" y="320040"/>
            <a:ext cx="7772400" cy="411480"/>
          </a:xfrm>
          <a:prstGeom prst="rect">
            <a:avLst/>
          </a:prstGeom>
          <a:noFill/>
          <a:ln/>
        </p:spPr>
        <p:txBody>
          <a:bodyPr wrap="square" lIns="0" tIns="0" rIns="0" bIns="0" rtlCol="0" anchor="ctr"/>
          <a:lstStyle/>
          <a:p>
            <a:pPr marL="0" indent="0">
              <a:buNone/>
            </a:pPr>
            <a:r>
              <a:rPr lang="en-US" sz="2000" b="1" dirty="0">
                <a:solidFill>
                  <a:srgbClr val="0B2545"/>
                </a:solidFill>
                <a:latin typeface="Trebuchet MS" pitchFamily="34" charset="0"/>
                <a:ea typeface="Trebuchet MS" pitchFamily="34" charset="-122"/>
                <a:cs typeface="Trebuchet MS" pitchFamily="34" charset="-120"/>
              </a:rPr>
              <a:t>The Manager — "My Team Won't Learn New Software"</a:t>
            </a:r>
            <a:endParaRPr lang="en-US" sz="2000" dirty="0"/>
          </a:p>
        </p:txBody>
      </p:sp>
      <p:sp>
        <p:nvSpPr>
          <p:cNvPr id="5" name="Shape 3"/>
          <p:cNvSpPr/>
          <p:nvPr/>
        </p:nvSpPr>
        <p:spPr>
          <a:xfrm>
            <a:off x="457200" y="1051560"/>
            <a:ext cx="8229600" cy="1371600"/>
          </a:xfrm>
          <a:prstGeom prst="rect">
            <a:avLst/>
          </a:prstGeom>
          <a:solidFill>
            <a:srgbClr val="FFFFFF"/>
          </a:solidFill>
          <a:ln/>
          <a:effectLst>
            <a:outerShdw blurRad="50800" dist="25400" dir="8100000" algn="bl" rotWithShape="0">
              <a:srgbClr val="000000">
                <a:alpha val="10000"/>
              </a:srgbClr>
            </a:outerShdw>
          </a:effectLst>
        </p:spPr>
      </p:sp>
      <p:sp>
        <p:nvSpPr>
          <p:cNvPr id="6" name="Shape 4"/>
          <p:cNvSpPr/>
          <p:nvPr/>
        </p:nvSpPr>
        <p:spPr>
          <a:xfrm>
            <a:off x="457200" y="1051560"/>
            <a:ext cx="64008" cy="1371600"/>
          </a:xfrm>
          <a:prstGeom prst="rect">
            <a:avLst/>
          </a:prstGeom>
          <a:solidFill>
            <a:srgbClr val="E85D5D"/>
          </a:solidFill>
          <a:ln/>
        </p:spPr>
      </p:sp>
      <p:pic>
        <p:nvPicPr>
          <p:cNvPr id="7" name="Image 0" descr="preencoded.png"/>
          <p:cNvPicPr>
            <a:picLocks noChangeAspect="1"/>
          </p:cNvPicPr>
          <p:nvPr/>
        </p:nvPicPr>
        <p:blipFill>
          <a:blip r:embed="rId3"/>
          <a:stretch>
            <a:fillRect/>
          </a:stretch>
        </p:blipFill>
        <p:spPr>
          <a:xfrm>
            <a:off x="731520" y="1234440"/>
            <a:ext cx="320040" cy="320040"/>
          </a:xfrm>
          <a:prstGeom prst="rect">
            <a:avLst/>
          </a:prstGeom>
        </p:spPr>
      </p:pic>
      <p:sp>
        <p:nvSpPr>
          <p:cNvPr id="8" name="Text 5"/>
          <p:cNvSpPr/>
          <p:nvPr/>
        </p:nvSpPr>
        <p:spPr>
          <a:xfrm>
            <a:off x="1188720" y="1143000"/>
            <a:ext cx="2743200" cy="320040"/>
          </a:xfrm>
          <a:prstGeom prst="rect">
            <a:avLst/>
          </a:prstGeom>
          <a:noFill/>
          <a:ln/>
        </p:spPr>
        <p:txBody>
          <a:bodyPr wrap="square" lIns="0" tIns="0" rIns="0" bIns="0" rtlCol="0" anchor="ctr"/>
          <a:lstStyle/>
          <a:p>
            <a:pPr marL="0" indent="0">
              <a:buNone/>
            </a:pPr>
            <a:r>
              <a:rPr lang="en-US" sz="1200" b="1" kern="0" spc="300" dirty="0">
                <a:solidFill>
                  <a:srgbClr val="E85D5D"/>
                </a:solidFill>
                <a:latin typeface="Trebuchet MS" pitchFamily="34" charset="0"/>
                <a:ea typeface="Trebuchet MS" pitchFamily="34" charset="-122"/>
                <a:cs typeface="Trebuchet MS" pitchFamily="34" charset="-120"/>
              </a:rPr>
              <a:t>THE OBJECTION</a:t>
            </a:r>
            <a:endParaRPr lang="en-US" sz="1200" dirty="0"/>
          </a:p>
        </p:txBody>
      </p:sp>
      <p:sp>
        <p:nvSpPr>
          <p:cNvPr id="9" name="Text 6"/>
          <p:cNvSpPr/>
          <p:nvPr/>
        </p:nvSpPr>
        <p:spPr>
          <a:xfrm>
            <a:off x="1188720" y="1463040"/>
            <a:ext cx="7223760" cy="822960"/>
          </a:xfrm>
          <a:prstGeom prst="rect">
            <a:avLst/>
          </a:prstGeom>
          <a:noFill/>
          <a:ln/>
        </p:spPr>
        <p:txBody>
          <a:bodyPr wrap="square" lIns="0" tIns="0" rIns="0" bIns="0" rtlCol="0" anchor="ctr"/>
          <a:lstStyle/>
          <a:p>
            <a:pPr marL="0" indent="0">
              <a:buNone/>
            </a:pPr>
            <a:r>
              <a:rPr lang="en-US" sz="1300" i="1" dirty="0">
                <a:solidFill>
                  <a:srgbClr val="0B2545"/>
                </a:solidFill>
                <a:latin typeface="Calibri" pitchFamily="34" charset="0"/>
                <a:ea typeface="Calibri" pitchFamily="34" charset="-122"/>
                <a:cs typeface="Calibri" pitchFamily="34" charset="-120"/>
              </a:rPr>
              <a:t>"Look, I manage 14 stylists and half of them can barely use the system we have now. If I tell them we're switching software, I'll have a mutiny on my hands. The last thing I need is more chaos."</a:t>
            </a:r>
            <a:endParaRPr lang="en-US" sz="1300" dirty="0"/>
          </a:p>
        </p:txBody>
      </p:sp>
      <p:sp>
        <p:nvSpPr>
          <p:cNvPr id="10" name="Shape 7"/>
          <p:cNvSpPr/>
          <p:nvPr/>
        </p:nvSpPr>
        <p:spPr>
          <a:xfrm>
            <a:off x="457200" y="2651760"/>
            <a:ext cx="3977640" cy="2011680"/>
          </a:xfrm>
          <a:prstGeom prst="rect">
            <a:avLst/>
          </a:prstGeom>
          <a:solidFill>
            <a:srgbClr val="FFFFFF"/>
          </a:solidFill>
          <a:ln/>
          <a:effectLst>
            <a:outerShdw blurRad="50800" dist="25400" dir="8100000" algn="bl" rotWithShape="0">
              <a:srgbClr val="000000">
                <a:alpha val="10000"/>
              </a:srgbClr>
            </a:outerShdw>
          </a:effectLst>
        </p:spPr>
      </p:sp>
      <p:sp>
        <p:nvSpPr>
          <p:cNvPr id="11" name="Shape 8"/>
          <p:cNvSpPr/>
          <p:nvPr/>
        </p:nvSpPr>
        <p:spPr>
          <a:xfrm>
            <a:off x="457200" y="2651760"/>
            <a:ext cx="3977640" cy="365760"/>
          </a:xfrm>
          <a:prstGeom prst="rect">
            <a:avLst/>
          </a:prstGeom>
          <a:solidFill>
            <a:srgbClr val="0B2545"/>
          </a:solidFill>
          <a:ln/>
        </p:spPr>
      </p:sp>
      <p:sp>
        <p:nvSpPr>
          <p:cNvPr id="12" name="Text 9"/>
          <p:cNvSpPr/>
          <p:nvPr/>
        </p:nvSpPr>
        <p:spPr>
          <a:xfrm>
            <a:off x="640080" y="2651760"/>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PROSPECT BRIEF (for role-player)</a:t>
            </a:r>
            <a:endParaRPr lang="en-US" sz="1100" dirty="0"/>
          </a:p>
        </p:txBody>
      </p:sp>
      <p:sp>
        <p:nvSpPr>
          <p:cNvPr id="13" name="Text 10"/>
          <p:cNvSpPr/>
          <p:nvPr/>
        </p:nvSpPr>
        <p:spPr>
          <a:xfrm>
            <a:off x="640080" y="3108960"/>
            <a:ext cx="3611880" cy="1463040"/>
          </a:xfrm>
          <a:prstGeom prst="rect">
            <a:avLst/>
          </a:prstGeom>
          <a:noFill/>
          <a:ln/>
        </p:spPr>
        <p:txBody>
          <a:bodyPr wrap="square" lIns="0" tIns="0" rIns="0" bIns="0" rtlCol="0" anchor="ctr"/>
          <a:lstStyle/>
          <a:p>
            <a:pPr marL="0" indent="0">
              <a:buNone/>
            </a:pPr>
            <a:r>
              <a:rPr lang="en-US" sz="1200" dirty="0">
                <a:solidFill>
                  <a:srgbClr val="6B6B7B"/>
                </a:solidFill>
                <a:latin typeface="Calibri" pitchFamily="34" charset="0"/>
                <a:ea typeface="Calibri" pitchFamily="34" charset="-122"/>
                <a:cs typeface="Calibri" pitchFamily="34" charset="-120"/>
              </a:rPr>
              <a:t>You're Marcus, floor manager at a busy day spa.</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Your staff resisted the last software change 2 yrs ago.</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You secretly want better tools — but fear the transition.</a:t>
            </a:r>
            <a:endParaRPr lang="en-US" sz="1200" dirty="0"/>
          </a:p>
          <a:p>
            <a:pPr marL="0" indent="0">
              <a:buNone/>
            </a:pPr>
            <a:r>
              <a:rPr lang="en-US" sz="1200" b="1" dirty="0">
                <a:solidFill>
                  <a:srgbClr val="13818D"/>
                </a:solidFill>
                <a:latin typeface="Calibri" pitchFamily="34" charset="0"/>
                <a:ea typeface="Calibri" pitchFamily="34" charset="-122"/>
                <a:cs typeface="Calibri" pitchFamily="34" charset="-120"/>
              </a:rPr>
              <a:t>You'll open up IF the rep addresses onboarding specifics.</a:t>
            </a:r>
            <a:endParaRPr lang="en-US" sz="1200" dirty="0"/>
          </a:p>
        </p:txBody>
      </p:sp>
      <p:sp>
        <p:nvSpPr>
          <p:cNvPr id="14" name="Shape 11"/>
          <p:cNvSpPr/>
          <p:nvPr/>
        </p:nvSpPr>
        <p:spPr>
          <a:xfrm>
            <a:off x="4709160" y="2651760"/>
            <a:ext cx="3977640" cy="2011680"/>
          </a:xfrm>
          <a:prstGeom prst="rect">
            <a:avLst/>
          </a:prstGeom>
          <a:solidFill>
            <a:srgbClr val="FFFFFF"/>
          </a:solidFill>
          <a:ln/>
          <a:effectLst>
            <a:outerShdw blurRad="50800" dist="25400" dir="8100000" algn="bl" rotWithShape="0">
              <a:srgbClr val="000000">
                <a:alpha val="10000"/>
              </a:srgbClr>
            </a:outerShdw>
          </a:effectLst>
        </p:spPr>
      </p:sp>
      <p:sp>
        <p:nvSpPr>
          <p:cNvPr id="15" name="Shape 12"/>
          <p:cNvSpPr/>
          <p:nvPr/>
        </p:nvSpPr>
        <p:spPr>
          <a:xfrm>
            <a:off x="4709160" y="2651760"/>
            <a:ext cx="3977640" cy="365760"/>
          </a:xfrm>
          <a:prstGeom prst="rect">
            <a:avLst/>
          </a:prstGeom>
          <a:solidFill>
            <a:srgbClr val="E8B44B"/>
          </a:solidFill>
          <a:ln/>
        </p:spPr>
      </p:sp>
      <p:sp>
        <p:nvSpPr>
          <p:cNvPr id="16" name="Text 13"/>
          <p:cNvSpPr/>
          <p:nvPr/>
        </p:nvSpPr>
        <p:spPr>
          <a:xfrm>
            <a:off x="4892040" y="2651760"/>
            <a:ext cx="3657600" cy="365760"/>
          </a:xfrm>
          <a:prstGeom prst="rect">
            <a:avLst/>
          </a:prstGeom>
          <a:noFill/>
          <a:ln/>
        </p:spPr>
        <p:txBody>
          <a:bodyPr wrap="square" lIns="0" tIns="0" rIns="0" bIns="0" rtlCol="0" anchor="ctr"/>
          <a:lstStyle/>
          <a:p>
            <a:pPr marL="0" indent="0">
              <a:buNone/>
            </a:pPr>
            <a:r>
              <a:rPr lang="en-US" sz="1100" b="1" dirty="0">
                <a:solidFill>
                  <a:srgbClr val="0B2545"/>
                </a:solidFill>
                <a:latin typeface="Trebuchet MS" pitchFamily="34" charset="0"/>
                <a:ea typeface="Trebuchet MS" pitchFamily="34" charset="-122"/>
                <a:cs typeface="Trebuchet MS" pitchFamily="34" charset="-120"/>
              </a:rPr>
              <a:t>REP PLAYBOOK</a:t>
            </a:r>
            <a:endParaRPr lang="en-US" sz="1100" dirty="0"/>
          </a:p>
        </p:txBody>
      </p:sp>
      <p:sp>
        <p:nvSpPr>
          <p:cNvPr id="17" name="Text 14"/>
          <p:cNvSpPr/>
          <p:nvPr/>
        </p:nvSpPr>
        <p:spPr>
          <a:xfrm>
            <a:off x="4892040" y="3108960"/>
            <a:ext cx="3611880" cy="146304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Framework: Acknowledge &gt; Pivot &gt; Prove</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Validate the fear — staff pushback is real.</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Share Meevo's dedicated onboarding + training support.</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Reference a similar salon that transitioned smoothly.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Round 2 Debrief: The Manager</a:t>
            </a:r>
            <a:endParaRPr lang="en-US" sz="2800" dirty="0"/>
          </a:p>
        </p:txBody>
      </p:sp>
      <p:sp>
        <p:nvSpPr>
          <p:cNvPr id="3" name="Shape 1"/>
          <p:cNvSpPr/>
          <p:nvPr/>
        </p:nvSpPr>
        <p:spPr>
          <a:xfrm>
            <a:off x="457200" y="1005840"/>
            <a:ext cx="3977640" cy="3017520"/>
          </a:xfrm>
          <a:prstGeom prst="rect">
            <a:avLst/>
          </a:prstGeom>
          <a:solidFill>
            <a:srgbClr val="0E3158"/>
          </a:solidFill>
          <a:ln/>
          <a:effectLst>
            <a:outerShdw blurRad="50800" dist="25400" dir="8100000" algn="bl" rotWithShape="0">
              <a:srgbClr val="000000">
                <a:alpha val="10000"/>
              </a:srgbClr>
            </a:outerShdw>
          </a:effectLst>
        </p:spPr>
      </p:sp>
      <p:sp>
        <p:nvSpPr>
          <p:cNvPr id="4" name="Shape 2"/>
          <p:cNvSpPr/>
          <p:nvPr/>
        </p:nvSpPr>
        <p:spPr>
          <a:xfrm>
            <a:off x="457200" y="1005840"/>
            <a:ext cx="3977640" cy="64008"/>
          </a:xfrm>
          <a:prstGeom prst="rect">
            <a:avLst/>
          </a:prstGeom>
          <a:solidFill>
            <a:srgbClr val="44C7A0"/>
          </a:solidFill>
          <a:ln/>
        </p:spPr>
      </p:sp>
      <p:pic>
        <p:nvPicPr>
          <p:cNvPr id="5" name="Image 0" descr="preencoded.png"/>
          <p:cNvPicPr>
            <a:picLocks noChangeAspect="1"/>
          </p:cNvPicPr>
          <p:nvPr/>
        </p:nvPicPr>
        <p:blipFill>
          <a:blip r:embed="rId3"/>
          <a:stretch>
            <a:fillRect/>
          </a:stretch>
        </p:blipFill>
        <p:spPr>
          <a:xfrm>
            <a:off x="685800" y="1188720"/>
            <a:ext cx="320040" cy="320040"/>
          </a:xfrm>
          <a:prstGeom prst="rect">
            <a:avLst/>
          </a:prstGeom>
        </p:spPr>
      </p:pic>
      <p:sp>
        <p:nvSpPr>
          <p:cNvPr id="6" name="Text 3"/>
          <p:cNvSpPr/>
          <p:nvPr/>
        </p:nvSpPr>
        <p:spPr>
          <a:xfrm>
            <a:off x="1097280" y="1188720"/>
            <a:ext cx="3108960" cy="320040"/>
          </a:xfrm>
          <a:prstGeom prst="rect">
            <a:avLst/>
          </a:prstGeom>
          <a:noFill/>
          <a:ln/>
        </p:spPr>
        <p:txBody>
          <a:bodyPr wrap="square" lIns="0" tIns="0" rIns="0" bIns="0" rtlCol="0" anchor="ctr"/>
          <a:lstStyle/>
          <a:p>
            <a:pPr marL="0" indent="0">
              <a:buNone/>
            </a:pPr>
            <a:r>
              <a:rPr lang="en-US" sz="1200" b="1" kern="0" spc="200" dirty="0">
                <a:solidFill>
                  <a:srgbClr val="44C7A0"/>
                </a:solidFill>
                <a:latin typeface="Trebuchet MS" pitchFamily="34" charset="0"/>
                <a:ea typeface="Trebuchet MS" pitchFamily="34" charset="-122"/>
                <a:cs typeface="Trebuchet MS" pitchFamily="34" charset="-120"/>
              </a:rPr>
              <a:t>WHAT GREAT LOOKS LIKE</a:t>
            </a:r>
            <a:endParaRPr lang="en-US" sz="1200" dirty="0"/>
          </a:p>
        </p:txBody>
      </p:sp>
      <p:sp>
        <p:nvSpPr>
          <p:cNvPr id="7" name="Text 4"/>
          <p:cNvSpPr/>
          <p:nvPr/>
        </p:nvSpPr>
        <p:spPr>
          <a:xfrm>
            <a:off x="685800" y="164592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"That makes total sense — your team's stability matters." (Validate the person, not just the concern)</a:t>
            </a:r>
          </a:p>
        </p:txBody>
      </p:sp>
      <p:sp>
        <p:nvSpPr>
          <p:cNvPr id="8" name="Text 5"/>
          <p:cNvSpPr/>
          <p:nvPr/>
        </p:nvSpPr>
        <p:spPr>
          <a:xfrm>
            <a:off x="685800" y="219456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"What if the transition was actually easier than what you went through last time?" (Curiosity hook)</a:t>
            </a:r>
          </a:p>
        </p:txBody>
      </p:sp>
      <p:sp>
        <p:nvSpPr>
          <p:cNvPr id="9" name="Text 6"/>
          <p:cNvSpPr/>
          <p:nvPr/>
        </p:nvSpPr>
        <p:spPr>
          <a:xfrm>
            <a:off x="685800" y="274320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Detail: dedicated onboarding rep, staff training sessions, go-live support</a:t>
            </a:r>
          </a:p>
        </p:txBody>
      </p:sp>
      <p:sp>
        <p:nvSpPr>
          <p:cNvPr id="10" name="Text 7"/>
          <p:cNvSpPr/>
          <p:nvPr/>
        </p:nvSpPr>
        <p:spPr>
          <a:xfrm>
            <a:off x="685800" y="329184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Share a story: "A spa manager with 12 stylists was fully live in 3 weeks"</a:t>
            </a:r>
          </a:p>
        </p:txBody>
      </p:sp>
      <p:sp>
        <p:nvSpPr>
          <p:cNvPr id="11" name="Shape 8"/>
          <p:cNvSpPr/>
          <p:nvPr/>
        </p:nvSpPr>
        <p:spPr>
          <a:xfrm>
            <a:off x="4709160" y="1005840"/>
            <a:ext cx="3977640" cy="3017520"/>
          </a:xfrm>
          <a:prstGeom prst="rect">
            <a:avLst/>
          </a:prstGeom>
          <a:solidFill>
            <a:srgbClr val="0E3158"/>
          </a:solidFill>
          <a:ln/>
          <a:effectLst>
            <a:outerShdw blurRad="50800" dist="25400" dir="8100000" algn="bl" rotWithShape="0">
              <a:srgbClr val="000000">
                <a:alpha val="10000"/>
              </a:srgbClr>
            </a:outerShdw>
          </a:effectLst>
        </p:spPr>
      </p:sp>
      <p:sp>
        <p:nvSpPr>
          <p:cNvPr id="12" name="Shape 9"/>
          <p:cNvSpPr/>
          <p:nvPr/>
        </p:nvSpPr>
        <p:spPr>
          <a:xfrm>
            <a:off x="4709160" y="1005840"/>
            <a:ext cx="3977640" cy="64008"/>
          </a:xfrm>
          <a:prstGeom prst="rect">
            <a:avLst/>
          </a:prstGeom>
          <a:solidFill>
            <a:srgbClr val="E85D5D"/>
          </a:solidFill>
          <a:ln/>
        </p:spPr>
      </p:sp>
      <p:pic>
        <p:nvPicPr>
          <p:cNvPr id="13" name="Image 1" descr="preencoded.png"/>
          <p:cNvPicPr>
            <a:picLocks noChangeAspect="1"/>
          </p:cNvPicPr>
          <p:nvPr/>
        </p:nvPicPr>
        <p:blipFill>
          <a:blip r:embed="rId4"/>
          <a:stretch>
            <a:fillRect/>
          </a:stretch>
        </p:blipFill>
        <p:spPr>
          <a:xfrm>
            <a:off x="4937760" y="1188720"/>
            <a:ext cx="320040" cy="320040"/>
          </a:xfrm>
          <a:prstGeom prst="rect">
            <a:avLst/>
          </a:prstGeom>
        </p:spPr>
      </p:pic>
      <p:sp>
        <p:nvSpPr>
          <p:cNvPr id="14" name="Text 10"/>
          <p:cNvSpPr/>
          <p:nvPr/>
        </p:nvSpPr>
        <p:spPr>
          <a:xfrm>
            <a:off x="5349240" y="1188720"/>
            <a:ext cx="3108960" cy="320040"/>
          </a:xfrm>
          <a:prstGeom prst="rect">
            <a:avLst/>
          </a:prstGeom>
          <a:noFill/>
          <a:ln/>
        </p:spPr>
        <p:txBody>
          <a:bodyPr wrap="square" lIns="0" tIns="0" rIns="0" bIns="0" rtlCol="0" anchor="ctr"/>
          <a:lstStyle/>
          <a:p>
            <a:pPr marL="0" indent="0">
              <a:buNone/>
            </a:pPr>
            <a:r>
              <a:rPr lang="en-US" sz="1200" b="1" kern="0" spc="200" dirty="0">
                <a:solidFill>
                  <a:srgbClr val="E85D5D"/>
                </a:solidFill>
                <a:latin typeface="Trebuchet MS" pitchFamily="34" charset="0"/>
                <a:ea typeface="Trebuchet MS" pitchFamily="34" charset="-122"/>
                <a:cs typeface="Trebuchet MS" pitchFamily="34" charset="-120"/>
              </a:rPr>
              <a:t>COMMON MISTAKES</a:t>
            </a:r>
            <a:endParaRPr lang="en-US" sz="1200" dirty="0"/>
          </a:p>
        </p:txBody>
      </p:sp>
      <p:sp>
        <p:nvSpPr>
          <p:cNvPr id="15" name="Text 11"/>
          <p:cNvSpPr/>
          <p:nvPr/>
        </p:nvSpPr>
        <p:spPr>
          <a:xfrm>
            <a:off x="4937760" y="164592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"It's super easy, your team will love it" (dismissive)</a:t>
            </a:r>
          </a:p>
        </p:txBody>
      </p:sp>
      <p:sp>
        <p:nvSpPr>
          <p:cNvPr id="16" name="Text 12"/>
          <p:cNvSpPr/>
          <p:nvPr/>
        </p:nvSpPr>
        <p:spPr>
          <a:xfrm>
            <a:off x="4937760" y="219456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Talking about features instead of the transition experience</a:t>
            </a:r>
          </a:p>
        </p:txBody>
      </p:sp>
      <p:sp>
        <p:nvSpPr>
          <p:cNvPr id="17" name="Text 13"/>
          <p:cNvSpPr/>
          <p:nvPr/>
        </p:nvSpPr>
        <p:spPr>
          <a:xfrm>
            <a:off x="4937760" y="274320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Skipping the emotional layer — Marcus is afraid, not lazy</a:t>
            </a:r>
          </a:p>
        </p:txBody>
      </p:sp>
      <p:sp>
        <p:nvSpPr>
          <p:cNvPr id="18" name="Text 14"/>
          <p:cNvSpPr/>
          <p:nvPr/>
        </p:nvSpPr>
        <p:spPr>
          <a:xfrm>
            <a:off x="4937760" y="329184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Forgetting that the manager isn't the final decision-maker</a:t>
            </a:r>
          </a:p>
        </p:txBody>
      </p:sp>
      <p:sp>
        <p:nvSpPr>
          <p:cNvPr id="19" name="Shape 15"/>
          <p:cNvSpPr/>
          <p:nvPr/>
        </p:nvSpPr>
        <p:spPr>
          <a:xfrm>
            <a:off x="457200" y="4251960"/>
            <a:ext cx="8229600" cy="457200"/>
          </a:xfrm>
          <a:prstGeom prst="rect">
            <a:avLst/>
          </a:prstGeom>
          <a:solidFill>
            <a:srgbClr val="E8B44B"/>
          </a:solidFill>
          <a:ln/>
        </p:spPr>
      </p:sp>
      <p:sp>
        <p:nvSpPr>
          <p:cNvPr id="20" name="Text 16"/>
          <p:cNvSpPr/>
          <p:nvPr/>
        </p:nvSpPr>
        <p:spPr>
          <a:xfrm>
            <a:off x="640080" y="4251960"/>
            <a:ext cx="7863840"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Coaching Q: "Did the rep speak to Marcus's fear, or just the product?"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E85D5D"/>
          </a:solidFill>
          <a:ln/>
        </p:spPr>
      </p:sp>
      <p:sp>
        <p:nvSpPr>
          <p:cNvPr id="3" name="Text 1"/>
          <p:cNvSpPr/>
          <p:nvPr/>
        </p:nvSpPr>
        <p:spPr>
          <a:xfrm>
            <a:off x="640080" y="45720"/>
            <a:ext cx="1828800" cy="365760"/>
          </a:xfrm>
          <a:prstGeom prst="rect">
            <a:avLst/>
          </a:prstGeom>
          <a:noFill/>
          <a:ln/>
        </p:spPr>
        <p:txBody>
          <a:bodyPr wrap="square" lIns="0" tIns="0" rIns="0" bIns="0" rtlCol="0" anchor="ctr"/>
          <a:lstStyle/>
          <a:p>
            <a:pPr marL="0" indent="0">
              <a:buNone/>
            </a:pPr>
            <a:r>
              <a:rPr lang="en-US" sz="1300" b="1" kern="0" spc="500" dirty="0">
                <a:solidFill>
                  <a:srgbClr val="FFFFFF"/>
                </a:solidFill>
                <a:latin typeface="Trebuchet MS" pitchFamily="34" charset="0"/>
                <a:ea typeface="Trebuchet MS" pitchFamily="34" charset="-122"/>
                <a:cs typeface="Trebuchet MS" pitchFamily="34" charset="-120"/>
              </a:rPr>
              <a:t>ROUND 3</a:t>
            </a:r>
            <a:endParaRPr lang="en-US" sz="1300" dirty="0"/>
          </a:p>
        </p:txBody>
      </p:sp>
      <p:sp>
        <p:nvSpPr>
          <p:cNvPr id="4" name="Text 2"/>
          <p:cNvSpPr/>
          <p:nvPr/>
        </p:nvSpPr>
        <p:spPr>
          <a:xfrm>
            <a:off x="640080" y="320040"/>
            <a:ext cx="7772400" cy="4114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The Committee — "We Need to Loop In Others"</a:t>
            </a:r>
            <a:endParaRPr lang="en-US" sz="2200" dirty="0"/>
          </a:p>
        </p:txBody>
      </p:sp>
      <p:sp>
        <p:nvSpPr>
          <p:cNvPr id="5" name="Shape 3"/>
          <p:cNvSpPr/>
          <p:nvPr/>
        </p:nvSpPr>
        <p:spPr>
          <a:xfrm>
            <a:off x="457200" y="1051560"/>
            <a:ext cx="8229600" cy="1371600"/>
          </a:xfrm>
          <a:prstGeom prst="rect">
            <a:avLst/>
          </a:prstGeom>
          <a:solidFill>
            <a:srgbClr val="FFFFFF"/>
          </a:solidFill>
          <a:ln/>
          <a:effectLst>
            <a:outerShdw blurRad="50800" dist="25400" dir="8100000" algn="bl" rotWithShape="0">
              <a:srgbClr val="000000">
                <a:alpha val="10000"/>
              </a:srgbClr>
            </a:outerShdw>
          </a:effectLst>
        </p:spPr>
      </p:sp>
      <p:sp>
        <p:nvSpPr>
          <p:cNvPr id="6" name="Shape 4"/>
          <p:cNvSpPr/>
          <p:nvPr/>
        </p:nvSpPr>
        <p:spPr>
          <a:xfrm>
            <a:off x="457200" y="1051560"/>
            <a:ext cx="64008" cy="1371600"/>
          </a:xfrm>
          <a:prstGeom prst="rect">
            <a:avLst/>
          </a:prstGeom>
          <a:solidFill>
            <a:srgbClr val="E85D5D"/>
          </a:solidFill>
          <a:ln/>
        </p:spPr>
      </p:sp>
      <p:pic>
        <p:nvPicPr>
          <p:cNvPr id="7" name="Image 0" descr="preencoded.png"/>
          <p:cNvPicPr>
            <a:picLocks noChangeAspect="1"/>
          </p:cNvPicPr>
          <p:nvPr/>
        </p:nvPicPr>
        <p:blipFill>
          <a:blip r:embed="rId3"/>
          <a:stretch>
            <a:fillRect/>
          </a:stretch>
        </p:blipFill>
        <p:spPr>
          <a:xfrm>
            <a:off x="731520" y="1234440"/>
            <a:ext cx="320040" cy="320040"/>
          </a:xfrm>
          <a:prstGeom prst="rect">
            <a:avLst/>
          </a:prstGeom>
        </p:spPr>
      </p:pic>
      <p:sp>
        <p:nvSpPr>
          <p:cNvPr id="8" name="Text 5"/>
          <p:cNvSpPr/>
          <p:nvPr/>
        </p:nvSpPr>
        <p:spPr>
          <a:xfrm>
            <a:off x="1188720" y="1143000"/>
            <a:ext cx="2743200" cy="320040"/>
          </a:xfrm>
          <a:prstGeom prst="rect">
            <a:avLst/>
          </a:prstGeom>
          <a:noFill/>
          <a:ln/>
        </p:spPr>
        <p:txBody>
          <a:bodyPr wrap="square" lIns="0" tIns="0" rIns="0" bIns="0" rtlCol="0" anchor="ctr"/>
          <a:lstStyle/>
          <a:p>
            <a:pPr marL="0" indent="0">
              <a:buNone/>
            </a:pPr>
            <a:r>
              <a:rPr lang="en-US" sz="1200" b="1" kern="0" spc="300" dirty="0">
                <a:solidFill>
                  <a:srgbClr val="E85D5D"/>
                </a:solidFill>
                <a:latin typeface="Trebuchet MS" pitchFamily="34" charset="0"/>
                <a:ea typeface="Trebuchet MS" pitchFamily="34" charset="-122"/>
                <a:cs typeface="Trebuchet MS" pitchFamily="34" charset="-120"/>
              </a:rPr>
              <a:t>THE OBJECTION</a:t>
            </a:r>
            <a:endParaRPr lang="en-US" sz="1200" dirty="0"/>
          </a:p>
        </p:txBody>
      </p:sp>
      <p:sp>
        <p:nvSpPr>
          <p:cNvPr id="9" name="Text 6"/>
          <p:cNvSpPr/>
          <p:nvPr/>
        </p:nvSpPr>
        <p:spPr>
          <a:xfrm>
            <a:off x="1188720" y="1463040"/>
            <a:ext cx="7223760" cy="822960"/>
          </a:xfrm>
          <a:prstGeom prst="rect">
            <a:avLst/>
          </a:prstGeom>
          <a:noFill/>
          <a:ln/>
        </p:spPr>
        <p:txBody>
          <a:bodyPr wrap="square" lIns="0" tIns="0" rIns="0" bIns="0" rtlCol="0" anchor="ctr"/>
          <a:lstStyle/>
          <a:p>
            <a:pPr marL="0" indent="0">
              <a:buNone/>
            </a:pPr>
            <a:r>
              <a:rPr lang="en-US" sz="1300" i="1" dirty="0">
                <a:solidFill>
                  <a:srgbClr val="0B2545"/>
                </a:solidFill>
                <a:latin typeface="Calibri" pitchFamily="34" charset="0"/>
                <a:ea typeface="Calibri" pitchFamily="34" charset="-122"/>
                <a:cs typeface="Calibri" pitchFamily="34" charset="-120"/>
              </a:rPr>
              <a:t>"This looks interesting, but I really can't make this decision alone. I'd need to talk to our owner, our accountant, and probably our lead stylist. Can you just send me some info and I'll circle back?"</a:t>
            </a:r>
            <a:endParaRPr lang="en-US" sz="1300" dirty="0"/>
          </a:p>
        </p:txBody>
      </p:sp>
      <p:sp>
        <p:nvSpPr>
          <p:cNvPr id="10" name="Shape 7"/>
          <p:cNvSpPr/>
          <p:nvPr/>
        </p:nvSpPr>
        <p:spPr>
          <a:xfrm>
            <a:off x="457200" y="2651760"/>
            <a:ext cx="3977640" cy="2011680"/>
          </a:xfrm>
          <a:prstGeom prst="rect">
            <a:avLst/>
          </a:prstGeom>
          <a:solidFill>
            <a:srgbClr val="FFFFFF"/>
          </a:solidFill>
          <a:ln/>
          <a:effectLst>
            <a:outerShdw blurRad="50800" dist="25400" dir="8100000" algn="bl" rotWithShape="0">
              <a:srgbClr val="000000">
                <a:alpha val="10000"/>
              </a:srgbClr>
            </a:outerShdw>
          </a:effectLst>
        </p:spPr>
      </p:sp>
      <p:sp>
        <p:nvSpPr>
          <p:cNvPr id="11" name="Shape 8"/>
          <p:cNvSpPr/>
          <p:nvPr/>
        </p:nvSpPr>
        <p:spPr>
          <a:xfrm>
            <a:off x="457200" y="2651760"/>
            <a:ext cx="3977640" cy="365760"/>
          </a:xfrm>
          <a:prstGeom prst="rect">
            <a:avLst/>
          </a:prstGeom>
          <a:solidFill>
            <a:srgbClr val="0B2545"/>
          </a:solidFill>
          <a:ln/>
        </p:spPr>
      </p:sp>
      <p:sp>
        <p:nvSpPr>
          <p:cNvPr id="12" name="Text 9"/>
          <p:cNvSpPr/>
          <p:nvPr/>
        </p:nvSpPr>
        <p:spPr>
          <a:xfrm>
            <a:off x="640080" y="2651760"/>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PROSPECT BRIEF (for role-player)</a:t>
            </a:r>
            <a:endParaRPr lang="en-US" sz="1100" dirty="0"/>
          </a:p>
        </p:txBody>
      </p:sp>
      <p:sp>
        <p:nvSpPr>
          <p:cNvPr id="13" name="Text 10"/>
          <p:cNvSpPr/>
          <p:nvPr/>
        </p:nvSpPr>
        <p:spPr>
          <a:xfrm>
            <a:off x="640080" y="3108960"/>
            <a:ext cx="3611880" cy="1463040"/>
          </a:xfrm>
          <a:prstGeom prst="rect">
            <a:avLst/>
          </a:prstGeom>
          <a:noFill/>
          <a:ln/>
        </p:spPr>
        <p:txBody>
          <a:bodyPr wrap="square" lIns="0" tIns="0" rIns="0" bIns="0" rtlCol="0" anchor="ctr"/>
          <a:lstStyle/>
          <a:p>
            <a:pPr marL="0" indent="0">
              <a:buNone/>
            </a:pPr>
            <a:r>
              <a:rPr lang="en-US" sz="1200" dirty="0">
                <a:solidFill>
                  <a:srgbClr val="6B6B7B"/>
                </a:solidFill>
                <a:latin typeface="Calibri" pitchFamily="34" charset="0"/>
                <a:ea typeface="Calibri" pitchFamily="34" charset="-122"/>
                <a:cs typeface="Calibri" pitchFamily="34" charset="-120"/>
              </a:rPr>
              <a:t>You're Taylor, operations lead at a 4-location chain.</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You liked the demo but can't sign off alone.</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The owner trusts you but wants numbers. Accountant is cautious.</a:t>
            </a:r>
            <a:endParaRPr lang="en-US" sz="1200" dirty="0"/>
          </a:p>
          <a:p>
            <a:pPr marL="0" indent="0">
              <a:buNone/>
            </a:pPr>
            <a:r>
              <a:rPr lang="en-US" sz="1200" b="1" dirty="0">
                <a:solidFill>
                  <a:srgbClr val="13818D"/>
                </a:solidFill>
                <a:latin typeface="Calibri" pitchFamily="34" charset="0"/>
                <a:ea typeface="Calibri" pitchFamily="34" charset="-122"/>
                <a:cs typeface="Calibri" pitchFamily="34" charset="-120"/>
              </a:rPr>
              <a:t>You'll engage IF the rep helps you build an internal case.</a:t>
            </a:r>
            <a:endParaRPr lang="en-US" sz="1200" dirty="0"/>
          </a:p>
        </p:txBody>
      </p:sp>
      <p:sp>
        <p:nvSpPr>
          <p:cNvPr id="14" name="Shape 11"/>
          <p:cNvSpPr/>
          <p:nvPr/>
        </p:nvSpPr>
        <p:spPr>
          <a:xfrm>
            <a:off x="4709160" y="2651760"/>
            <a:ext cx="3977640" cy="2011680"/>
          </a:xfrm>
          <a:prstGeom prst="rect">
            <a:avLst/>
          </a:prstGeom>
          <a:solidFill>
            <a:srgbClr val="FFFFFF"/>
          </a:solidFill>
          <a:ln/>
          <a:effectLst>
            <a:outerShdw blurRad="50800" dist="25400" dir="8100000" algn="bl" rotWithShape="0">
              <a:srgbClr val="000000">
                <a:alpha val="10000"/>
              </a:srgbClr>
            </a:outerShdw>
          </a:effectLst>
        </p:spPr>
      </p:sp>
      <p:sp>
        <p:nvSpPr>
          <p:cNvPr id="15" name="Shape 12"/>
          <p:cNvSpPr/>
          <p:nvPr/>
        </p:nvSpPr>
        <p:spPr>
          <a:xfrm>
            <a:off x="4709160" y="2651760"/>
            <a:ext cx="3977640" cy="365760"/>
          </a:xfrm>
          <a:prstGeom prst="rect">
            <a:avLst/>
          </a:prstGeom>
          <a:solidFill>
            <a:srgbClr val="E85D5D"/>
          </a:solidFill>
          <a:ln/>
        </p:spPr>
      </p:sp>
      <p:sp>
        <p:nvSpPr>
          <p:cNvPr id="16" name="Text 13"/>
          <p:cNvSpPr/>
          <p:nvPr/>
        </p:nvSpPr>
        <p:spPr>
          <a:xfrm>
            <a:off x="4892040" y="2651760"/>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REP PLAYBOOK</a:t>
            </a:r>
            <a:endParaRPr lang="en-US" sz="1100" dirty="0"/>
          </a:p>
        </p:txBody>
      </p:sp>
      <p:sp>
        <p:nvSpPr>
          <p:cNvPr id="17" name="Text 14"/>
          <p:cNvSpPr/>
          <p:nvPr/>
        </p:nvSpPr>
        <p:spPr>
          <a:xfrm>
            <a:off x="4892040" y="3108960"/>
            <a:ext cx="3611880" cy="146304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Framework: Boomerang &amp; Champion-Build</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Don't let them disappear — stay in the process.</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Offer to join the next meeting or prep materials.</a:t>
            </a:r>
            <a:endParaRPr lang="en-US" sz="1200" dirty="0"/>
          </a:p>
          <a:p>
            <a:pPr marL="0" indent="0">
              <a:buNone/>
            </a:pPr>
            <a:r>
              <a:rPr lang="en-US" sz="1200" dirty="0">
                <a:solidFill>
                  <a:srgbClr val="6B6B7B"/>
                </a:solidFill>
                <a:latin typeface="Calibri" pitchFamily="34" charset="0"/>
                <a:ea typeface="Calibri" pitchFamily="34" charset="-122"/>
                <a:cs typeface="Calibri" pitchFamily="34" charset="-120"/>
              </a:rPr>
              <a:t>Arm Taylor with an ROI one-pager for the owner.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Round 3 Debrief: The Committee</a:t>
            </a:r>
            <a:endParaRPr lang="en-US" sz="2800" dirty="0"/>
          </a:p>
        </p:txBody>
      </p:sp>
      <p:sp>
        <p:nvSpPr>
          <p:cNvPr id="3" name="Shape 1"/>
          <p:cNvSpPr/>
          <p:nvPr/>
        </p:nvSpPr>
        <p:spPr>
          <a:xfrm>
            <a:off x="457200" y="1005840"/>
            <a:ext cx="3977640" cy="3017520"/>
          </a:xfrm>
          <a:prstGeom prst="rect">
            <a:avLst/>
          </a:prstGeom>
          <a:solidFill>
            <a:srgbClr val="0E3158"/>
          </a:solidFill>
          <a:ln/>
          <a:effectLst>
            <a:outerShdw blurRad="50800" dist="25400" dir="8100000" algn="bl" rotWithShape="0">
              <a:srgbClr val="000000">
                <a:alpha val="10000"/>
              </a:srgbClr>
            </a:outerShdw>
          </a:effectLst>
        </p:spPr>
      </p:sp>
      <p:sp>
        <p:nvSpPr>
          <p:cNvPr id="4" name="Shape 2"/>
          <p:cNvSpPr/>
          <p:nvPr/>
        </p:nvSpPr>
        <p:spPr>
          <a:xfrm>
            <a:off x="457200" y="1005840"/>
            <a:ext cx="3977640" cy="64008"/>
          </a:xfrm>
          <a:prstGeom prst="rect">
            <a:avLst/>
          </a:prstGeom>
          <a:solidFill>
            <a:srgbClr val="44C7A0"/>
          </a:solidFill>
          <a:ln/>
        </p:spPr>
      </p:sp>
      <p:pic>
        <p:nvPicPr>
          <p:cNvPr id="5" name="Image 0" descr="preencoded.png"/>
          <p:cNvPicPr>
            <a:picLocks noChangeAspect="1"/>
          </p:cNvPicPr>
          <p:nvPr/>
        </p:nvPicPr>
        <p:blipFill>
          <a:blip r:embed="rId3"/>
          <a:stretch>
            <a:fillRect/>
          </a:stretch>
        </p:blipFill>
        <p:spPr>
          <a:xfrm>
            <a:off x="685800" y="1188720"/>
            <a:ext cx="320040" cy="320040"/>
          </a:xfrm>
          <a:prstGeom prst="rect">
            <a:avLst/>
          </a:prstGeom>
        </p:spPr>
      </p:pic>
      <p:sp>
        <p:nvSpPr>
          <p:cNvPr id="6" name="Text 3"/>
          <p:cNvSpPr/>
          <p:nvPr/>
        </p:nvSpPr>
        <p:spPr>
          <a:xfrm>
            <a:off x="1097280" y="1188720"/>
            <a:ext cx="3108960" cy="320040"/>
          </a:xfrm>
          <a:prstGeom prst="rect">
            <a:avLst/>
          </a:prstGeom>
          <a:noFill/>
          <a:ln/>
        </p:spPr>
        <p:txBody>
          <a:bodyPr wrap="square" lIns="0" tIns="0" rIns="0" bIns="0" rtlCol="0" anchor="ctr"/>
          <a:lstStyle/>
          <a:p>
            <a:pPr marL="0" indent="0">
              <a:buNone/>
            </a:pPr>
            <a:r>
              <a:rPr lang="en-US" sz="1200" b="1" kern="0" spc="200" dirty="0">
                <a:solidFill>
                  <a:srgbClr val="44C7A0"/>
                </a:solidFill>
                <a:latin typeface="Trebuchet MS" pitchFamily="34" charset="0"/>
                <a:ea typeface="Trebuchet MS" pitchFamily="34" charset="-122"/>
                <a:cs typeface="Trebuchet MS" pitchFamily="34" charset="-120"/>
              </a:rPr>
              <a:t>WHAT GREAT LOOKS LIKE</a:t>
            </a:r>
            <a:endParaRPr lang="en-US" sz="1200" dirty="0"/>
          </a:p>
        </p:txBody>
      </p:sp>
      <p:sp>
        <p:nvSpPr>
          <p:cNvPr id="7" name="Text 4"/>
          <p:cNvSpPr/>
          <p:nvPr/>
        </p:nvSpPr>
        <p:spPr>
          <a:xfrm>
            <a:off x="685800" y="164592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"Totally — who else would need to weigh in?" (Map the committee)</a:t>
            </a:r>
          </a:p>
        </p:txBody>
      </p:sp>
      <p:sp>
        <p:nvSpPr>
          <p:cNvPr id="8" name="Text 5"/>
          <p:cNvSpPr/>
          <p:nvPr/>
        </p:nvSpPr>
        <p:spPr>
          <a:xfrm>
            <a:off x="685800" y="219456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"What if I put together a summary you can share with the owner?" (Arm the champion)</a:t>
            </a:r>
          </a:p>
        </p:txBody>
      </p:sp>
      <p:sp>
        <p:nvSpPr>
          <p:cNvPr id="9" name="Text 6"/>
          <p:cNvSpPr/>
          <p:nvPr/>
        </p:nvSpPr>
        <p:spPr>
          <a:xfrm>
            <a:off x="685800" y="274320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"Happy to join that meeting — I can tailor it to what matters to each person"</a:t>
            </a:r>
          </a:p>
        </p:txBody>
      </p:sp>
      <p:sp>
        <p:nvSpPr>
          <p:cNvPr id="10" name="Text 7"/>
          <p:cNvSpPr/>
          <p:nvPr/>
        </p:nvSpPr>
        <p:spPr>
          <a:xfrm>
            <a:off x="685800" y="329184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Set a specific follow-up date — never leave it open-ended</a:t>
            </a:r>
          </a:p>
        </p:txBody>
      </p:sp>
      <p:sp>
        <p:nvSpPr>
          <p:cNvPr id="11" name="Shape 8"/>
          <p:cNvSpPr/>
          <p:nvPr/>
        </p:nvSpPr>
        <p:spPr>
          <a:xfrm>
            <a:off x="4709160" y="1005840"/>
            <a:ext cx="3977640" cy="3017520"/>
          </a:xfrm>
          <a:prstGeom prst="rect">
            <a:avLst/>
          </a:prstGeom>
          <a:solidFill>
            <a:srgbClr val="0E3158"/>
          </a:solidFill>
          <a:ln/>
          <a:effectLst>
            <a:outerShdw blurRad="50800" dist="25400" dir="8100000" algn="bl" rotWithShape="0">
              <a:srgbClr val="000000">
                <a:alpha val="10000"/>
              </a:srgbClr>
            </a:outerShdw>
          </a:effectLst>
        </p:spPr>
      </p:sp>
      <p:sp>
        <p:nvSpPr>
          <p:cNvPr id="12" name="Shape 9"/>
          <p:cNvSpPr/>
          <p:nvPr/>
        </p:nvSpPr>
        <p:spPr>
          <a:xfrm>
            <a:off x="4709160" y="1005840"/>
            <a:ext cx="3977640" cy="64008"/>
          </a:xfrm>
          <a:prstGeom prst="rect">
            <a:avLst/>
          </a:prstGeom>
          <a:solidFill>
            <a:srgbClr val="E85D5D"/>
          </a:solidFill>
          <a:ln/>
        </p:spPr>
      </p:sp>
      <p:pic>
        <p:nvPicPr>
          <p:cNvPr id="13" name="Image 1" descr="preencoded.png"/>
          <p:cNvPicPr>
            <a:picLocks noChangeAspect="1"/>
          </p:cNvPicPr>
          <p:nvPr/>
        </p:nvPicPr>
        <p:blipFill>
          <a:blip r:embed="rId4"/>
          <a:stretch>
            <a:fillRect/>
          </a:stretch>
        </p:blipFill>
        <p:spPr>
          <a:xfrm>
            <a:off x="4937760" y="1188720"/>
            <a:ext cx="320040" cy="320040"/>
          </a:xfrm>
          <a:prstGeom prst="rect">
            <a:avLst/>
          </a:prstGeom>
        </p:spPr>
      </p:pic>
      <p:sp>
        <p:nvSpPr>
          <p:cNvPr id="14" name="Text 10"/>
          <p:cNvSpPr/>
          <p:nvPr/>
        </p:nvSpPr>
        <p:spPr>
          <a:xfrm>
            <a:off x="5349240" y="1188720"/>
            <a:ext cx="3108960" cy="320040"/>
          </a:xfrm>
          <a:prstGeom prst="rect">
            <a:avLst/>
          </a:prstGeom>
          <a:noFill/>
          <a:ln/>
        </p:spPr>
        <p:txBody>
          <a:bodyPr wrap="square" lIns="0" tIns="0" rIns="0" bIns="0" rtlCol="0" anchor="ctr"/>
          <a:lstStyle/>
          <a:p>
            <a:pPr marL="0" indent="0">
              <a:buNone/>
            </a:pPr>
            <a:r>
              <a:rPr lang="en-US" sz="1200" b="1" kern="0" spc="200" dirty="0">
                <a:solidFill>
                  <a:srgbClr val="E85D5D"/>
                </a:solidFill>
                <a:latin typeface="Trebuchet MS" pitchFamily="34" charset="0"/>
                <a:ea typeface="Trebuchet MS" pitchFamily="34" charset="-122"/>
                <a:cs typeface="Trebuchet MS" pitchFamily="34" charset="-120"/>
              </a:rPr>
              <a:t>COMMON MISTAKES</a:t>
            </a:r>
            <a:endParaRPr lang="en-US" sz="1200" dirty="0"/>
          </a:p>
        </p:txBody>
      </p:sp>
      <p:sp>
        <p:nvSpPr>
          <p:cNvPr id="15" name="Text 11"/>
          <p:cNvSpPr/>
          <p:nvPr/>
        </p:nvSpPr>
        <p:spPr>
          <a:xfrm>
            <a:off x="4937760" y="164592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"Sure, I'll send some info!" (lose all control of the deal)</a:t>
            </a:r>
          </a:p>
        </p:txBody>
      </p:sp>
      <p:sp>
        <p:nvSpPr>
          <p:cNvPr id="16" name="Text 12"/>
          <p:cNvSpPr/>
          <p:nvPr/>
        </p:nvSpPr>
        <p:spPr>
          <a:xfrm>
            <a:off x="4937760" y="219456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Not asking who the other decision-makers are</a:t>
            </a:r>
          </a:p>
        </p:txBody>
      </p:sp>
      <p:sp>
        <p:nvSpPr>
          <p:cNvPr id="17" name="Text 13"/>
          <p:cNvSpPr/>
          <p:nvPr/>
        </p:nvSpPr>
        <p:spPr>
          <a:xfrm>
            <a:off x="4937760" y="274320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Treating "let me check with others" as a final no</a:t>
            </a:r>
          </a:p>
        </p:txBody>
      </p:sp>
      <p:sp>
        <p:nvSpPr>
          <p:cNvPr id="18" name="Text 14"/>
          <p:cNvSpPr/>
          <p:nvPr/>
        </p:nvSpPr>
        <p:spPr>
          <a:xfrm>
            <a:off x="4937760" y="3291840"/>
            <a:ext cx="3520440" cy="502920"/>
          </a:xfrm>
          <a:prstGeom prst="rect">
            <a:avLst/>
          </a:prstGeom>
          <a:noFill/>
          <a:ln/>
        </p:spPr>
        <p:txBody>
          <a:bodyPr wrap="square" lIns="0" tIns="0" rIns="0" bIns="0" rtlCol="0" anchor="ctr"/>
          <a:lstStyle/>
          <a:p>
            <a:pPr marL="0" indent="0">
              <a:buNone/>
            </a:pPr>
            <a:r>
              <a:rPr lang="en-US" sz="1100" dirty="0">
                <a:solidFill>
                  <a:schemeClr val="bg1"/>
                </a:solidFill>
                <a:latin typeface="Calibri"/>
                <a:ea typeface="Calibri"/>
                <a:cs typeface="Calibri"/>
              </a:rPr>
              <a:t>Failing to offer specific next steps with a date attached</a:t>
            </a:r>
          </a:p>
        </p:txBody>
      </p:sp>
      <p:sp>
        <p:nvSpPr>
          <p:cNvPr id="19" name="Shape 15"/>
          <p:cNvSpPr/>
          <p:nvPr/>
        </p:nvSpPr>
        <p:spPr>
          <a:xfrm>
            <a:off x="457200" y="4251960"/>
            <a:ext cx="8229600" cy="457200"/>
          </a:xfrm>
          <a:prstGeom prst="rect">
            <a:avLst/>
          </a:prstGeom>
          <a:solidFill>
            <a:srgbClr val="E85D5D"/>
          </a:solidFill>
          <a:ln/>
        </p:spPr>
      </p:sp>
      <p:sp>
        <p:nvSpPr>
          <p:cNvPr id="20" name="Text 16"/>
          <p:cNvSpPr/>
          <p:nvPr/>
        </p:nvSpPr>
        <p:spPr>
          <a:xfrm>
            <a:off x="640080" y="4251960"/>
            <a:ext cx="78638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Coaching Q: "Did the rep stay in the deal, or hand over control?"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0B2545"/>
                </a:solidFill>
                <a:latin typeface="Trebuchet MS" pitchFamily="34" charset="0"/>
                <a:ea typeface="Trebuchet MS" pitchFamily="34" charset="-122"/>
                <a:cs typeface="Trebuchet MS" pitchFamily="34" charset="-120"/>
              </a:rPr>
              <a:t>Peer Feedback Rubric</a:t>
            </a:r>
            <a:endParaRPr lang="en-US" sz="3000" dirty="0"/>
          </a:p>
        </p:txBody>
      </p:sp>
      <p:sp>
        <p:nvSpPr>
          <p:cNvPr id="3" name="Text 1"/>
          <p:cNvSpPr/>
          <p:nvPr/>
        </p:nvSpPr>
        <p:spPr>
          <a:xfrm>
            <a:off x="640080" y="777240"/>
            <a:ext cx="7863840" cy="365760"/>
          </a:xfrm>
          <a:prstGeom prst="rect">
            <a:avLst/>
          </a:prstGeom>
          <a:noFill/>
          <a:ln/>
        </p:spPr>
        <p:txBody>
          <a:bodyPr wrap="square" lIns="0" tIns="0" rIns="0" bIns="0" rtlCol="0" anchor="ctr"/>
          <a:lstStyle/>
          <a:p>
            <a:pPr marL="0" indent="0">
              <a:buNone/>
            </a:pPr>
            <a:r>
              <a:rPr lang="en-US" sz="1300" dirty="0">
                <a:solidFill>
                  <a:srgbClr val="6B6B7B"/>
                </a:solidFill>
                <a:latin typeface="Calibri" pitchFamily="34" charset="0"/>
                <a:ea typeface="Calibri" pitchFamily="34" charset="-122"/>
                <a:cs typeface="Calibri" pitchFamily="34" charset="-120"/>
              </a:rPr>
              <a:t>Use this to coach your partner after each round. Be specific — vague praise doesn't build skills.</a:t>
            </a:r>
            <a:endParaRPr lang="en-US" sz="1300" dirty="0"/>
          </a:p>
        </p:txBody>
      </p:sp>
      <p:sp>
        <p:nvSpPr>
          <p:cNvPr id="4" name="Shape 2"/>
          <p:cNvSpPr/>
          <p:nvPr/>
        </p:nvSpPr>
        <p:spPr>
          <a:xfrm>
            <a:off x="457200" y="1280160"/>
            <a:ext cx="8229600" cy="566928"/>
          </a:xfrm>
          <a:prstGeom prst="rect">
            <a:avLst/>
          </a:prstGeom>
          <a:solidFill>
            <a:srgbClr val="FFFFFF"/>
          </a:solidFill>
          <a:ln/>
          <a:effectLst>
            <a:outerShdw blurRad="50800" dist="25400" dir="8100000" algn="bl" rotWithShape="0">
              <a:srgbClr val="000000">
                <a:alpha val="10000"/>
              </a:srgbClr>
            </a:outerShdw>
          </a:effectLst>
        </p:spPr>
      </p:sp>
      <p:sp>
        <p:nvSpPr>
          <p:cNvPr id="5" name="Shape 3"/>
          <p:cNvSpPr/>
          <p:nvPr/>
        </p:nvSpPr>
        <p:spPr>
          <a:xfrm>
            <a:off x="457200" y="1280160"/>
            <a:ext cx="64008" cy="566928"/>
          </a:xfrm>
          <a:prstGeom prst="rect">
            <a:avLst/>
          </a:prstGeom>
          <a:solidFill>
            <a:srgbClr val="13818D"/>
          </a:solidFill>
          <a:ln/>
        </p:spPr>
      </p:sp>
      <p:sp>
        <p:nvSpPr>
          <p:cNvPr id="6" name="Text 4"/>
          <p:cNvSpPr/>
          <p:nvPr/>
        </p:nvSpPr>
        <p:spPr>
          <a:xfrm>
            <a:off x="731520" y="1298448"/>
            <a:ext cx="2560320" cy="530352"/>
          </a:xfrm>
          <a:prstGeom prst="rect">
            <a:avLst/>
          </a:prstGeom>
          <a:noFill/>
          <a:ln/>
        </p:spPr>
        <p:txBody>
          <a:bodyPr wrap="square" lIns="0" tIns="0" rIns="0" bIns="0" rtlCol="0" anchor="ctr"/>
          <a:lstStyle/>
          <a:p>
            <a:pPr marL="0" indent="0">
              <a:buNone/>
            </a:pPr>
            <a:r>
              <a:rPr lang="en-US" sz="1300" b="1" dirty="0">
                <a:solidFill>
                  <a:srgbClr val="0B2545"/>
                </a:solidFill>
                <a:latin typeface="Trebuchet MS" pitchFamily="34" charset="0"/>
                <a:ea typeface="Trebuchet MS" pitchFamily="34" charset="-122"/>
                <a:cs typeface="Trebuchet MS" pitchFamily="34" charset="-120"/>
              </a:rPr>
              <a:t>Acknowledged the Objection</a:t>
            </a:r>
            <a:endParaRPr lang="en-US" sz="1300" dirty="0"/>
          </a:p>
        </p:txBody>
      </p:sp>
      <p:sp>
        <p:nvSpPr>
          <p:cNvPr id="7" name="Text 5"/>
          <p:cNvSpPr/>
          <p:nvPr/>
        </p:nvSpPr>
        <p:spPr>
          <a:xfrm>
            <a:off x="3383280" y="1298448"/>
            <a:ext cx="5120640" cy="530352"/>
          </a:xfrm>
          <a:prstGeom prst="rect">
            <a:avLst/>
          </a:prstGeom>
          <a:noFill/>
          <a:ln/>
        </p:spPr>
        <p:txBody>
          <a:bodyPr wrap="square" lIns="0" tIns="0" rIns="0" bIns="0" rtlCol="0" anchor="ctr"/>
          <a:lstStyle/>
          <a:p>
            <a:pPr marL="0" indent="0">
              <a:buNone/>
            </a:pPr>
            <a:r>
              <a:rPr lang="en-US" sz="1200" dirty="0">
                <a:latin typeface="Calibri"/>
                <a:ea typeface="Calibri"/>
                <a:cs typeface="Calibri"/>
              </a:rPr>
              <a:t>Did they validate before pivoting? Or did they jump to a rebuttal?</a:t>
            </a:r>
          </a:p>
        </p:txBody>
      </p:sp>
      <p:sp>
        <p:nvSpPr>
          <p:cNvPr id="8" name="Shape 6"/>
          <p:cNvSpPr/>
          <p:nvPr/>
        </p:nvSpPr>
        <p:spPr>
          <a:xfrm>
            <a:off x="457200" y="1965960"/>
            <a:ext cx="8229600" cy="566928"/>
          </a:xfrm>
          <a:prstGeom prst="rect">
            <a:avLst/>
          </a:prstGeom>
          <a:solidFill>
            <a:srgbClr val="FFFFFF"/>
          </a:solidFill>
          <a:ln/>
          <a:effectLst>
            <a:outerShdw blurRad="50800" dist="25400" dir="8100000" algn="bl" rotWithShape="0">
              <a:srgbClr val="000000">
                <a:alpha val="10000"/>
              </a:srgbClr>
            </a:outerShdw>
          </a:effectLst>
        </p:spPr>
      </p:sp>
      <p:sp>
        <p:nvSpPr>
          <p:cNvPr id="9" name="Shape 7"/>
          <p:cNvSpPr/>
          <p:nvPr/>
        </p:nvSpPr>
        <p:spPr>
          <a:xfrm>
            <a:off x="457200" y="1965960"/>
            <a:ext cx="64008" cy="566928"/>
          </a:xfrm>
          <a:prstGeom prst="rect">
            <a:avLst/>
          </a:prstGeom>
          <a:solidFill>
            <a:srgbClr val="13818D"/>
          </a:solidFill>
          <a:ln/>
        </p:spPr>
      </p:sp>
      <p:sp>
        <p:nvSpPr>
          <p:cNvPr id="10" name="Text 8"/>
          <p:cNvSpPr/>
          <p:nvPr/>
        </p:nvSpPr>
        <p:spPr>
          <a:xfrm>
            <a:off x="731520" y="1984248"/>
            <a:ext cx="2560320" cy="530352"/>
          </a:xfrm>
          <a:prstGeom prst="rect">
            <a:avLst/>
          </a:prstGeom>
          <a:noFill/>
          <a:ln/>
        </p:spPr>
        <p:txBody>
          <a:bodyPr wrap="square" lIns="0" tIns="0" rIns="0" bIns="0" rtlCol="0" anchor="ctr"/>
          <a:lstStyle/>
          <a:p>
            <a:pPr marL="0" indent="0">
              <a:buNone/>
            </a:pPr>
            <a:r>
              <a:rPr lang="en-US" sz="1300" b="1" dirty="0">
                <a:solidFill>
                  <a:srgbClr val="0B2545"/>
                </a:solidFill>
                <a:latin typeface="Trebuchet MS" pitchFamily="34" charset="0"/>
                <a:ea typeface="Trebuchet MS" pitchFamily="34" charset="-122"/>
                <a:cs typeface="Trebuchet MS" pitchFamily="34" charset="-120"/>
              </a:rPr>
              <a:t>Used a Framework</a:t>
            </a:r>
            <a:endParaRPr lang="en-US" sz="1300" dirty="0"/>
          </a:p>
        </p:txBody>
      </p:sp>
      <p:sp>
        <p:nvSpPr>
          <p:cNvPr id="11" name="Text 9"/>
          <p:cNvSpPr/>
          <p:nvPr/>
        </p:nvSpPr>
        <p:spPr>
          <a:xfrm>
            <a:off x="3383280" y="1984248"/>
            <a:ext cx="5120640" cy="530352"/>
          </a:xfrm>
          <a:prstGeom prst="rect">
            <a:avLst/>
          </a:prstGeom>
          <a:noFill/>
          <a:ln/>
        </p:spPr>
        <p:txBody>
          <a:bodyPr wrap="square" lIns="0" tIns="0" rIns="0" bIns="0" rtlCol="0" anchor="ctr"/>
          <a:lstStyle/>
          <a:p>
            <a:r>
              <a:rPr lang="en-US" sz="1200" dirty="0">
                <a:latin typeface="Calibri"/>
                <a:ea typeface="Calibri"/>
                <a:cs typeface="Calibri"/>
              </a:rPr>
              <a:t>Could you identify Feel-Felt-Found in their response?</a:t>
            </a:r>
          </a:p>
        </p:txBody>
      </p:sp>
      <p:sp>
        <p:nvSpPr>
          <p:cNvPr id="12" name="Shape 10"/>
          <p:cNvSpPr/>
          <p:nvPr/>
        </p:nvSpPr>
        <p:spPr>
          <a:xfrm>
            <a:off x="457200" y="2651760"/>
            <a:ext cx="8229600" cy="566928"/>
          </a:xfrm>
          <a:prstGeom prst="rect">
            <a:avLst/>
          </a:prstGeom>
          <a:solidFill>
            <a:srgbClr val="FFFFFF"/>
          </a:solidFill>
          <a:ln/>
          <a:effectLst>
            <a:outerShdw blurRad="50800" dist="25400" dir="8100000" algn="bl" rotWithShape="0">
              <a:srgbClr val="000000">
                <a:alpha val="10000"/>
              </a:srgbClr>
            </a:outerShdw>
          </a:effectLst>
        </p:spPr>
      </p:sp>
      <p:sp>
        <p:nvSpPr>
          <p:cNvPr id="13" name="Shape 11"/>
          <p:cNvSpPr/>
          <p:nvPr/>
        </p:nvSpPr>
        <p:spPr>
          <a:xfrm>
            <a:off x="457200" y="2651760"/>
            <a:ext cx="64008" cy="566928"/>
          </a:xfrm>
          <a:prstGeom prst="rect">
            <a:avLst/>
          </a:prstGeom>
          <a:solidFill>
            <a:srgbClr val="13818D"/>
          </a:solidFill>
          <a:ln/>
        </p:spPr>
      </p:sp>
      <p:sp>
        <p:nvSpPr>
          <p:cNvPr id="14" name="Text 12"/>
          <p:cNvSpPr/>
          <p:nvPr/>
        </p:nvSpPr>
        <p:spPr>
          <a:xfrm>
            <a:off x="731520" y="2670048"/>
            <a:ext cx="2560320" cy="530352"/>
          </a:xfrm>
          <a:prstGeom prst="rect">
            <a:avLst/>
          </a:prstGeom>
          <a:noFill/>
          <a:ln/>
        </p:spPr>
        <p:txBody>
          <a:bodyPr wrap="square" lIns="0" tIns="0" rIns="0" bIns="0" rtlCol="0" anchor="ctr"/>
          <a:lstStyle/>
          <a:p>
            <a:pPr marL="0" indent="0">
              <a:buNone/>
            </a:pPr>
            <a:r>
              <a:rPr lang="en-US" sz="1300" b="1" dirty="0">
                <a:solidFill>
                  <a:srgbClr val="0B2545"/>
                </a:solidFill>
                <a:latin typeface="Trebuchet MS" pitchFamily="34" charset="0"/>
                <a:ea typeface="Trebuchet MS" pitchFamily="34" charset="-122"/>
                <a:cs typeface="Trebuchet MS" pitchFamily="34" charset="-120"/>
              </a:rPr>
              <a:t>Persona Awareness</a:t>
            </a:r>
            <a:endParaRPr lang="en-US" sz="1300" dirty="0"/>
          </a:p>
        </p:txBody>
      </p:sp>
      <p:sp>
        <p:nvSpPr>
          <p:cNvPr id="15" name="Text 13"/>
          <p:cNvSpPr/>
          <p:nvPr/>
        </p:nvSpPr>
        <p:spPr>
          <a:xfrm>
            <a:off x="3383280" y="2670048"/>
            <a:ext cx="5120640" cy="530352"/>
          </a:xfrm>
          <a:prstGeom prst="rect">
            <a:avLst/>
          </a:prstGeom>
          <a:noFill/>
          <a:ln/>
        </p:spPr>
        <p:txBody>
          <a:bodyPr wrap="square" lIns="0" tIns="0" rIns="0" bIns="0" rtlCol="0" anchor="ctr"/>
          <a:lstStyle/>
          <a:p>
            <a:pPr marL="0" indent="0">
              <a:buNone/>
            </a:pPr>
            <a:r>
              <a:rPr lang="en-US" sz="1200" dirty="0">
                <a:latin typeface="Calibri"/>
                <a:ea typeface="Calibri"/>
                <a:cs typeface="Calibri"/>
              </a:rPr>
              <a:t>Did they speak to what THIS buyer cares about (ROI vs. ease vs. alignment)?</a:t>
            </a:r>
          </a:p>
        </p:txBody>
      </p:sp>
      <p:sp>
        <p:nvSpPr>
          <p:cNvPr id="16" name="Shape 14"/>
          <p:cNvSpPr/>
          <p:nvPr/>
        </p:nvSpPr>
        <p:spPr>
          <a:xfrm>
            <a:off x="457200" y="3337560"/>
            <a:ext cx="8229600" cy="566928"/>
          </a:xfrm>
          <a:prstGeom prst="rect">
            <a:avLst/>
          </a:prstGeom>
          <a:solidFill>
            <a:srgbClr val="FFFFFF"/>
          </a:solidFill>
          <a:ln/>
          <a:effectLst>
            <a:outerShdw blurRad="50800" dist="25400" dir="8100000" algn="bl" rotWithShape="0">
              <a:srgbClr val="000000">
                <a:alpha val="10000"/>
              </a:srgbClr>
            </a:outerShdw>
          </a:effectLst>
        </p:spPr>
      </p:sp>
      <p:sp>
        <p:nvSpPr>
          <p:cNvPr id="17" name="Shape 15"/>
          <p:cNvSpPr/>
          <p:nvPr/>
        </p:nvSpPr>
        <p:spPr>
          <a:xfrm>
            <a:off x="457200" y="3337560"/>
            <a:ext cx="64008" cy="566928"/>
          </a:xfrm>
          <a:prstGeom prst="rect">
            <a:avLst/>
          </a:prstGeom>
          <a:solidFill>
            <a:srgbClr val="13818D"/>
          </a:solidFill>
          <a:ln/>
        </p:spPr>
      </p:sp>
      <p:sp>
        <p:nvSpPr>
          <p:cNvPr id="18" name="Text 16"/>
          <p:cNvSpPr/>
          <p:nvPr/>
        </p:nvSpPr>
        <p:spPr>
          <a:xfrm>
            <a:off x="731520" y="3355848"/>
            <a:ext cx="2560320" cy="530352"/>
          </a:xfrm>
          <a:prstGeom prst="rect">
            <a:avLst/>
          </a:prstGeom>
          <a:noFill/>
          <a:ln/>
        </p:spPr>
        <p:txBody>
          <a:bodyPr wrap="square" lIns="0" tIns="0" rIns="0" bIns="0" rtlCol="0" anchor="ctr"/>
          <a:lstStyle/>
          <a:p>
            <a:pPr marL="0" indent="0">
              <a:buNone/>
            </a:pPr>
            <a:r>
              <a:rPr lang="en-US" sz="1300" b="1" dirty="0">
                <a:solidFill>
                  <a:srgbClr val="0B2545"/>
                </a:solidFill>
                <a:latin typeface="Trebuchet MS" pitchFamily="34" charset="0"/>
                <a:ea typeface="Trebuchet MS" pitchFamily="34" charset="-122"/>
                <a:cs typeface="Trebuchet MS" pitchFamily="34" charset="-120"/>
              </a:rPr>
              <a:t>Earned the Next Step</a:t>
            </a:r>
            <a:endParaRPr lang="en-US" sz="1300" dirty="0"/>
          </a:p>
        </p:txBody>
      </p:sp>
      <p:sp>
        <p:nvSpPr>
          <p:cNvPr id="19" name="Text 17"/>
          <p:cNvSpPr/>
          <p:nvPr/>
        </p:nvSpPr>
        <p:spPr>
          <a:xfrm>
            <a:off x="3383280" y="3355848"/>
            <a:ext cx="5120640" cy="530352"/>
          </a:xfrm>
          <a:prstGeom prst="rect">
            <a:avLst/>
          </a:prstGeom>
          <a:noFill/>
          <a:ln/>
        </p:spPr>
        <p:txBody>
          <a:bodyPr wrap="square" lIns="0" tIns="0" rIns="0" bIns="0" rtlCol="0" anchor="ctr"/>
          <a:lstStyle/>
          <a:p>
            <a:pPr marL="0" indent="0">
              <a:buNone/>
            </a:pPr>
            <a:r>
              <a:rPr lang="en-US" sz="1200" dirty="0">
                <a:latin typeface="Calibri"/>
                <a:ea typeface="Calibri"/>
                <a:cs typeface="Calibri"/>
              </a:rPr>
              <a:t>Did they propose a clear, specific next action — not a vague "let's stay in touch"</a:t>
            </a:r>
            <a:r>
              <a:rPr lang="en-US" sz="1200" dirty="0">
                <a:solidFill>
                  <a:srgbClr val="6B6B7B"/>
                </a:solidFill>
                <a:latin typeface="Calibri"/>
                <a:ea typeface="Calibri"/>
                <a:cs typeface="Calibri"/>
              </a:rPr>
              <a:t>?</a:t>
            </a:r>
            <a:endParaRPr lang="en-US" sz="1200" dirty="0">
              <a:latin typeface="Calibri"/>
              <a:ea typeface="Calibri"/>
              <a:cs typeface="Calibri"/>
            </a:endParaRPr>
          </a:p>
        </p:txBody>
      </p:sp>
      <p:sp>
        <p:nvSpPr>
          <p:cNvPr id="20" name="Shape 18"/>
          <p:cNvSpPr/>
          <p:nvPr/>
        </p:nvSpPr>
        <p:spPr>
          <a:xfrm>
            <a:off x="457200" y="4023360"/>
            <a:ext cx="8229600" cy="566928"/>
          </a:xfrm>
          <a:prstGeom prst="rect">
            <a:avLst/>
          </a:prstGeom>
          <a:solidFill>
            <a:srgbClr val="FFFFFF"/>
          </a:solidFill>
          <a:ln/>
          <a:effectLst>
            <a:outerShdw blurRad="50800" dist="25400" dir="8100000" algn="bl" rotWithShape="0">
              <a:srgbClr val="000000">
                <a:alpha val="10000"/>
              </a:srgbClr>
            </a:outerShdw>
          </a:effectLst>
        </p:spPr>
      </p:sp>
      <p:sp>
        <p:nvSpPr>
          <p:cNvPr id="21" name="Shape 19"/>
          <p:cNvSpPr/>
          <p:nvPr/>
        </p:nvSpPr>
        <p:spPr>
          <a:xfrm>
            <a:off x="457200" y="4023360"/>
            <a:ext cx="64008" cy="566928"/>
          </a:xfrm>
          <a:prstGeom prst="rect">
            <a:avLst/>
          </a:prstGeom>
          <a:solidFill>
            <a:srgbClr val="13818D"/>
          </a:solidFill>
          <a:ln/>
        </p:spPr>
      </p:sp>
      <p:sp>
        <p:nvSpPr>
          <p:cNvPr id="22" name="Text 20"/>
          <p:cNvSpPr/>
          <p:nvPr/>
        </p:nvSpPr>
        <p:spPr>
          <a:xfrm>
            <a:off x="731520" y="4041648"/>
            <a:ext cx="2560320" cy="530352"/>
          </a:xfrm>
          <a:prstGeom prst="rect">
            <a:avLst/>
          </a:prstGeom>
          <a:noFill/>
          <a:ln/>
        </p:spPr>
        <p:txBody>
          <a:bodyPr wrap="square" lIns="0" tIns="0" rIns="0" bIns="0" rtlCol="0" anchor="ctr"/>
          <a:lstStyle/>
          <a:p>
            <a:pPr marL="0" indent="0">
              <a:buNone/>
            </a:pPr>
            <a:r>
              <a:rPr lang="en-US" sz="1300" b="1" dirty="0">
                <a:solidFill>
                  <a:srgbClr val="0B2545"/>
                </a:solidFill>
                <a:latin typeface="Trebuchet MS" pitchFamily="34" charset="0"/>
                <a:ea typeface="Trebuchet MS" pitchFamily="34" charset="-122"/>
                <a:cs typeface="Trebuchet MS" pitchFamily="34" charset="-120"/>
              </a:rPr>
              <a:t>Tone &amp; Confidence</a:t>
            </a:r>
            <a:endParaRPr lang="en-US" sz="1300" dirty="0"/>
          </a:p>
        </p:txBody>
      </p:sp>
      <p:sp>
        <p:nvSpPr>
          <p:cNvPr id="23" name="Text 21"/>
          <p:cNvSpPr/>
          <p:nvPr/>
        </p:nvSpPr>
        <p:spPr>
          <a:xfrm>
            <a:off x="3383280" y="4041648"/>
            <a:ext cx="5120640" cy="530352"/>
          </a:xfrm>
          <a:prstGeom prst="rect">
            <a:avLst/>
          </a:prstGeom>
          <a:noFill/>
          <a:ln/>
        </p:spPr>
        <p:txBody>
          <a:bodyPr wrap="square" lIns="0" tIns="0" rIns="0" bIns="0" rtlCol="0" anchor="ctr"/>
          <a:lstStyle/>
          <a:p>
            <a:pPr marL="0" indent="0">
              <a:buNone/>
            </a:pPr>
            <a:r>
              <a:rPr lang="en-US" sz="1200" dirty="0">
                <a:latin typeface="Calibri"/>
                <a:ea typeface="Calibri"/>
                <a:cs typeface="Calibri"/>
              </a:rPr>
              <a:t>Did they sound consultative and calm, or defensive and rushed?</a:t>
            </a:r>
          </a:p>
        </p:txBody>
      </p:sp>
      <p:pic>
        <p:nvPicPr>
          <p:cNvPr id="24" name="Image 0" descr="preencoded.png"/>
          <p:cNvPicPr>
            <a:picLocks noChangeAspect="1"/>
          </p:cNvPicPr>
          <p:nvPr/>
        </p:nvPicPr>
        <p:blipFill>
          <a:blip r:embed="rId3"/>
          <a:stretch>
            <a:fillRect/>
          </a:stretch>
        </p:blipFill>
        <p:spPr>
          <a:xfrm>
            <a:off x="640080" y="4572000"/>
            <a:ext cx="274320" cy="274320"/>
          </a:xfrm>
          <a:prstGeom prst="rect">
            <a:avLst/>
          </a:prstGeom>
        </p:spPr>
      </p:pic>
      <p:sp>
        <p:nvSpPr>
          <p:cNvPr id="25" name="Text 22"/>
          <p:cNvSpPr/>
          <p:nvPr/>
        </p:nvSpPr>
        <p:spPr>
          <a:xfrm>
            <a:off x="1005840" y="4572000"/>
            <a:ext cx="7315200" cy="274320"/>
          </a:xfrm>
          <a:prstGeom prst="rect">
            <a:avLst/>
          </a:prstGeom>
          <a:noFill/>
          <a:ln/>
        </p:spPr>
        <p:txBody>
          <a:bodyPr wrap="square" lIns="0" tIns="0" rIns="0" bIns="0" rtlCol="0" anchor="ctr"/>
          <a:lstStyle/>
          <a:p>
            <a:pPr marL="0" indent="0">
              <a:buNone/>
            </a:pPr>
            <a:r>
              <a:rPr lang="en-US" sz="1200" b="1" dirty="0">
                <a:solidFill>
                  <a:srgbClr val="E8B44B"/>
                </a:solidFill>
                <a:latin typeface="Calibri" pitchFamily="34" charset="0"/>
                <a:ea typeface="Calibri" pitchFamily="34" charset="-122"/>
                <a:cs typeface="Calibri" pitchFamily="34" charset="-120"/>
              </a:rPr>
              <a:t>Tip: Give one thing they did well and one thing to try differently next time.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sp>
        <p:nvSpPr>
          <p:cNvPr id="3" name="Shape 1"/>
          <p:cNvSpPr/>
          <p:nvPr/>
        </p:nvSpPr>
        <p:spPr>
          <a:xfrm>
            <a:off x="731520" y="1051560"/>
            <a:ext cx="365760" cy="365760"/>
          </a:xfrm>
          <a:prstGeom prst="ellipse">
            <a:avLst/>
          </a:prstGeom>
          <a:solidFill>
            <a:srgbClr val="13818D"/>
          </a:solidFill>
          <a:ln/>
        </p:spPr>
      </p:sp>
      <p:pic>
        <p:nvPicPr>
          <p:cNvPr id="4" name="Image 0" descr="preencoded.png"/>
          <p:cNvPicPr>
            <a:picLocks noChangeAspect="1"/>
          </p:cNvPicPr>
          <p:nvPr/>
        </p:nvPicPr>
        <p:blipFill>
          <a:blip r:embed="rId3"/>
          <a:stretch>
            <a:fillRect/>
          </a:stretch>
        </p:blipFill>
        <p:spPr>
          <a:xfrm>
            <a:off x="795528" y="1097280"/>
            <a:ext cx="237744" cy="237744"/>
          </a:xfrm>
          <a:prstGeom prst="rect">
            <a:avLst/>
          </a:prstGeom>
        </p:spPr>
      </p:pic>
      <p:sp>
        <p:nvSpPr>
          <p:cNvPr id="5" name="Text 2"/>
          <p:cNvSpPr/>
          <p:nvPr/>
        </p:nvSpPr>
        <p:spPr>
          <a:xfrm>
            <a:off x="1325880" y="1005840"/>
            <a:ext cx="7315200" cy="45720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Objections aren't rejection — they're buying signals in disguise.</a:t>
            </a:r>
            <a:endParaRPr lang="en-US" sz="1550" dirty="0"/>
          </a:p>
        </p:txBody>
      </p:sp>
      <p:sp>
        <p:nvSpPr>
          <p:cNvPr id="6" name="Shape 3"/>
          <p:cNvSpPr/>
          <p:nvPr/>
        </p:nvSpPr>
        <p:spPr>
          <a:xfrm>
            <a:off x="731520" y="1783080"/>
            <a:ext cx="365760" cy="365760"/>
          </a:xfrm>
          <a:prstGeom prst="ellipse">
            <a:avLst/>
          </a:prstGeom>
          <a:solidFill>
            <a:srgbClr val="13818D"/>
          </a:solidFill>
          <a:ln/>
        </p:spPr>
      </p:sp>
      <p:pic>
        <p:nvPicPr>
          <p:cNvPr id="7" name="Image 1" descr="preencoded.png"/>
          <p:cNvPicPr>
            <a:picLocks noChangeAspect="1"/>
          </p:cNvPicPr>
          <p:nvPr/>
        </p:nvPicPr>
        <p:blipFill>
          <a:blip r:embed="rId3"/>
          <a:stretch>
            <a:fillRect/>
          </a:stretch>
        </p:blipFill>
        <p:spPr>
          <a:xfrm>
            <a:off x="795528" y="1828800"/>
            <a:ext cx="237744" cy="237744"/>
          </a:xfrm>
          <a:prstGeom prst="rect">
            <a:avLst/>
          </a:prstGeom>
        </p:spPr>
      </p:pic>
      <p:sp>
        <p:nvSpPr>
          <p:cNvPr id="8" name="Text 4"/>
          <p:cNvSpPr/>
          <p:nvPr/>
        </p:nvSpPr>
        <p:spPr>
          <a:xfrm>
            <a:off x="1325880" y="1737360"/>
            <a:ext cx="7315200" cy="45720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Always validate before you pivot. People need to feel heard first.</a:t>
            </a:r>
            <a:endParaRPr lang="en-US" sz="1550" dirty="0"/>
          </a:p>
        </p:txBody>
      </p:sp>
      <p:sp>
        <p:nvSpPr>
          <p:cNvPr id="9" name="Shape 5"/>
          <p:cNvSpPr/>
          <p:nvPr/>
        </p:nvSpPr>
        <p:spPr>
          <a:xfrm>
            <a:off x="731520" y="2514600"/>
            <a:ext cx="365760" cy="365760"/>
          </a:xfrm>
          <a:prstGeom prst="ellipse">
            <a:avLst/>
          </a:prstGeom>
          <a:solidFill>
            <a:srgbClr val="13818D"/>
          </a:solidFill>
          <a:ln/>
        </p:spPr>
      </p:sp>
      <p:pic>
        <p:nvPicPr>
          <p:cNvPr id="10" name="Image 2" descr="preencoded.png"/>
          <p:cNvPicPr>
            <a:picLocks noChangeAspect="1"/>
          </p:cNvPicPr>
          <p:nvPr/>
        </p:nvPicPr>
        <p:blipFill>
          <a:blip r:embed="rId3"/>
          <a:stretch>
            <a:fillRect/>
          </a:stretch>
        </p:blipFill>
        <p:spPr>
          <a:xfrm>
            <a:off x="795528" y="2560320"/>
            <a:ext cx="237744" cy="237744"/>
          </a:xfrm>
          <a:prstGeom prst="rect">
            <a:avLst/>
          </a:prstGeom>
        </p:spPr>
      </p:pic>
      <p:sp>
        <p:nvSpPr>
          <p:cNvPr id="11" name="Text 6"/>
          <p:cNvSpPr/>
          <p:nvPr/>
        </p:nvSpPr>
        <p:spPr>
          <a:xfrm>
            <a:off x="1325880" y="2468880"/>
            <a:ext cx="7315200" cy="45720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Different personas need different responses. Know your buyer.</a:t>
            </a:r>
            <a:endParaRPr lang="en-US" sz="1550" dirty="0"/>
          </a:p>
        </p:txBody>
      </p:sp>
      <p:sp>
        <p:nvSpPr>
          <p:cNvPr id="12" name="Shape 7"/>
          <p:cNvSpPr/>
          <p:nvPr/>
        </p:nvSpPr>
        <p:spPr>
          <a:xfrm>
            <a:off x="731520" y="3246120"/>
            <a:ext cx="365760" cy="365760"/>
          </a:xfrm>
          <a:prstGeom prst="ellipse">
            <a:avLst/>
          </a:prstGeom>
          <a:solidFill>
            <a:srgbClr val="13818D"/>
          </a:solidFill>
          <a:ln/>
        </p:spPr>
      </p:sp>
      <p:pic>
        <p:nvPicPr>
          <p:cNvPr id="13" name="Image 3" descr="preencoded.png"/>
          <p:cNvPicPr>
            <a:picLocks noChangeAspect="1"/>
          </p:cNvPicPr>
          <p:nvPr/>
        </p:nvPicPr>
        <p:blipFill>
          <a:blip r:embed="rId3"/>
          <a:stretch>
            <a:fillRect/>
          </a:stretch>
        </p:blipFill>
        <p:spPr>
          <a:xfrm>
            <a:off x="795528" y="3291840"/>
            <a:ext cx="237744" cy="237744"/>
          </a:xfrm>
          <a:prstGeom prst="rect">
            <a:avLst/>
          </a:prstGeom>
        </p:spPr>
      </p:pic>
      <p:sp>
        <p:nvSpPr>
          <p:cNvPr id="14" name="Text 8"/>
          <p:cNvSpPr/>
          <p:nvPr/>
        </p:nvSpPr>
        <p:spPr>
          <a:xfrm>
            <a:off x="1325880" y="3200400"/>
            <a:ext cx="7315200" cy="45720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Frameworks give you structure. Practice gives you speed.</a:t>
            </a:r>
            <a:endParaRPr lang="en-US" sz="1550" dirty="0"/>
          </a:p>
        </p:txBody>
      </p:sp>
      <p:sp>
        <p:nvSpPr>
          <p:cNvPr id="15" name="Shape 9"/>
          <p:cNvSpPr/>
          <p:nvPr/>
        </p:nvSpPr>
        <p:spPr>
          <a:xfrm>
            <a:off x="731520" y="3977640"/>
            <a:ext cx="365760" cy="365760"/>
          </a:xfrm>
          <a:prstGeom prst="ellipse">
            <a:avLst/>
          </a:prstGeom>
          <a:solidFill>
            <a:srgbClr val="13818D"/>
          </a:solidFill>
          <a:ln/>
        </p:spPr>
      </p:sp>
      <p:pic>
        <p:nvPicPr>
          <p:cNvPr id="16" name="Image 4" descr="preencoded.png"/>
          <p:cNvPicPr>
            <a:picLocks noChangeAspect="1"/>
          </p:cNvPicPr>
          <p:nvPr/>
        </p:nvPicPr>
        <p:blipFill>
          <a:blip r:embed="rId3"/>
          <a:stretch>
            <a:fillRect/>
          </a:stretch>
        </p:blipFill>
        <p:spPr>
          <a:xfrm>
            <a:off x="795528" y="4023360"/>
            <a:ext cx="237744" cy="237744"/>
          </a:xfrm>
          <a:prstGeom prst="rect">
            <a:avLst/>
          </a:prstGeom>
        </p:spPr>
      </p:pic>
      <p:sp>
        <p:nvSpPr>
          <p:cNvPr id="17" name="Text 10"/>
          <p:cNvSpPr/>
          <p:nvPr/>
        </p:nvSpPr>
        <p:spPr>
          <a:xfrm>
            <a:off x="1325880" y="3931920"/>
            <a:ext cx="7315200" cy="45720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The best closers aren't aggressive — they're curious and calm.</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2926080" y="0"/>
            <a:ext cx="6217920" cy="5143500"/>
          </a:xfrm>
          <a:prstGeom prst="rect">
            <a:avLst/>
          </a:prstGeom>
          <a:solidFill>
            <a:srgbClr val="13818D"/>
          </a:solidFill>
          <a:ln/>
        </p:spPr>
      </p:sp>
      <p:pic>
        <p:nvPicPr>
          <p:cNvPr id="3" name="Image 0" descr="preencoded.png"/>
          <p:cNvPicPr>
            <a:picLocks noChangeAspect="1"/>
          </p:cNvPicPr>
          <p:nvPr/>
        </p:nvPicPr>
        <p:blipFill>
          <a:blip r:embed="rId3"/>
          <a:stretch>
            <a:fillRect/>
          </a:stretch>
        </p:blipFill>
        <p:spPr>
          <a:xfrm>
            <a:off x="5303520" y="1097280"/>
            <a:ext cx="1005840" cy="1005840"/>
          </a:xfrm>
          <a:prstGeom prst="rect">
            <a:avLst/>
          </a:prstGeom>
        </p:spPr>
      </p:pic>
      <p:sp>
        <p:nvSpPr>
          <p:cNvPr id="4" name="Text 1"/>
          <p:cNvSpPr/>
          <p:nvPr/>
        </p:nvSpPr>
        <p:spPr>
          <a:xfrm>
            <a:off x="2743200" y="2011680"/>
            <a:ext cx="5943600" cy="1828800"/>
          </a:xfrm>
          <a:prstGeom prst="rect">
            <a:avLst/>
          </a:prstGeom>
          <a:noFill/>
          <a:ln/>
        </p:spPr>
        <p:txBody>
          <a:bodyPr wrap="square" lIns="0" tIns="0" rIns="0" bIns="0" rtlCol="0" anchor="ctr"/>
          <a:lstStyle/>
          <a:p>
            <a:pPr marL="0" indent="0" algn="ctr">
              <a:lnSpc>
                <a:spcPct val="120000"/>
              </a:lnSpc>
              <a:buNone/>
            </a:pPr>
            <a:r>
              <a:rPr lang="en-US" sz="3600" b="1" dirty="0">
                <a:solidFill>
                  <a:srgbClr val="FFFFFF"/>
                </a:solidFill>
                <a:latin typeface="Trebuchet MS" pitchFamily="34" charset="0"/>
                <a:ea typeface="Trebuchet MS" pitchFamily="34" charset="-122"/>
                <a:cs typeface="Trebuchet MS" pitchFamily="34" charset="-120"/>
              </a:rPr>
              <a:t>Every objection</a:t>
            </a:r>
            <a:endParaRPr lang="en-US" sz="3600" dirty="0"/>
          </a:p>
          <a:p>
            <a:pPr marL="0" indent="0" algn="ctr">
              <a:lnSpc>
                <a:spcPct val="120000"/>
              </a:lnSpc>
              <a:buNone/>
            </a:pPr>
            <a:r>
              <a:rPr lang="en-US" sz="3600" b="1" dirty="0">
                <a:solidFill>
                  <a:srgbClr val="FFFFFF"/>
                </a:solidFill>
                <a:latin typeface="Trebuchet MS" pitchFamily="34" charset="0"/>
                <a:ea typeface="Trebuchet MS" pitchFamily="34" charset="-122"/>
                <a:cs typeface="Trebuchet MS" pitchFamily="34" charset="-120"/>
              </a:rPr>
              <a:t>is a chance to</a:t>
            </a:r>
            <a:endParaRPr lang="en-US" sz="3600" dirty="0"/>
          </a:p>
          <a:p>
            <a:pPr marL="0" indent="0" algn="ctr">
              <a:lnSpc>
                <a:spcPct val="120000"/>
              </a:lnSpc>
              <a:buNone/>
            </a:pPr>
            <a:r>
              <a:rPr lang="en-US" sz="3600" b="1" dirty="0">
                <a:solidFill>
                  <a:srgbClr val="FFFFFF"/>
                </a:solidFill>
                <a:latin typeface="Trebuchet MS" pitchFamily="34" charset="0"/>
                <a:ea typeface="Trebuchet MS" pitchFamily="34" charset="-122"/>
                <a:cs typeface="Trebuchet MS" pitchFamily="34" charset="-120"/>
              </a:rPr>
              <a:t>get better.</a:t>
            </a:r>
            <a:endParaRPr lang="en-US" sz="3600" dirty="0"/>
          </a:p>
        </p:txBody>
      </p:sp>
      <p:sp>
        <p:nvSpPr>
          <p:cNvPr id="5" name="Text 2"/>
          <p:cNvSpPr/>
          <p:nvPr/>
        </p:nvSpPr>
        <p:spPr>
          <a:xfrm>
            <a:off x="2743200" y="3842985"/>
            <a:ext cx="5943600" cy="457200"/>
          </a:xfrm>
          <a:prstGeom prst="rect">
            <a:avLst/>
          </a:prstGeom>
          <a:noFill/>
          <a:ln/>
        </p:spPr>
        <p:txBody>
          <a:bodyPr wrap="square" lIns="0" tIns="0" rIns="0" bIns="0" rtlCol="0" anchor="ctr"/>
          <a:lstStyle/>
          <a:p>
            <a:pPr marL="0" indent="0" algn="ctr">
              <a:buNone/>
            </a:pPr>
            <a:r>
              <a:rPr lang="en-US" sz="1600" dirty="0">
                <a:solidFill>
                  <a:schemeClr val="bg1"/>
                </a:solidFill>
                <a:latin typeface="Calibri"/>
                <a:ea typeface="Calibri"/>
                <a:cs typeface="Calibri"/>
              </a:rPr>
              <a:t>Keep practicing. Keep coaching each other.</a:t>
            </a:r>
          </a:p>
        </p:txBody>
      </p:sp>
      <p:sp>
        <p:nvSpPr>
          <p:cNvPr id="6" name="Text 3"/>
          <p:cNvSpPr/>
          <p:nvPr/>
        </p:nvSpPr>
        <p:spPr>
          <a:xfrm>
            <a:off x="2743200" y="4297680"/>
            <a:ext cx="5943600" cy="365760"/>
          </a:xfrm>
          <a:prstGeom prst="rect">
            <a:avLst/>
          </a:prstGeom>
          <a:noFill/>
          <a:ln/>
        </p:spPr>
        <p:txBody>
          <a:bodyPr wrap="square" lIns="0" tIns="0" rIns="0" bIns="0" rtlCol="0" anchor="ctr"/>
          <a:lstStyle/>
          <a:p>
            <a:pPr marL="0" indent="0" algn="ctr">
              <a:buNone/>
            </a:pPr>
            <a:r>
              <a:rPr lang="en-US" sz="1200" dirty="0">
                <a:solidFill>
                  <a:srgbClr val="0B2545"/>
                </a:solidFill>
                <a:latin typeface="Calibri" pitchFamily="34" charset="0"/>
                <a:ea typeface="Calibri" pitchFamily="34" charset="-122"/>
                <a:cs typeface="Calibri" pitchFamily="34" charset="-120"/>
              </a:rPr>
              <a:t>Meevo Sales Enablement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Objection Role-Play: Live Practice &amp; Coaching</dc:title>
  <dc:subject>PptxGenJS Presentation</dc:subject>
  <dc:creator>Meevo Sales Enablement</dc:creator>
  <cp:lastModifiedBy>Meevo Sales Enablement</cp:lastModifiedBy>
  <cp:revision>36</cp:revision>
  <dcterms:created xsi:type="dcterms:W3CDTF">2026-03-13T13:06:00Z</dcterms:created>
  <dcterms:modified xsi:type="dcterms:W3CDTF">2026-03-13T13:38:45Z</dcterms:modified>
</cp:coreProperties>
</file>