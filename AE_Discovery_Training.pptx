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B850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Why Top Priority
(1.39)</c:v>
                </c:pt>
                <c:pt idx="1">
                  <c:v>Implications
(1.43)</c:v>
                </c:pt>
                <c:pt idx="2">
                  <c:v>Clarifying Qs
(1.82)</c:v>
                </c:pt>
                <c:pt idx="3">
                  <c:v>Open-Ended After
Features (1.89)</c:v>
                </c:pt>
                <c:pt idx="4">
                  <c:v>Features vs.
Value (2.31)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1.39</c:v>
                </c:pt>
                <c:pt idx="1">
                  <c:v>1.43</c:v>
                </c:pt>
                <c:pt idx="2">
                  <c:v>1.82</c:v>
                </c:pt>
                <c:pt idx="3">
                  <c:v>1.89</c:v>
                </c:pt>
                <c:pt idx="4">
                  <c:v>2.31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37-4052-BC26-41CF32430B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7A9E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7A9E7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Closing / Buy-in</c:v>
                </c:pt>
                <c:pt idx="1">
                  <c:v>Objection Handling</c:v>
                </c:pt>
                <c:pt idx="2">
                  <c:v>Next Steps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3.26</c:v>
                </c:pt>
                <c:pt idx="1">
                  <c:v>3.44</c:v>
                </c:pt>
                <c:pt idx="2">
                  <c:v>3.65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61-4CED-B82B-D15A807777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77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1097280"/>
          </a:xfrm>
          <a:prstGeom prst="rect">
            <a:avLst/>
          </a:prstGeom>
          <a:solidFill>
            <a:srgbClr val="1B6B9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48640"/>
          </a:xfrm>
          <a:prstGeom prst="rect">
            <a:avLst/>
          </a:prstGeom>
          <a:solidFill>
            <a:srgbClr val="6D2E4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 DISCOVERY TRAINING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 Between Where We Are and Where We’re Going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6D2E4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  |  Q1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9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353312"/>
            <a:ext cx="438912" cy="438912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444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91840" y="12984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410 demos tell us about our discovery gap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993392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66544"/>
            <a:ext cx="438912" cy="438912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15798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29184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we’re leaving deals on the table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70662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7240" y="2779776"/>
            <a:ext cx="438912" cy="438912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28712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7249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291840" y="27249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features to value — the discovery loop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341985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77240" y="3493008"/>
            <a:ext cx="438912" cy="438912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5844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4381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Practice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291840" y="34381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Role-play: Salon, Spa, MedSpa scenarios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0080" y="413308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77240" y="4206240"/>
            <a:ext cx="438912" cy="438912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29768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41513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Standard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3291840" y="415137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great discovery looks like going forward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TELLS 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demos analyzed over the last 3 months via Attention.com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51760" cy="3108960"/>
          </a:xfrm>
          <a:prstGeom prst="rect">
            <a:avLst/>
          </a:prstGeom>
          <a:solidFill>
            <a:srgbClr val="FDF2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51760" cy="7315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1.8–2.0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out of 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Follow-Ups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Exploration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Probing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651760" cy="310896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0" y="1463040"/>
            <a:ext cx="2651760" cy="73152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2.3–2.7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576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out of 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3063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vs. Value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MeevoTips Usage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Differentiation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2651760" cy="310896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1463040"/>
            <a:ext cx="2651760" cy="73152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3.3–3.7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922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out of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3063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Buy-in / Commitment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DISCOVERY: THE BREAKDOWN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188720"/>
            <a:ext cx="2834640" cy="3200400"/>
          </a:xfrm>
          <a:prstGeom prst="rect">
            <a:avLst/>
          </a:prstGeom>
          <a:solidFill>
            <a:srgbClr val="FDF2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35040" y="1188720"/>
            <a:ext cx="73152" cy="3200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0936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ISSUE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173736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</a:rPr>
              <a:t>We’re not asking enough </a:t>
            </a:r>
            <a:r>
              <a:rPr lang="en-US" sz="1300" b="1" dirty="0">
                <a:solidFill>
                  <a:srgbClr val="2D2D2D"/>
                </a:solidFill>
              </a:rPr>
              <a:t>clarifying questions</a:t>
            </a:r>
            <a:r>
              <a:rPr lang="en-US" sz="1300" dirty="0">
                <a:solidFill>
                  <a:srgbClr val="2D2D2D"/>
                </a:solidFill>
              </a:rPr>
              <a:t> and we’re not connecting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</a:rPr>
              <a:t>features to business impact.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</a:rPr>
              <a:t>Prospects tell us a problem.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</a:rPr>
              <a:t>We skip past the “so what”.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</a:rPr>
              <a:t>We jump to features.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</a:rPr>
              <a:t>We never circle back.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2D2D2D"/>
                </a:solidFill>
              </a:rPr>
              <a:t>The result: demos that inform but don’t compel.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GOOD NEWS: WE CAN CLOSE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188720"/>
            <a:ext cx="3108960" cy="292608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60720" y="1188720"/>
            <a:ext cx="73152" cy="292608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3504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35040" y="173736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</a:rPr>
              <a:t>Our closing ability is real.
</a:t>
            </a:r>
            <a:r>
              <a:rPr lang="en-US" sz="1300" dirty="0">
                <a:solidFill>
                  <a:srgbClr val="2D2D2D"/>
                </a:solidFill>
              </a:rPr>
              <a:t>But closing without deep discovery is like building a house on sand. You can hammer nails all day — the structure won’t hold.
Now imagine pairing that closing strength with discovery that makes the prospect </a:t>
            </a:r>
            <a:r>
              <a:rPr lang="en-US" sz="1300" b="1" dirty="0">
                <a:solidFill>
                  <a:srgbClr val="7A9E7E"/>
                </a:solidFill>
              </a:rPr>
              <a:t>feel the cost of inaction.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2D2D2D"/>
                </a:solidFill>
              </a:rPr>
              <a:t>That’s where conversion rates move.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4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WE’RE CLOSING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749040" cy="3108960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 NOW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6F0"/>
                </a:solidFill>
              </a:rPr>
              <a:t>Prospect says a problem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6F0"/>
                </a:solidFill>
              </a:rPr>
              <a:t>We acknowledge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6F0"/>
                </a:solidFill>
              </a:rPr>
              <a:t>We show a feature that solves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6F0"/>
                </a:solidFill>
              </a:rPr>
              <a:t>We move on to the next feature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6F0"/>
                </a:solidFill>
              </a:rPr>
              <a:t>We close on next steps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Informed prospect, weak conviction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46888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46320" y="1280160"/>
            <a:ext cx="3749040" cy="3108960"/>
          </a:xfrm>
          <a:prstGeom prst="rect">
            <a:avLst/>
          </a:prstGeom>
          <a:solidFill>
            <a:srgbClr val="7A9E7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WE’RE GOING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0" y="19202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AF6F0"/>
                </a:solidFill>
              </a:rPr>
              <a:t>Prospect says a problem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AF6F0"/>
                </a:solidFill>
              </a:rPr>
              <a:t>We ask WHY it’s the priority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AF6F0"/>
                </a:solidFill>
              </a:rPr>
              <a:t>We explore IMPLICATIONS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AF6F0"/>
                </a:solidFill>
              </a:rPr>
              <a:t>We show a feature tied to their pain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AF6F0"/>
                </a:solidFill>
              </a:rPr>
              <a:t>We ask: “How does that map to what you described?”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AF6F0"/>
                </a:solidFill>
              </a:rPr>
              <a:t>We close on commitment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Compelled prospect, strong conviction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DISCOVERY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demo should complete this 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2926080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1554480"/>
            <a:ext cx="640080" cy="64008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states a problem or need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more about that.”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2011680" cy="2926080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 and explore implications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if this doesn’t get solved?”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2011680" cy="2926080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40680" y="155448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the feature tied to their pain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show you how we handle that…”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417320"/>
            <a:ext cx="2011680" cy="2926080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89520" y="1554480"/>
            <a:ext cx="640080" cy="640080"/>
          </a:xfrm>
          <a:prstGeom prst="ellipse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0408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back with an open-ended question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does that map to what you described?”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SCENARIO: 3-LOCATION SALON GROUP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</a:rPr>
              <a:t>Prospect says: </a:t>
            </a:r>
            <a:r>
              <a:rPr lang="en-US" sz="1600" b="1" i="1" dirty="0">
                <a:solidFill>
                  <a:srgbClr val="2D2D2D"/>
                </a:solidFill>
              </a:rPr>
              <a:t>“Our rebooking rates are really low across all three locations.”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840480" cy="2468880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84048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MOST AEs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D2D2D"/>
                </a:solidFill>
              </a:rPr>
              <a:t>“Oh, Meevo has automated rebooking reminders — let me show you!”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</a:rPr>
              <a:t>Jump straight to feature.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</a:rPr>
              <a:t>Never quantify the problem.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</a:rPr>
              <a:t>Never explore why it’s happening.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B85042"/>
                </a:solidFill>
              </a:rPr>
              <a:t>Prospect thinks: “Nice feature”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148840"/>
            <a:ext cx="3840480" cy="246888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2148840"/>
            <a:ext cx="3840480" cy="54864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DISCOVERY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7432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D2D2D"/>
                </a:solidFill>
              </a:rPr>
              <a:t>“Help me understand — across 3 locations, what does a low rebooking rate cost you monthly in lost revenue?”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7A9E7E"/>
                </a:solidFill>
              </a:rPr>
              <a:t>Surface → Dig → Show → Connect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</a:rPr>
              <a:t>Quantify the pain first.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</a:rPr>
              <a:t>Then show how Meevo solves it.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i="1" dirty="0">
                <a:solidFill>
                  <a:srgbClr val="7A9E7E"/>
                </a:solidFill>
              </a:rPr>
              <a:t>Prospect thinks: “I need this.”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SCENARIO: 12-PROVIDER MEDSPA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</a:rPr>
              <a:t>Prospect says: </a:t>
            </a:r>
            <a:r>
              <a:rPr lang="en-US" sz="1600" b="1" i="1" dirty="0">
                <a:solidFill>
                  <a:srgbClr val="2D2D2D"/>
                </a:solidFill>
              </a:rPr>
              <a:t>“We need better reporting.”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 DEEPER — THE IMPLICATION LADDER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7863840" cy="475488"/>
          </a:xfrm>
          <a:prstGeom prst="rect">
            <a:avLst/>
          </a:prstGeom>
          <a:solidFill>
            <a:srgbClr val="F5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66090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0604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 say better reporting — what are you trying to see that you can’t see today?”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606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actual gap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78638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320954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you tracking provider utilization across 12 providers right now?”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1546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operational pain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7863840" cy="475488"/>
          </a:xfrm>
          <a:prstGeom prst="rect">
            <a:avLst/>
          </a:prstGeom>
          <a:solidFill>
            <a:srgbClr val="F5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75818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7033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decisions are you making without that data — and what’s that costing you?”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business impact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78638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4306824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425196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had that visibility tomorrow, what’s the first thing you’d change?”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251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urgency + ownership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vs. VALUE: THE FLIP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2.31/5 — We’re telling, not selling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Feature-Speak (What we do now)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Value-Speak (Where we’re going)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987552"/>
          </a:xfrm>
          <a:prstGeom prst="rect">
            <a:avLst/>
          </a:prstGeom>
          <a:solidFill>
            <a:srgbClr val="F5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Rebooking Reminders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87452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“Meevo sends automatic reminders to clients who haven’t rebooked.”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87452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“Salon owners we work with see a 15–20% rebooking lift — on a 10-chair salon that’s thousands in monthly recurring revenue. What would that mean for your business?”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9875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Multi-Location Reporting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92608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see reports across all your locations in one dashboard.”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92608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“Right now you’re pulling data from 3 different systems. What if you could see which location is underperforming and why in 30 seconds?”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987552"/>
          </a:xfrm>
          <a:prstGeom prst="rect">
            <a:avLst/>
          </a:prstGeom>
          <a:solidFill>
            <a:srgbClr val="F5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Management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97764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“Meevo has a built-in membership module.”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97764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“MedSpas using our membership tools average 30%+ recurring revenue. You mentioned cash flow predictability is a challenge — how much of your revenue is recurring today?”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COACHING OBSERVATIONS: PATTERNS WE’RE SEEING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manager call reviews — February touchpoints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749808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3152" cy="7498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Agenda Positioning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start without clear structure, purpose, or defined outcomes. Conversations drift without direction.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7863840" cy="749808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73152" cy="7498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Surface-Level Discovery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identify problems but don’t dig into implications, financial impact, or urgency. SPIN stops at Problem.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7863840" cy="749808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73152" cy="749808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Informative &gt; Persuasive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explain capabilities well but don’t guide prospects toward decisions. Telling, not selling.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7863840" cy="749808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73152" cy="749808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Reframes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to create urgency by reframing challenges in a new, more compelling light are consistently missed.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4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PRACTICE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Role-Play: Apply the Discovery Loop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188720" cy="8229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4630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8-provider salon switching from Boulevard. They say: “We just need something that works.” Your job: Find the real pain underneath.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188720" cy="82296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2-location spa using Square. They say: “We’re looking at a few options.” Your job: Create urgency and differentiate.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786384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1188720" cy="82296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MEDSPA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15-provider medspa frustrated with reporting. They say: “We need better visibility.” Your job: Quantify the impact and connect to revenue.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solidFill>
            <a:srgbClr val="6D2E4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4622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FORMAT: </a:t>
            </a:r>
            <a:r>
              <a:rPr lang="en-US" sz="1300" dirty="0">
                <a:solidFill>
                  <a:srgbClr val="FAF6F0"/>
                </a:solidFill>
              </a:rPr>
              <a:t>Pairs. 5 minutes each. AE runs discovery using the loop. Observer scores on 4 behaviors from pre-work.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SCORING: WHAT TO OBSERVE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Needs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Developing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Mastery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solidFill>
            <a:srgbClr val="F5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Clarifying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554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the first answer. No follow-up.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1–2 follow-ups but stayed surface-level.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554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multiple clarifying Qs that uncovered the real pain.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3957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It’s the Priority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3957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asked why.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3957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but accepted a vague answer.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3957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 until the prospect articulated the business driver.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91256"/>
            <a:ext cx="8229600" cy="777240"/>
          </a:xfrm>
          <a:prstGeom prst="rect">
            <a:avLst/>
          </a:prstGeom>
          <a:solidFill>
            <a:srgbClr val="F5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2369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2369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entirely.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2369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impact but didn’t quantify.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323697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stated the cost of inaction in their own words.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32504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07822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Feature-to-Value Connection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07822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feature, moved 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07822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Mentioned value but didn’t connect to their specific pain.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407822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feature directly to their stated problem with a follow-up Q.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GOING FORWARD: YOUR ACTION ITEMS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02920" cy="50292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43560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2527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Discovery Loop on every demo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5727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→ Dig → Show → Connect. No feature gets shown without first digging into the “so what.”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3500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1671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2+ clarifying questions per stated problem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08760" y="24871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show anything, understand WHY it matters and WHAT it costs them.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2644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0815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Self-score after every demo this week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08760" y="34015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4 behaviors from today. Track your progress. Bring scores to your next 1:1.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F5F2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1B6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17880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9959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review: Listen to 1 teammate’s demo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508760" y="43159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them on the same 4 behaviors. Share feedback. We coach each other up.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4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QUESTIONS.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DEMOS.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OUTCOMES.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828800" cy="36576"/>
          </a:xfrm>
          <a:prstGeom prst="rect">
            <a:avLst/>
          </a:prstGeom>
          <a:solidFill>
            <a:srgbClr val="9E76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[STAGE: Continuous Education]  [ATTRIBUTES: Discovery &amp; Qualification | Business Acumen | Coachability | Resilience]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1284</Words>
  <Application>Microsoft Office PowerPoint</Application>
  <PresentationFormat>On-screen Show (16:9)</PresentationFormat>
  <Paragraphs>203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 Discovery Training - Closing the Gap</dc:title>
  <dc:subject>PptxGenJS Presentation</dc:subject>
  <dc:creator>Meevo Sales Enablement</dc:creator>
  <cp:lastModifiedBy>Terry Moorehead</cp:lastModifiedBy>
  <cp:revision>1</cp:revision>
  <dcterms:created xsi:type="dcterms:W3CDTF">2026-03-04T17:46:19Z</dcterms:created>
  <dcterms:modified xsi:type="dcterms:W3CDTF">2026-03-05T19:30:39Z</dcterms:modified>
</cp:coreProperties>
</file>