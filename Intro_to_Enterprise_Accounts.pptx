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6692F13-B9A1-934A-2047-4CFC18B5F1DF}" v="97" dt="2026-03-11T13:05:36.699"/>
    <p1510:client id="{EFE456CB-4A41-7361-A926-2C5B1A2B9B92}" v="348" dt="2026-03-11T18:30:38.0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erry Moorehead" userId="S::tmoorehead@meevo.com::a2a6df63-b8e3-4cea-aa6c-ded8cdcb5bd7" providerId="AD" clId="Web-{E6692F13-B9A1-934A-2047-4CFC18B5F1DF}"/>
    <pc:docChg chg="modSld">
      <pc:chgData name="Terry Moorehead" userId="S::tmoorehead@meevo.com::a2a6df63-b8e3-4cea-aa6c-ded8cdcb5bd7" providerId="AD" clId="Web-{E6692F13-B9A1-934A-2047-4CFC18B5F1DF}" dt="2026-03-11T13:05:36.699" v="95" actId="1076"/>
      <pc:docMkLst>
        <pc:docMk/>
      </pc:docMkLst>
      <pc:sldChg chg="delSp modSp">
        <pc:chgData name="Terry Moorehead" userId="S::tmoorehead@meevo.com::a2a6df63-b8e3-4cea-aa6c-ded8cdcb5bd7" providerId="AD" clId="Web-{E6692F13-B9A1-934A-2047-4CFC18B5F1DF}" dt="2026-03-11T12:50:00.326" v="1" actId="1076"/>
        <pc:sldMkLst>
          <pc:docMk/>
          <pc:sldMk cId="0" sldId="256"/>
        </pc:sldMkLst>
        <pc:spChg chg="mod">
          <ac:chgData name="Terry Moorehead" userId="S::tmoorehead@meevo.com::a2a6df63-b8e3-4cea-aa6c-ded8cdcb5bd7" providerId="AD" clId="Web-{E6692F13-B9A1-934A-2047-4CFC18B5F1DF}" dt="2026-03-11T12:50:00.326" v="1" actId="1076"/>
          <ac:spMkLst>
            <pc:docMk/>
            <pc:sldMk cId="0" sldId="256"/>
            <ac:spMk id="8" creationId="{00000000-0000-0000-0000-000000000000}"/>
          </ac:spMkLst>
        </pc:spChg>
        <pc:spChg chg="del">
          <ac:chgData name="Terry Moorehead" userId="S::tmoorehead@meevo.com::a2a6df63-b8e3-4cea-aa6c-ded8cdcb5bd7" providerId="AD" clId="Web-{E6692F13-B9A1-934A-2047-4CFC18B5F1DF}" dt="2026-03-11T12:49:52.513" v="0"/>
          <ac:spMkLst>
            <pc:docMk/>
            <pc:sldMk cId="0" sldId="256"/>
            <ac:spMk id="12" creationId="{00000000-0000-0000-0000-000000000000}"/>
          </ac:spMkLst>
        </pc:spChg>
      </pc:sldChg>
      <pc:sldChg chg="delSp modSp">
        <pc:chgData name="Terry Moorehead" userId="S::tmoorehead@meevo.com::a2a6df63-b8e3-4cea-aa6c-ded8cdcb5bd7" providerId="AD" clId="Web-{E6692F13-B9A1-934A-2047-4CFC18B5F1DF}" dt="2026-03-11T12:51:10.842" v="12" actId="20577"/>
        <pc:sldMkLst>
          <pc:docMk/>
          <pc:sldMk cId="0" sldId="257"/>
        </pc:sldMkLst>
        <pc:spChg chg="mod">
          <ac:chgData name="Terry Moorehead" userId="S::tmoorehead@meevo.com::a2a6df63-b8e3-4cea-aa6c-ded8cdcb5bd7" providerId="AD" clId="Web-{E6692F13-B9A1-934A-2047-4CFC18B5F1DF}" dt="2026-03-11T12:51:10.842" v="12" actId="20577"/>
          <ac:spMkLst>
            <pc:docMk/>
            <pc:sldMk cId="0" sldId="257"/>
            <ac:spMk id="3" creationId="{00000000-0000-0000-0000-000000000000}"/>
          </ac:spMkLst>
        </pc:spChg>
        <pc:spChg chg="mod">
          <ac:chgData name="Terry Moorehead" userId="S::tmoorehead@meevo.com::a2a6df63-b8e3-4cea-aa6c-ded8cdcb5bd7" providerId="AD" clId="Web-{E6692F13-B9A1-934A-2047-4CFC18B5F1DF}" dt="2026-03-11T12:50:22.201" v="4" actId="1076"/>
          <ac:spMkLst>
            <pc:docMk/>
            <pc:sldMk cId="0" sldId="257"/>
            <ac:spMk id="50" creationId="{00000000-0000-0000-0000-000000000000}"/>
          </ac:spMkLst>
        </pc:spChg>
        <pc:spChg chg="mod">
          <ac:chgData name="Terry Moorehead" userId="S::tmoorehead@meevo.com::a2a6df63-b8e3-4cea-aa6c-ded8cdcb5bd7" providerId="AD" clId="Web-{E6692F13-B9A1-934A-2047-4CFC18B5F1DF}" dt="2026-03-11T12:50:45.139" v="9" actId="20577"/>
          <ac:spMkLst>
            <pc:docMk/>
            <pc:sldMk cId="0" sldId="257"/>
            <ac:spMk id="51" creationId="{00000000-0000-0000-0000-000000000000}"/>
          </ac:spMkLst>
        </pc:spChg>
        <pc:spChg chg="del">
          <ac:chgData name="Terry Moorehead" userId="S::tmoorehead@meevo.com::a2a6df63-b8e3-4cea-aa6c-ded8cdcb5bd7" providerId="AD" clId="Web-{E6692F13-B9A1-934A-2047-4CFC18B5F1DF}" dt="2026-03-11T12:50:53.217" v="11"/>
          <ac:spMkLst>
            <pc:docMk/>
            <pc:sldMk cId="0" sldId="257"/>
            <ac:spMk id="52" creationId="{00000000-0000-0000-0000-000000000000}"/>
          </ac:spMkLst>
        </pc:spChg>
        <pc:picChg chg="mod">
          <ac:chgData name="Terry Moorehead" userId="S::tmoorehead@meevo.com::a2a6df63-b8e3-4cea-aa6c-ded8cdcb5bd7" providerId="AD" clId="Web-{E6692F13-B9A1-934A-2047-4CFC18B5F1DF}" dt="2026-03-11T12:50:49.170" v="10" actId="1076"/>
          <ac:picMkLst>
            <pc:docMk/>
            <pc:sldMk cId="0" sldId="257"/>
            <ac:picMk id="5" creationId="{00000000-0000-0000-0000-000000000000}"/>
          </ac:picMkLst>
        </pc:picChg>
      </pc:sldChg>
      <pc:sldChg chg="modSp">
        <pc:chgData name="Terry Moorehead" userId="S::tmoorehead@meevo.com::a2a6df63-b8e3-4cea-aa6c-ded8cdcb5bd7" providerId="AD" clId="Web-{E6692F13-B9A1-934A-2047-4CFC18B5F1DF}" dt="2026-03-11T12:56:15.378" v="19" actId="20577"/>
        <pc:sldMkLst>
          <pc:docMk/>
          <pc:sldMk cId="0" sldId="258"/>
        </pc:sldMkLst>
        <pc:spChg chg="mod">
          <ac:chgData name="Terry Moorehead" userId="S::tmoorehead@meevo.com::a2a6df63-b8e3-4cea-aa6c-ded8cdcb5bd7" providerId="AD" clId="Web-{E6692F13-B9A1-934A-2047-4CFC18B5F1DF}" dt="2026-03-11T12:51:31.858" v="14" actId="20577"/>
          <ac:spMkLst>
            <pc:docMk/>
            <pc:sldMk cId="0" sldId="258"/>
            <ac:spMk id="3" creationId="{00000000-0000-0000-0000-000000000000}"/>
          </ac:spMkLst>
        </pc:spChg>
        <pc:spChg chg="mod">
          <ac:chgData name="Terry Moorehead" userId="S::tmoorehead@meevo.com::a2a6df63-b8e3-4cea-aa6c-ded8cdcb5bd7" providerId="AD" clId="Web-{E6692F13-B9A1-934A-2047-4CFC18B5F1DF}" dt="2026-03-11T12:52:01.218" v="15" actId="20577"/>
          <ac:spMkLst>
            <pc:docMk/>
            <pc:sldMk cId="0" sldId="258"/>
            <ac:spMk id="11" creationId="{00000000-0000-0000-0000-000000000000}"/>
          </ac:spMkLst>
        </pc:spChg>
        <pc:spChg chg="mod">
          <ac:chgData name="Terry Moorehead" userId="S::tmoorehead@meevo.com::a2a6df63-b8e3-4cea-aa6c-ded8cdcb5bd7" providerId="AD" clId="Web-{E6692F13-B9A1-934A-2047-4CFC18B5F1DF}" dt="2026-03-11T12:56:00.002" v="16" actId="20577"/>
          <ac:spMkLst>
            <pc:docMk/>
            <pc:sldMk cId="0" sldId="258"/>
            <ac:spMk id="19" creationId="{00000000-0000-0000-0000-000000000000}"/>
          </ac:spMkLst>
        </pc:spChg>
        <pc:spChg chg="mod">
          <ac:chgData name="Terry Moorehead" userId="S::tmoorehead@meevo.com::a2a6df63-b8e3-4cea-aa6c-ded8cdcb5bd7" providerId="AD" clId="Web-{E6692F13-B9A1-934A-2047-4CFC18B5F1DF}" dt="2026-03-11T12:56:04.393" v="17" actId="20577"/>
          <ac:spMkLst>
            <pc:docMk/>
            <pc:sldMk cId="0" sldId="258"/>
            <ac:spMk id="27" creationId="{00000000-0000-0000-0000-000000000000}"/>
          </ac:spMkLst>
        </pc:spChg>
        <pc:spChg chg="mod">
          <ac:chgData name="Terry Moorehead" userId="S::tmoorehead@meevo.com::a2a6df63-b8e3-4cea-aa6c-ded8cdcb5bd7" providerId="AD" clId="Web-{E6692F13-B9A1-934A-2047-4CFC18B5F1DF}" dt="2026-03-11T12:56:10.049" v="18" actId="20577"/>
          <ac:spMkLst>
            <pc:docMk/>
            <pc:sldMk cId="0" sldId="258"/>
            <ac:spMk id="35" creationId="{00000000-0000-0000-0000-000000000000}"/>
          </ac:spMkLst>
        </pc:spChg>
        <pc:spChg chg="mod">
          <ac:chgData name="Terry Moorehead" userId="S::tmoorehead@meevo.com::a2a6df63-b8e3-4cea-aa6c-ded8cdcb5bd7" providerId="AD" clId="Web-{E6692F13-B9A1-934A-2047-4CFC18B5F1DF}" dt="2026-03-11T12:56:15.378" v="19" actId="20577"/>
          <ac:spMkLst>
            <pc:docMk/>
            <pc:sldMk cId="0" sldId="258"/>
            <ac:spMk id="43" creationId="{00000000-0000-0000-0000-000000000000}"/>
          </ac:spMkLst>
        </pc:spChg>
      </pc:sldChg>
      <pc:sldChg chg="modSp">
        <pc:chgData name="Terry Moorehead" userId="S::tmoorehead@meevo.com::a2a6df63-b8e3-4cea-aa6c-ded8cdcb5bd7" providerId="AD" clId="Web-{E6692F13-B9A1-934A-2047-4CFC18B5F1DF}" dt="2026-03-11T12:59:14.575" v="45" actId="20577"/>
        <pc:sldMkLst>
          <pc:docMk/>
          <pc:sldMk cId="0" sldId="259"/>
        </pc:sldMkLst>
        <pc:spChg chg="mod">
          <ac:chgData name="Terry Moorehead" userId="S::tmoorehead@meevo.com::a2a6df63-b8e3-4cea-aa6c-ded8cdcb5bd7" providerId="AD" clId="Web-{E6692F13-B9A1-934A-2047-4CFC18B5F1DF}" dt="2026-03-11T12:56:37.487" v="20" actId="20577"/>
          <ac:spMkLst>
            <pc:docMk/>
            <pc:sldMk cId="0" sldId="259"/>
            <ac:spMk id="3" creationId="{00000000-0000-0000-0000-000000000000}"/>
          </ac:spMkLst>
        </pc:spChg>
        <pc:spChg chg="mod">
          <ac:chgData name="Terry Moorehead" userId="S::tmoorehead@meevo.com::a2a6df63-b8e3-4cea-aa6c-ded8cdcb5bd7" providerId="AD" clId="Web-{E6692F13-B9A1-934A-2047-4CFC18B5F1DF}" dt="2026-03-11T12:56:47.456" v="21" actId="20577"/>
          <ac:spMkLst>
            <pc:docMk/>
            <pc:sldMk cId="0" sldId="259"/>
            <ac:spMk id="7" creationId="{00000000-0000-0000-0000-000000000000}"/>
          </ac:spMkLst>
        </pc:spChg>
        <pc:spChg chg="mod">
          <ac:chgData name="Terry Moorehead" userId="S::tmoorehead@meevo.com::a2a6df63-b8e3-4cea-aa6c-ded8cdcb5bd7" providerId="AD" clId="Web-{E6692F13-B9A1-934A-2047-4CFC18B5F1DF}" dt="2026-03-11T12:57:00.519" v="22" actId="20577"/>
          <ac:spMkLst>
            <pc:docMk/>
            <pc:sldMk cId="0" sldId="259"/>
            <ac:spMk id="12" creationId="{00000000-0000-0000-0000-000000000000}"/>
          </ac:spMkLst>
        </pc:spChg>
        <pc:spChg chg="mod">
          <ac:chgData name="Terry Moorehead" userId="S::tmoorehead@meevo.com::a2a6df63-b8e3-4cea-aa6c-ded8cdcb5bd7" providerId="AD" clId="Web-{E6692F13-B9A1-934A-2047-4CFC18B5F1DF}" dt="2026-03-11T12:57:41.803" v="28" actId="20577"/>
          <ac:spMkLst>
            <pc:docMk/>
            <pc:sldMk cId="0" sldId="259"/>
            <ac:spMk id="14" creationId="{00000000-0000-0000-0000-000000000000}"/>
          </ac:spMkLst>
        </pc:spChg>
        <pc:spChg chg="mod">
          <ac:chgData name="Terry Moorehead" userId="S::tmoorehead@meevo.com::a2a6df63-b8e3-4cea-aa6c-ded8cdcb5bd7" providerId="AD" clId="Web-{E6692F13-B9A1-934A-2047-4CFC18B5F1DF}" dt="2026-03-11T12:58:24.369" v="35" actId="20577"/>
          <ac:spMkLst>
            <pc:docMk/>
            <pc:sldMk cId="0" sldId="259"/>
            <ac:spMk id="16" creationId="{00000000-0000-0000-0000-000000000000}"/>
          </ac:spMkLst>
        </pc:spChg>
        <pc:spChg chg="mod">
          <ac:chgData name="Terry Moorehead" userId="S::tmoorehead@meevo.com::a2a6df63-b8e3-4cea-aa6c-ded8cdcb5bd7" providerId="AD" clId="Web-{E6692F13-B9A1-934A-2047-4CFC18B5F1DF}" dt="2026-03-11T12:57:16.535" v="23" actId="20577"/>
          <ac:spMkLst>
            <pc:docMk/>
            <pc:sldMk cId="0" sldId="259"/>
            <ac:spMk id="21" creationId="{00000000-0000-0000-0000-000000000000}"/>
          </ac:spMkLst>
        </pc:spChg>
        <pc:spChg chg="mod">
          <ac:chgData name="Terry Moorehead" userId="S::tmoorehead@meevo.com::a2a6df63-b8e3-4cea-aa6c-ded8cdcb5bd7" providerId="AD" clId="Web-{E6692F13-B9A1-934A-2047-4CFC18B5F1DF}" dt="2026-03-11T12:57:45.975" v="29" actId="20577"/>
          <ac:spMkLst>
            <pc:docMk/>
            <pc:sldMk cId="0" sldId="259"/>
            <ac:spMk id="23" creationId="{00000000-0000-0000-0000-000000000000}"/>
          </ac:spMkLst>
        </pc:spChg>
        <pc:spChg chg="mod">
          <ac:chgData name="Terry Moorehead" userId="S::tmoorehead@meevo.com::a2a6df63-b8e3-4cea-aa6c-ded8cdcb5bd7" providerId="AD" clId="Web-{E6692F13-B9A1-934A-2047-4CFC18B5F1DF}" dt="2026-03-11T12:58:42.073" v="37" actId="20577"/>
          <ac:spMkLst>
            <pc:docMk/>
            <pc:sldMk cId="0" sldId="259"/>
            <ac:spMk id="25" creationId="{00000000-0000-0000-0000-000000000000}"/>
          </ac:spMkLst>
        </pc:spChg>
        <pc:spChg chg="mod">
          <ac:chgData name="Terry Moorehead" userId="S::tmoorehead@meevo.com::a2a6df63-b8e3-4cea-aa6c-ded8cdcb5bd7" providerId="AD" clId="Web-{E6692F13-B9A1-934A-2047-4CFC18B5F1DF}" dt="2026-03-11T12:57:22.598" v="24" actId="20577"/>
          <ac:spMkLst>
            <pc:docMk/>
            <pc:sldMk cId="0" sldId="259"/>
            <ac:spMk id="30" creationId="{00000000-0000-0000-0000-000000000000}"/>
          </ac:spMkLst>
        </pc:spChg>
        <pc:spChg chg="mod">
          <ac:chgData name="Terry Moorehead" userId="S::tmoorehead@meevo.com::a2a6df63-b8e3-4cea-aa6c-ded8cdcb5bd7" providerId="AD" clId="Web-{E6692F13-B9A1-934A-2047-4CFC18B5F1DF}" dt="2026-03-11T12:57:50.023" v="30" actId="20577"/>
          <ac:spMkLst>
            <pc:docMk/>
            <pc:sldMk cId="0" sldId="259"/>
            <ac:spMk id="32" creationId="{00000000-0000-0000-0000-000000000000}"/>
          </ac:spMkLst>
        </pc:spChg>
        <pc:spChg chg="mod">
          <ac:chgData name="Terry Moorehead" userId="S::tmoorehead@meevo.com::a2a6df63-b8e3-4cea-aa6c-ded8cdcb5bd7" providerId="AD" clId="Web-{E6692F13-B9A1-934A-2047-4CFC18B5F1DF}" dt="2026-03-11T12:58:49.918" v="39" actId="20577"/>
          <ac:spMkLst>
            <pc:docMk/>
            <pc:sldMk cId="0" sldId="259"/>
            <ac:spMk id="34" creationId="{00000000-0000-0000-0000-000000000000}"/>
          </ac:spMkLst>
        </pc:spChg>
        <pc:spChg chg="mod">
          <ac:chgData name="Terry Moorehead" userId="S::tmoorehead@meevo.com::a2a6df63-b8e3-4cea-aa6c-ded8cdcb5bd7" providerId="AD" clId="Web-{E6692F13-B9A1-934A-2047-4CFC18B5F1DF}" dt="2026-03-11T12:57:26.974" v="25" actId="20577"/>
          <ac:spMkLst>
            <pc:docMk/>
            <pc:sldMk cId="0" sldId="259"/>
            <ac:spMk id="39" creationId="{00000000-0000-0000-0000-000000000000}"/>
          </ac:spMkLst>
        </pc:spChg>
        <pc:spChg chg="mod">
          <ac:chgData name="Terry Moorehead" userId="S::tmoorehead@meevo.com::a2a6df63-b8e3-4cea-aa6c-ded8cdcb5bd7" providerId="AD" clId="Web-{E6692F13-B9A1-934A-2047-4CFC18B5F1DF}" dt="2026-03-11T12:57:53.679" v="31" actId="20577"/>
          <ac:spMkLst>
            <pc:docMk/>
            <pc:sldMk cId="0" sldId="259"/>
            <ac:spMk id="41" creationId="{00000000-0000-0000-0000-000000000000}"/>
          </ac:spMkLst>
        </pc:spChg>
        <pc:spChg chg="mod">
          <ac:chgData name="Terry Moorehead" userId="S::tmoorehead@meevo.com::a2a6df63-b8e3-4cea-aa6c-ded8cdcb5bd7" providerId="AD" clId="Web-{E6692F13-B9A1-934A-2047-4CFC18B5F1DF}" dt="2026-03-11T12:58:58.903" v="41" actId="20577"/>
          <ac:spMkLst>
            <pc:docMk/>
            <pc:sldMk cId="0" sldId="259"/>
            <ac:spMk id="43" creationId="{00000000-0000-0000-0000-000000000000}"/>
          </ac:spMkLst>
        </pc:spChg>
        <pc:spChg chg="mod">
          <ac:chgData name="Terry Moorehead" userId="S::tmoorehead@meevo.com::a2a6df63-b8e3-4cea-aa6c-ded8cdcb5bd7" providerId="AD" clId="Web-{E6692F13-B9A1-934A-2047-4CFC18B5F1DF}" dt="2026-03-11T12:57:30.662" v="26" actId="20577"/>
          <ac:spMkLst>
            <pc:docMk/>
            <pc:sldMk cId="0" sldId="259"/>
            <ac:spMk id="48" creationId="{00000000-0000-0000-0000-000000000000}"/>
          </ac:spMkLst>
        </pc:spChg>
        <pc:spChg chg="mod">
          <ac:chgData name="Terry Moorehead" userId="S::tmoorehead@meevo.com::a2a6df63-b8e3-4cea-aa6c-ded8cdcb5bd7" providerId="AD" clId="Web-{E6692F13-B9A1-934A-2047-4CFC18B5F1DF}" dt="2026-03-11T12:57:58.742" v="32" actId="20577"/>
          <ac:spMkLst>
            <pc:docMk/>
            <pc:sldMk cId="0" sldId="259"/>
            <ac:spMk id="50" creationId="{00000000-0000-0000-0000-000000000000}"/>
          </ac:spMkLst>
        </pc:spChg>
        <pc:spChg chg="mod">
          <ac:chgData name="Terry Moorehead" userId="S::tmoorehead@meevo.com::a2a6df63-b8e3-4cea-aa6c-ded8cdcb5bd7" providerId="AD" clId="Web-{E6692F13-B9A1-934A-2047-4CFC18B5F1DF}" dt="2026-03-11T12:59:07.137" v="43" actId="20577"/>
          <ac:spMkLst>
            <pc:docMk/>
            <pc:sldMk cId="0" sldId="259"/>
            <ac:spMk id="52" creationId="{00000000-0000-0000-0000-000000000000}"/>
          </ac:spMkLst>
        </pc:spChg>
        <pc:spChg chg="mod">
          <ac:chgData name="Terry Moorehead" userId="S::tmoorehead@meevo.com::a2a6df63-b8e3-4cea-aa6c-ded8cdcb5bd7" providerId="AD" clId="Web-{E6692F13-B9A1-934A-2047-4CFC18B5F1DF}" dt="2026-03-11T12:57:34.568" v="27" actId="20577"/>
          <ac:spMkLst>
            <pc:docMk/>
            <pc:sldMk cId="0" sldId="259"/>
            <ac:spMk id="57" creationId="{00000000-0000-0000-0000-000000000000}"/>
          </ac:spMkLst>
        </pc:spChg>
        <pc:spChg chg="mod">
          <ac:chgData name="Terry Moorehead" userId="S::tmoorehead@meevo.com::a2a6df63-b8e3-4cea-aa6c-ded8cdcb5bd7" providerId="AD" clId="Web-{E6692F13-B9A1-934A-2047-4CFC18B5F1DF}" dt="2026-03-11T12:58:03.492" v="33" actId="20577"/>
          <ac:spMkLst>
            <pc:docMk/>
            <pc:sldMk cId="0" sldId="259"/>
            <ac:spMk id="59" creationId="{00000000-0000-0000-0000-000000000000}"/>
          </ac:spMkLst>
        </pc:spChg>
        <pc:spChg chg="mod">
          <ac:chgData name="Terry Moorehead" userId="S::tmoorehead@meevo.com::a2a6df63-b8e3-4cea-aa6c-ded8cdcb5bd7" providerId="AD" clId="Web-{E6692F13-B9A1-934A-2047-4CFC18B5F1DF}" dt="2026-03-11T12:59:14.575" v="45" actId="20577"/>
          <ac:spMkLst>
            <pc:docMk/>
            <pc:sldMk cId="0" sldId="259"/>
            <ac:spMk id="61" creationId="{00000000-0000-0000-0000-000000000000}"/>
          </ac:spMkLst>
        </pc:spChg>
      </pc:sldChg>
      <pc:sldChg chg="modSp">
        <pc:chgData name="Terry Moorehead" userId="S::tmoorehead@meevo.com::a2a6df63-b8e3-4cea-aa6c-ded8cdcb5bd7" providerId="AD" clId="Web-{E6692F13-B9A1-934A-2047-4CFC18B5F1DF}" dt="2026-03-11T12:59:24.826" v="46" actId="1076"/>
        <pc:sldMkLst>
          <pc:docMk/>
          <pc:sldMk cId="0" sldId="260"/>
        </pc:sldMkLst>
        <pc:spChg chg="mod">
          <ac:chgData name="Terry Moorehead" userId="S::tmoorehead@meevo.com::a2a6df63-b8e3-4cea-aa6c-ded8cdcb5bd7" providerId="AD" clId="Web-{E6692F13-B9A1-934A-2047-4CFC18B5F1DF}" dt="2026-03-11T12:59:24.826" v="46" actId="1076"/>
          <ac:spMkLst>
            <pc:docMk/>
            <pc:sldMk cId="0" sldId="260"/>
            <ac:spMk id="7" creationId="{00000000-0000-0000-0000-000000000000}"/>
          </ac:spMkLst>
        </pc:spChg>
      </pc:sldChg>
      <pc:sldChg chg="modSp">
        <pc:chgData name="Terry Moorehead" userId="S::tmoorehead@meevo.com::a2a6df63-b8e3-4cea-aa6c-ded8cdcb5bd7" providerId="AD" clId="Web-{E6692F13-B9A1-934A-2047-4CFC18B5F1DF}" dt="2026-03-11T13:00:56.565" v="61" actId="1076"/>
        <pc:sldMkLst>
          <pc:docMk/>
          <pc:sldMk cId="0" sldId="261"/>
        </pc:sldMkLst>
        <pc:spChg chg="mod">
          <ac:chgData name="Terry Moorehead" userId="S::tmoorehead@meevo.com::a2a6df63-b8e3-4cea-aa6c-ded8cdcb5bd7" providerId="AD" clId="Web-{E6692F13-B9A1-934A-2047-4CFC18B5F1DF}" dt="2026-03-11T12:59:44.327" v="48" actId="20577"/>
          <ac:spMkLst>
            <pc:docMk/>
            <pc:sldMk cId="0" sldId="261"/>
            <ac:spMk id="3" creationId="{00000000-0000-0000-0000-000000000000}"/>
          </ac:spMkLst>
        </pc:spChg>
        <pc:spChg chg="mod">
          <ac:chgData name="Terry Moorehead" userId="S::tmoorehead@meevo.com::a2a6df63-b8e3-4cea-aa6c-ded8cdcb5bd7" providerId="AD" clId="Web-{E6692F13-B9A1-934A-2047-4CFC18B5F1DF}" dt="2026-03-11T12:59:56.109" v="50" actId="20577"/>
          <ac:spMkLst>
            <pc:docMk/>
            <pc:sldMk cId="0" sldId="261"/>
            <ac:spMk id="10" creationId="{00000000-0000-0000-0000-000000000000}"/>
          </ac:spMkLst>
        </pc:spChg>
        <pc:spChg chg="mod">
          <ac:chgData name="Terry Moorehead" userId="S::tmoorehead@meevo.com::a2a6df63-b8e3-4cea-aa6c-ded8cdcb5bd7" providerId="AD" clId="Web-{E6692F13-B9A1-934A-2047-4CFC18B5F1DF}" dt="2026-03-11T13:00:30.814" v="56" actId="20577"/>
          <ac:spMkLst>
            <pc:docMk/>
            <pc:sldMk cId="0" sldId="261"/>
            <ac:spMk id="15" creationId="{00000000-0000-0000-0000-000000000000}"/>
          </ac:spMkLst>
        </pc:spChg>
        <pc:spChg chg="mod">
          <ac:chgData name="Terry Moorehead" userId="S::tmoorehead@meevo.com::a2a6df63-b8e3-4cea-aa6c-ded8cdcb5bd7" providerId="AD" clId="Web-{E6692F13-B9A1-934A-2047-4CFC18B5F1DF}" dt="2026-03-11T13:00:06.266" v="52" actId="20577"/>
          <ac:spMkLst>
            <pc:docMk/>
            <pc:sldMk cId="0" sldId="261"/>
            <ac:spMk id="20" creationId="{00000000-0000-0000-0000-000000000000}"/>
          </ac:spMkLst>
        </pc:spChg>
        <pc:spChg chg="mod">
          <ac:chgData name="Terry Moorehead" userId="S::tmoorehead@meevo.com::a2a6df63-b8e3-4cea-aa6c-ded8cdcb5bd7" providerId="AD" clId="Web-{E6692F13-B9A1-934A-2047-4CFC18B5F1DF}" dt="2026-03-11T13:00:39.080" v="58" actId="20577"/>
          <ac:spMkLst>
            <pc:docMk/>
            <pc:sldMk cId="0" sldId="261"/>
            <ac:spMk id="25" creationId="{00000000-0000-0000-0000-000000000000}"/>
          </ac:spMkLst>
        </pc:spChg>
        <pc:spChg chg="mod">
          <ac:chgData name="Terry Moorehead" userId="S::tmoorehead@meevo.com::a2a6df63-b8e3-4cea-aa6c-ded8cdcb5bd7" providerId="AD" clId="Web-{E6692F13-B9A1-934A-2047-4CFC18B5F1DF}" dt="2026-03-11T13:00:14.610" v="54" actId="20577"/>
          <ac:spMkLst>
            <pc:docMk/>
            <pc:sldMk cId="0" sldId="261"/>
            <ac:spMk id="30" creationId="{00000000-0000-0000-0000-000000000000}"/>
          </ac:spMkLst>
        </pc:spChg>
        <pc:spChg chg="mod">
          <ac:chgData name="Terry Moorehead" userId="S::tmoorehead@meevo.com::a2a6df63-b8e3-4cea-aa6c-ded8cdcb5bd7" providerId="AD" clId="Web-{E6692F13-B9A1-934A-2047-4CFC18B5F1DF}" dt="2026-03-11T13:00:45.877" v="60" actId="20577"/>
          <ac:spMkLst>
            <pc:docMk/>
            <pc:sldMk cId="0" sldId="261"/>
            <ac:spMk id="35" creationId="{00000000-0000-0000-0000-000000000000}"/>
          </ac:spMkLst>
        </pc:spChg>
        <pc:picChg chg="mod">
          <ac:chgData name="Terry Moorehead" userId="S::tmoorehead@meevo.com::a2a6df63-b8e3-4cea-aa6c-ded8cdcb5bd7" providerId="AD" clId="Web-{E6692F13-B9A1-934A-2047-4CFC18B5F1DF}" dt="2026-03-11T13:00:56.565" v="61" actId="1076"/>
          <ac:picMkLst>
            <pc:docMk/>
            <pc:sldMk cId="0" sldId="261"/>
            <ac:picMk id="5" creationId="{00000000-0000-0000-0000-000000000000}"/>
          </ac:picMkLst>
        </pc:picChg>
      </pc:sldChg>
      <pc:sldChg chg="modSp">
        <pc:chgData name="Terry Moorehead" userId="S::tmoorehead@meevo.com::a2a6df63-b8e3-4cea-aa6c-ded8cdcb5bd7" providerId="AD" clId="Web-{E6692F13-B9A1-934A-2047-4CFC18B5F1DF}" dt="2026-03-11T13:01:11.628" v="62" actId="20577"/>
        <pc:sldMkLst>
          <pc:docMk/>
          <pc:sldMk cId="0" sldId="262"/>
        </pc:sldMkLst>
        <pc:spChg chg="mod">
          <ac:chgData name="Terry Moorehead" userId="S::tmoorehead@meevo.com::a2a6df63-b8e3-4cea-aa6c-ded8cdcb5bd7" providerId="AD" clId="Web-{E6692F13-B9A1-934A-2047-4CFC18B5F1DF}" dt="2026-03-11T13:01:11.628" v="62" actId="20577"/>
          <ac:spMkLst>
            <pc:docMk/>
            <pc:sldMk cId="0" sldId="262"/>
            <ac:spMk id="3" creationId="{00000000-0000-0000-0000-000000000000}"/>
          </ac:spMkLst>
        </pc:spChg>
      </pc:sldChg>
      <pc:sldChg chg="modSp">
        <pc:chgData name="Terry Moorehead" userId="S::tmoorehead@meevo.com::a2a6df63-b8e3-4cea-aa6c-ded8cdcb5bd7" providerId="AD" clId="Web-{E6692F13-B9A1-934A-2047-4CFC18B5F1DF}" dt="2026-03-11T13:03:51.478" v="77" actId="20577"/>
        <pc:sldMkLst>
          <pc:docMk/>
          <pc:sldMk cId="0" sldId="263"/>
        </pc:sldMkLst>
        <pc:spChg chg="mod">
          <ac:chgData name="Terry Moorehead" userId="S::tmoorehead@meevo.com::a2a6df63-b8e3-4cea-aa6c-ded8cdcb5bd7" providerId="AD" clId="Web-{E6692F13-B9A1-934A-2047-4CFC18B5F1DF}" dt="2026-03-11T13:02:42.757" v="74" actId="20577"/>
          <ac:spMkLst>
            <pc:docMk/>
            <pc:sldMk cId="0" sldId="263"/>
            <ac:spMk id="3" creationId="{00000000-0000-0000-0000-000000000000}"/>
          </ac:spMkLst>
        </pc:spChg>
        <pc:spChg chg="mod">
          <ac:chgData name="Terry Moorehead" userId="S::tmoorehead@meevo.com::a2a6df63-b8e3-4cea-aa6c-ded8cdcb5bd7" providerId="AD" clId="Web-{E6692F13-B9A1-934A-2047-4CFC18B5F1DF}" dt="2026-03-11T13:02:30.319" v="73" actId="20577"/>
          <ac:spMkLst>
            <pc:docMk/>
            <pc:sldMk cId="0" sldId="263"/>
            <ac:spMk id="7" creationId="{00000000-0000-0000-0000-000000000000}"/>
          </ac:spMkLst>
        </pc:spChg>
        <pc:spChg chg="mod">
          <ac:chgData name="Terry Moorehead" userId="S::tmoorehead@meevo.com::a2a6df63-b8e3-4cea-aa6c-ded8cdcb5bd7" providerId="AD" clId="Web-{E6692F13-B9A1-934A-2047-4CFC18B5F1DF}" dt="2026-03-11T13:01:22.848" v="63" actId="20577"/>
          <ac:spMkLst>
            <pc:docMk/>
            <pc:sldMk cId="0" sldId="263"/>
            <ac:spMk id="12" creationId="{00000000-0000-0000-0000-000000000000}"/>
          </ac:spMkLst>
        </pc:spChg>
        <pc:spChg chg="mod">
          <ac:chgData name="Terry Moorehead" userId="S::tmoorehead@meevo.com::a2a6df63-b8e3-4cea-aa6c-ded8cdcb5bd7" providerId="AD" clId="Web-{E6692F13-B9A1-934A-2047-4CFC18B5F1DF}" dt="2026-03-11T13:02:54.929" v="75" actId="20577"/>
          <ac:spMkLst>
            <pc:docMk/>
            <pc:sldMk cId="0" sldId="263"/>
            <ac:spMk id="14" creationId="{00000000-0000-0000-0000-000000000000}"/>
          </ac:spMkLst>
        </pc:spChg>
        <pc:spChg chg="mod">
          <ac:chgData name="Terry Moorehead" userId="S::tmoorehead@meevo.com::a2a6df63-b8e3-4cea-aa6c-ded8cdcb5bd7" providerId="AD" clId="Web-{E6692F13-B9A1-934A-2047-4CFC18B5F1DF}" dt="2026-03-11T13:01:33.676" v="65" actId="20577"/>
          <ac:spMkLst>
            <pc:docMk/>
            <pc:sldMk cId="0" sldId="263"/>
            <ac:spMk id="19" creationId="{00000000-0000-0000-0000-000000000000}"/>
          </ac:spMkLst>
        </pc:spChg>
        <pc:spChg chg="mod">
          <ac:chgData name="Terry Moorehead" userId="S::tmoorehead@meevo.com::a2a6df63-b8e3-4cea-aa6c-ded8cdcb5bd7" providerId="AD" clId="Web-{E6692F13-B9A1-934A-2047-4CFC18B5F1DF}" dt="2026-03-11T13:02:58.570" v="76" actId="20577"/>
          <ac:spMkLst>
            <pc:docMk/>
            <pc:sldMk cId="0" sldId="263"/>
            <ac:spMk id="21" creationId="{00000000-0000-0000-0000-000000000000}"/>
          </ac:spMkLst>
        </pc:spChg>
        <pc:spChg chg="mod">
          <ac:chgData name="Terry Moorehead" userId="S::tmoorehead@meevo.com::a2a6df63-b8e3-4cea-aa6c-ded8cdcb5bd7" providerId="AD" clId="Web-{E6692F13-B9A1-934A-2047-4CFC18B5F1DF}" dt="2026-03-11T13:01:37.489" v="66" actId="20577"/>
          <ac:spMkLst>
            <pc:docMk/>
            <pc:sldMk cId="0" sldId="263"/>
            <ac:spMk id="26" creationId="{00000000-0000-0000-0000-000000000000}"/>
          </ac:spMkLst>
        </pc:spChg>
        <pc:spChg chg="mod">
          <ac:chgData name="Terry Moorehead" userId="S::tmoorehead@meevo.com::a2a6df63-b8e3-4cea-aa6c-ded8cdcb5bd7" providerId="AD" clId="Web-{E6692F13-B9A1-934A-2047-4CFC18B5F1DF}" dt="2026-03-11T13:01:46.880" v="67" actId="20577"/>
          <ac:spMkLst>
            <pc:docMk/>
            <pc:sldMk cId="0" sldId="263"/>
            <ac:spMk id="33" creationId="{00000000-0000-0000-0000-000000000000}"/>
          </ac:spMkLst>
        </pc:spChg>
        <pc:spChg chg="mod">
          <ac:chgData name="Terry Moorehead" userId="S::tmoorehead@meevo.com::a2a6df63-b8e3-4cea-aa6c-ded8cdcb5bd7" providerId="AD" clId="Web-{E6692F13-B9A1-934A-2047-4CFC18B5F1DF}" dt="2026-03-11T13:02:07.365" v="70" actId="1076"/>
          <ac:spMkLst>
            <pc:docMk/>
            <pc:sldMk cId="0" sldId="263"/>
            <ac:spMk id="38" creationId="{00000000-0000-0000-0000-000000000000}"/>
          </ac:spMkLst>
        </pc:spChg>
        <pc:spChg chg="mod">
          <ac:chgData name="Terry Moorehead" userId="S::tmoorehead@meevo.com::a2a6df63-b8e3-4cea-aa6c-ded8cdcb5bd7" providerId="AD" clId="Web-{E6692F13-B9A1-934A-2047-4CFC18B5F1DF}" dt="2026-03-11T13:02:14.787" v="71" actId="1076"/>
          <ac:spMkLst>
            <pc:docMk/>
            <pc:sldMk cId="0" sldId="263"/>
            <ac:spMk id="39" creationId="{00000000-0000-0000-0000-000000000000}"/>
          </ac:spMkLst>
        </pc:spChg>
        <pc:spChg chg="mod">
          <ac:chgData name="Terry Moorehead" userId="S::tmoorehead@meevo.com::a2a6df63-b8e3-4cea-aa6c-ded8cdcb5bd7" providerId="AD" clId="Web-{E6692F13-B9A1-934A-2047-4CFC18B5F1DF}" dt="2026-03-11T13:01:51.255" v="68" actId="20577"/>
          <ac:spMkLst>
            <pc:docMk/>
            <pc:sldMk cId="0" sldId="263"/>
            <ac:spMk id="40" creationId="{00000000-0000-0000-0000-000000000000}"/>
          </ac:spMkLst>
        </pc:spChg>
        <pc:spChg chg="mod">
          <ac:chgData name="Terry Moorehead" userId="S::tmoorehead@meevo.com::a2a6df63-b8e3-4cea-aa6c-ded8cdcb5bd7" providerId="AD" clId="Web-{E6692F13-B9A1-934A-2047-4CFC18B5F1DF}" dt="2026-03-11T13:01:56.161" v="69" actId="20577"/>
          <ac:spMkLst>
            <pc:docMk/>
            <pc:sldMk cId="0" sldId="263"/>
            <ac:spMk id="47" creationId="{00000000-0000-0000-0000-000000000000}"/>
          </ac:spMkLst>
        </pc:spChg>
        <pc:spChg chg="mod">
          <ac:chgData name="Terry Moorehead" userId="S::tmoorehead@meevo.com::a2a6df63-b8e3-4cea-aa6c-ded8cdcb5bd7" providerId="AD" clId="Web-{E6692F13-B9A1-934A-2047-4CFC18B5F1DF}" dt="2026-03-11T13:03:51.478" v="77" actId="20577"/>
          <ac:spMkLst>
            <pc:docMk/>
            <pc:sldMk cId="0" sldId="263"/>
            <ac:spMk id="49" creationId="{00000000-0000-0000-0000-000000000000}"/>
          </ac:spMkLst>
        </pc:spChg>
      </pc:sldChg>
      <pc:sldChg chg="delSp modSp">
        <pc:chgData name="Terry Moorehead" userId="S::tmoorehead@meevo.com::a2a6df63-b8e3-4cea-aa6c-ded8cdcb5bd7" providerId="AD" clId="Web-{E6692F13-B9A1-934A-2047-4CFC18B5F1DF}" dt="2026-03-11T13:05:24.042" v="93" actId="20577"/>
        <pc:sldMkLst>
          <pc:docMk/>
          <pc:sldMk cId="0" sldId="264"/>
        </pc:sldMkLst>
        <pc:spChg chg="mod">
          <ac:chgData name="Terry Moorehead" userId="S::tmoorehead@meevo.com::a2a6df63-b8e3-4cea-aa6c-ded8cdcb5bd7" providerId="AD" clId="Web-{E6692F13-B9A1-934A-2047-4CFC18B5F1DF}" dt="2026-03-11T13:04:01.009" v="78" actId="1076"/>
          <ac:spMkLst>
            <pc:docMk/>
            <pc:sldMk cId="0" sldId="264"/>
            <ac:spMk id="9" creationId="{00000000-0000-0000-0000-000000000000}"/>
          </ac:spMkLst>
        </pc:spChg>
        <pc:spChg chg="mod">
          <ac:chgData name="Terry Moorehead" userId="S::tmoorehead@meevo.com::a2a6df63-b8e3-4cea-aa6c-ded8cdcb5bd7" providerId="AD" clId="Web-{E6692F13-B9A1-934A-2047-4CFC18B5F1DF}" dt="2026-03-11T13:04:42.838" v="87" actId="20577"/>
          <ac:spMkLst>
            <pc:docMk/>
            <pc:sldMk cId="0" sldId="264"/>
            <ac:spMk id="15" creationId="{00000000-0000-0000-0000-000000000000}"/>
          </ac:spMkLst>
        </pc:spChg>
        <pc:spChg chg="del">
          <ac:chgData name="Terry Moorehead" userId="S::tmoorehead@meevo.com::a2a6df63-b8e3-4cea-aa6c-ded8cdcb5bd7" providerId="AD" clId="Web-{E6692F13-B9A1-934A-2047-4CFC18B5F1DF}" dt="2026-03-11T13:04:06.025" v="79"/>
          <ac:spMkLst>
            <pc:docMk/>
            <pc:sldMk cId="0" sldId="264"/>
            <ac:spMk id="16" creationId="{00000000-0000-0000-0000-000000000000}"/>
          </ac:spMkLst>
        </pc:spChg>
        <pc:spChg chg="mod">
          <ac:chgData name="Terry Moorehead" userId="S::tmoorehead@meevo.com::a2a6df63-b8e3-4cea-aa6c-ded8cdcb5bd7" providerId="AD" clId="Web-{E6692F13-B9A1-934A-2047-4CFC18B5F1DF}" dt="2026-03-11T13:04:46.901" v="88" actId="20577"/>
          <ac:spMkLst>
            <pc:docMk/>
            <pc:sldMk cId="0" sldId="264"/>
            <ac:spMk id="19" creationId="{00000000-0000-0000-0000-000000000000}"/>
          </ac:spMkLst>
        </pc:spChg>
        <pc:spChg chg="del">
          <ac:chgData name="Terry Moorehead" userId="S::tmoorehead@meevo.com::a2a6df63-b8e3-4cea-aa6c-ded8cdcb5bd7" providerId="AD" clId="Web-{E6692F13-B9A1-934A-2047-4CFC18B5F1DF}" dt="2026-03-11T13:04:07.994" v="80"/>
          <ac:spMkLst>
            <pc:docMk/>
            <pc:sldMk cId="0" sldId="264"/>
            <ac:spMk id="20" creationId="{00000000-0000-0000-0000-000000000000}"/>
          </ac:spMkLst>
        </pc:spChg>
        <pc:spChg chg="mod">
          <ac:chgData name="Terry Moorehead" userId="S::tmoorehead@meevo.com::a2a6df63-b8e3-4cea-aa6c-ded8cdcb5bd7" providerId="AD" clId="Web-{E6692F13-B9A1-934A-2047-4CFC18B5F1DF}" dt="2026-03-11T13:04:56.151" v="90" actId="20577"/>
          <ac:spMkLst>
            <pc:docMk/>
            <pc:sldMk cId="0" sldId="264"/>
            <ac:spMk id="23" creationId="{00000000-0000-0000-0000-000000000000}"/>
          </ac:spMkLst>
        </pc:spChg>
        <pc:spChg chg="del">
          <ac:chgData name="Terry Moorehead" userId="S::tmoorehead@meevo.com::a2a6df63-b8e3-4cea-aa6c-ded8cdcb5bd7" providerId="AD" clId="Web-{E6692F13-B9A1-934A-2047-4CFC18B5F1DF}" dt="2026-03-11T13:04:50.339" v="89"/>
          <ac:spMkLst>
            <pc:docMk/>
            <pc:sldMk cId="0" sldId="264"/>
            <ac:spMk id="24" creationId="{00000000-0000-0000-0000-000000000000}"/>
          </ac:spMkLst>
        </pc:spChg>
        <pc:spChg chg="mod">
          <ac:chgData name="Terry Moorehead" userId="S::tmoorehead@meevo.com::a2a6df63-b8e3-4cea-aa6c-ded8cdcb5bd7" providerId="AD" clId="Web-{E6692F13-B9A1-934A-2047-4CFC18B5F1DF}" dt="2026-03-11T13:05:01.964" v="91" actId="20577"/>
          <ac:spMkLst>
            <pc:docMk/>
            <pc:sldMk cId="0" sldId="264"/>
            <ac:spMk id="27" creationId="{00000000-0000-0000-0000-000000000000}"/>
          </ac:spMkLst>
        </pc:spChg>
        <pc:spChg chg="del">
          <ac:chgData name="Terry Moorehead" userId="S::tmoorehead@meevo.com::a2a6df63-b8e3-4cea-aa6c-ded8cdcb5bd7" providerId="AD" clId="Web-{E6692F13-B9A1-934A-2047-4CFC18B5F1DF}" dt="2026-03-11T13:04:10.728" v="81"/>
          <ac:spMkLst>
            <pc:docMk/>
            <pc:sldMk cId="0" sldId="264"/>
            <ac:spMk id="28" creationId="{00000000-0000-0000-0000-000000000000}"/>
          </ac:spMkLst>
        </pc:spChg>
        <pc:spChg chg="mod">
          <ac:chgData name="Terry Moorehead" userId="S::tmoorehead@meevo.com::a2a6df63-b8e3-4cea-aa6c-ded8cdcb5bd7" providerId="AD" clId="Web-{E6692F13-B9A1-934A-2047-4CFC18B5F1DF}" dt="2026-03-11T13:05:07.089" v="92" actId="20577"/>
          <ac:spMkLst>
            <pc:docMk/>
            <pc:sldMk cId="0" sldId="264"/>
            <ac:spMk id="31" creationId="{00000000-0000-0000-0000-000000000000}"/>
          </ac:spMkLst>
        </pc:spChg>
        <pc:spChg chg="del">
          <ac:chgData name="Terry Moorehead" userId="S::tmoorehead@meevo.com::a2a6df63-b8e3-4cea-aa6c-ded8cdcb5bd7" providerId="AD" clId="Web-{E6692F13-B9A1-934A-2047-4CFC18B5F1DF}" dt="2026-03-11T13:04:13.588" v="82"/>
          <ac:spMkLst>
            <pc:docMk/>
            <pc:sldMk cId="0" sldId="264"/>
            <ac:spMk id="32" creationId="{00000000-0000-0000-0000-000000000000}"/>
          </ac:spMkLst>
        </pc:spChg>
        <pc:spChg chg="mod">
          <ac:chgData name="Terry Moorehead" userId="S::tmoorehead@meevo.com::a2a6df63-b8e3-4cea-aa6c-ded8cdcb5bd7" providerId="AD" clId="Web-{E6692F13-B9A1-934A-2047-4CFC18B5F1DF}" dt="2026-03-11T13:05:24.042" v="93" actId="20577"/>
          <ac:spMkLst>
            <pc:docMk/>
            <pc:sldMk cId="0" sldId="264"/>
            <ac:spMk id="35" creationId="{00000000-0000-0000-0000-000000000000}"/>
          </ac:spMkLst>
        </pc:spChg>
        <pc:spChg chg="del">
          <ac:chgData name="Terry Moorehead" userId="S::tmoorehead@meevo.com::a2a6df63-b8e3-4cea-aa6c-ded8cdcb5bd7" providerId="AD" clId="Web-{E6692F13-B9A1-934A-2047-4CFC18B5F1DF}" dt="2026-03-11T13:04:30.072" v="85"/>
          <ac:spMkLst>
            <pc:docMk/>
            <pc:sldMk cId="0" sldId="264"/>
            <ac:spMk id="36" creationId="{00000000-0000-0000-0000-000000000000}"/>
          </ac:spMkLst>
        </pc:spChg>
        <pc:spChg chg="mod">
          <ac:chgData name="Terry Moorehead" userId="S::tmoorehead@meevo.com::a2a6df63-b8e3-4cea-aa6c-ded8cdcb5bd7" providerId="AD" clId="Web-{E6692F13-B9A1-934A-2047-4CFC18B5F1DF}" dt="2026-03-11T13:04:34.760" v="86" actId="1076"/>
          <ac:spMkLst>
            <pc:docMk/>
            <pc:sldMk cId="0" sldId="264"/>
            <ac:spMk id="37" creationId="{00000000-0000-0000-0000-000000000000}"/>
          </ac:spMkLst>
        </pc:spChg>
      </pc:sldChg>
      <pc:sldChg chg="delSp modSp">
        <pc:chgData name="Terry Moorehead" userId="S::tmoorehead@meevo.com::a2a6df63-b8e3-4cea-aa6c-ded8cdcb5bd7" providerId="AD" clId="Web-{E6692F13-B9A1-934A-2047-4CFC18B5F1DF}" dt="2026-03-11T13:05:36.699" v="95" actId="1076"/>
        <pc:sldMkLst>
          <pc:docMk/>
          <pc:sldMk cId="0" sldId="265"/>
        </pc:sldMkLst>
        <pc:spChg chg="del">
          <ac:chgData name="Terry Moorehead" userId="S::tmoorehead@meevo.com::a2a6df63-b8e3-4cea-aa6c-ded8cdcb5bd7" providerId="AD" clId="Web-{E6692F13-B9A1-934A-2047-4CFC18B5F1DF}" dt="2026-03-11T13:05:32.605" v="94"/>
          <ac:spMkLst>
            <pc:docMk/>
            <pc:sldMk cId="0" sldId="265"/>
            <ac:spMk id="23" creationId="{00000000-0000-0000-0000-000000000000}"/>
          </ac:spMkLst>
        </pc:spChg>
        <pc:spChg chg="mod">
          <ac:chgData name="Terry Moorehead" userId="S::tmoorehead@meevo.com::a2a6df63-b8e3-4cea-aa6c-ded8cdcb5bd7" providerId="AD" clId="Web-{E6692F13-B9A1-934A-2047-4CFC18B5F1DF}" dt="2026-03-11T13:05:36.699" v="95" actId="1076"/>
          <ac:spMkLst>
            <pc:docMk/>
            <pc:sldMk cId="0" sldId="265"/>
            <ac:spMk id="24" creationId="{00000000-0000-0000-0000-000000000000}"/>
          </ac:spMkLst>
        </pc:spChg>
      </pc:sldChg>
    </pc:docChg>
  </pc:docChgLst>
  <pc:docChgLst>
    <pc:chgData name="Dan Wiser" userId="S::dwiser@meevo.com::93d99437-071e-4001-98dc-6d45a8c6749a" providerId="AD" clId="Web-{EFE456CB-4A41-7361-A926-2C5B1A2B9B92}"/>
    <pc:docChg chg="modSld">
      <pc:chgData name="Dan Wiser" userId="S::dwiser@meevo.com::93d99437-071e-4001-98dc-6d45a8c6749a" providerId="AD" clId="Web-{EFE456CB-4A41-7361-A926-2C5B1A2B9B92}" dt="2026-03-11T18:30:38.013" v="345" actId="20577"/>
      <pc:docMkLst>
        <pc:docMk/>
      </pc:docMkLst>
      <pc:sldChg chg="modSp">
        <pc:chgData name="Dan Wiser" userId="S::dwiser@meevo.com::93d99437-071e-4001-98dc-6d45a8c6749a" providerId="AD" clId="Web-{EFE456CB-4A41-7361-A926-2C5B1A2B9B92}" dt="2026-03-11T17:46:02.791" v="32" actId="20577"/>
        <pc:sldMkLst>
          <pc:docMk/>
          <pc:sldMk cId="0" sldId="257"/>
        </pc:sldMkLst>
        <pc:spChg chg="mod">
          <ac:chgData name="Dan Wiser" userId="S::dwiser@meevo.com::93d99437-071e-4001-98dc-6d45a8c6749a" providerId="AD" clId="Web-{EFE456CB-4A41-7361-A926-2C5B1A2B9B92}" dt="2026-03-11T17:42:58.806" v="3" actId="20577"/>
          <ac:spMkLst>
            <pc:docMk/>
            <pc:sldMk cId="0" sldId="257"/>
            <ac:spMk id="21" creationId="{00000000-0000-0000-0000-000000000000}"/>
          </ac:spMkLst>
        </pc:spChg>
        <pc:spChg chg="mod">
          <ac:chgData name="Dan Wiser" userId="S::dwiser@meevo.com::93d99437-071e-4001-98dc-6d45a8c6749a" providerId="AD" clId="Web-{EFE456CB-4A41-7361-A926-2C5B1A2B9B92}" dt="2026-03-11T17:44:37.056" v="17" actId="20577"/>
          <ac:spMkLst>
            <pc:docMk/>
            <pc:sldMk cId="0" sldId="257"/>
            <ac:spMk id="42" creationId="{00000000-0000-0000-0000-000000000000}"/>
          </ac:spMkLst>
        </pc:spChg>
        <pc:spChg chg="mod">
          <ac:chgData name="Dan Wiser" userId="S::dwiser@meevo.com::93d99437-071e-4001-98dc-6d45a8c6749a" providerId="AD" clId="Web-{EFE456CB-4A41-7361-A926-2C5B1A2B9B92}" dt="2026-03-11T17:46:02.791" v="32" actId="20577"/>
          <ac:spMkLst>
            <pc:docMk/>
            <pc:sldMk cId="0" sldId="257"/>
            <ac:spMk id="49" creationId="{00000000-0000-0000-0000-000000000000}"/>
          </ac:spMkLst>
        </pc:spChg>
      </pc:sldChg>
      <pc:sldChg chg="modSp">
        <pc:chgData name="Dan Wiser" userId="S::dwiser@meevo.com::93d99437-071e-4001-98dc-6d45a8c6749a" providerId="AD" clId="Web-{EFE456CB-4A41-7361-A926-2C5B1A2B9B92}" dt="2026-03-11T17:48:41.166" v="41" actId="20577"/>
        <pc:sldMkLst>
          <pc:docMk/>
          <pc:sldMk cId="0" sldId="258"/>
        </pc:sldMkLst>
        <pc:spChg chg="mod">
          <ac:chgData name="Dan Wiser" userId="S::dwiser@meevo.com::93d99437-071e-4001-98dc-6d45a8c6749a" providerId="AD" clId="Web-{EFE456CB-4A41-7361-A926-2C5B1A2B9B92}" dt="2026-03-11T17:48:41.166" v="41" actId="20577"/>
          <ac:spMkLst>
            <pc:docMk/>
            <pc:sldMk cId="0" sldId="258"/>
            <ac:spMk id="45" creationId="{00000000-0000-0000-0000-000000000000}"/>
          </ac:spMkLst>
        </pc:spChg>
      </pc:sldChg>
      <pc:sldChg chg="modSp">
        <pc:chgData name="Dan Wiser" userId="S::dwiser@meevo.com::93d99437-071e-4001-98dc-6d45a8c6749a" providerId="AD" clId="Web-{EFE456CB-4A41-7361-A926-2C5B1A2B9B92}" dt="2026-03-11T17:53:34.244" v="56" actId="20577"/>
        <pc:sldMkLst>
          <pc:docMk/>
          <pc:sldMk cId="0" sldId="259"/>
        </pc:sldMkLst>
        <pc:spChg chg="mod">
          <ac:chgData name="Dan Wiser" userId="S::dwiser@meevo.com::93d99437-071e-4001-98dc-6d45a8c6749a" providerId="AD" clId="Web-{EFE456CB-4A41-7361-A926-2C5B1A2B9B92}" dt="2026-03-11T17:52:04.729" v="50" actId="20577"/>
          <ac:spMkLst>
            <pc:docMk/>
            <pc:sldMk cId="0" sldId="259"/>
            <ac:spMk id="25" creationId="{00000000-0000-0000-0000-000000000000}"/>
          </ac:spMkLst>
        </pc:spChg>
        <pc:spChg chg="mod">
          <ac:chgData name="Dan Wiser" userId="S::dwiser@meevo.com::93d99437-071e-4001-98dc-6d45a8c6749a" providerId="AD" clId="Web-{EFE456CB-4A41-7361-A926-2C5B1A2B9B92}" dt="2026-03-11T17:53:34.244" v="56" actId="20577"/>
          <ac:spMkLst>
            <pc:docMk/>
            <pc:sldMk cId="0" sldId="259"/>
            <ac:spMk id="43" creationId="{00000000-0000-0000-0000-000000000000}"/>
          </ac:spMkLst>
        </pc:spChg>
      </pc:sldChg>
      <pc:sldChg chg="modSp">
        <pc:chgData name="Dan Wiser" userId="S::dwiser@meevo.com::93d99437-071e-4001-98dc-6d45a8c6749a" providerId="AD" clId="Web-{EFE456CB-4A41-7361-A926-2C5B1A2B9B92}" dt="2026-03-11T18:07:29.792" v="169" actId="20577"/>
        <pc:sldMkLst>
          <pc:docMk/>
          <pc:sldMk cId="0" sldId="261"/>
        </pc:sldMkLst>
        <pc:spChg chg="mod">
          <ac:chgData name="Dan Wiser" userId="S::dwiser@meevo.com::93d99437-071e-4001-98dc-6d45a8c6749a" providerId="AD" clId="Web-{EFE456CB-4A41-7361-A926-2C5B1A2B9B92}" dt="2026-03-11T18:01:22.433" v="66" actId="20577"/>
          <ac:spMkLst>
            <pc:docMk/>
            <pc:sldMk cId="0" sldId="261"/>
            <ac:spMk id="19" creationId="{00000000-0000-0000-0000-000000000000}"/>
          </ac:spMkLst>
        </pc:spChg>
        <pc:spChg chg="mod">
          <ac:chgData name="Dan Wiser" userId="S::dwiser@meevo.com::93d99437-071e-4001-98dc-6d45a8c6749a" providerId="AD" clId="Web-{EFE456CB-4A41-7361-A926-2C5B1A2B9B92}" dt="2026-03-11T18:01:46.823" v="77" actId="20577"/>
          <ac:spMkLst>
            <pc:docMk/>
            <pc:sldMk cId="0" sldId="261"/>
            <ac:spMk id="20" creationId="{00000000-0000-0000-0000-000000000000}"/>
          </ac:spMkLst>
        </pc:spChg>
        <pc:spChg chg="mod">
          <ac:chgData name="Dan Wiser" userId="S::dwiser@meevo.com::93d99437-071e-4001-98dc-6d45a8c6749a" providerId="AD" clId="Web-{EFE456CB-4A41-7361-A926-2C5B1A2B9B92}" dt="2026-03-11T18:06:55.136" v="156" actId="20577"/>
          <ac:spMkLst>
            <pc:docMk/>
            <pc:sldMk cId="0" sldId="261"/>
            <ac:spMk id="24" creationId="{00000000-0000-0000-0000-000000000000}"/>
          </ac:spMkLst>
        </pc:spChg>
        <pc:spChg chg="mod">
          <ac:chgData name="Dan Wiser" userId="S::dwiser@meevo.com::93d99437-071e-4001-98dc-6d45a8c6749a" providerId="AD" clId="Web-{EFE456CB-4A41-7361-A926-2C5B1A2B9B92}" dt="2026-03-11T18:06:24.246" v="141" actId="20577"/>
          <ac:spMkLst>
            <pc:docMk/>
            <pc:sldMk cId="0" sldId="261"/>
            <ac:spMk id="29" creationId="{00000000-0000-0000-0000-000000000000}"/>
          </ac:spMkLst>
        </pc:spChg>
        <pc:spChg chg="mod">
          <ac:chgData name="Dan Wiser" userId="S::dwiser@meevo.com::93d99437-071e-4001-98dc-6d45a8c6749a" providerId="AD" clId="Web-{EFE456CB-4A41-7361-A926-2C5B1A2B9B92}" dt="2026-03-11T18:07:29.792" v="169" actId="20577"/>
          <ac:spMkLst>
            <pc:docMk/>
            <pc:sldMk cId="0" sldId="261"/>
            <ac:spMk id="34" creationId="{00000000-0000-0000-0000-000000000000}"/>
          </ac:spMkLst>
        </pc:spChg>
      </pc:sldChg>
      <pc:sldChg chg="modSp">
        <pc:chgData name="Dan Wiser" userId="S::dwiser@meevo.com::93d99437-071e-4001-98dc-6d45a8c6749a" providerId="AD" clId="Web-{EFE456CB-4A41-7361-A926-2C5B1A2B9B92}" dt="2026-03-11T18:16:30.668" v="250" actId="20577"/>
        <pc:sldMkLst>
          <pc:docMk/>
          <pc:sldMk cId="0" sldId="262"/>
        </pc:sldMkLst>
        <pc:spChg chg="mod">
          <ac:chgData name="Dan Wiser" userId="S::dwiser@meevo.com::93d99437-071e-4001-98dc-6d45a8c6749a" providerId="AD" clId="Web-{EFE456CB-4A41-7361-A926-2C5B1A2B9B92}" dt="2026-03-11T18:09:32.090" v="192" actId="20577"/>
          <ac:spMkLst>
            <pc:docMk/>
            <pc:sldMk cId="0" sldId="262"/>
            <ac:spMk id="10" creationId="{00000000-0000-0000-0000-000000000000}"/>
          </ac:spMkLst>
        </pc:spChg>
        <pc:spChg chg="mod">
          <ac:chgData name="Dan Wiser" userId="S::dwiser@meevo.com::93d99437-071e-4001-98dc-6d45a8c6749a" providerId="AD" clId="Web-{EFE456CB-4A41-7361-A926-2C5B1A2B9B92}" dt="2026-03-11T18:09:52.637" v="206" actId="20577"/>
          <ac:spMkLst>
            <pc:docMk/>
            <pc:sldMk cId="0" sldId="262"/>
            <ac:spMk id="15" creationId="{00000000-0000-0000-0000-000000000000}"/>
          </ac:spMkLst>
        </pc:spChg>
        <pc:spChg chg="mod">
          <ac:chgData name="Dan Wiser" userId="S::dwiser@meevo.com::93d99437-071e-4001-98dc-6d45a8c6749a" providerId="AD" clId="Web-{EFE456CB-4A41-7361-A926-2C5B1A2B9B92}" dt="2026-03-11T18:11:39.918" v="209" actId="20577"/>
          <ac:spMkLst>
            <pc:docMk/>
            <pc:sldMk cId="0" sldId="262"/>
            <ac:spMk id="16" creationId="{00000000-0000-0000-0000-000000000000}"/>
          </ac:spMkLst>
        </pc:spChg>
        <pc:spChg chg="mod">
          <ac:chgData name="Dan Wiser" userId="S::dwiser@meevo.com::93d99437-071e-4001-98dc-6d45a8c6749a" providerId="AD" clId="Web-{EFE456CB-4A41-7361-A926-2C5B1A2B9B92}" dt="2026-03-11T18:14:25.856" v="213" actId="20577"/>
          <ac:spMkLst>
            <pc:docMk/>
            <pc:sldMk cId="0" sldId="262"/>
            <ac:spMk id="23" creationId="{00000000-0000-0000-0000-000000000000}"/>
          </ac:spMkLst>
        </pc:spChg>
        <pc:spChg chg="mod">
          <ac:chgData name="Dan Wiser" userId="S::dwiser@meevo.com::93d99437-071e-4001-98dc-6d45a8c6749a" providerId="AD" clId="Web-{EFE456CB-4A41-7361-A926-2C5B1A2B9B92}" dt="2026-03-11T18:16:22.215" v="245" actId="20577"/>
          <ac:spMkLst>
            <pc:docMk/>
            <pc:sldMk cId="0" sldId="262"/>
            <ac:spMk id="28" creationId="{00000000-0000-0000-0000-000000000000}"/>
          </ac:spMkLst>
        </pc:spChg>
        <pc:spChg chg="mod">
          <ac:chgData name="Dan Wiser" userId="S::dwiser@meevo.com::93d99437-071e-4001-98dc-6d45a8c6749a" providerId="AD" clId="Web-{EFE456CB-4A41-7361-A926-2C5B1A2B9B92}" dt="2026-03-11T18:16:30.668" v="250" actId="20577"/>
          <ac:spMkLst>
            <pc:docMk/>
            <pc:sldMk cId="0" sldId="262"/>
            <ac:spMk id="29" creationId="{00000000-0000-0000-0000-000000000000}"/>
          </ac:spMkLst>
        </pc:spChg>
      </pc:sldChg>
      <pc:sldChg chg="modSp">
        <pc:chgData name="Dan Wiser" userId="S::dwiser@meevo.com::93d99437-071e-4001-98dc-6d45a8c6749a" providerId="AD" clId="Web-{EFE456CB-4A41-7361-A926-2C5B1A2B9B92}" dt="2026-03-11T18:21:00.419" v="314" actId="20577"/>
        <pc:sldMkLst>
          <pc:docMk/>
          <pc:sldMk cId="0" sldId="263"/>
        </pc:sldMkLst>
        <pc:spChg chg="mod">
          <ac:chgData name="Dan Wiser" userId="S::dwiser@meevo.com::93d99437-071e-4001-98dc-6d45a8c6749a" providerId="AD" clId="Web-{EFE456CB-4A41-7361-A926-2C5B1A2B9B92}" dt="2026-03-11T18:17:36.075" v="258" actId="20577"/>
          <ac:spMkLst>
            <pc:docMk/>
            <pc:sldMk cId="0" sldId="263"/>
            <ac:spMk id="14" creationId="{00000000-0000-0000-0000-000000000000}"/>
          </ac:spMkLst>
        </pc:spChg>
        <pc:spChg chg="mod">
          <ac:chgData name="Dan Wiser" userId="S::dwiser@meevo.com::93d99437-071e-4001-98dc-6d45a8c6749a" providerId="AD" clId="Web-{EFE456CB-4A41-7361-A926-2C5B1A2B9B92}" dt="2026-03-11T18:18:34.684" v="274" actId="20577"/>
          <ac:spMkLst>
            <pc:docMk/>
            <pc:sldMk cId="0" sldId="263"/>
            <ac:spMk id="21" creationId="{00000000-0000-0000-0000-000000000000}"/>
          </ac:spMkLst>
        </pc:spChg>
        <pc:spChg chg="mod">
          <ac:chgData name="Dan Wiser" userId="S::dwiser@meevo.com::93d99437-071e-4001-98dc-6d45a8c6749a" providerId="AD" clId="Web-{EFE456CB-4A41-7361-A926-2C5B1A2B9B92}" dt="2026-03-11T18:19:57.466" v="295" actId="20577"/>
          <ac:spMkLst>
            <pc:docMk/>
            <pc:sldMk cId="0" sldId="263"/>
            <ac:spMk id="35" creationId="{00000000-0000-0000-0000-000000000000}"/>
          </ac:spMkLst>
        </pc:spChg>
        <pc:spChg chg="mod">
          <ac:chgData name="Dan Wiser" userId="S::dwiser@meevo.com::93d99437-071e-4001-98dc-6d45a8c6749a" providerId="AD" clId="Web-{EFE456CB-4A41-7361-A926-2C5B1A2B9B92}" dt="2026-03-11T18:21:00.419" v="314" actId="20577"/>
          <ac:spMkLst>
            <pc:docMk/>
            <pc:sldMk cId="0" sldId="263"/>
            <ac:spMk id="49" creationId="{00000000-0000-0000-0000-000000000000}"/>
          </ac:spMkLst>
        </pc:spChg>
      </pc:sldChg>
      <pc:sldChg chg="modSp">
        <pc:chgData name="Dan Wiser" userId="S::dwiser@meevo.com::93d99437-071e-4001-98dc-6d45a8c6749a" providerId="AD" clId="Web-{EFE456CB-4A41-7361-A926-2C5B1A2B9B92}" dt="2026-03-11T18:30:38.013" v="345" actId="20577"/>
        <pc:sldMkLst>
          <pc:docMk/>
          <pc:sldMk cId="0" sldId="265"/>
        </pc:sldMkLst>
        <pc:spChg chg="mod">
          <ac:chgData name="Dan Wiser" userId="S::dwiser@meevo.com::93d99437-071e-4001-98dc-6d45a8c6749a" providerId="AD" clId="Web-{EFE456CB-4A41-7361-A926-2C5B1A2B9B92}" dt="2026-03-11T18:27:10.606" v="330" actId="20577"/>
          <ac:spMkLst>
            <pc:docMk/>
            <pc:sldMk cId="0" sldId="265"/>
            <ac:spMk id="8" creationId="{00000000-0000-0000-0000-000000000000}"/>
          </ac:spMkLst>
        </pc:spChg>
        <pc:spChg chg="mod">
          <ac:chgData name="Dan Wiser" userId="S::dwiser@meevo.com::93d99437-071e-4001-98dc-6d45a8c6749a" providerId="AD" clId="Web-{EFE456CB-4A41-7361-A926-2C5B1A2B9B92}" dt="2026-03-11T18:28:44.106" v="344" actId="20577"/>
          <ac:spMkLst>
            <pc:docMk/>
            <pc:sldMk cId="0" sldId="265"/>
            <ac:spMk id="12" creationId="{00000000-0000-0000-0000-000000000000}"/>
          </ac:spMkLst>
        </pc:spChg>
        <pc:spChg chg="mod">
          <ac:chgData name="Dan Wiser" userId="S::dwiser@meevo.com::93d99437-071e-4001-98dc-6d45a8c6749a" providerId="AD" clId="Web-{EFE456CB-4A41-7361-A926-2C5B1A2B9B92}" dt="2026-03-11T18:30:38.013" v="345" actId="20577"/>
          <ac:spMkLst>
            <pc:docMk/>
            <pc:sldMk cId="0" sldId="265"/>
            <ac:spMk id="2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F22469-9940-428A-96C4-B40CB33EAFA9}" type="datetimeFigureOut">
              <a:t>3/11/2026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E59212-54FB-4423-B3C5-0388BE4EB23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7290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67B5C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4864"/>
          </a:xfrm>
          <a:prstGeom prst="rect">
            <a:avLst/>
          </a:prstGeom>
          <a:solidFill>
            <a:srgbClr val="1B6B93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4709160"/>
            <a:ext cx="1234440" cy="3657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840480" y="365760"/>
            <a:ext cx="1188720" cy="1188720"/>
          </a:xfrm>
          <a:prstGeom prst="ellipse">
            <a:avLst/>
          </a:prstGeom>
          <a:solidFill>
            <a:srgbClr val="2A3A44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6512" y="594360"/>
            <a:ext cx="685800" cy="685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31520" y="16916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kern="0" spc="300" dirty="0">
                <a:solidFill>
                  <a:srgbClr val="F5F0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Introduction to</a:t>
            </a:r>
            <a:endParaRPr lang="en-US" sz="4000" dirty="0"/>
          </a:p>
          <a:p>
            <a:pPr marL="0" indent="0" algn="ctr">
              <a:buNone/>
            </a:pPr>
            <a:r>
              <a:rPr lang="en-US" sz="4000" b="1" kern="0" spc="300" dirty="0">
                <a:solidFill>
                  <a:srgbClr val="F5F0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Enterprise Accounts</a:t>
            </a:r>
            <a:endParaRPr lang="en-US" sz="4000" dirty="0"/>
          </a:p>
        </p:txBody>
      </p:sp>
      <p:sp>
        <p:nvSpPr>
          <p:cNvPr id="8" name="Text 4"/>
          <p:cNvSpPr/>
          <p:nvPr/>
        </p:nvSpPr>
        <p:spPr>
          <a:xfrm>
            <a:off x="731520" y="2699985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kern="0" spc="300" dirty="0">
                <a:solidFill>
                  <a:srgbClr val="C67B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They’re Different &amp; How to Win Them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731520" y="31089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E8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Multi-Location Strategy for Salon Groups, Spa Franchises, MedSpa Networks &amp; School Systems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1188720" y="3657600"/>
            <a:ext cx="6766560" cy="457200"/>
          </a:xfrm>
          <a:prstGeom prst="rect">
            <a:avLst/>
          </a:prstGeom>
          <a:solidFill>
            <a:srgbClr val="2A3A44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1371600" y="36576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Buying Committees  •  Longer Cycles  •  MEDDIC  •  Central Office  •  ROI-Based Selling  •  Stakeholder Mapping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731520" y="452628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to the process. Control the controllables.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01168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16459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300" dirty="0">
                <a:solidFill>
                  <a:srgbClr val="36454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Why Enterprise Accounts Are a Different Game</a:t>
            </a:r>
            <a:endParaRPr lang="en-US">
              <a:latin typeface="Trebuchet MS"/>
              <a:ea typeface="Calibri"/>
              <a:cs typeface="Calibri"/>
            </a:endParaRPr>
          </a:p>
        </p:txBody>
      </p:sp>
      <p:sp>
        <p:nvSpPr>
          <p:cNvPr id="4" name="Shape 1"/>
          <p:cNvSpPr/>
          <p:nvPr/>
        </p:nvSpPr>
        <p:spPr>
          <a:xfrm>
            <a:off x="548640" y="749808"/>
            <a:ext cx="1645920" cy="36576"/>
          </a:xfrm>
          <a:prstGeom prst="rect">
            <a:avLst/>
          </a:prstGeom>
          <a:solidFill>
            <a:srgbClr val="1B6B93"/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6765" y="4779619"/>
            <a:ext cx="1234440" cy="36576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solidFill>
            <a:srgbClr val="1E2A33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640080" y="8686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you’ve learned about selling to single-location owners still applies — but enterprise adds layers of complexity that require a fundamentally different approach.</a:t>
            </a:r>
            <a:endParaRPr lang="en-US" sz="1050" dirty="0"/>
          </a:p>
        </p:txBody>
      </p:sp>
      <p:sp>
        <p:nvSpPr>
          <p:cNvPr id="8" name="Shape 4"/>
          <p:cNvSpPr/>
          <p:nvPr/>
        </p:nvSpPr>
        <p:spPr>
          <a:xfrm>
            <a:off x="457200" y="1463040"/>
            <a:ext cx="347472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457200" y="1463040"/>
            <a:ext cx="54864" cy="411480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10" name="Text 6"/>
          <p:cNvSpPr/>
          <p:nvPr/>
        </p:nvSpPr>
        <p:spPr>
          <a:xfrm>
            <a:off x="594360" y="14630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decision maker (the owner)</a:t>
            </a:r>
            <a:endParaRPr lang="en-US" sz="8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9080" y="1572768"/>
            <a:ext cx="146304" cy="146304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4343400" y="1463040"/>
            <a:ext cx="434340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8"/>
          <p:cNvSpPr/>
          <p:nvPr/>
        </p:nvSpPr>
        <p:spPr>
          <a:xfrm>
            <a:off x="4343400" y="1463040"/>
            <a:ext cx="54864" cy="411480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14" name="Text 9"/>
          <p:cNvSpPr/>
          <p:nvPr/>
        </p:nvSpPr>
        <p:spPr>
          <a:xfrm>
            <a:off x="4480560" y="146304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6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Buying committee: VP Ops, IT, Finance, Legal, Location Managers</a:t>
            </a:r>
            <a:endParaRPr lang="en-US" sz="850" dirty="0"/>
          </a:p>
        </p:txBody>
      </p:sp>
      <p:sp>
        <p:nvSpPr>
          <p:cNvPr id="15" name="Shape 10"/>
          <p:cNvSpPr/>
          <p:nvPr/>
        </p:nvSpPr>
        <p:spPr>
          <a:xfrm>
            <a:off x="457200" y="1965960"/>
            <a:ext cx="3474720" cy="411480"/>
          </a:xfrm>
          <a:prstGeom prst="rect">
            <a:avLst/>
          </a:prstGeom>
          <a:solidFill>
            <a:srgbClr val="F5F0EB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457200" y="1965960"/>
            <a:ext cx="54864" cy="411480"/>
          </a:xfrm>
          <a:prstGeom prst="rect">
            <a:avLst/>
          </a:prstGeom>
          <a:solidFill>
            <a:srgbClr val="C67B5C"/>
          </a:solidFill>
          <a:ln/>
        </p:spPr>
      </p:sp>
      <p:sp>
        <p:nvSpPr>
          <p:cNvPr id="17" name="Text 12"/>
          <p:cNvSpPr/>
          <p:nvPr/>
        </p:nvSpPr>
        <p:spPr>
          <a:xfrm>
            <a:off x="594360" y="19659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15-minute cold call → demo → close</a:t>
            </a:r>
            <a:endParaRPr lang="en-US" sz="85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9080" y="2075688"/>
            <a:ext cx="146304" cy="146304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4343400" y="1965960"/>
            <a:ext cx="4343400" cy="411480"/>
          </a:xfrm>
          <a:prstGeom prst="rect">
            <a:avLst/>
          </a:prstGeom>
          <a:solidFill>
            <a:srgbClr val="F5F0EB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4343400" y="1965960"/>
            <a:ext cx="54864" cy="411480"/>
          </a:xfrm>
          <a:prstGeom prst="rect">
            <a:avLst/>
          </a:prstGeom>
          <a:solidFill>
            <a:srgbClr val="C67B5C"/>
          </a:solidFill>
          <a:ln/>
        </p:spPr>
      </p:sp>
      <p:sp>
        <p:nvSpPr>
          <p:cNvPr id="21" name="Text 15"/>
          <p:cNvSpPr/>
          <p:nvPr/>
        </p:nvSpPr>
        <p:spPr>
          <a:xfrm>
            <a:off x="4480560" y="196596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67B5C"/>
                </a:solidFill>
                <a:latin typeface="Calibri"/>
                <a:ea typeface="Calibri"/>
                <a:cs typeface="Calibri"/>
              </a:rPr>
              <a:t>6–12 month sales cycle with multiple stages and stakeholders</a:t>
            </a:r>
            <a:endParaRPr lang="en-US" sz="850" dirty="0">
              <a:latin typeface="Calibri"/>
              <a:ea typeface="Calibri"/>
              <a:cs typeface="Calibri"/>
            </a:endParaRPr>
          </a:p>
        </p:txBody>
      </p:sp>
      <p:sp>
        <p:nvSpPr>
          <p:cNvPr id="22" name="Shape 16"/>
          <p:cNvSpPr/>
          <p:nvPr/>
        </p:nvSpPr>
        <p:spPr>
          <a:xfrm>
            <a:off x="457200" y="2468880"/>
            <a:ext cx="347472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457200" y="2468880"/>
            <a:ext cx="54864" cy="411480"/>
          </a:xfrm>
          <a:prstGeom prst="rect">
            <a:avLst/>
          </a:prstGeom>
          <a:solidFill>
            <a:srgbClr val="7A9E7E"/>
          </a:solidFill>
          <a:ln/>
        </p:spPr>
      </p:sp>
      <p:sp>
        <p:nvSpPr>
          <p:cNvPr id="24" name="Text 18"/>
          <p:cNvSpPr/>
          <p:nvPr/>
        </p:nvSpPr>
        <p:spPr>
          <a:xfrm>
            <a:off x="594360" y="24688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features that solve daily pain</a:t>
            </a:r>
            <a:endParaRPr lang="en-US" sz="85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9080" y="2578608"/>
            <a:ext cx="146304" cy="146304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4343400" y="2468880"/>
            <a:ext cx="434340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4343400" y="2468880"/>
            <a:ext cx="54864" cy="411480"/>
          </a:xfrm>
          <a:prstGeom prst="rect">
            <a:avLst/>
          </a:prstGeom>
          <a:solidFill>
            <a:srgbClr val="7A9E7E"/>
          </a:solidFill>
          <a:ln/>
        </p:spPr>
      </p:sp>
      <p:sp>
        <p:nvSpPr>
          <p:cNvPr id="28" name="Text 21"/>
          <p:cNvSpPr/>
          <p:nvPr/>
        </p:nvSpPr>
        <p:spPr>
          <a:xfrm>
            <a:off x="4480560" y="246888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A9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business outcomes: revenue per location, cost savings, standardization</a:t>
            </a:r>
            <a:endParaRPr lang="en-US" sz="850" dirty="0"/>
          </a:p>
        </p:txBody>
      </p:sp>
      <p:sp>
        <p:nvSpPr>
          <p:cNvPr id="29" name="Shape 22"/>
          <p:cNvSpPr/>
          <p:nvPr/>
        </p:nvSpPr>
        <p:spPr>
          <a:xfrm>
            <a:off x="457200" y="2971800"/>
            <a:ext cx="3474720" cy="411480"/>
          </a:xfrm>
          <a:prstGeom prst="rect">
            <a:avLst/>
          </a:prstGeom>
          <a:solidFill>
            <a:srgbClr val="F5F0EB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457200" y="2971800"/>
            <a:ext cx="54864" cy="411480"/>
          </a:xfrm>
          <a:prstGeom prst="rect">
            <a:avLst/>
          </a:prstGeom>
          <a:solidFill>
            <a:srgbClr val="8B6F7C"/>
          </a:solidFill>
          <a:ln/>
        </p:spPr>
      </p:sp>
      <p:sp>
        <p:nvSpPr>
          <p:cNvPr id="31" name="Text 24"/>
          <p:cNvSpPr/>
          <p:nvPr/>
        </p:nvSpPr>
        <p:spPr>
          <a:xfrm>
            <a:off x="594360" y="29718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buys on emotion + trust</a:t>
            </a:r>
            <a:endParaRPr lang="en-US" sz="850" dirty="0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9080" y="3081528"/>
            <a:ext cx="146304" cy="146304"/>
          </a:xfrm>
          <a:prstGeom prst="rect">
            <a:avLst/>
          </a:prstGeom>
        </p:spPr>
      </p:pic>
      <p:sp>
        <p:nvSpPr>
          <p:cNvPr id="33" name="Shape 25"/>
          <p:cNvSpPr/>
          <p:nvPr/>
        </p:nvSpPr>
        <p:spPr>
          <a:xfrm>
            <a:off x="4343400" y="2971800"/>
            <a:ext cx="4343400" cy="411480"/>
          </a:xfrm>
          <a:prstGeom prst="rect">
            <a:avLst/>
          </a:prstGeom>
          <a:solidFill>
            <a:srgbClr val="F5F0EB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4" name="Shape 26"/>
          <p:cNvSpPr/>
          <p:nvPr/>
        </p:nvSpPr>
        <p:spPr>
          <a:xfrm>
            <a:off x="4343400" y="2971800"/>
            <a:ext cx="54864" cy="411480"/>
          </a:xfrm>
          <a:prstGeom prst="rect">
            <a:avLst/>
          </a:prstGeom>
          <a:solidFill>
            <a:srgbClr val="8B6F7C"/>
          </a:solidFill>
          <a:ln/>
        </p:spPr>
      </p:sp>
      <p:sp>
        <p:nvSpPr>
          <p:cNvPr id="35" name="Text 27"/>
          <p:cNvSpPr/>
          <p:nvPr/>
        </p:nvSpPr>
        <p:spPr>
          <a:xfrm>
            <a:off x="4480560" y="297180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6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Committee buys on ROI, risk reduction, and board-level justification</a:t>
            </a:r>
            <a:endParaRPr lang="en-US" sz="850" dirty="0"/>
          </a:p>
        </p:txBody>
      </p:sp>
      <p:sp>
        <p:nvSpPr>
          <p:cNvPr id="36" name="Shape 28"/>
          <p:cNvSpPr/>
          <p:nvPr/>
        </p:nvSpPr>
        <p:spPr>
          <a:xfrm>
            <a:off x="457200" y="3474720"/>
            <a:ext cx="347472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457200" y="3474720"/>
            <a:ext cx="54864" cy="411480"/>
          </a:xfrm>
          <a:prstGeom prst="rect">
            <a:avLst/>
          </a:prstGeom>
          <a:solidFill>
            <a:srgbClr val="6B3A4A"/>
          </a:solidFill>
          <a:ln/>
        </p:spPr>
      </p:sp>
      <p:sp>
        <p:nvSpPr>
          <p:cNvPr id="38" name="Text 30"/>
          <p:cNvSpPr/>
          <p:nvPr/>
        </p:nvSpPr>
        <p:spPr>
          <a:xfrm>
            <a:off x="594360" y="34747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location to implement</a:t>
            </a:r>
            <a:endParaRPr lang="en-US" sz="850" dirty="0"/>
          </a:p>
        </p:txBody>
      </p:sp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9080" y="3584448"/>
            <a:ext cx="146304" cy="146304"/>
          </a:xfrm>
          <a:prstGeom prst="rect">
            <a:avLst/>
          </a:prstGeom>
        </p:spPr>
      </p:pic>
      <p:sp>
        <p:nvSpPr>
          <p:cNvPr id="40" name="Shape 31"/>
          <p:cNvSpPr/>
          <p:nvPr/>
        </p:nvSpPr>
        <p:spPr>
          <a:xfrm>
            <a:off x="4343400" y="3474720"/>
            <a:ext cx="434340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1" name="Shape 32"/>
          <p:cNvSpPr/>
          <p:nvPr/>
        </p:nvSpPr>
        <p:spPr>
          <a:xfrm>
            <a:off x="4343400" y="3474720"/>
            <a:ext cx="54864" cy="411480"/>
          </a:xfrm>
          <a:prstGeom prst="rect">
            <a:avLst/>
          </a:prstGeom>
          <a:solidFill>
            <a:srgbClr val="6B3A4A"/>
          </a:solidFill>
          <a:ln/>
        </p:spPr>
      </p:sp>
      <p:sp>
        <p:nvSpPr>
          <p:cNvPr id="42" name="Text 33"/>
          <p:cNvSpPr/>
          <p:nvPr/>
        </p:nvSpPr>
        <p:spPr>
          <a:xfrm>
            <a:off x="4480560" y="347472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b="1">
                <a:solidFill>
                  <a:srgbClr val="6B3A4A"/>
                </a:solidFill>
                <a:latin typeface="Calibri"/>
                <a:ea typeface="Calibri"/>
                <a:cs typeface="Calibri"/>
              </a:rPr>
              <a:t>11–50+ locations with piloted approach, staggered</a:t>
            </a:r>
            <a:r>
              <a:rPr lang="en-US" sz="850" b="1" dirty="0">
                <a:solidFill>
                  <a:srgbClr val="6B3A4A"/>
                </a:solidFill>
                <a:latin typeface="Calibri"/>
                <a:ea typeface="Calibri"/>
                <a:cs typeface="Calibri"/>
              </a:rPr>
              <a:t> rollout, data migration, and change management</a:t>
            </a:r>
            <a:endParaRPr lang="en-US" sz="850" dirty="0">
              <a:latin typeface="Calibri"/>
              <a:ea typeface="Calibri"/>
              <a:cs typeface="Calibri"/>
            </a:endParaRPr>
          </a:p>
        </p:txBody>
      </p:sp>
      <p:sp>
        <p:nvSpPr>
          <p:cNvPr id="43" name="Shape 34"/>
          <p:cNvSpPr/>
          <p:nvPr/>
        </p:nvSpPr>
        <p:spPr>
          <a:xfrm>
            <a:off x="457200" y="3977640"/>
            <a:ext cx="3474720" cy="411480"/>
          </a:xfrm>
          <a:prstGeom prst="rect">
            <a:avLst/>
          </a:prstGeom>
          <a:solidFill>
            <a:srgbClr val="F5F0EB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4" name="Shape 35"/>
          <p:cNvSpPr/>
          <p:nvPr/>
        </p:nvSpPr>
        <p:spPr>
          <a:xfrm>
            <a:off x="457200" y="3977640"/>
            <a:ext cx="54864" cy="411480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45" name="Text 36"/>
          <p:cNvSpPr/>
          <p:nvPr/>
        </p:nvSpPr>
        <p:spPr>
          <a:xfrm>
            <a:off x="594360" y="39776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in 1–2 meetings</a:t>
            </a:r>
            <a:endParaRPr lang="en-US" sz="850" dirty="0"/>
          </a:p>
        </p:txBody>
      </p:sp>
      <p:pic>
        <p:nvPicPr>
          <p:cNvPr id="46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9080" y="4087368"/>
            <a:ext cx="146304" cy="146304"/>
          </a:xfrm>
          <a:prstGeom prst="rect">
            <a:avLst/>
          </a:prstGeom>
        </p:spPr>
      </p:pic>
      <p:sp>
        <p:nvSpPr>
          <p:cNvPr id="47" name="Shape 37"/>
          <p:cNvSpPr/>
          <p:nvPr/>
        </p:nvSpPr>
        <p:spPr>
          <a:xfrm>
            <a:off x="4343400" y="3977640"/>
            <a:ext cx="4343400" cy="411480"/>
          </a:xfrm>
          <a:prstGeom prst="rect">
            <a:avLst/>
          </a:prstGeom>
          <a:solidFill>
            <a:srgbClr val="F5F0EB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8" name="Shape 38"/>
          <p:cNvSpPr/>
          <p:nvPr/>
        </p:nvSpPr>
        <p:spPr>
          <a:xfrm>
            <a:off x="4343400" y="3977640"/>
            <a:ext cx="54864" cy="411480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49" name="Text 39"/>
          <p:cNvSpPr/>
          <p:nvPr/>
        </p:nvSpPr>
        <p:spPr>
          <a:xfrm>
            <a:off x="4480560" y="397764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b="1" dirty="0">
                <a:solidFill>
                  <a:srgbClr val="1B6B93"/>
                </a:solidFill>
                <a:latin typeface="Calibri"/>
                <a:ea typeface="Calibri"/>
                <a:cs typeface="Calibri"/>
              </a:rPr>
              <a:t>Multiple meetings: discovery, demo, deep dive, technical review, pricing, legal, </a:t>
            </a:r>
            <a:r>
              <a:rPr lang="en-US" sz="850" b="1">
                <a:solidFill>
                  <a:srgbClr val="1B6B93"/>
                </a:solidFill>
                <a:latin typeface="Calibri"/>
                <a:ea typeface="Calibri"/>
                <a:cs typeface="Calibri"/>
              </a:rPr>
              <a:t>executive negotiations, and</a:t>
            </a:r>
            <a:r>
              <a:rPr lang="en-US" sz="850" b="1" dirty="0">
                <a:solidFill>
                  <a:srgbClr val="1B6B93"/>
                </a:solidFill>
                <a:latin typeface="Calibri"/>
                <a:ea typeface="Calibri"/>
                <a:cs typeface="Calibri"/>
              </a:rPr>
              <a:t> sign-off</a:t>
            </a:r>
            <a:endParaRPr lang="en-US" sz="850" dirty="0"/>
          </a:p>
        </p:txBody>
      </p:sp>
      <p:sp>
        <p:nvSpPr>
          <p:cNvPr id="50" name="Shape 40"/>
          <p:cNvSpPr/>
          <p:nvPr/>
        </p:nvSpPr>
        <p:spPr>
          <a:xfrm>
            <a:off x="457200" y="4481499"/>
            <a:ext cx="8229600" cy="365760"/>
          </a:xfrm>
          <a:prstGeom prst="rect">
            <a:avLst/>
          </a:prstGeom>
          <a:solidFill>
            <a:srgbClr val="2A3A44"/>
          </a:solidFill>
          <a:ln/>
        </p:spPr>
      </p:sp>
      <p:sp>
        <p:nvSpPr>
          <p:cNvPr id="51" name="Text 41"/>
          <p:cNvSpPr/>
          <p:nvPr/>
        </p:nvSpPr>
        <p:spPr>
          <a:xfrm>
            <a:off x="467847" y="4481499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b="1" i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        Same product. Same platform. Completely different sales motion. Master this and you’re building AE-level skills before you ever get the title.</a:t>
            </a:r>
            <a:endParaRPr lang="en-US" sz="950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3" name="Shape 43"/>
          <p:cNvSpPr/>
          <p:nvPr/>
        </p:nvSpPr>
        <p:spPr>
          <a:xfrm>
            <a:off x="6766560" y="4754880"/>
            <a:ext cx="502920" cy="320040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54" name="Text 44"/>
          <p:cNvSpPr/>
          <p:nvPr/>
        </p:nvSpPr>
        <p:spPr>
          <a:xfrm>
            <a:off x="6766560" y="47548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01168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16459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36454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The Enterprise Buying Committee — Know Every Seat</a:t>
            </a:r>
            <a:endParaRPr lang="en-US" sz="1600">
              <a:latin typeface="Trebuchet MS"/>
              <a:ea typeface="Calibri"/>
              <a:cs typeface="Calibri"/>
            </a:endParaRPr>
          </a:p>
        </p:txBody>
      </p:sp>
      <p:sp>
        <p:nvSpPr>
          <p:cNvPr id="4" name="Shape 1"/>
          <p:cNvSpPr/>
          <p:nvPr/>
        </p:nvSpPr>
        <p:spPr>
          <a:xfrm>
            <a:off x="548640" y="749808"/>
            <a:ext cx="1645920" cy="36576"/>
          </a:xfrm>
          <a:prstGeom prst="rect">
            <a:avLst/>
          </a:prstGeom>
          <a:solidFill>
            <a:srgbClr val="C67B5C"/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0" y="4709160"/>
            <a:ext cx="1234440" cy="36576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868680"/>
            <a:ext cx="822960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457200" y="868680"/>
            <a:ext cx="54864" cy="713232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8" name="Text 4"/>
          <p:cNvSpPr/>
          <p:nvPr/>
        </p:nvSpPr>
        <p:spPr>
          <a:xfrm>
            <a:off x="640080" y="89611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 / Director of Operations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640080" y="1124712"/>
            <a:ext cx="1280160" cy="164592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10" name="Text 6"/>
          <p:cNvSpPr/>
          <p:nvPr/>
        </p:nvSpPr>
        <p:spPr>
          <a:xfrm>
            <a:off x="640080" y="112471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BUYER</a:t>
            </a:r>
            <a:endParaRPr lang="en-US" sz="700" dirty="0"/>
          </a:p>
        </p:txBody>
      </p:sp>
      <p:sp>
        <p:nvSpPr>
          <p:cNvPr id="11" name="Text 7"/>
          <p:cNvSpPr/>
          <p:nvPr/>
        </p:nvSpPr>
        <p:spPr>
          <a:xfrm>
            <a:off x="640080" y="132588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latin typeface="Calibri"/>
                <a:ea typeface="Calibri"/>
                <a:cs typeface="Calibri"/>
              </a:rPr>
              <a:t>Cares about: ROI, revenue per location, cost consolidation, board reporting, standardization</a:t>
            </a:r>
          </a:p>
        </p:txBody>
      </p:sp>
      <p:sp>
        <p:nvSpPr>
          <p:cNvPr id="12" name="Shape 8"/>
          <p:cNvSpPr/>
          <p:nvPr/>
        </p:nvSpPr>
        <p:spPr>
          <a:xfrm>
            <a:off x="3794760" y="914400"/>
            <a:ext cx="36576" cy="594360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13" name="Text 9"/>
          <p:cNvSpPr/>
          <p:nvPr/>
        </p:nvSpPr>
        <p:spPr>
          <a:xfrm>
            <a:off x="3931920" y="914400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Approach: Speak in metrics. Build a business case. Use MEDDIC. They need data to present upward.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457200" y="1673352"/>
            <a:ext cx="822960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57200" y="1673352"/>
            <a:ext cx="54864" cy="713232"/>
          </a:xfrm>
          <a:prstGeom prst="rect">
            <a:avLst/>
          </a:prstGeom>
          <a:solidFill>
            <a:srgbClr val="C67B5C"/>
          </a:solidFill>
          <a:ln/>
        </p:spPr>
      </p:sp>
      <p:sp>
        <p:nvSpPr>
          <p:cNvPr id="16" name="Text 12"/>
          <p:cNvSpPr/>
          <p:nvPr/>
        </p:nvSpPr>
        <p:spPr>
          <a:xfrm>
            <a:off x="640080" y="170078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Director / Manager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640080" y="1929384"/>
            <a:ext cx="1280160" cy="164592"/>
          </a:xfrm>
          <a:prstGeom prst="rect">
            <a:avLst/>
          </a:prstGeom>
          <a:solidFill>
            <a:srgbClr val="C67B5C"/>
          </a:solidFill>
          <a:ln/>
        </p:spPr>
      </p:sp>
      <p:sp>
        <p:nvSpPr>
          <p:cNvPr id="18" name="Text 14"/>
          <p:cNvSpPr/>
          <p:nvPr/>
        </p:nvSpPr>
        <p:spPr>
          <a:xfrm>
            <a:off x="640080" y="192938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BUYER</a:t>
            </a:r>
            <a:endParaRPr lang="en-US" sz="700" dirty="0"/>
          </a:p>
        </p:txBody>
      </p:sp>
      <p:sp>
        <p:nvSpPr>
          <p:cNvPr id="19" name="Text 15"/>
          <p:cNvSpPr/>
          <p:nvPr/>
        </p:nvSpPr>
        <p:spPr>
          <a:xfrm>
            <a:off x="640080" y="213055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latin typeface="Calibri"/>
                <a:ea typeface="Calibri"/>
                <a:cs typeface="Calibri"/>
              </a:rPr>
              <a:t>Cares about: Integration, data migration, security, API capabilities, uptime, HIPAA compliance</a:t>
            </a:r>
          </a:p>
        </p:txBody>
      </p:sp>
      <p:sp>
        <p:nvSpPr>
          <p:cNvPr id="20" name="Shape 16"/>
          <p:cNvSpPr/>
          <p:nvPr/>
        </p:nvSpPr>
        <p:spPr>
          <a:xfrm>
            <a:off x="3794760" y="1719072"/>
            <a:ext cx="36576" cy="594360"/>
          </a:xfrm>
          <a:prstGeom prst="rect">
            <a:avLst/>
          </a:prstGeom>
          <a:solidFill>
            <a:srgbClr val="C67B5C"/>
          </a:solidFill>
          <a:ln/>
        </p:spPr>
      </p:sp>
      <p:sp>
        <p:nvSpPr>
          <p:cNvPr id="21" name="Text 17"/>
          <p:cNvSpPr/>
          <p:nvPr/>
        </p:nvSpPr>
        <p:spPr>
          <a:xfrm>
            <a:off x="3931920" y="1719072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Approach: Show API docs, discuss data conversion, address migration timeline. They’ll veto if you can’t answer technical questions.</a:t>
            </a:r>
            <a:endParaRPr lang="en-US" sz="850" dirty="0"/>
          </a:p>
        </p:txBody>
      </p:sp>
      <p:sp>
        <p:nvSpPr>
          <p:cNvPr id="22" name="Shape 18"/>
          <p:cNvSpPr/>
          <p:nvPr/>
        </p:nvSpPr>
        <p:spPr>
          <a:xfrm>
            <a:off x="457200" y="2478024"/>
            <a:ext cx="822960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457200" y="2478024"/>
            <a:ext cx="54864" cy="713232"/>
          </a:xfrm>
          <a:prstGeom prst="rect">
            <a:avLst/>
          </a:prstGeom>
          <a:solidFill>
            <a:srgbClr val="7A9E7E"/>
          </a:solidFill>
          <a:ln/>
        </p:spPr>
      </p:sp>
      <p:sp>
        <p:nvSpPr>
          <p:cNvPr id="24" name="Text 20"/>
          <p:cNvSpPr/>
          <p:nvPr/>
        </p:nvSpPr>
        <p:spPr>
          <a:xfrm>
            <a:off x="640080" y="250545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/ CFO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640080" y="2734056"/>
            <a:ext cx="1280160" cy="164592"/>
          </a:xfrm>
          <a:prstGeom prst="rect">
            <a:avLst/>
          </a:prstGeom>
          <a:solidFill>
            <a:srgbClr val="7A9E7E"/>
          </a:solidFill>
          <a:ln/>
        </p:spPr>
      </p:sp>
      <p:sp>
        <p:nvSpPr>
          <p:cNvPr id="26" name="Text 22"/>
          <p:cNvSpPr/>
          <p:nvPr/>
        </p:nvSpPr>
        <p:spPr>
          <a:xfrm>
            <a:off x="640080" y="273405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BUYER</a:t>
            </a:r>
            <a:endParaRPr lang="en-US" sz="700" dirty="0"/>
          </a:p>
        </p:txBody>
      </p:sp>
      <p:sp>
        <p:nvSpPr>
          <p:cNvPr id="27" name="Text 23"/>
          <p:cNvSpPr/>
          <p:nvPr/>
        </p:nvSpPr>
        <p:spPr>
          <a:xfrm>
            <a:off x="640080" y="2935224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latin typeface="Calibri"/>
                <a:ea typeface="Calibri"/>
                <a:cs typeface="Calibri"/>
              </a:rPr>
              <a:t>Cares about: Total cost of ownership, implementation costs, contract terms, ROI timeline, payment structure</a:t>
            </a:r>
          </a:p>
        </p:txBody>
      </p:sp>
      <p:sp>
        <p:nvSpPr>
          <p:cNvPr id="28" name="Shape 24"/>
          <p:cNvSpPr/>
          <p:nvPr/>
        </p:nvSpPr>
        <p:spPr>
          <a:xfrm>
            <a:off x="3794760" y="2523744"/>
            <a:ext cx="36576" cy="594360"/>
          </a:xfrm>
          <a:prstGeom prst="rect">
            <a:avLst/>
          </a:prstGeom>
          <a:solidFill>
            <a:srgbClr val="7A9E7E"/>
          </a:solidFill>
          <a:ln/>
        </p:spPr>
      </p:sp>
      <p:sp>
        <p:nvSpPr>
          <p:cNvPr id="29" name="Text 25"/>
          <p:cNvSpPr/>
          <p:nvPr/>
        </p:nvSpPr>
        <p:spPr>
          <a:xfrm>
            <a:off x="3931920" y="2523744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Approach: Prepare a cost comparison. Show total cost vs. competitor stack (software + marketing + support). Quantify savings.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457200" y="3282696"/>
            <a:ext cx="822960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457200" y="3282696"/>
            <a:ext cx="54864" cy="713232"/>
          </a:xfrm>
          <a:prstGeom prst="rect">
            <a:avLst/>
          </a:prstGeom>
          <a:solidFill>
            <a:srgbClr val="8B6F7C"/>
          </a:solidFill>
          <a:ln/>
        </p:spPr>
      </p:sp>
      <p:sp>
        <p:nvSpPr>
          <p:cNvPr id="32" name="Text 28"/>
          <p:cNvSpPr/>
          <p:nvPr/>
        </p:nvSpPr>
        <p:spPr>
          <a:xfrm>
            <a:off x="640080" y="331012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/ Location Manager</a:t>
            </a:r>
            <a:endParaRPr lang="en-US" sz="1050" dirty="0"/>
          </a:p>
        </p:txBody>
      </p:sp>
      <p:sp>
        <p:nvSpPr>
          <p:cNvPr id="33" name="Shape 29"/>
          <p:cNvSpPr/>
          <p:nvPr/>
        </p:nvSpPr>
        <p:spPr>
          <a:xfrm>
            <a:off x="640080" y="3538728"/>
            <a:ext cx="1280160" cy="164592"/>
          </a:xfrm>
          <a:prstGeom prst="rect">
            <a:avLst/>
          </a:prstGeom>
          <a:solidFill>
            <a:srgbClr val="8B6F7C"/>
          </a:solidFill>
          <a:ln/>
        </p:spPr>
      </p:sp>
      <p:sp>
        <p:nvSpPr>
          <p:cNvPr id="34" name="Text 30"/>
          <p:cNvSpPr/>
          <p:nvPr/>
        </p:nvSpPr>
        <p:spPr>
          <a:xfrm>
            <a:off x="640080" y="353872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 / USER BUYER</a:t>
            </a:r>
            <a:endParaRPr lang="en-US" sz="700" dirty="0"/>
          </a:p>
        </p:txBody>
      </p:sp>
      <p:sp>
        <p:nvSpPr>
          <p:cNvPr id="35" name="Text 31"/>
          <p:cNvSpPr/>
          <p:nvPr/>
        </p:nvSpPr>
        <p:spPr>
          <a:xfrm>
            <a:off x="640080" y="3739896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latin typeface="Calibri"/>
                <a:ea typeface="Calibri"/>
                <a:cs typeface="Calibri"/>
              </a:rPr>
              <a:t>Cares about: Daily usability, training time, staff adoption, reporting for their location, front desk efficiency</a:t>
            </a:r>
          </a:p>
        </p:txBody>
      </p:sp>
      <p:sp>
        <p:nvSpPr>
          <p:cNvPr id="36" name="Shape 32"/>
          <p:cNvSpPr/>
          <p:nvPr/>
        </p:nvSpPr>
        <p:spPr>
          <a:xfrm>
            <a:off x="3794760" y="3328416"/>
            <a:ext cx="36576" cy="594360"/>
          </a:xfrm>
          <a:prstGeom prst="rect">
            <a:avLst/>
          </a:prstGeom>
          <a:solidFill>
            <a:srgbClr val="8B6F7C"/>
          </a:solidFill>
          <a:ln/>
        </p:spPr>
      </p:sp>
      <p:sp>
        <p:nvSpPr>
          <p:cNvPr id="37" name="Text 33"/>
          <p:cNvSpPr/>
          <p:nvPr/>
        </p:nvSpPr>
        <p:spPr>
          <a:xfrm>
            <a:off x="3931920" y="3328416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Approach: Your champion on the ground. Show them features that solve THEIR daily pain. Arm them to advocate internally.</a:t>
            </a:r>
            <a:endParaRPr lang="en-US" sz="850" dirty="0"/>
          </a:p>
        </p:txBody>
      </p:sp>
      <p:sp>
        <p:nvSpPr>
          <p:cNvPr id="38" name="Shape 34"/>
          <p:cNvSpPr/>
          <p:nvPr/>
        </p:nvSpPr>
        <p:spPr>
          <a:xfrm>
            <a:off x="457200" y="4087368"/>
            <a:ext cx="822960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9" name="Shape 35"/>
          <p:cNvSpPr/>
          <p:nvPr/>
        </p:nvSpPr>
        <p:spPr>
          <a:xfrm>
            <a:off x="457200" y="4087368"/>
            <a:ext cx="54864" cy="713232"/>
          </a:xfrm>
          <a:prstGeom prst="rect">
            <a:avLst/>
          </a:prstGeom>
          <a:solidFill>
            <a:srgbClr val="6B3A4A"/>
          </a:solidFill>
          <a:ln/>
        </p:spPr>
      </p:sp>
      <p:sp>
        <p:nvSpPr>
          <p:cNvPr id="40" name="Text 36"/>
          <p:cNvSpPr/>
          <p:nvPr/>
        </p:nvSpPr>
        <p:spPr>
          <a:xfrm>
            <a:off x="640080" y="411480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/ Procurement</a:t>
            </a:r>
            <a:endParaRPr lang="en-US" sz="1050" dirty="0"/>
          </a:p>
        </p:txBody>
      </p:sp>
      <p:sp>
        <p:nvSpPr>
          <p:cNvPr id="41" name="Shape 37"/>
          <p:cNvSpPr/>
          <p:nvPr/>
        </p:nvSpPr>
        <p:spPr>
          <a:xfrm>
            <a:off x="640080" y="4343400"/>
            <a:ext cx="1280160" cy="164592"/>
          </a:xfrm>
          <a:prstGeom prst="rect">
            <a:avLst/>
          </a:prstGeom>
          <a:solidFill>
            <a:srgbClr val="6B3A4A"/>
          </a:solidFill>
          <a:ln/>
        </p:spPr>
      </p:sp>
      <p:sp>
        <p:nvSpPr>
          <p:cNvPr id="42" name="Text 38"/>
          <p:cNvSpPr/>
          <p:nvPr/>
        </p:nvSpPr>
        <p:spPr>
          <a:xfrm>
            <a:off x="640080" y="434340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GATEKEEPER</a:t>
            </a:r>
            <a:endParaRPr lang="en-US" sz="700" dirty="0"/>
          </a:p>
        </p:txBody>
      </p:sp>
      <p:sp>
        <p:nvSpPr>
          <p:cNvPr id="43" name="Text 39"/>
          <p:cNvSpPr/>
          <p:nvPr/>
        </p:nvSpPr>
        <p:spPr>
          <a:xfrm>
            <a:off x="640080" y="454456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latin typeface="Calibri"/>
                <a:ea typeface="Calibri"/>
                <a:cs typeface="Calibri"/>
              </a:rPr>
              <a:t>Cares about: Contract terms, liability, data ownership, SLA, cancellation policy, HIPAA BAA</a:t>
            </a:r>
          </a:p>
        </p:txBody>
      </p:sp>
      <p:sp>
        <p:nvSpPr>
          <p:cNvPr id="44" name="Shape 40"/>
          <p:cNvSpPr/>
          <p:nvPr/>
        </p:nvSpPr>
        <p:spPr>
          <a:xfrm>
            <a:off x="3794760" y="4133088"/>
            <a:ext cx="36576" cy="594360"/>
          </a:xfrm>
          <a:prstGeom prst="rect">
            <a:avLst/>
          </a:prstGeom>
          <a:solidFill>
            <a:srgbClr val="6B3A4A"/>
          </a:solidFill>
          <a:ln/>
        </p:spPr>
      </p:sp>
      <p:sp>
        <p:nvSpPr>
          <p:cNvPr id="45" name="Text 41"/>
          <p:cNvSpPr/>
          <p:nvPr/>
        </p:nvSpPr>
        <p:spPr>
          <a:xfrm>
            <a:off x="3931920" y="4133088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dirty="0">
                <a:solidFill>
                  <a:srgbClr val="36454F"/>
                </a:solidFill>
                <a:latin typeface="Calibri"/>
                <a:ea typeface="Calibri"/>
                <a:cs typeface="Calibri"/>
              </a:rPr>
              <a:t>Approach: Have contracts and BAAs ready. Don’t let legal slow the deal. Be proactive: send terms before they ask (</a:t>
            </a:r>
            <a:r>
              <a:rPr lang="en-US" sz="850" dirty="0" err="1">
                <a:solidFill>
                  <a:srgbClr val="36454F"/>
                </a:solidFill>
                <a:latin typeface="Calibri"/>
                <a:ea typeface="Calibri"/>
                <a:cs typeface="Calibri"/>
              </a:rPr>
              <a:t>MSA</a:t>
            </a:r>
            <a:r>
              <a:rPr lang="en-US" sz="850" dirty="0">
                <a:solidFill>
                  <a:srgbClr val="36454F"/>
                </a:solidFill>
                <a:latin typeface="Calibri"/>
                <a:ea typeface="Calibri"/>
                <a:cs typeface="Calibri"/>
              </a:rPr>
              <a:t>, etc.).</a:t>
            </a:r>
            <a:endParaRPr lang="en-US" sz="850">
              <a:latin typeface="Calibri"/>
              <a:ea typeface="Calibri"/>
              <a:cs typeface="Calibri"/>
            </a:endParaRPr>
          </a:p>
        </p:txBody>
      </p:sp>
      <p:sp>
        <p:nvSpPr>
          <p:cNvPr id="46" name="Text 42"/>
          <p:cNvSpPr/>
          <p:nvPr/>
        </p:nvSpPr>
        <p:spPr>
          <a:xfrm>
            <a:off x="457200" y="4846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to the process. Control the controllables.</a:t>
            </a:r>
            <a:endParaRPr lang="en-US" sz="900" dirty="0"/>
          </a:p>
        </p:txBody>
      </p:sp>
      <p:sp>
        <p:nvSpPr>
          <p:cNvPr id="47" name="Shape 43"/>
          <p:cNvSpPr/>
          <p:nvPr/>
        </p:nvSpPr>
        <p:spPr>
          <a:xfrm>
            <a:off x="6766560" y="4754880"/>
            <a:ext cx="502920" cy="320040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48" name="Text 44"/>
          <p:cNvSpPr/>
          <p:nvPr/>
        </p:nvSpPr>
        <p:spPr>
          <a:xfrm>
            <a:off x="6766560" y="47548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01168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16459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300" dirty="0">
                <a:solidFill>
                  <a:srgbClr val="36454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MEDDIC — The Enterprise Qualification Framework</a:t>
            </a:r>
            <a:endParaRPr lang="en-US">
              <a:latin typeface="Trebuchet MS"/>
              <a:ea typeface="Calibri"/>
              <a:cs typeface="Calibri"/>
            </a:endParaRPr>
          </a:p>
        </p:txBody>
      </p:sp>
      <p:sp>
        <p:nvSpPr>
          <p:cNvPr id="4" name="Shape 1"/>
          <p:cNvSpPr/>
          <p:nvPr/>
        </p:nvSpPr>
        <p:spPr>
          <a:xfrm>
            <a:off x="548640" y="749808"/>
            <a:ext cx="1645920" cy="36576"/>
          </a:xfrm>
          <a:prstGeom prst="rect">
            <a:avLst/>
          </a:prstGeom>
          <a:solidFill>
            <a:srgbClr val="1B6B93"/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0" y="4709160"/>
            <a:ext cx="1234440" cy="36576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868680"/>
            <a:ext cx="8229600" cy="411480"/>
          </a:xfrm>
          <a:prstGeom prst="rect">
            <a:avLst/>
          </a:prstGeom>
          <a:solidFill>
            <a:srgbClr val="1E2A33"/>
          </a:solidFill>
          <a:ln/>
        </p:spPr>
      </p:sp>
      <p:sp>
        <p:nvSpPr>
          <p:cNvPr id="7" name="Text 3"/>
          <p:cNvSpPr/>
          <p:nvPr/>
        </p:nvSpPr>
        <p:spPr>
          <a:xfrm>
            <a:off x="640080" y="8686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For single-location deals you qualify on pain + timeline + DM. For enterprise, you need MEDDIC — the gold standard for complex deal qualification.</a:t>
            </a:r>
            <a:endParaRPr lang="en-US" sz="1000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Shape 4"/>
          <p:cNvSpPr/>
          <p:nvPr/>
        </p:nvSpPr>
        <p:spPr>
          <a:xfrm>
            <a:off x="457200" y="1371600"/>
            <a:ext cx="82296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5"/>
          <p:cNvSpPr/>
          <p:nvPr/>
        </p:nvSpPr>
        <p:spPr>
          <a:xfrm>
            <a:off x="502920" y="1426464"/>
            <a:ext cx="347472" cy="347472"/>
          </a:xfrm>
          <a:prstGeom prst="ellipse">
            <a:avLst/>
          </a:prstGeom>
          <a:solidFill>
            <a:srgbClr val="1B6B93"/>
          </a:solidFill>
          <a:ln/>
        </p:spPr>
      </p:sp>
      <p:sp>
        <p:nvSpPr>
          <p:cNvPr id="10" name="Text 6"/>
          <p:cNvSpPr/>
          <p:nvPr/>
        </p:nvSpPr>
        <p:spPr>
          <a:xfrm>
            <a:off x="502920" y="14264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914400" y="138988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914400" y="157276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latin typeface="Calibri"/>
                <a:ea typeface="Calibri"/>
                <a:cs typeface="Calibri"/>
              </a:rPr>
              <a:t>What measurable outcomes does the buyer need?</a:t>
            </a:r>
          </a:p>
        </p:txBody>
      </p:sp>
      <p:sp>
        <p:nvSpPr>
          <p:cNvPr id="13" name="Shape 9"/>
          <p:cNvSpPr/>
          <p:nvPr/>
        </p:nvSpPr>
        <p:spPr>
          <a:xfrm>
            <a:off x="2651760" y="1417320"/>
            <a:ext cx="36576" cy="384048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14" name="Text 10"/>
          <p:cNvSpPr/>
          <p:nvPr/>
        </p:nvSpPr>
        <p:spPr>
          <a:xfrm>
            <a:off x="2788920" y="1389888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latin typeface="Calibri"/>
                <a:ea typeface="Calibri"/>
                <a:cs typeface="Calibri"/>
              </a:rPr>
              <a:t>“What does success look like in year one? What metrics would your board want to see improve?”</a:t>
            </a:r>
            <a:endParaRPr lang="en-US" sz="800" dirty="0">
              <a:latin typeface="Calibri"/>
              <a:ea typeface="Calibri"/>
              <a:cs typeface="Calibri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5897880" y="1417320"/>
            <a:ext cx="36576" cy="384048"/>
          </a:xfrm>
          <a:prstGeom prst="rect">
            <a:avLst/>
          </a:prstGeom>
          <a:solidFill>
            <a:srgbClr val="7A9E7E"/>
          </a:solidFill>
          <a:ln/>
        </p:spPr>
      </p:sp>
      <p:sp>
        <p:nvSpPr>
          <p:cNvPr id="16" name="Text 12"/>
          <p:cNvSpPr/>
          <p:nvPr/>
        </p:nvSpPr>
        <p:spPr>
          <a:xfrm>
            <a:off x="6035040" y="138988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latin typeface="Calibri"/>
                <a:ea typeface="Calibri"/>
                <a:cs typeface="Calibri"/>
              </a:rPr>
              <a:t>Revenue per location, provider utilization, payroll hours saved, rebooking rate, no-show reduction</a:t>
            </a:r>
          </a:p>
        </p:txBody>
      </p:sp>
      <p:sp>
        <p:nvSpPr>
          <p:cNvPr id="17" name="Shape 13"/>
          <p:cNvSpPr/>
          <p:nvPr/>
        </p:nvSpPr>
        <p:spPr>
          <a:xfrm>
            <a:off x="457200" y="1920240"/>
            <a:ext cx="8229600" cy="475488"/>
          </a:xfrm>
          <a:prstGeom prst="rect">
            <a:avLst/>
          </a:prstGeom>
          <a:solidFill>
            <a:srgbClr val="F5F0EB"/>
          </a:solidFill>
          <a:ln/>
        </p:spPr>
      </p:sp>
      <p:sp>
        <p:nvSpPr>
          <p:cNvPr id="18" name="Shape 14"/>
          <p:cNvSpPr/>
          <p:nvPr/>
        </p:nvSpPr>
        <p:spPr>
          <a:xfrm>
            <a:off x="502920" y="1975104"/>
            <a:ext cx="347472" cy="347472"/>
          </a:xfrm>
          <a:prstGeom prst="ellipse">
            <a:avLst/>
          </a:prstGeom>
          <a:solidFill>
            <a:srgbClr val="C67B5C"/>
          </a:solidFill>
          <a:ln/>
        </p:spPr>
      </p:sp>
      <p:sp>
        <p:nvSpPr>
          <p:cNvPr id="19" name="Text 15"/>
          <p:cNvSpPr/>
          <p:nvPr/>
        </p:nvSpPr>
        <p:spPr>
          <a:xfrm>
            <a:off x="502920" y="19751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914400" y="193852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Buyer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914400" y="212140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latin typeface="Calibri"/>
                <a:ea typeface="Calibri"/>
                <a:cs typeface="Calibri"/>
              </a:rPr>
              <a:t>Who has final budget authority to sign?</a:t>
            </a:r>
          </a:p>
        </p:txBody>
      </p:sp>
      <p:sp>
        <p:nvSpPr>
          <p:cNvPr id="22" name="Shape 18"/>
          <p:cNvSpPr/>
          <p:nvPr/>
        </p:nvSpPr>
        <p:spPr>
          <a:xfrm>
            <a:off x="2651760" y="1965960"/>
            <a:ext cx="36576" cy="384048"/>
          </a:xfrm>
          <a:prstGeom prst="rect">
            <a:avLst/>
          </a:prstGeom>
          <a:solidFill>
            <a:srgbClr val="C67B5C"/>
          </a:solidFill>
          <a:ln/>
        </p:spPr>
      </p:sp>
      <p:sp>
        <p:nvSpPr>
          <p:cNvPr id="23" name="Text 19"/>
          <p:cNvSpPr/>
          <p:nvPr/>
        </p:nvSpPr>
        <p:spPr>
          <a:xfrm>
            <a:off x="2788920" y="1938528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latin typeface="Calibri"/>
                <a:ea typeface="Calibri"/>
                <a:cs typeface="Calibri"/>
              </a:rPr>
              <a:t>“Who ultimately signs off on a decision of this size? Have they been involved in evaluating options?”</a:t>
            </a:r>
            <a:endParaRPr lang="en-US" sz="800" dirty="0">
              <a:latin typeface="Calibri"/>
              <a:ea typeface="Calibri"/>
              <a:cs typeface="Calibri"/>
            </a:endParaRPr>
          </a:p>
        </p:txBody>
      </p:sp>
      <p:sp>
        <p:nvSpPr>
          <p:cNvPr id="24" name="Shape 20"/>
          <p:cNvSpPr/>
          <p:nvPr/>
        </p:nvSpPr>
        <p:spPr>
          <a:xfrm>
            <a:off x="5897880" y="1965960"/>
            <a:ext cx="36576" cy="384048"/>
          </a:xfrm>
          <a:prstGeom prst="rect">
            <a:avLst/>
          </a:prstGeom>
          <a:solidFill>
            <a:srgbClr val="7A9E7E"/>
          </a:solidFill>
          <a:ln/>
        </p:spPr>
      </p:sp>
      <p:sp>
        <p:nvSpPr>
          <p:cNvPr id="25" name="Text 21"/>
          <p:cNvSpPr/>
          <p:nvPr/>
        </p:nvSpPr>
        <p:spPr>
          <a:xfrm>
            <a:off x="6035040" y="193852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>
                <a:latin typeface="Calibri"/>
                <a:ea typeface="Calibri"/>
                <a:cs typeface="Calibri"/>
              </a:rPr>
              <a:t>Usually VP of Operations, COO, CFO, CEO, or ownership group. May not </a:t>
            </a:r>
            <a:r>
              <a:rPr lang="en-US" sz="800" dirty="0">
                <a:latin typeface="Calibri"/>
                <a:ea typeface="Calibri"/>
                <a:cs typeface="Calibri"/>
              </a:rPr>
              <a:t>be in the first meeting.</a:t>
            </a:r>
          </a:p>
        </p:txBody>
      </p:sp>
      <p:sp>
        <p:nvSpPr>
          <p:cNvPr id="26" name="Shape 22"/>
          <p:cNvSpPr/>
          <p:nvPr/>
        </p:nvSpPr>
        <p:spPr>
          <a:xfrm>
            <a:off x="457200" y="2468880"/>
            <a:ext cx="82296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Shape 23"/>
          <p:cNvSpPr/>
          <p:nvPr/>
        </p:nvSpPr>
        <p:spPr>
          <a:xfrm>
            <a:off x="502920" y="2523744"/>
            <a:ext cx="347472" cy="347472"/>
          </a:xfrm>
          <a:prstGeom prst="ellipse">
            <a:avLst/>
          </a:prstGeom>
          <a:solidFill>
            <a:srgbClr val="7A9E7E"/>
          </a:solidFill>
          <a:ln/>
        </p:spPr>
      </p:sp>
      <p:sp>
        <p:nvSpPr>
          <p:cNvPr id="28" name="Text 24"/>
          <p:cNvSpPr/>
          <p:nvPr/>
        </p:nvSpPr>
        <p:spPr>
          <a:xfrm>
            <a:off x="502920" y="25237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400" dirty="0"/>
          </a:p>
        </p:txBody>
      </p:sp>
      <p:sp>
        <p:nvSpPr>
          <p:cNvPr id="29" name="Text 25"/>
          <p:cNvSpPr/>
          <p:nvPr/>
        </p:nvSpPr>
        <p:spPr>
          <a:xfrm>
            <a:off x="914400" y="248716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Criteria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914400" y="267004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latin typeface="Calibri"/>
                <a:ea typeface="Calibri"/>
                <a:cs typeface="Calibri"/>
              </a:rPr>
              <a:t>What factors will they evaluate vendors on?</a:t>
            </a:r>
          </a:p>
        </p:txBody>
      </p:sp>
      <p:sp>
        <p:nvSpPr>
          <p:cNvPr id="31" name="Shape 27"/>
          <p:cNvSpPr/>
          <p:nvPr/>
        </p:nvSpPr>
        <p:spPr>
          <a:xfrm>
            <a:off x="2651760" y="2514600"/>
            <a:ext cx="36576" cy="384048"/>
          </a:xfrm>
          <a:prstGeom prst="rect">
            <a:avLst/>
          </a:prstGeom>
          <a:solidFill>
            <a:srgbClr val="7A9E7E"/>
          </a:solidFill>
          <a:ln/>
        </p:spPr>
      </p:sp>
      <p:sp>
        <p:nvSpPr>
          <p:cNvPr id="32" name="Text 28"/>
          <p:cNvSpPr/>
          <p:nvPr/>
        </p:nvSpPr>
        <p:spPr>
          <a:xfrm>
            <a:off x="2788920" y="2487168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latin typeface="Calibri"/>
                <a:ea typeface="Calibri"/>
                <a:cs typeface="Calibri"/>
              </a:rPr>
              <a:t>“What are the top 3 things you’re evaluating software vendors on? How are you weighting them?”</a:t>
            </a:r>
            <a:endParaRPr lang="en-US" sz="800" dirty="0">
              <a:latin typeface="Calibri"/>
              <a:ea typeface="Calibri"/>
              <a:cs typeface="Calibri"/>
            </a:endParaRPr>
          </a:p>
        </p:txBody>
      </p:sp>
      <p:sp>
        <p:nvSpPr>
          <p:cNvPr id="33" name="Shape 29"/>
          <p:cNvSpPr/>
          <p:nvPr/>
        </p:nvSpPr>
        <p:spPr>
          <a:xfrm>
            <a:off x="5897880" y="2514600"/>
            <a:ext cx="36576" cy="384048"/>
          </a:xfrm>
          <a:prstGeom prst="rect">
            <a:avLst/>
          </a:prstGeom>
          <a:solidFill>
            <a:srgbClr val="7A9E7E"/>
          </a:solidFill>
          <a:ln/>
        </p:spPr>
      </p:sp>
      <p:sp>
        <p:nvSpPr>
          <p:cNvPr id="34" name="Text 30"/>
          <p:cNvSpPr/>
          <p:nvPr/>
        </p:nvSpPr>
        <p:spPr>
          <a:xfrm>
            <a:off x="6035040" y="248716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latin typeface="Calibri"/>
                <a:ea typeface="Calibri"/>
                <a:cs typeface="Calibri"/>
              </a:rPr>
              <a:t>Feature set, integration, cost, implementation timeline, support model, compliance, references</a:t>
            </a:r>
          </a:p>
        </p:txBody>
      </p:sp>
      <p:sp>
        <p:nvSpPr>
          <p:cNvPr id="35" name="Shape 31"/>
          <p:cNvSpPr/>
          <p:nvPr/>
        </p:nvSpPr>
        <p:spPr>
          <a:xfrm>
            <a:off x="457200" y="3017520"/>
            <a:ext cx="8229600" cy="475488"/>
          </a:xfrm>
          <a:prstGeom prst="rect">
            <a:avLst/>
          </a:prstGeom>
          <a:solidFill>
            <a:srgbClr val="F5F0EB"/>
          </a:solidFill>
          <a:ln/>
        </p:spPr>
      </p:sp>
      <p:sp>
        <p:nvSpPr>
          <p:cNvPr id="36" name="Shape 32"/>
          <p:cNvSpPr/>
          <p:nvPr/>
        </p:nvSpPr>
        <p:spPr>
          <a:xfrm>
            <a:off x="502920" y="3072384"/>
            <a:ext cx="347472" cy="347472"/>
          </a:xfrm>
          <a:prstGeom prst="ellipse">
            <a:avLst/>
          </a:prstGeom>
          <a:solidFill>
            <a:srgbClr val="8B6F7C"/>
          </a:solidFill>
          <a:ln/>
        </p:spPr>
      </p:sp>
      <p:sp>
        <p:nvSpPr>
          <p:cNvPr id="37" name="Text 33"/>
          <p:cNvSpPr/>
          <p:nvPr/>
        </p:nvSpPr>
        <p:spPr>
          <a:xfrm>
            <a:off x="502920" y="30723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400" dirty="0"/>
          </a:p>
        </p:txBody>
      </p:sp>
      <p:sp>
        <p:nvSpPr>
          <p:cNvPr id="38" name="Text 34"/>
          <p:cNvSpPr/>
          <p:nvPr/>
        </p:nvSpPr>
        <p:spPr>
          <a:xfrm>
            <a:off x="914400" y="303580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Process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914400" y="321868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latin typeface="Calibri"/>
                <a:ea typeface="Calibri"/>
                <a:cs typeface="Calibri"/>
              </a:rPr>
              <a:t>What steps must happen before they can buy?</a:t>
            </a:r>
          </a:p>
        </p:txBody>
      </p:sp>
      <p:sp>
        <p:nvSpPr>
          <p:cNvPr id="40" name="Shape 36"/>
          <p:cNvSpPr/>
          <p:nvPr/>
        </p:nvSpPr>
        <p:spPr>
          <a:xfrm>
            <a:off x="2651760" y="3063240"/>
            <a:ext cx="36576" cy="384048"/>
          </a:xfrm>
          <a:prstGeom prst="rect">
            <a:avLst/>
          </a:prstGeom>
          <a:solidFill>
            <a:srgbClr val="8B6F7C"/>
          </a:solidFill>
          <a:ln/>
        </p:spPr>
      </p:sp>
      <p:sp>
        <p:nvSpPr>
          <p:cNvPr id="41" name="Text 37"/>
          <p:cNvSpPr/>
          <p:nvPr/>
        </p:nvSpPr>
        <p:spPr>
          <a:xfrm>
            <a:off x="2788920" y="3035808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latin typeface="Calibri"/>
                <a:ea typeface="Calibri"/>
                <a:cs typeface="Calibri"/>
              </a:rPr>
              <a:t>“Walk me through what happens after this meeting. Who else needs to see this? What’s the approval process?”</a:t>
            </a:r>
            <a:endParaRPr lang="en-US" sz="800" dirty="0">
              <a:latin typeface="Calibri"/>
              <a:ea typeface="Calibri"/>
              <a:cs typeface="Calibri"/>
            </a:endParaRPr>
          </a:p>
        </p:txBody>
      </p:sp>
      <p:sp>
        <p:nvSpPr>
          <p:cNvPr id="42" name="Shape 38"/>
          <p:cNvSpPr/>
          <p:nvPr/>
        </p:nvSpPr>
        <p:spPr>
          <a:xfrm>
            <a:off x="5897880" y="3063240"/>
            <a:ext cx="36576" cy="384048"/>
          </a:xfrm>
          <a:prstGeom prst="rect">
            <a:avLst/>
          </a:prstGeom>
          <a:solidFill>
            <a:srgbClr val="7A9E7E"/>
          </a:solidFill>
          <a:ln/>
        </p:spPr>
      </p:sp>
      <p:sp>
        <p:nvSpPr>
          <p:cNvPr id="43" name="Text 39"/>
          <p:cNvSpPr/>
          <p:nvPr/>
        </p:nvSpPr>
        <p:spPr>
          <a:xfrm>
            <a:off x="6035040" y="303580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latin typeface="Calibri"/>
                <a:ea typeface="Calibri"/>
                <a:cs typeface="Calibri"/>
              </a:rPr>
              <a:t>Discovery → demo → deep dive → technical review → pricing </a:t>
            </a:r>
            <a:r>
              <a:rPr lang="en-US" sz="800">
                <a:latin typeface="Calibri"/>
                <a:ea typeface="Calibri"/>
                <a:cs typeface="Calibri"/>
              </a:rPr>
              <a:t>→ legal → executive/board approval</a:t>
            </a:r>
          </a:p>
        </p:txBody>
      </p:sp>
      <p:sp>
        <p:nvSpPr>
          <p:cNvPr id="44" name="Shape 40"/>
          <p:cNvSpPr/>
          <p:nvPr/>
        </p:nvSpPr>
        <p:spPr>
          <a:xfrm>
            <a:off x="457200" y="3566160"/>
            <a:ext cx="82296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Shape 41"/>
          <p:cNvSpPr/>
          <p:nvPr/>
        </p:nvSpPr>
        <p:spPr>
          <a:xfrm>
            <a:off x="502920" y="3621024"/>
            <a:ext cx="347472" cy="347472"/>
          </a:xfrm>
          <a:prstGeom prst="ellipse">
            <a:avLst/>
          </a:prstGeom>
          <a:solidFill>
            <a:srgbClr val="6B3A4A"/>
          </a:solidFill>
          <a:ln/>
        </p:spPr>
      </p:sp>
      <p:sp>
        <p:nvSpPr>
          <p:cNvPr id="46" name="Text 42"/>
          <p:cNvSpPr/>
          <p:nvPr/>
        </p:nvSpPr>
        <p:spPr>
          <a:xfrm>
            <a:off x="502920" y="36210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400" dirty="0"/>
          </a:p>
        </p:txBody>
      </p:sp>
      <p:sp>
        <p:nvSpPr>
          <p:cNvPr id="47" name="Text 43"/>
          <p:cNvSpPr/>
          <p:nvPr/>
        </p:nvSpPr>
        <p:spPr>
          <a:xfrm>
            <a:off x="914400" y="35844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Pain</a:t>
            </a:r>
            <a:endParaRPr lang="en-US" sz="1000" dirty="0"/>
          </a:p>
        </p:txBody>
      </p:sp>
      <p:sp>
        <p:nvSpPr>
          <p:cNvPr id="48" name="Text 44"/>
          <p:cNvSpPr/>
          <p:nvPr/>
        </p:nvSpPr>
        <p:spPr>
          <a:xfrm>
            <a:off x="914400" y="376732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latin typeface="Calibri"/>
                <a:ea typeface="Calibri"/>
                <a:cs typeface="Calibri"/>
              </a:rPr>
              <a:t>What business problem is driving the evaluation?</a:t>
            </a:r>
          </a:p>
        </p:txBody>
      </p:sp>
      <p:sp>
        <p:nvSpPr>
          <p:cNvPr id="49" name="Shape 45"/>
          <p:cNvSpPr/>
          <p:nvPr/>
        </p:nvSpPr>
        <p:spPr>
          <a:xfrm>
            <a:off x="2651760" y="3611880"/>
            <a:ext cx="36576" cy="384048"/>
          </a:xfrm>
          <a:prstGeom prst="rect">
            <a:avLst/>
          </a:prstGeom>
          <a:solidFill>
            <a:srgbClr val="6B3A4A"/>
          </a:solidFill>
          <a:ln/>
        </p:spPr>
      </p:sp>
      <p:sp>
        <p:nvSpPr>
          <p:cNvPr id="50" name="Text 46"/>
          <p:cNvSpPr/>
          <p:nvPr/>
        </p:nvSpPr>
        <p:spPr>
          <a:xfrm>
            <a:off x="2788920" y="3584448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latin typeface="Calibri"/>
                <a:ea typeface="Calibri"/>
                <a:cs typeface="Calibri"/>
              </a:rPr>
              <a:t>“What’s the biggest operational challenge you’d solve by switching to a unified platform across all locations?”</a:t>
            </a:r>
            <a:endParaRPr lang="en-US" sz="800" dirty="0">
              <a:latin typeface="Calibri"/>
              <a:ea typeface="Calibri"/>
              <a:cs typeface="Calibri"/>
            </a:endParaRPr>
          </a:p>
        </p:txBody>
      </p:sp>
      <p:sp>
        <p:nvSpPr>
          <p:cNvPr id="51" name="Shape 47"/>
          <p:cNvSpPr/>
          <p:nvPr/>
        </p:nvSpPr>
        <p:spPr>
          <a:xfrm>
            <a:off x="5897880" y="3611880"/>
            <a:ext cx="36576" cy="384048"/>
          </a:xfrm>
          <a:prstGeom prst="rect">
            <a:avLst/>
          </a:prstGeom>
          <a:solidFill>
            <a:srgbClr val="7A9E7E"/>
          </a:solidFill>
          <a:ln/>
        </p:spPr>
      </p:sp>
      <p:sp>
        <p:nvSpPr>
          <p:cNvPr id="52" name="Text 48"/>
          <p:cNvSpPr/>
          <p:nvPr/>
        </p:nvSpPr>
        <p:spPr>
          <a:xfrm>
            <a:off x="6035040" y="358444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latin typeface="Calibri"/>
                <a:ea typeface="Calibri"/>
                <a:cs typeface="Calibri"/>
              </a:rPr>
              <a:t>No centralized reporting, payroll chaos, inconsistent processes, can’t benchmark locations, scaling pain</a:t>
            </a:r>
          </a:p>
        </p:txBody>
      </p:sp>
      <p:sp>
        <p:nvSpPr>
          <p:cNvPr id="53" name="Shape 49"/>
          <p:cNvSpPr/>
          <p:nvPr/>
        </p:nvSpPr>
        <p:spPr>
          <a:xfrm>
            <a:off x="457200" y="4114800"/>
            <a:ext cx="8229600" cy="475488"/>
          </a:xfrm>
          <a:prstGeom prst="rect">
            <a:avLst/>
          </a:prstGeom>
          <a:solidFill>
            <a:srgbClr val="F5F0EB"/>
          </a:solidFill>
          <a:ln/>
        </p:spPr>
      </p:sp>
      <p:sp>
        <p:nvSpPr>
          <p:cNvPr id="54" name="Shape 50"/>
          <p:cNvSpPr/>
          <p:nvPr/>
        </p:nvSpPr>
        <p:spPr>
          <a:xfrm>
            <a:off x="502920" y="4169664"/>
            <a:ext cx="347472" cy="347472"/>
          </a:xfrm>
          <a:prstGeom prst="ellipse">
            <a:avLst/>
          </a:prstGeom>
          <a:solidFill>
            <a:srgbClr val="1B6B93"/>
          </a:solidFill>
          <a:ln/>
        </p:spPr>
      </p:sp>
      <p:sp>
        <p:nvSpPr>
          <p:cNvPr id="55" name="Text 51"/>
          <p:cNvSpPr/>
          <p:nvPr/>
        </p:nvSpPr>
        <p:spPr>
          <a:xfrm>
            <a:off x="502920" y="41696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400" dirty="0"/>
          </a:p>
        </p:txBody>
      </p:sp>
      <p:sp>
        <p:nvSpPr>
          <p:cNvPr id="56" name="Text 52"/>
          <p:cNvSpPr/>
          <p:nvPr/>
        </p:nvSpPr>
        <p:spPr>
          <a:xfrm>
            <a:off x="914400" y="413308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</a:t>
            </a:r>
            <a:endParaRPr lang="en-US" sz="1000" dirty="0"/>
          </a:p>
        </p:txBody>
      </p:sp>
      <p:sp>
        <p:nvSpPr>
          <p:cNvPr id="57" name="Text 53"/>
          <p:cNvSpPr/>
          <p:nvPr/>
        </p:nvSpPr>
        <p:spPr>
          <a:xfrm>
            <a:off x="914400" y="431596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latin typeface="Calibri"/>
                <a:ea typeface="Calibri"/>
                <a:cs typeface="Calibri"/>
              </a:rPr>
              <a:t>Who inside the org is selling for you when you’re not in the room?</a:t>
            </a:r>
          </a:p>
        </p:txBody>
      </p:sp>
      <p:sp>
        <p:nvSpPr>
          <p:cNvPr id="58" name="Shape 54"/>
          <p:cNvSpPr/>
          <p:nvPr/>
        </p:nvSpPr>
        <p:spPr>
          <a:xfrm>
            <a:off x="2651760" y="4160520"/>
            <a:ext cx="36576" cy="384048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59" name="Text 55"/>
          <p:cNvSpPr/>
          <p:nvPr/>
        </p:nvSpPr>
        <p:spPr>
          <a:xfrm>
            <a:off x="2788920" y="4133088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latin typeface="Calibri"/>
                <a:ea typeface="Calibri"/>
                <a:cs typeface="Calibri"/>
              </a:rPr>
              <a:t>“Who on your team is most frustrated with the current setup? They’d probably have great input for our next conversation.”</a:t>
            </a:r>
            <a:endParaRPr lang="en-US" sz="800" dirty="0">
              <a:latin typeface="Calibri"/>
              <a:ea typeface="Calibri"/>
              <a:cs typeface="Calibri"/>
            </a:endParaRPr>
          </a:p>
        </p:txBody>
      </p:sp>
      <p:sp>
        <p:nvSpPr>
          <p:cNvPr id="60" name="Shape 56"/>
          <p:cNvSpPr/>
          <p:nvPr/>
        </p:nvSpPr>
        <p:spPr>
          <a:xfrm>
            <a:off x="5897880" y="4160520"/>
            <a:ext cx="36576" cy="384048"/>
          </a:xfrm>
          <a:prstGeom prst="rect">
            <a:avLst/>
          </a:prstGeom>
          <a:solidFill>
            <a:srgbClr val="7A9E7E"/>
          </a:solidFill>
          <a:ln/>
        </p:spPr>
      </p:sp>
      <p:sp>
        <p:nvSpPr>
          <p:cNvPr id="61" name="Text 57"/>
          <p:cNvSpPr/>
          <p:nvPr/>
        </p:nvSpPr>
        <p:spPr>
          <a:xfrm>
            <a:off x="6035040" y="413308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latin typeface="Calibri"/>
                <a:ea typeface="Calibri"/>
                <a:cs typeface="Calibri"/>
              </a:rPr>
              <a:t>Usually a regional manager, director of ops, or tech-savvy location manager who feels the pain daily</a:t>
            </a:r>
          </a:p>
        </p:txBody>
      </p:sp>
      <p:sp>
        <p:nvSpPr>
          <p:cNvPr id="62" name="Text 58"/>
          <p:cNvSpPr/>
          <p:nvPr/>
        </p:nvSpPr>
        <p:spPr>
          <a:xfrm>
            <a:off x="457200" y="4846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to the process. Control the controllables.</a:t>
            </a:r>
            <a:endParaRPr lang="en-US" sz="900" dirty="0"/>
          </a:p>
        </p:txBody>
      </p:sp>
      <p:sp>
        <p:nvSpPr>
          <p:cNvPr id="63" name="Shape 59"/>
          <p:cNvSpPr/>
          <p:nvPr/>
        </p:nvSpPr>
        <p:spPr>
          <a:xfrm>
            <a:off x="6766560" y="4754880"/>
            <a:ext cx="502920" cy="320040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64" name="Text 60"/>
          <p:cNvSpPr/>
          <p:nvPr/>
        </p:nvSpPr>
        <p:spPr>
          <a:xfrm>
            <a:off x="6766560" y="47548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67B5C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4864"/>
          </a:xfrm>
          <a:prstGeom prst="rect">
            <a:avLst/>
          </a:prstGeom>
          <a:solidFill>
            <a:srgbClr val="1B6B93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4709160"/>
            <a:ext cx="123444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500" dirty="0">
                <a:solidFill>
                  <a:srgbClr val="C67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ENTERPRISE PLAYBOOK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31520" y="17373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kern="0" spc="300" dirty="0">
                <a:solidFill>
                  <a:srgbClr val="F5F0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Meevo’s Enterprise</a:t>
            </a:r>
            <a:endParaRPr lang="en-US" sz="3600" dirty="0"/>
          </a:p>
          <a:p>
            <a:pPr marL="0" indent="0">
              <a:buNone/>
            </a:pPr>
            <a:r>
              <a:rPr lang="en-US" sz="3600" b="1" kern="0" spc="300" dirty="0">
                <a:solidFill>
                  <a:srgbClr val="F5F0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Value Proposition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731520" y="276919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multi-location businesses need and exactly how Meevo delivers it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31520" y="3200400"/>
            <a:ext cx="1828800" cy="36576"/>
          </a:xfrm>
          <a:prstGeom prst="rect">
            <a:avLst/>
          </a:prstGeom>
          <a:solidFill>
            <a:srgbClr val="C67B5C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461772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9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[ATTRIBUTE: Business Acumen #7 | Industry Knowledge #9]  [LEVEL: 2-3]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01168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16459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36454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Meevo Enterprise Value Props — What Only We Deliver</a:t>
            </a:r>
            <a:endParaRPr lang="en-US" sz="1600">
              <a:latin typeface="Trebuchet MS"/>
              <a:ea typeface="Calibri"/>
              <a:cs typeface="Calibri"/>
            </a:endParaRPr>
          </a:p>
        </p:txBody>
      </p:sp>
      <p:sp>
        <p:nvSpPr>
          <p:cNvPr id="4" name="Shape 1"/>
          <p:cNvSpPr/>
          <p:nvPr/>
        </p:nvSpPr>
        <p:spPr>
          <a:xfrm>
            <a:off x="548640" y="749808"/>
            <a:ext cx="1645920" cy="36576"/>
          </a:xfrm>
          <a:prstGeom prst="rect">
            <a:avLst/>
          </a:prstGeom>
          <a:solidFill>
            <a:srgbClr val="7A9E7E"/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8539" y="4787448"/>
            <a:ext cx="1234440" cy="36576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20040" y="868680"/>
            <a:ext cx="411480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320040" y="868680"/>
            <a:ext cx="54864" cy="1234440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8" name="Text 4"/>
          <p:cNvSpPr/>
          <p:nvPr/>
        </p:nvSpPr>
        <p:spPr>
          <a:xfrm>
            <a:off x="502920" y="89611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645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Central Office Dashboard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502920" y="11430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screen for every location. Revenue, provider performance, inventory, scheduling — all consolidated. No more logging into 5 separate accounts.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502920" y="167335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latin typeface="Calibri"/>
                <a:ea typeface="Calibri"/>
                <a:cs typeface="Calibri"/>
              </a:rPr>
              <a:t>vs. Competitors: </a:t>
            </a:r>
            <a:r>
              <a:rPr lang="en-US" sz="800" i="1" dirty="0" err="1">
                <a:latin typeface="Calibri"/>
                <a:ea typeface="Calibri"/>
                <a:cs typeface="Calibri"/>
              </a:rPr>
              <a:t>Vagaro</a:t>
            </a:r>
            <a:r>
              <a:rPr lang="en-US" sz="800" i="1" dirty="0">
                <a:latin typeface="Calibri"/>
                <a:ea typeface="Calibri"/>
                <a:cs typeface="Calibri"/>
              </a:rPr>
              <a:t>: No multi-location view. Boulevard: Limited. </a:t>
            </a:r>
            <a:r>
              <a:rPr lang="en-US" sz="800" i="1" dirty="0" err="1">
                <a:latin typeface="Calibri"/>
                <a:ea typeface="Calibri"/>
                <a:cs typeface="Calibri"/>
              </a:rPr>
              <a:t>Zenoti</a:t>
            </a:r>
            <a:r>
              <a:rPr lang="en-US" sz="800" i="1" dirty="0">
                <a:latin typeface="Calibri"/>
                <a:ea typeface="Calibri"/>
                <a:cs typeface="Calibri"/>
              </a:rPr>
              <a:t>: Complex and expensive.</a:t>
            </a:r>
            <a:endParaRPr lang="en-US" sz="800" dirty="0">
              <a:latin typeface="Calibri"/>
              <a:ea typeface="Calibri"/>
              <a:cs typeface="Calibri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4709160" y="868680"/>
            <a:ext cx="411480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709160" y="868680"/>
            <a:ext cx="54864" cy="1234440"/>
          </a:xfrm>
          <a:prstGeom prst="rect">
            <a:avLst/>
          </a:prstGeom>
          <a:solidFill>
            <a:srgbClr val="C67B5C"/>
          </a:solidFill>
          <a:ln/>
        </p:spPr>
      </p:sp>
      <p:sp>
        <p:nvSpPr>
          <p:cNvPr id="13" name="Text 9"/>
          <p:cNvSpPr/>
          <p:nvPr/>
        </p:nvSpPr>
        <p:spPr>
          <a:xfrm>
            <a:off x="4892040" y="89611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645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Consolidated Multi-Location Reporting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4892040" y="11430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150+ reports that aggregate across locations. Benchmark Location A vs. Location B. Drill into provider-level performance at any site.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4892040" y="167335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latin typeface="Calibri"/>
                <a:ea typeface="Calibri"/>
                <a:cs typeface="Calibri"/>
              </a:rPr>
              <a:t>vs. Competitors: Competitors: Require manual exports and spreadsheet merging. Meevo: Built-in.</a:t>
            </a:r>
            <a:endParaRPr lang="en-US" sz="800" dirty="0">
              <a:latin typeface="Calibri"/>
              <a:ea typeface="Calibri"/>
              <a:cs typeface="Calibri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320040" y="2240280"/>
            <a:ext cx="411480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20040" y="2240280"/>
            <a:ext cx="54864" cy="1234440"/>
          </a:xfrm>
          <a:prstGeom prst="rect">
            <a:avLst/>
          </a:prstGeom>
          <a:solidFill>
            <a:srgbClr val="7A9E7E"/>
          </a:solidFill>
          <a:ln/>
        </p:spPr>
      </p:sp>
      <p:sp>
        <p:nvSpPr>
          <p:cNvPr id="18" name="Text 14"/>
          <p:cNvSpPr/>
          <p:nvPr/>
        </p:nvSpPr>
        <p:spPr>
          <a:xfrm>
            <a:off x="502920" y="226771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645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Standardized Processes Across Sites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502920" y="25146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36454F"/>
                </a:solidFill>
                <a:latin typeface="Calibri"/>
                <a:ea typeface="Calibri"/>
                <a:cs typeface="Calibri"/>
              </a:rPr>
              <a:t>Same workflows, security settings, pay structures, and service menus across all locations. New managers and employees ramp in days, not months.</a:t>
            </a:r>
            <a:endParaRPr lang="en-US" sz="800" dirty="0">
              <a:latin typeface="Calibri"/>
              <a:ea typeface="Calibri"/>
              <a:cs typeface="Calibri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502920" y="304495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i="1" dirty="0">
                <a:latin typeface="Calibri"/>
                <a:ea typeface="Calibri"/>
                <a:cs typeface="Calibri"/>
              </a:rPr>
              <a:t>vs. Competitors: Without standardization, every location runs differently. Meevo provides </a:t>
            </a:r>
            <a:r>
              <a:rPr lang="en-US" sz="800" i="1">
                <a:latin typeface="Calibri"/>
                <a:ea typeface="Calibri"/>
                <a:cs typeface="Calibri"/>
              </a:rPr>
              <a:t>consistency.</a:t>
            </a:r>
            <a:endParaRPr lang="en-US" sz="800">
              <a:latin typeface="Calibri"/>
              <a:ea typeface="Calibri"/>
              <a:cs typeface="Calibri"/>
            </a:endParaRPr>
          </a:p>
        </p:txBody>
      </p:sp>
      <p:sp>
        <p:nvSpPr>
          <p:cNvPr id="21" name="Shape 17"/>
          <p:cNvSpPr/>
          <p:nvPr/>
        </p:nvSpPr>
        <p:spPr>
          <a:xfrm>
            <a:off x="4709160" y="2240280"/>
            <a:ext cx="411480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4709160" y="2240280"/>
            <a:ext cx="54864" cy="1234440"/>
          </a:xfrm>
          <a:prstGeom prst="rect">
            <a:avLst/>
          </a:prstGeom>
          <a:solidFill>
            <a:srgbClr val="8B6F7C"/>
          </a:solidFill>
          <a:ln/>
        </p:spPr>
      </p:sp>
      <p:sp>
        <p:nvSpPr>
          <p:cNvPr id="23" name="Text 19"/>
          <p:cNvSpPr/>
          <p:nvPr/>
        </p:nvSpPr>
        <p:spPr>
          <a:xfrm>
            <a:off x="4892040" y="226771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645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Consolidated Payroll &amp; Commission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4892040" y="25146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36454F"/>
                </a:solidFill>
                <a:latin typeface="Calibri"/>
                <a:ea typeface="Calibri"/>
                <a:cs typeface="Calibri"/>
              </a:rPr>
              <a:t>One payroll run across all locations. Commission structures, tips, and hours calculated </a:t>
            </a:r>
            <a:r>
              <a:rPr lang="en-US" sz="800">
                <a:solidFill>
                  <a:srgbClr val="36454F"/>
                </a:solidFill>
                <a:latin typeface="Calibri"/>
                <a:ea typeface="Calibri"/>
                <a:cs typeface="Calibri"/>
              </a:rPr>
              <a:t>automatically. Save a minimum of 10–20+ hours per pay period.</a:t>
            </a:r>
            <a:endParaRPr lang="en-US" sz="800">
              <a:latin typeface="Calibri"/>
              <a:ea typeface="Calibri"/>
              <a:cs typeface="Calibri"/>
            </a:endParaRPr>
          </a:p>
        </p:txBody>
      </p:sp>
      <p:sp>
        <p:nvSpPr>
          <p:cNvPr id="25" name="Text 21"/>
          <p:cNvSpPr/>
          <p:nvPr/>
        </p:nvSpPr>
        <p:spPr>
          <a:xfrm>
            <a:off x="4892040" y="304495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latin typeface="Calibri"/>
                <a:ea typeface="Calibri"/>
                <a:cs typeface="Calibri"/>
              </a:rPr>
              <a:t>vs. Competitors: Most competitors: Payroll is per-location. Meevo: Consolidated from Central Office.</a:t>
            </a:r>
            <a:endParaRPr lang="en-US" sz="800" dirty="0">
              <a:latin typeface="Calibri"/>
              <a:ea typeface="Calibri"/>
              <a:cs typeface="Calibri"/>
            </a:endParaRPr>
          </a:p>
        </p:txBody>
      </p:sp>
      <p:sp>
        <p:nvSpPr>
          <p:cNvPr id="26" name="Shape 22"/>
          <p:cNvSpPr/>
          <p:nvPr/>
        </p:nvSpPr>
        <p:spPr>
          <a:xfrm>
            <a:off x="320040" y="3611880"/>
            <a:ext cx="411480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320040" y="3611880"/>
            <a:ext cx="54864" cy="1234440"/>
          </a:xfrm>
          <a:prstGeom prst="rect">
            <a:avLst/>
          </a:prstGeom>
          <a:solidFill>
            <a:srgbClr val="6B3A4A"/>
          </a:solidFill>
          <a:ln/>
        </p:spPr>
      </p:sp>
      <p:sp>
        <p:nvSpPr>
          <p:cNvPr id="28" name="Text 24"/>
          <p:cNvSpPr/>
          <p:nvPr/>
        </p:nvSpPr>
        <p:spPr>
          <a:xfrm>
            <a:off x="502920" y="363931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645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Enterprise-Grade Security &amp; HIPAA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02920" y="38862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36454F"/>
                </a:solidFill>
                <a:latin typeface="Calibri"/>
                <a:ea typeface="Calibri"/>
                <a:cs typeface="Calibri"/>
              </a:rPr>
              <a:t>Role-based access controls, HIPAA compliance built in, audit-ready. Control who sees what, at which location, down to the individual user (view only or edit </a:t>
            </a:r>
            <a:r>
              <a:rPr lang="en-US" sz="800" dirty="0" err="1">
                <a:solidFill>
                  <a:srgbClr val="36454F"/>
                </a:solidFill>
                <a:latin typeface="Calibri"/>
                <a:ea typeface="Calibri"/>
                <a:cs typeface="Calibri"/>
              </a:rPr>
              <a:t>priviledges</a:t>
            </a:r>
            <a:r>
              <a:rPr lang="en-US" sz="800" dirty="0">
                <a:solidFill>
                  <a:srgbClr val="36454F"/>
                </a:solidFill>
                <a:latin typeface="Calibri"/>
                <a:ea typeface="Calibri"/>
                <a:cs typeface="Calibri"/>
              </a:rPr>
              <a:t>).</a:t>
            </a:r>
            <a:endParaRPr lang="en-US" sz="800" dirty="0">
              <a:latin typeface="Calibri"/>
              <a:ea typeface="Calibri"/>
              <a:cs typeface="Calibri"/>
            </a:endParaRPr>
          </a:p>
        </p:txBody>
      </p:sp>
      <p:sp>
        <p:nvSpPr>
          <p:cNvPr id="30" name="Text 26"/>
          <p:cNvSpPr/>
          <p:nvPr/>
        </p:nvSpPr>
        <p:spPr>
          <a:xfrm>
            <a:off x="502920" y="441655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latin typeface="Calibri"/>
                <a:ea typeface="Calibri"/>
                <a:cs typeface="Calibri"/>
              </a:rPr>
              <a:t>vs. Competitors: </a:t>
            </a:r>
            <a:r>
              <a:rPr lang="en-US" sz="800" i="1" dirty="0" err="1">
                <a:latin typeface="Calibri"/>
                <a:ea typeface="Calibri"/>
                <a:cs typeface="Calibri"/>
              </a:rPr>
              <a:t>Zenoti</a:t>
            </a:r>
            <a:r>
              <a:rPr lang="en-US" sz="800" i="1" dirty="0">
                <a:latin typeface="Calibri"/>
                <a:ea typeface="Calibri"/>
                <a:cs typeface="Calibri"/>
              </a:rPr>
              <a:t>: HIPAA but overkill. </a:t>
            </a:r>
            <a:r>
              <a:rPr lang="en-US" sz="800" i="1" dirty="0" err="1">
                <a:latin typeface="Calibri"/>
                <a:ea typeface="Calibri"/>
                <a:cs typeface="Calibri"/>
              </a:rPr>
              <a:t>Vagaro</a:t>
            </a:r>
            <a:r>
              <a:rPr lang="en-US" sz="800" i="1" dirty="0">
                <a:latin typeface="Calibri"/>
                <a:ea typeface="Calibri"/>
                <a:cs typeface="Calibri"/>
              </a:rPr>
              <a:t>: Limited security. Boulevard: No HIPAA.</a:t>
            </a:r>
            <a:endParaRPr lang="en-US" sz="800" dirty="0">
              <a:latin typeface="Calibri"/>
              <a:ea typeface="Calibri"/>
              <a:cs typeface="Calibri"/>
            </a:endParaRPr>
          </a:p>
        </p:txBody>
      </p:sp>
      <p:sp>
        <p:nvSpPr>
          <p:cNvPr id="31" name="Shape 27"/>
          <p:cNvSpPr/>
          <p:nvPr/>
        </p:nvSpPr>
        <p:spPr>
          <a:xfrm>
            <a:off x="4709160" y="3611880"/>
            <a:ext cx="411480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Shape 28"/>
          <p:cNvSpPr/>
          <p:nvPr/>
        </p:nvSpPr>
        <p:spPr>
          <a:xfrm>
            <a:off x="4709160" y="3611880"/>
            <a:ext cx="54864" cy="1234440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33" name="Text 29"/>
          <p:cNvSpPr/>
          <p:nvPr/>
        </p:nvSpPr>
        <p:spPr>
          <a:xfrm>
            <a:off x="4892040" y="363931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645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 &amp; Integration Capabilities</a:t>
            </a:r>
            <a:endParaRPr lang="en-US" sz="1100" dirty="0"/>
          </a:p>
        </p:txBody>
      </p:sp>
      <p:sp>
        <p:nvSpPr>
          <p:cNvPr id="34" name="Text 30"/>
          <p:cNvSpPr/>
          <p:nvPr/>
        </p:nvSpPr>
        <p:spPr>
          <a:xfrm>
            <a:off x="4892040" y="38862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 err="1">
                <a:solidFill>
                  <a:srgbClr val="36454F"/>
                </a:solidFill>
                <a:latin typeface="Calibri"/>
                <a:ea typeface="Calibri"/>
                <a:cs typeface="Calibri"/>
              </a:rPr>
              <a:t>MeevoXchange</a:t>
            </a:r>
            <a:r>
              <a:rPr lang="en-US" sz="800" dirty="0">
                <a:solidFill>
                  <a:srgbClr val="36454F"/>
                </a:solidFill>
                <a:latin typeface="Calibri"/>
                <a:ea typeface="Calibri"/>
                <a:cs typeface="Calibri"/>
              </a:rPr>
              <a:t> marketplace + API developer tools for custom integrations. IT teams can build what they need without waiting on others.</a:t>
            </a:r>
            <a:endParaRPr lang="en-US" sz="800" dirty="0">
              <a:latin typeface="Calibri"/>
              <a:ea typeface="Calibri"/>
              <a:cs typeface="Calibri"/>
            </a:endParaRPr>
          </a:p>
        </p:txBody>
      </p:sp>
      <p:sp>
        <p:nvSpPr>
          <p:cNvPr id="35" name="Text 31"/>
          <p:cNvSpPr/>
          <p:nvPr/>
        </p:nvSpPr>
        <p:spPr>
          <a:xfrm>
            <a:off x="4892040" y="441655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latin typeface="Calibri"/>
                <a:ea typeface="Calibri"/>
                <a:cs typeface="Calibri"/>
              </a:rPr>
              <a:t>vs. Competitors: This is what enterprise IT teams ask about first. Having API access removes the #1 technical objection.</a:t>
            </a:r>
            <a:endParaRPr lang="en-US" sz="800" dirty="0">
              <a:latin typeface="Calibri"/>
              <a:ea typeface="Calibri"/>
              <a:cs typeface="Calibri"/>
            </a:endParaRPr>
          </a:p>
        </p:txBody>
      </p:sp>
      <p:sp>
        <p:nvSpPr>
          <p:cNvPr id="36" name="Text 32"/>
          <p:cNvSpPr/>
          <p:nvPr/>
        </p:nvSpPr>
        <p:spPr>
          <a:xfrm>
            <a:off x="457200" y="4846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to the process. Control the controllables.</a:t>
            </a:r>
            <a:endParaRPr lang="en-US" sz="900" dirty="0"/>
          </a:p>
        </p:txBody>
      </p:sp>
      <p:sp>
        <p:nvSpPr>
          <p:cNvPr id="37" name="Shape 33"/>
          <p:cNvSpPr/>
          <p:nvPr/>
        </p:nvSpPr>
        <p:spPr>
          <a:xfrm>
            <a:off x="6766560" y="4754880"/>
            <a:ext cx="502920" cy="320040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38" name="Text 34"/>
          <p:cNvSpPr/>
          <p:nvPr/>
        </p:nvSpPr>
        <p:spPr>
          <a:xfrm>
            <a:off x="6766560" y="47548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01168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16459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36454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Enterprise Discovery Questions — Go Deeper</a:t>
            </a:r>
            <a:endParaRPr lang="en-US" sz="1600">
              <a:latin typeface="Trebuchet MS"/>
              <a:ea typeface="Calibri"/>
              <a:cs typeface="Calibri"/>
            </a:endParaRPr>
          </a:p>
        </p:txBody>
      </p:sp>
      <p:sp>
        <p:nvSpPr>
          <p:cNvPr id="4" name="Shape 1"/>
          <p:cNvSpPr/>
          <p:nvPr/>
        </p:nvSpPr>
        <p:spPr>
          <a:xfrm>
            <a:off x="548640" y="749808"/>
            <a:ext cx="1645920" cy="36576"/>
          </a:xfrm>
          <a:prstGeom prst="rect">
            <a:avLst/>
          </a:prstGeom>
          <a:solidFill>
            <a:srgbClr val="C67B5C"/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0" y="4709160"/>
            <a:ext cx="1234440" cy="36576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868680"/>
            <a:ext cx="8229600" cy="89611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8" name="Text 4"/>
          <p:cNvSpPr/>
          <p:nvPr/>
        </p:nvSpPr>
        <p:spPr>
          <a:xfrm>
            <a:off x="594360" y="868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&amp; OPERATIONS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594360" y="1188720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many locations are you managing today, and how many do you plan to open in the next 12–24 months?”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3337560" y="1188720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i="1" dirty="0">
                <a:solidFill>
                  <a:srgbClr val="36454F"/>
                </a:solidFill>
                <a:latin typeface="Calibri"/>
                <a:ea typeface="Calibri"/>
                <a:cs typeface="Calibri"/>
              </a:rPr>
              <a:t>“What does your tech stack look like across locations — is everyone on the same software, is there brand </a:t>
            </a:r>
            <a:r>
              <a:rPr lang="en-US" sz="800" i="1">
                <a:solidFill>
                  <a:srgbClr val="36454F"/>
                </a:solidFill>
                <a:latin typeface="Calibri"/>
                <a:ea typeface="Calibri"/>
                <a:cs typeface="Calibri"/>
              </a:rPr>
              <a:t>consistency, or</a:t>
            </a:r>
            <a:r>
              <a:rPr lang="en-US" sz="800" i="1" dirty="0">
                <a:solidFill>
                  <a:srgbClr val="36454F"/>
                </a:solidFill>
                <a:latin typeface="Calibri"/>
                <a:ea typeface="Calibri"/>
                <a:cs typeface="Calibri"/>
              </a:rPr>
              <a:t> is it fragmented?”</a:t>
            </a:r>
            <a:endParaRPr lang="en-US" sz="800" dirty="0">
              <a:latin typeface="Calibri"/>
              <a:ea typeface="Calibri"/>
              <a:cs typeface="Calibri"/>
            </a:endParaRPr>
          </a:p>
        </p:txBody>
      </p:sp>
      <p:sp>
        <p:nvSpPr>
          <p:cNvPr id="11" name="Text 7"/>
          <p:cNvSpPr/>
          <p:nvPr/>
        </p:nvSpPr>
        <p:spPr>
          <a:xfrm>
            <a:off x="6080760" y="1188720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“When you open a new location, how long does it take to get operational processes standardized?”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457200" y="1874520"/>
            <a:ext cx="8229600" cy="89611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57200" y="1874520"/>
            <a:ext cx="8229600" cy="274320"/>
          </a:xfrm>
          <a:prstGeom prst="rect">
            <a:avLst/>
          </a:prstGeom>
          <a:solidFill>
            <a:srgbClr val="C67B5C"/>
          </a:solidFill>
          <a:ln/>
        </p:spPr>
      </p:sp>
      <p:sp>
        <p:nvSpPr>
          <p:cNvPr id="14" name="Text 10"/>
          <p:cNvSpPr/>
          <p:nvPr/>
        </p:nvSpPr>
        <p:spPr>
          <a:xfrm>
            <a:off x="594360" y="187452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REPORTING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594360" y="2194560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i="1" dirty="0">
                <a:solidFill>
                  <a:srgbClr val="36454F"/>
                </a:solidFill>
                <a:latin typeface="Calibri"/>
                <a:ea typeface="Calibri"/>
                <a:cs typeface="Calibri"/>
              </a:rPr>
              <a:t>“When your board or </a:t>
            </a:r>
            <a:r>
              <a:rPr lang="en-US" sz="800" i="1">
                <a:solidFill>
                  <a:srgbClr val="36454F"/>
                </a:solidFill>
                <a:latin typeface="Calibri"/>
                <a:ea typeface="Calibri"/>
                <a:cs typeface="Calibri"/>
              </a:rPr>
              <a:t>executives asks</a:t>
            </a:r>
            <a:r>
              <a:rPr lang="en-US" sz="800" i="1" dirty="0">
                <a:solidFill>
                  <a:srgbClr val="36454F"/>
                </a:solidFill>
                <a:latin typeface="Calibri"/>
                <a:ea typeface="Calibri"/>
                <a:cs typeface="Calibri"/>
              </a:rPr>
              <a:t> for performance data across all locations, how fast can you produce it?”</a:t>
            </a:r>
            <a:endParaRPr lang="en-US" sz="800" dirty="0">
              <a:latin typeface="Calibri"/>
              <a:ea typeface="Calibri"/>
              <a:cs typeface="Calibri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3337560" y="2194560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i="1" dirty="0">
                <a:solidFill>
                  <a:srgbClr val="36454F"/>
                </a:solidFill>
                <a:latin typeface="Calibri"/>
                <a:ea typeface="Calibri"/>
                <a:cs typeface="Calibri"/>
              </a:rPr>
              <a:t>“What’s the revenue gap between your highest and lowest </a:t>
            </a:r>
            <a:r>
              <a:rPr lang="en-US" sz="800" i="1">
                <a:solidFill>
                  <a:srgbClr val="36454F"/>
                </a:solidFill>
                <a:latin typeface="Calibri"/>
                <a:ea typeface="Calibri"/>
                <a:cs typeface="Calibri"/>
              </a:rPr>
              <a:t>performing location, and do you know why?”</a:t>
            </a:r>
            <a:endParaRPr lang="en-US" sz="800">
              <a:latin typeface="Calibri"/>
              <a:ea typeface="Calibri"/>
              <a:cs typeface="Calibri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6080760" y="2194560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do you currently benchmark provider productivity across sites?”</a:t>
            </a:r>
            <a:endParaRPr lang="en-US" sz="800" dirty="0"/>
          </a:p>
        </p:txBody>
      </p:sp>
      <p:sp>
        <p:nvSpPr>
          <p:cNvPr id="18" name="Shape 14"/>
          <p:cNvSpPr/>
          <p:nvPr/>
        </p:nvSpPr>
        <p:spPr>
          <a:xfrm>
            <a:off x="457200" y="2880360"/>
            <a:ext cx="8229600" cy="89611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57200" y="2880360"/>
            <a:ext cx="8229600" cy="274320"/>
          </a:xfrm>
          <a:prstGeom prst="rect">
            <a:avLst/>
          </a:prstGeom>
          <a:solidFill>
            <a:srgbClr val="7A9E7E"/>
          </a:solidFill>
          <a:ln/>
        </p:spPr>
      </p:sp>
      <p:sp>
        <p:nvSpPr>
          <p:cNvPr id="20" name="Text 16"/>
          <p:cNvSpPr/>
          <p:nvPr/>
        </p:nvSpPr>
        <p:spPr>
          <a:xfrm>
            <a:off x="594360" y="288036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&amp; ROI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594360" y="3200400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“What’s the total cost of your current software stack when you add up subscriptions, marketing tools, booking fees, and support?”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3337560" y="3200400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many hours per pay period does consolidated payroll take across all locations?”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6080760" y="3200400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i="1">
                <a:solidFill>
                  <a:srgbClr val="36454F"/>
                </a:solidFill>
                <a:latin typeface="Calibri"/>
                <a:ea typeface="Calibri"/>
                <a:cs typeface="Calibri"/>
              </a:rPr>
              <a:t>“If you could reduce manager and employee onboarding time by 50% through </a:t>
            </a:r>
            <a:r>
              <a:rPr lang="en-US" sz="800" i="1" dirty="0">
                <a:solidFill>
                  <a:srgbClr val="36454F"/>
                </a:solidFill>
                <a:latin typeface="Calibri"/>
                <a:ea typeface="Calibri"/>
                <a:cs typeface="Calibri"/>
              </a:rPr>
              <a:t>standardized systems, what would that mean for your expansion timeline?”</a:t>
            </a:r>
            <a:endParaRPr lang="en-US" sz="800" dirty="0">
              <a:latin typeface="Calibri"/>
              <a:ea typeface="Calibri"/>
              <a:cs typeface="Calibri"/>
            </a:endParaRPr>
          </a:p>
        </p:txBody>
      </p:sp>
      <p:sp>
        <p:nvSpPr>
          <p:cNvPr id="24" name="Shape 20"/>
          <p:cNvSpPr/>
          <p:nvPr/>
        </p:nvSpPr>
        <p:spPr>
          <a:xfrm>
            <a:off x="457200" y="3886200"/>
            <a:ext cx="8229600" cy="89611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457200" y="3886200"/>
            <a:ext cx="8229600" cy="274320"/>
          </a:xfrm>
          <a:prstGeom prst="rect">
            <a:avLst/>
          </a:prstGeom>
          <a:solidFill>
            <a:srgbClr val="8B6F7C"/>
          </a:solidFill>
          <a:ln/>
        </p:spPr>
      </p:sp>
      <p:sp>
        <p:nvSpPr>
          <p:cNvPr id="26" name="Text 22"/>
          <p:cNvSpPr/>
          <p:nvPr/>
        </p:nvSpPr>
        <p:spPr>
          <a:xfrm>
            <a:off x="594360" y="388620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PROCESS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594360" y="4206240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“Who else besides yourself would need to sign off on a software decision of this scale?”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3337560" y="4206240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i="1" dirty="0">
                <a:solidFill>
                  <a:srgbClr val="36454F"/>
                </a:solidFill>
                <a:latin typeface="Calibri"/>
                <a:ea typeface="Calibri"/>
                <a:cs typeface="Calibri"/>
              </a:rPr>
              <a:t>“What does the evaluation process look like from here, what </a:t>
            </a:r>
            <a:r>
              <a:rPr lang="en-US" sz="800" i="1">
                <a:solidFill>
                  <a:srgbClr val="36454F"/>
                </a:solidFill>
                <a:latin typeface="Calibri"/>
                <a:ea typeface="Calibri"/>
                <a:cs typeface="Calibri"/>
              </a:rPr>
              <a:t>milestones need to be reached before a decision is </a:t>
            </a:r>
            <a:r>
              <a:rPr lang="en-US" sz="800" i="1" dirty="0">
                <a:solidFill>
                  <a:srgbClr val="36454F"/>
                </a:solidFill>
                <a:latin typeface="Calibri"/>
                <a:ea typeface="Calibri"/>
                <a:cs typeface="Calibri"/>
              </a:rPr>
              <a:t>made?”</a:t>
            </a:r>
            <a:endParaRPr lang="en-US" sz="800" dirty="0">
              <a:latin typeface="Calibri"/>
              <a:ea typeface="Calibri"/>
              <a:cs typeface="Calibri"/>
            </a:endParaRPr>
          </a:p>
        </p:txBody>
      </p:sp>
      <p:sp>
        <p:nvSpPr>
          <p:cNvPr id="29" name="Text 25"/>
          <p:cNvSpPr/>
          <p:nvPr/>
        </p:nvSpPr>
        <p:spPr>
          <a:xfrm>
            <a:off x="6080760" y="4206240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i="1">
                <a:solidFill>
                  <a:srgbClr val="36454F"/>
                </a:solidFill>
                <a:latin typeface="Calibri"/>
                <a:ea typeface="Calibri"/>
                <a:cs typeface="Calibri"/>
              </a:rPr>
              <a:t>“Is there a timeline you’re working against; a lease, a new </a:t>
            </a:r>
            <a:r>
              <a:rPr lang="en-US" sz="800" i="1" dirty="0">
                <a:solidFill>
                  <a:srgbClr val="36454F"/>
                </a:solidFill>
                <a:latin typeface="Calibri"/>
                <a:ea typeface="Calibri"/>
                <a:cs typeface="Calibri"/>
              </a:rPr>
              <a:t>location opening, a contract renewal?”</a:t>
            </a:r>
            <a:endParaRPr lang="en-US" sz="800" dirty="0">
              <a:latin typeface="Calibri"/>
              <a:ea typeface="Calibri"/>
              <a:cs typeface="Calibri"/>
            </a:endParaRPr>
          </a:p>
        </p:txBody>
      </p:sp>
      <p:sp>
        <p:nvSpPr>
          <p:cNvPr id="30" name="Text 26"/>
          <p:cNvSpPr/>
          <p:nvPr/>
        </p:nvSpPr>
        <p:spPr>
          <a:xfrm>
            <a:off x="457200" y="4846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to the process. Control the controllables.</a:t>
            </a:r>
            <a:endParaRPr lang="en-US" sz="900" dirty="0"/>
          </a:p>
        </p:txBody>
      </p:sp>
      <p:sp>
        <p:nvSpPr>
          <p:cNvPr id="31" name="Shape 27"/>
          <p:cNvSpPr/>
          <p:nvPr/>
        </p:nvSpPr>
        <p:spPr>
          <a:xfrm>
            <a:off x="6766560" y="4754880"/>
            <a:ext cx="502920" cy="320040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32" name="Text 28"/>
          <p:cNvSpPr/>
          <p:nvPr/>
        </p:nvSpPr>
        <p:spPr>
          <a:xfrm>
            <a:off x="6766560" y="47548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01168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16459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36454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The Enterprise Sales Cycle — Stages &amp; Expectations</a:t>
            </a:r>
            <a:endParaRPr lang="en-US" sz="1600">
              <a:latin typeface="Trebuchet MS"/>
              <a:ea typeface="Calibri"/>
              <a:cs typeface="Calibri"/>
            </a:endParaRPr>
          </a:p>
        </p:txBody>
      </p:sp>
      <p:sp>
        <p:nvSpPr>
          <p:cNvPr id="4" name="Shape 1"/>
          <p:cNvSpPr/>
          <p:nvPr/>
        </p:nvSpPr>
        <p:spPr>
          <a:xfrm>
            <a:off x="548640" y="749808"/>
            <a:ext cx="1645920" cy="36576"/>
          </a:xfrm>
          <a:prstGeom prst="rect">
            <a:avLst/>
          </a:prstGeom>
          <a:solidFill>
            <a:srgbClr val="8B6F7C"/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0" y="4709160"/>
            <a:ext cx="1234440" cy="36576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868680"/>
            <a:ext cx="8229600" cy="411480"/>
          </a:xfrm>
          <a:prstGeom prst="rect">
            <a:avLst/>
          </a:prstGeom>
          <a:solidFill>
            <a:srgbClr val="1E2A33"/>
          </a:solidFill>
          <a:ln/>
        </p:spPr>
      </p:sp>
      <p:sp>
        <p:nvSpPr>
          <p:cNvPr id="7" name="Text 3"/>
          <p:cNvSpPr/>
          <p:nvPr/>
        </p:nvSpPr>
        <p:spPr>
          <a:xfrm>
            <a:off x="640080" y="8686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Enterprise deals take 3–6 months. That’s not slow — that’s the reality of committee decisions. Patience + process = close.</a:t>
            </a:r>
            <a:endParaRPr lang="en-US" sz="1000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Shape 4"/>
          <p:cNvSpPr/>
          <p:nvPr/>
        </p:nvSpPr>
        <p:spPr>
          <a:xfrm>
            <a:off x="457200" y="1371600"/>
            <a:ext cx="82296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5"/>
          <p:cNvSpPr/>
          <p:nvPr/>
        </p:nvSpPr>
        <p:spPr>
          <a:xfrm>
            <a:off x="457200" y="1371600"/>
            <a:ext cx="54864" cy="475488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10" name="Text 6"/>
          <p:cNvSpPr/>
          <p:nvPr/>
        </p:nvSpPr>
        <p:spPr>
          <a:xfrm>
            <a:off x="594360" y="13898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Discovery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594360" y="159105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1B6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1–2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1965960" y="13898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latin typeface="Calibri"/>
                <a:ea typeface="Calibri"/>
                <a:cs typeface="Calibri"/>
              </a:rPr>
              <a:t>Who: Champion + VP Ops</a:t>
            </a:r>
          </a:p>
        </p:txBody>
      </p:sp>
      <p:sp>
        <p:nvSpPr>
          <p:cNvPr id="13" name="Shape 9"/>
          <p:cNvSpPr/>
          <p:nvPr/>
        </p:nvSpPr>
        <p:spPr>
          <a:xfrm>
            <a:off x="3886200" y="1417320"/>
            <a:ext cx="36576" cy="384048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14" name="Text 10"/>
          <p:cNvSpPr/>
          <p:nvPr/>
        </p:nvSpPr>
        <p:spPr>
          <a:xfrm>
            <a:off x="4023360" y="1389888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dirty="0">
                <a:latin typeface="Calibri"/>
                <a:ea typeface="Calibri"/>
                <a:cs typeface="Calibri"/>
              </a:rPr>
              <a:t>Map the buying committee. Understand pain across locations. Qualify &amp; Quantify with </a:t>
            </a:r>
            <a:r>
              <a:rPr lang="en-US" sz="850" dirty="0" err="1">
                <a:latin typeface="Calibri"/>
                <a:ea typeface="Calibri"/>
                <a:cs typeface="Calibri"/>
              </a:rPr>
              <a:t>MEDDIC</a:t>
            </a:r>
            <a:r>
              <a:rPr lang="en-US" sz="850" dirty="0"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5" name="Shape 11"/>
          <p:cNvSpPr/>
          <p:nvPr/>
        </p:nvSpPr>
        <p:spPr>
          <a:xfrm>
            <a:off x="457200" y="1920240"/>
            <a:ext cx="8229600" cy="475488"/>
          </a:xfrm>
          <a:prstGeom prst="rect">
            <a:avLst/>
          </a:prstGeom>
          <a:solidFill>
            <a:srgbClr val="F5F0EB"/>
          </a:solidFill>
          <a:ln/>
        </p:spPr>
      </p:sp>
      <p:sp>
        <p:nvSpPr>
          <p:cNvPr id="16" name="Shape 12"/>
          <p:cNvSpPr/>
          <p:nvPr/>
        </p:nvSpPr>
        <p:spPr>
          <a:xfrm>
            <a:off x="457200" y="1920240"/>
            <a:ext cx="54864" cy="475488"/>
          </a:xfrm>
          <a:prstGeom prst="rect">
            <a:avLst/>
          </a:prstGeom>
          <a:solidFill>
            <a:srgbClr val="C67B5C"/>
          </a:solidFill>
          <a:ln/>
        </p:spPr>
      </p:sp>
      <p:sp>
        <p:nvSpPr>
          <p:cNvPr id="17" name="Text 13"/>
          <p:cNvSpPr/>
          <p:nvPr/>
        </p:nvSpPr>
        <p:spPr>
          <a:xfrm>
            <a:off x="594360" y="193852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Tailored Demo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594360" y="213969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C67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2–4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1965960" y="193852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latin typeface="Calibri"/>
                <a:ea typeface="Calibri"/>
                <a:cs typeface="Calibri"/>
              </a:rPr>
              <a:t>Who: VP Ops + Location </a:t>
            </a:r>
            <a:r>
              <a:rPr lang="en-US" sz="800" dirty="0" err="1">
                <a:latin typeface="Calibri"/>
                <a:ea typeface="Calibri"/>
                <a:cs typeface="Calibri"/>
              </a:rPr>
              <a:t>Mgrs</a:t>
            </a:r>
            <a:endParaRPr lang="en-US" sz="800">
              <a:latin typeface="Calibri"/>
              <a:ea typeface="Calibri"/>
              <a:cs typeface="Calibri"/>
            </a:endParaRPr>
          </a:p>
        </p:txBody>
      </p:sp>
      <p:sp>
        <p:nvSpPr>
          <p:cNvPr id="20" name="Shape 16"/>
          <p:cNvSpPr/>
          <p:nvPr/>
        </p:nvSpPr>
        <p:spPr>
          <a:xfrm>
            <a:off x="3886200" y="1965960"/>
            <a:ext cx="36576" cy="384048"/>
          </a:xfrm>
          <a:prstGeom prst="rect">
            <a:avLst/>
          </a:prstGeom>
          <a:solidFill>
            <a:srgbClr val="C67B5C"/>
          </a:solidFill>
          <a:ln/>
        </p:spPr>
      </p:sp>
      <p:sp>
        <p:nvSpPr>
          <p:cNvPr id="21" name="Text 17"/>
          <p:cNvSpPr/>
          <p:nvPr/>
        </p:nvSpPr>
        <p:spPr>
          <a:xfrm>
            <a:off x="4023360" y="1938528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dirty="0">
                <a:latin typeface="Calibri"/>
                <a:ea typeface="Calibri"/>
                <a:cs typeface="Calibri"/>
              </a:rPr>
              <a:t>Show Central Office, consolidated reporting, and features mapped to their stated pain. Be prescriptive this is NOT a feature tour.</a:t>
            </a:r>
          </a:p>
        </p:txBody>
      </p:sp>
      <p:sp>
        <p:nvSpPr>
          <p:cNvPr id="22" name="Shape 18"/>
          <p:cNvSpPr/>
          <p:nvPr/>
        </p:nvSpPr>
        <p:spPr>
          <a:xfrm>
            <a:off x="457200" y="2468880"/>
            <a:ext cx="82296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19"/>
          <p:cNvSpPr/>
          <p:nvPr/>
        </p:nvSpPr>
        <p:spPr>
          <a:xfrm>
            <a:off x="457200" y="2468880"/>
            <a:ext cx="54864" cy="475488"/>
          </a:xfrm>
          <a:prstGeom prst="rect">
            <a:avLst/>
          </a:prstGeom>
          <a:solidFill>
            <a:srgbClr val="7A9E7E"/>
          </a:solidFill>
          <a:ln/>
        </p:spPr>
      </p:sp>
      <p:sp>
        <p:nvSpPr>
          <p:cNvPr id="24" name="Text 20"/>
          <p:cNvSpPr/>
          <p:nvPr/>
        </p:nvSpPr>
        <p:spPr>
          <a:xfrm>
            <a:off x="594360" y="248716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Technical Deep Dive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594360" y="268833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A9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4–6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1965960" y="248716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latin typeface="Calibri"/>
                <a:ea typeface="Calibri"/>
                <a:cs typeface="Calibri"/>
              </a:rPr>
              <a:t>Who: IT + VP Ops</a:t>
            </a:r>
          </a:p>
        </p:txBody>
      </p:sp>
      <p:sp>
        <p:nvSpPr>
          <p:cNvPr id="27" name="Shape 23"/>
          <p:cNvSpPr/>
          <p:nvPr/>
        </p:nvSpPr>
        <p:spPr>
          <a:xfrm>
            <a:off x="3886200" y="2514600"/>
            <a:ext cx="36576" cy="384048"/>
          </a:xfrm>
          <a:prstGeom prst="rect">
            <a:avLst/>
          </a:prstGeom>
          <a:solidFill>
            <a:srgbClr val="7A9E7E"/>
          </a:solidFill>
          <a:ln/>
        </p:spPr>
      </p:sp>
      <p:sp>
        <p:nvSpPr>
          <p:cNvPr id="28" name="Text 24"/>
          <p:cNvSpPr/>
          <p:nvPr/>
        </p:nvSpPr>
        <p:spPr>
          <a:xfrm>
            <a:off x="4023360" y="2487168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integration, data migration, API, security, and HIPAA. Have technical resources ready.</a:t>
            </a:r>
            <a:endParaRPr lang="en-US" sz="850" dirty="0"/>
          </a:p>
        </p:txBody>
      </p:sp>
      <p:sp>
        <p:nvSpPr>
          <p:cNvPr id="29" name="Shape 25"/>
          <p:cNvSpPr/>
          <p:nvPr/>
        </p:nvSpPr>
        <p:spPr>
          <a:xfrm>
            <a:off x="457200" y="3017520"/>
            <a:ext cx="8229600" cy="475488"/>
          </a:xfrm>
          <a:prstGeom prst="rect">
            <a:avLst/>
          </a:prstGeom>
          <a:solidFill>
            <a:srgbClr val="F5F0EB"/>
          </a:solidFill>
          <a:ln/>
        </p:spPr>
      </p:sp>
      <p:sp>
        <p:nvSpPr>
          <p:cNvPr id="30" name="Shape 26"/>
          <p:cNvSpPr/>
          <p:nvPr/>
        </p:nvSpPr>
        <p:spPr>
          <a:xfrm>
            <a:off x="457200" y="3017520"/>
            <a:ext cx="54864" cy="475488"/>
          </a:xfrm>
          <a:prstGeom prst="rect">
            <a:avLst/>
          </a:prstGeom>
          <a:solidFill>
            <a:srgbClr val="8B6F7C"/>
          </a:solidFill>
          <a:ln/>
        </p:spPr>
      </p:sp>
      <p:sp>
        <p:nvSpPr>
          <p:cNvPr id="31" name="Text 27"/>
          <p:cNvSpPr/>
          <p:nvPr/>
        </p:nvSpPr>
        <p:spPr>
          <a:xfrm>
            <a:off x="594360" y="303580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ROI / Business Case</a:t>
            </a:r>
            <a:endParaRPr lang="en-US" sz="950" dirty="0"/>
          </a:p>
        </p:txBody>
      </p:sp>
      <p:sp>
        <p:nvSpPr>
          <p:cNvPr id="32" name="Text 28"/>
          <p:cNvSpPr/>
          <p:nvPr/>
        </p:nvSpPr>
        <p:spPr>
          <a:xfrm>
            <a:off x="594360" y="323697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B6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6–8</a:t>
            </a:r>
            <a:endParaRPr lang="en-US" sz="800" dirty="0"/>
          </a:p>
        </p:txBody>
      </p:sp>
      <p:sp>
        <p:nvSpPr>
          <p:cNvPr id="33" name="Text 29"/>
          <p:cNvSpPr/>
          <p:nvPr/>
        </p:nvSpPr>
        <p:spPr>
          <a:xfrm>
            <a:off x="1965960" y="303580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latin typeface="Calibri"/>
                <a:ea typeface="Calibri"/>
                <a:cs typeface="Calibri"/>
              </a:rPr>
              <a:t>Who: VP Ops + Finance/CFO</a:t>
            </a:r>
          </a:p>
        </p:txBody>
      </p:sp>
      <p:sp>
        <p:nvSpPr>
          <p:cNvPr id="34" name="Shape 30"/>
          <p:cNvSpPr/>
          <p:nvPr/>
        </p:nvSpPr>
        <p:spPr>
          <a:xfrm>
            <a:off x="3886200" y="3063240"/>
            <a:ext cx="36576" cy="384048"/>
          </a:xfrm>
          <a:prstGeom prst="rect">
            <a:avLst/>
          </a:prstGeom>
          <a:solidFill>
            <a:srgbClr val="8B6F7C"/>
          </a:solidFill>
          <a:ln/>
        </p:spPr>
      </p:sp>
      <p:sp>
        <p:nvSpPr>
          <p:cNvPr id="35" name="Text 31"/>
          <p:cNvSpPr/>
          <p:nvPr/>
        </p:nvSpPr>
        <p:spPr>
          <a:xfrm>
            <a:off x="4023360" y="3035808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>
                <a:solidFill>
                  <a:srgbClr val="36454F"/>
                </a:solidFill>
                <a:latin typeface="Calibri"/>
                <a:ea typeface="Calibri"/>
                <a:cs typeface="Calibri"/>
              </a:rPr>
              <a:t>Present total cost comparison, ROI model, and implementation timeline. Give them a presentation they </a:t>
            </a:r>
            <a:r>
              <a:rPr lang="en-US" sz="850" dirty="0">
                <a:solidFill>
                  <a:srgbClr val="36454F"/>
                </a:solidFill>
                <a:latin typeface="Calibri"/>
                <a:ea typeface="Calibri"/>
                <a:cs typeface="Calibri"/>
              </a:rPr>
              <a:t>can present to the board.</a:t>
            </a:r>
            <a:endParaRPr lang="en-US" sz="850" dirty="0">
              <a:latin typeface="Calibri"/>
              <a:ea typeface="Calibri"/>
              <a:cs typeface="Calibri"/>
            </a:endParaRPr>
          </a:p>
        </p:txBody>
      </p:sp>
      <p:sp>
        <p:nvSpPr>
          <p:cNvPr id="36" name="Shape 32"/>
          <p:cNvSpPr/>
          <p:nvPr/>
        </p:nvSpPr>
        <p:spPr>
          <a:xfrm>
            <a:off x="457200" y="3566160"/>
            <a:ext cx="82296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Shape 33"/>
          <p:cNvSpPr/>
          <p:nvPr/>
        </p:nvSpPr>
        <p:spPr>
          <a:xfrm>
            <a:off x="457200" y="3566160"/>
            <a:ext cx="54864" cy="475488"/>
          </a:xfrm>
          <a:prstGeom prst="rect">
            <a:avLst/>
          </a:prstGeom>
          <a:solidFill>
            <a:srgbClr val="6B3A4A"/>
          </a:solidFill>
          <a:ln/>
        </p:spPr>
      </p:sp>
      <p:sp>
        <p:nvSpPr>
          <p:cNvPr id="38" name="Text 34"/>
          <p:cNvSpPr/>
          <p:nvPr/>
        </p:nvSpPr>
        <p:spPr>
          <a:xfrm>
            <a:off x="594360" y="362359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Proposal &amp; Negotiation</a:t>
            </a:r>
            <a:endParaRPr lang="en-US" sz="950" dirty="0"/>
          </a:p>
        </p:txBody>
      </p:sp>
      <p:sp>
        <p:nvSpPr>
          <p:cNvPr id="39" name="Text 35"/>
          <p:cNvSpPr/>
          <p:nvPr/>
        </p:nvSpPr>
        <p:spPr>
          <a:xfrm>
            <a:off x="594360" y="3840417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8–12</a:t>
            </a:r>
            <a:endParaRPr lang="en-US" sz="800" dirty="0"/>
          </a:p>
        </p:txBody>
      </p:sp>
      <p:sp>
        <p:nvSpPr>
          <p:cNvPr id="40" name="Text 36"/>
          <p:cNvSpPr/>
          <p:nvPr/>
        </p:nvSpPr>
        <p:spPr>
          <a:xfrm>
            <a:off x="1965960" y="358444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latin typeface="Calibri"/>
                <a:ea typeface="Calibri"/>
                <a:cs typeface="Calibri"/>
              </a:rPr>
              <a:t>Who: VP Ops + Legal + Finance</a:t>
            </a:r>
          </a:p>
        </p:txBody>
      </p:sp>
      <p:sp>
        <p:nvSpPr>
          <p:cNvPr id="41" name="Shape 37"/>
          <p:cNvSpPr/>
          <p:nvPr/>
        </p:nvSpPr>
        <p:spPr>
          <a:xfrm>
            <a:off x="3886200" y="3611880"/>
            <a:ext cx="36576" cy="384048"/>
          </a:xfrm>
          <a:prstGeom prst="rect">
            <a:avLst/>
          </a:prstGeom>
          <a:solidFill>
            <a:srgbClr val="6B3A4A"/>
          </a:solidFill>
          <a:ln/>
        </p:spPr>
      </p:sp>
      <p:sp>
        <p:nvSpPr>
          <p:cNvPr id="42" name="Text 38"/>
          <p:cNvSpPr/>
          <p:nvPr/>
        </p:nvSpPr>
        <p:spPr>
          <a:xfrm>
            <a:off x="4023360" y="3584448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formal proposal. Navigate contract review, terms, and pricing negotiation. Be proactive with BAAs and SLAs.</a:t>
            </a:r>
            <a:endParaRPr lang="en-US" sz="850" dirty="0"/>
          </a:p>
        </p:txBody>
      </p:sp>
      <p:sp>
        <p:nvSpPr>
          <p:cNvPr id="43" name="Shape 39"/>
          <p:cNvSpPr/>
          <p:nvPr/>
        </p:nvSpPr>
        <p:spPr>
          <a:xfrm>
            <a:off x="457200" y="4114800"/>
            <a:ext cx="8229600" cy="475488"/>
          </a:xfrm>
          <a:prstGeom prst="rect">
            <a:avLst/>
          </a:prstGeom>
          <a:solidFill>
            <a:srgbClr val="F5F0EB"/>
          </a:solidFill>
          <a:ln/>
        </p:spPr>
      </p:sp>
      <p:sp>
        <p:nvSpPr>
          <p:cNvPr id="44" name="Shape 40"/>
          <p:cNvSpPr/>
          <p:nvPr/>
        </p:nvSpPr>
        <p:spPr>
          <a:xfrm>
            <a:off x="457200" y="4114800"/>
            <a:ext cx="54864" cy="475488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45" name="Text 41"/>
          <p:cNvSpPr/>
          <p:nvPr/>
        </p:nvSpPr>
        <p:spPr>
          <a:xfrm>
            <a:off x="594360" y="41330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Executive Sign-Off</a:t>
            </a:r>
            <a:endParaRPr lang="en-US" sz="950" dirty="0"/>
          </a:p>
        </p:txBody>
      </p:sp>
      <p:sp>
        <p:nvSpPr>
          <p:cNvPr id="46" name="Text 42"/>
          <p:cNvSpPr/>
          <p:nvPr/>
        </p:nvSpPr>
        <p:spPr>
          <a:xfrm>
            <a:off x="594360" y="433425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1B6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10–16+</a:t>
            </a:r>
            <a:endParaRPr lang="en-US" sz="800" dirty="0"/>
          </a:p>
        </p:txBody>
      </p:sp>
      <p:sp>
        <p:nvSpPr>
          <p:cNvPr id="47" name="Text 43"/>
          <p:cNvSpPr/>
          <p:nvPr/>
        </p:nvSpPr>
        <p:spPr>
          <a:xfrm>
            <a:off x="1965960" y="41330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latin typeface="Calibri"/>
                <a:ea typeface="Calibri"/>
                <a:cs typeface="Calibri"/>
              </a:rPr>
              <a:t>Who: CEO / Ownership Group</a:t>
            </a:r>
          </a:p>
        </p:txBody>
      </p:sp>
      <p:sp>
        <p:nvSpPr>
          <p:cNvPr id="48" name="Shape 44"/>
          <p:cNvSpPr/>
          <p:nvPr/>
        </p:nvSpPr>
        <p:spPr>
          <a:xfrm>
            <a:off x="3886200" y="4160520"/>
            <a:ext cx="36576" cy="384048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49" name="Text 45"/>
          <p:cNvSpPr/>
          <p:nvPr/>
        </p:nvSpPr>
        <p:spPr>
          <a:xfrm>
            <a:off x="4023360" y="4133088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dirty="0">
                <a:latin typeface="Calibri"/>
                <a:ea typeface="Calibri"/>
                <a:cs typeface="Calibri"/>
              </a:rPr>
              <a:t>Champion presents to the </a:t>
            </a:r>
            <a:r>
              <a:rPr lang="en-US" sz="850">
                <a:latin typeface="Calibri"/>
                <a:ea typeface="Calibri"/>
                <a:cs typeface="Calibri"/>
              </a:rPr>
              <a:t>executives or board. Be prepared and available for executive-level questions. Close the </a:t>
            </a:r>
            <a:r>
              <a:rPr lang="en-US" sz="850" dirty="0">
                <a:latin typeface="Calibri"/>
                <a:ea typeface="Calibri"/>
                <a:cs typeface="Calibri"/>
              </a:rPr>
              <a:t>deal.</a:t>
            </a:r>
          </a:p>
        </p:txBody>
      </p:sp>
      <p:sp>
        <p:nvSpPr>
          <p:cNvPr id="50" name="Text 46"/>
          <p:cNvSpPr/>
          <p:nvPr/>
        </p:nvSpPr>
        <p:spPr>
          <a:xfrm>
            <a:off x="457200" y="4846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to the process. Control the controllables.</a:t>
            </a:r>
            <a:endParaRPr lang="en-US" sz="900" dirty="0"/>
          </a:p>
        </p:txBody>
      </p:sp>
      <p:sp>
        <p:nvSpPr>
          <p:cNvPr id="51" name="Shape 47"/>
          <p:cNvSpPr/>
          <p:nvPr/>
        </p:nvSpPr>
        <p:spPr>
          <a:xfrm>
            <a:off x="6766560" y="4754880"/>
            <a:ext cx="502920" cy="320040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52" name="Text 48"/>
          <p:cNvSpPr/>
          <p:nvPr/>
        </p:nvSpPr>
        <p:spPr>
          <a:xfrm>
            <a:off x="6766560" y="47548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01168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16459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300" dirty="0">
                <a:solidFill>
                  <a:srgbClr val="3645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Practice &amp; Self-Assessment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548640" y="749808"/>
            <a:ext cx="1645920" cy="36576"/>
          </a:xfrm>
          <a:prstGeom prst="rect">
            <a:avLst/>
          </a:prstGeom>
          <a:solidFill>
            <a:srgbClr val="7A9E7E"/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0" y="4709160"/>
            <a:ext cx="1234440" cy="36576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65760" y="868680"/>
            <a:ext cx="411480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365760" y="868680"/>
            <a:ext cx="4114800" cy="411480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8" name="Text 4"/>
          <p:cNvSpPr/>
          <p:nvPr/>
        </p:nvSpPr>
        <p:spPr>
          <a:xfrm>
            <a:off x="548640" y="8686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&amp; PRACTICE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548640" y="1802182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an enterprise prospect from your pipeline. Map the buying committee: list every stakeholder, their role, and what they care about.</a:t>
            </a:r>
            <a:endParaRPr lang="en-US" sz="8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MEDDIC qualification for one active enterprise deal. Fill in all 6 letters. Identify gaps and plan next steps to fill them.</a:t>
            </a:r>
            <a:endParaRPr lang="en-US" sz="8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business case one-pager for a hypothetical 10-location salon group switching from Vagaro. Include: total cost comparison, ROI, and Meevo differentiators.</a:t>
            </a:r>
            <a:endParaRPr lang="en-US" sz="8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one closed-won enterprise deal in Salesforce. Map the sales cycle stages. How long did each take? What intel moved the deal forward?</a:t>
            </a:r>
            <a:endParaRPr lang="en-US" sz="8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Role-play an enterprise discovery call with a partner. They play the VP of Ops. You have 15 minutes to qualify with MEDDIC.</a:t>
            </a:r>
            <a:endParaRPr lang="en-US" sz="8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one enterprise account where you don’t have a champion yet. Plan 3 actions to recruit one.</a:t>
            </a:r>
            <a:endParaRPr lang="en-US" sz="850" dirty="0"/>
          </a:p>
        </p:txBody>
      </p:sp>
      <p:sp>
        <p:nvSpPr>
          <p:cNvPr id="10" name="Shape 6"/>
          <p:cNvSpPr/>
          <p:nvPr/>
        </p:nvSpPr>
        <p:spPr>
          <a:xfrm>
            <a:off x="4663440" y="868680"/>
            <a:ext cx="411480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663440" y="868680"/>
            <a:ext cx="4114800" cy="411480"/>
          </a:xfrm>
          <a:prstGeom prst="rect">
            <a:avLst/>
          </a:prstGeom>
          <a:solidFill>
            <a:srgbClr val="C67B5C"/>
          </a:solidFill>
          <a:ln/>
        </p:spPr>
      </p:sp>
      <p:sp>
        <p:nvSpPr>
          <p:cNvPr id="12" name="Text 8"/>
          <p:cNvSpPr/>
          <p:nvPr/>
        </p:nvSpPr>
        <p:spPr>
          <a:xfrm>
            <a:off x="4846320" y="8686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SELF-ASSESSMENT (1–5 SCALE)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754880" y="1371600"/>
            <a:ext cx="3931920" cy="457200"/>
          </a:xfrm>
          <a:prstGeom prst="rect">
            <a:avLst/>
          </a:prstGeom>
          <a:solidFill>
            <a:srgbClr val="F5F0EB"/>
          </a:solidFill>
          <a:ln/>
        </p:spPr>
      </p:sp>
      <p:sp>
        <p:nvSpPr>
          <p:cNvPr id="14" name="Shape 10"/>
          <p:cNvSpPr/>
          <p:nvPr/>
        </p:nvSpPr>
        <p:spPr>
          <a:xfrm>
            <a:off x="4754880" y="1371600"/>
            <a:ext cx="54864" cy="457200"/>
          </a:xfrm>
          <a:prstGeom prst="rect">
            <a:avLst/>
          </a:prstGeom>
          <a:solidFill>
            <a:srgbClr val="C67B5C"/>
          </a:solidFill>
          <a:ln/>
        </p:spPr>
      </p:sp>
      <p:sp>
        <p:nvSpPr>
          <p:cNvPr id="15" name="Text 11"/>
          <p:cNvSpPr/>
          <p:nvPr/>
        </p:nvSpPr>
        <p:spPr>
          <a:xfrm>
            <a:off x="4892040" y="1389888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latin typeface="Calibri"/>
                <a:ea typeface="Calibri"/>
                <a:cs typeface="Calibri"/>
              </a:rPr>
              <a:t>I can explain why enterprise deals require a different approach than single-location deals</a:t>
            </a:r>
          </a:p>
        </p:txBody>
      </p:sp>
      <p:sp>
        <p:nvSpPr>
          <p:cNvPr id="17" name="Shape 13"/>
          <p:cNvSpPr/>
          <p:nvPr/>
        </p:nvSpPr>
        <p:spPr>
          <a:xfrm>
            <a:off x="4754880" y="1883664"/>
            <a:ext cx="39319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4"/>
          <p:cNvSpPr/>
          <p:nvPr/>
        </p:nvSpPr>
        <p:spPr>
          <a:xfrm>
            <a:off x="4754880" y="1883664"/>
            <a:ext cx="54864" cy="457200"/>
          </a:xfrm>
          <a:prstGeom prst="rect">
            <a:avLst/>
          </a:prstGeom>
          <a:solidFill>
            <a:srgbClr val="C67B5C"/>
          </a:solidFill>
          <a:ln/>
        </p:spPr>
      </p:sp>
      <p:sp>
        <p:nvSpPr>
          <p:cNvPr id="19" name="Text 15"/>
          <p:cNvSpPr/>
          <p:nvPr/>
        </p:nvSpPr>
        <p:spPr>
          <a:xfrm>
            <a:off x="4892040" y="1901952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latin typeface="Calibri"/>
                <a:ea typeface="Calibri"/>
                <a:cs typeface="Calibri"/>
              </a:rPr>
              <a:t>I can name the 5 members of a typical enterprise buying committee and what each cares about</a:t>
            </a:r>
          </a:p>
        </p:txBody>
      </p:sp>
      <p:sp>
        <p:nvSpPr>
          <p:cNvPr id="21" name="Shape 17"/>
          <p:cNvSpPr/>
          <p:nvPr/>
        </p:nvSpPr>
        <p:spPr>
          <a:xfrm>
            <a:off x="4754880" y="2395728"/>
            <a:ext cx="3931920" cy="457200"/>
          </a:xfrm>
          <a:prstGeom prst="rect">
            <a:avLst/>
          </a:prstGeom>
          <a:solidFill>
            <a:srgbClr val="F5F0EB"/>
          </a:solidFill>
          <a:ln/>
        </p:spPr>
      </p:sp>
      <p:sp>
        <p:nvSpPr>
          <p:cNvPr id="22" name="Shape 18"/>
          <p:cNvSpPr/>
          <p:nvPr/>
        </p:nvSpPr>
        <p:spPr>
          <a:xfrm>
            <a:off x="4754880" y="2395728"/>
            <a:ext cx="54864" cy="457200"/>
          </a:xfrm>
          <a:prstGeom prst="rect">
            <a:avLst/>
          </a:prstGeom>
          <a:solidFill>
            <a:srgbClr val="C67B5C"/>
          </a:solidFill>
          <a:ln/>
        </p:spPr>
      </p:sp>
      <p:sp>
        <p:nvSpPr>
          <p:cNvPr id="23" name="Text 19"/>
          <p:cNvSpPr/>
          <p:nvPr/>
        </p:nvSpPr>
        <p:spPr>
          <a:xfrm>
            <a:off x="4892040" y="2414016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latin typeface="Calibri"/>
                <a:ea typeface="Calibri"/>
                <a:cs typeface="Calibri"/>
              </a:rPr>
              <a:t>I can walk through the MEDDIC framework and apply it to an active deal</a:t>
            </a:r>
          </a:p>
        </p:txBody>
      </p:sp>
      <p:sp>
        <p:nvSpPr>
          <p:cNvPr id="25" name="Shape 21"/>
          <p:cNvSpPr/>
          <p:nvPr/>
        </p:nvSpPr>
        <p:spPr>
          <a:xfrm>
            <a:off x="4754880" y="2907792"/>
            <a:ext cx="39319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Shape 22"/>
          <p:cNvSpPr/>
          <p:nvPr/>
        </p:nvSpPr>
        <p:spPr>
          <a:xfrm>
            <a:off x="4754880" y="2907792"/>
            <a:ext cx="54864" cy="457200"/>
          </a:xfrm>
          <a:prstGeom prst="rect">
            <a:avLst/>
          </a:prstGeom>
          <a:solidFill>
            <a:srgbClr val="C67B5C"/>
          </a:solidFill>
          <a:ln/>
        </p:spPr>
      </p:sp>
      <p:sp>
        <p:nvSpPr>
          <p:cNvPr id="27" name="Text 23"/>
          <p:cNvSpPr/>
          <p:nvPr/>
        </p:nvSpPr>
        <p:spPr>
          <a:xfrm>
            <a:off x="4892040" y="2926080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latin typeface="Calibri"/>
                <a:ea typeface="Calibri"/>
                <a:cs typeface="Calibri"/>
              </a:rPr>
              <a:t>I can articulate Meevo’s enterprise value props: Central Office, consolidated reporting, payroll, API</a:t>
            </a:r>
          </a:p>
        </p:txBody>
      </p:sp>
      <p:sp>
        <p:nvSpPr>
          <p:cNvPr id="29" name="Shape 25"/>
          <p:cNvSpPr/>
          <p:nvPr/>
        </p:nvSpPr>
        <p:spPr>
          <a:xfrm>
            <a:off x="4754880" y="3419856"/>
            <a:ext cx="3931920" cy="457200"/>
          </a:xfrm>
          <a:prstGeom prst="rect">
            <a:avLst/>
          </a:prstGeom>
          <a:solidFill>
            <a:srgbClr val="F5F0EB"/>
          </a:solidFill>
          <a:ln/>
        </p:spPr>
      </p:sp>
      <p:sp>
        <p:nvSpPr>
          <p:cNvPr id="30" name="Shape 26"/>
          <p:cNvSpPr/>
          <p:nvPr/>
        </p:nvSpPr>
        <p:spPr>
          <a:xfrm>
            <a:off x="4754880" y="3419856"/>
            <a:ext cx="54864" cy="457200"/>
          </a:xfrm>
          <a:prstGeom prst="rect">
            <a:avLst/>
          </a:prstGeom>
          <a:solidFill>
            <a:srgbClr val="C67B5C"/>
          </a:solidFill>
          <a:ln/>
        </p:spPr>
      </p:sp>
      <p:sp>
        <p:nvSpPr>
          <p:cNvPr id="31" name="Text 27"/>
          <p:cNvSpPr/>
          <p:nvPr/>
        </p:nvSpPr>
        <p:spPr>
          <a:xfrm>
            <a:off x="4892040" y="3438144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latin typeface="Calibri"/>
                <a:ea typeface="Calibri"/>
                <a:cs typeface="Calibri"/>
              </a:rPr>
              <a:t>I understand the 6-stage enterprise sales cycle and what needs to happen at each stage</a:t>
            </a:r>
          </a:p>
        </p:txBody>
      </p:sp>
      <p:sp>
        <p:nvSpPr>
          <p:cNvPr id="33" name="Shape 29"/>
          <p:cNvSpPr/>
          <p:nvPr/>
        </p:nvSpPr>
        <p:spPr>
          <a:xfrm>
            <a:off x="4754880" y="3931920"/>
            <a:ext cx="39319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Shape 30"/>
          <p:cNvSpPr/>
          <p:nvPr/>
        </p:nvSpPr>
        <p:spPr>
          <a:xfrm>
            <a:off x="4754880" y="3931920"/>
            <a:ext cx="54864" cy="457200"/>
          </a:xfrm>
          <a:prstGeom prst="rect">
            <a:avLst/>
          </a:prstGeom>
          <a:solidFill>
            <a:srgbClr val="C67B5C"/>
          </a:solidFill>
          <a:ln/>
        </p:spPr>
      </p:sp>
      <p:sp>
        <p:nvSpPr>
          <p:cNvPr id="35" name="Text 31"/>
          <p:cNvSpPr/>
          <p:nvPr/>
        </p:nvSpPr>
        <p:spPr>
          <a:xfrm>
            <a:off x="4892040" y="3950208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latin typeface="Calibri"/>
                <a:ea typeface="Calibri"/>
                <a:cs typeface="Calibri"/>
              </a:rPr>
              <a:t>I can identify and recruit a champion inside an enterprise account</a:t>
            </a:r>
          </a:p>
        </p:txBody>
      </p:sp>
      <p:sp>
        <p:nvSpPr>
          <p:cNvPr id="37" name="Text 33"/>
          <p:cNvSpPr/>
          <p:nvPr/>
        </p:nvSpPr>
        <p:spPr>
          <a:xfrm>
            <a:off x="4846320" y="4276699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i="1" dirty="0">
                <a:solidFill>
                  <a:srgbClr val="6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yourself 1–5. Below 3 = your coaching focus for next 2 weeks.</a:t>
            </a:r>
            <a:endParaRPr lang="en-US" sz="800" dirty="0"/>
          </a:p>
        </p:txBody>
      </p:sp>
      <p:sp>
        <p:nvSpPr>
          <p:cNvPr id="38" name="Text 34"/>
          <p:cNvSpPr/>
          <p:nvPr/>
        </p:nvSpPr>
        <p:spPr>
          <a:xfrm>
            <a:off x="457200" y="4846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to the process. Control the controllables.</a:t>
            </a:r>
            <a:endParaRPr lang="en-US" sz="900" dirty="0"/>
          </a:p>
        </p:txBody>
      </p:sp>
      <p:sp>
        <p:nvSpPr>
          <p:cNvPr id="39" name="Shape 35"/>
          <p:cNvSpPr/>
          <p:nvPr/>
        </p:nvSpPr>
        <p:spPr>
          <a:xfrm>
            <a:off x="6766560" y="4754880"/>
            <a:ext cx="502920" cy="320040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40" name="Text 36"/>
          <p:cNvSpPr/>
          <p:nvPr/>
        </p:nvSpPr>
        <p:spPr>
          <a:xfrm>
            <a:off x="6766560" y="47548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67B5C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4864"/>
          </a:xfrm>
          <a:prstGeom prst="rect">
            <a:avLst/>
          </a:prstGeom>
          <a:solidFill>
            <a:srgbClr val="1B6B93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4709160"/>
            <a:ext cx="123444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3200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kern="0" spc="300" dirty="0">
                <a:solidFill>
                  <a:srgbClr val="F5F0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731520" y="914400"/>
            <a:ext cx="1645920" cy="36576"/>
          </a:xfrm>
          <a:prstGeom prst="rect">
            <a:avLst/>
          </a:prstGeom>
          <a:solidFill>
            <a:srgbClr val="C67B5C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10972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C67B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280160" y="10972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50" dirty="0">
                <a:solidFill>
                  <a:srgbClr val="E8E3DE"/>
                </a:solidFill>
                <a:latin typeface="Calibri"/>
                <a:ea typeface="Calibri"/>
                <a:cs typeface="Calibri"/>
              </a:rPr>
              <a:t>Enterprise is a different game: buying committees, 6–12 month</a:t>
            </a:r>
            <a:r>
              <a:rPr lang="en-US" sz="1050">
                <a:solidFill>
                  <a:srgbClr val="E8E3DE"/>
                </a:solidFill>
                <a:latin typeface="Calibri"/>
                <a:ea typeface="Calibri"/>
                <a:cs typeface="Calibri"/>
              </a:rPr>
              <a:t> cycles, and decisions driven by ROI, NOT emotion.</a:t>
            </a:r>
            <a:endParaRPr lang="en-US" sz="1050" dirty="0">
              <a:latin typeface="Calibri"/>
              <a:ea typeface="Calibri"/>
              <a:cs typeface="Calibri"/>
            </a:endParaRPr>
          </a:p>
        </p:txBody>
      </p:sp>
      <p:sp>
        <p:nvSpPr>
          <p:cNvPr id="9" name="Text 6"/>
          <p:cNvSpPr/>
          <p:nvPr/>
        </p:nvSpPr>
        <p:spPr>
          <a:xfrm>
            <a:off x="731520" y="153619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C67B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280160" y="153619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every seat on the buying committee: VP Ops (economic), IT (technical), Finance (financial), Location Mgr (champion), Legal (gatekeeper).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31520" y="197510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C67B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280160" y="1975104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 err="1">
                <a:solidFill>
                  <a:srgbClr val="E8E3DE"/>
                </a:solidFill>
                <a:latin typeface="Calibri"/>
                <a:ea typeface="Calibri"/>
                <a:cs typeface="Calibri"/>
              </a:rPr>
              <a:t>MEDDIC</a:t>
            </a:r>
            <a:r>
              <a:rPr lang="en-US" sz="1050" dirty="0">
                <a:solidFill>
                  <a:srgbClr val="E8E3DE"/>
                </a:solidFill>
                <a:latin typeface="Calibri"/>
                <a:ea typeface="Calibri"/>
                <a:cs typeface="Calibri"/>
              </a:rPr>
              <a:t> is your qualification framework: </a:t>
            </a:r>
            <a:r>
              <a:rPr lang="en-US" sz="1050" b="1" u="sng" dirty="0">
                <a:solidFill>
                  <a:srgbClr val="E8E3DE"/>
                </a:solidFill>
                <a:latin typeface="Calibri"/>
                <a:ea typeface="Calibri"/>
                <a:cs typeface="Calibri"/>
              </a:rPr>
              <a:t>M</a:t>
            </a:r>
            <a:r>
              <a:rPr lang="en-US" sz="1050" dirty="0">
                <a:solidFill>
                  <a:srgbClr val="E8E3DE"/>
                </a:solidFill>
                <a:latin typeface="Calibri"/>
                <a:ea typeface="Calibri"/>
                <a:cs typeface="Calibri"/>
              </a:rPr>
              <a:t>etrics, </a:t>
            </a:r>
            <a:r>
              <a:rPr lang="en-US" sz="1050" b="1" u="sng" dirty="0">
                <a:solidFill>
                  <a:srgbClr val="E8E3DE"/>
                </a:solidFill>
                <a:latin typeface="Calibri"/>
                <a:ea typeface="Calibri"/>
                <a:cs typeface="Calibri"/>
              </a:rPr>
              <a:t>E</a:t>
            </a:r>
            <a:r>
              <a:rPr lang="en-US" sz="1050" dirty="0">
                <a:solidFill>
                  <a:srgbClr val="E8E3DE"/>
                </a:solidFill>
                <a:latin typeface="Calibri"/>
                <a:ea typeface="Calibri"/>
                <a:cs typeface="Calibri"/>
              </a:rPr>
              <a:t>conomic Buyer, </a:t>
            </a:r>
            <a:r>
              <a:rPr lang="en-US" sz="1050" b="1" u="sng" dirty="0">
                <a:solidFill>
                  <a:srgbClr val="E8E3DE"/>
                </a:solidFill>
                <a:latin typeface="Calibri"/>
                <a:ea typeface="Calibri"/>
                <a:cs typeface="Calibri"/>
              </a:rPr>
              <a:t>D</a:t>
            </a:r>
            <a:r>
              <a:rPr lang="en-US" sz="1050" dirty="0">
                <a:solidFill>
                  <a:srgbClr val="E8E3DE"/>
                </a:solidFill>
                <a:latin typeface="Calibri"/>
                <a:ea typeface="Calibri"/>
                <a:cs typeface="Calibri"/>
              </a:rPr>
              <a:t>ecision Criteria, </a:t>
            </a:r>
            <a:r>
              <a:rPr lang="en-US" sz="1050" b="1" u="sng" dirty="0">
                <a:solidFill>
                  <a:srgbClr val="E8E3DE"/>
                </a:solidFill>
                <a:latin typeface="Calibri"/>
                <a:ea typeface="Calibri"/>
                <a:cs typeface="Calibri"/>
              </a:rPr>
              <a:t>D</a:t>
            </a:r>
            <a:r>
              <a:rPr lang="en-US" sz="1050" dirty="0">
                <a:solidFill>
                  <a:srgbClr val="E8E3DE"/>
                </a:solidFill>
                <a:latin typeface="Calibri"/>
                <a:ea typeface="Calibri"/>
                <a:cs typeface="Calibri"/>
              </a:rPr>
              <a:t>ecision Process, </a:t>
            </a:r>
            <a:r>
              <a:rPr lang="en-US" sz="1050" b="1" u="sng" dirty="0">
                <a:solidFill>
                  <a:srgbClr val="E8E3DE"/>
                </a:solidFill>
                <a:latin typeface="Calibri"/>
                <a:ea typeface="Calibri"/>
                <a:cs typeface="Calibri"/>
              </a:rPr>
              <a:t>I</a:t>
            </a:r>
            <a:r>
              <a:rPr lang="en-US" sz="1050" dirty="0">
                <a:solidFill>
                  <a:srgbClr val="E8E3DE"/>
                </a:solidFill>
                <a:latin typeface="Calibri"/>
                <a:ea typeface="Calibri"/>
                <a:cs typeface="Calibri"/>
              </a:rPr>
              <a:t>dentify Pain, </a:t>
            </a:r>
            <a:r>
              <a:rPr lang="en-US" sz="1050" b="1" u="sng" dirty="0">
                <a:solidFill>
                  <a:srgbClr val="E8E3DE"/>
                </a:solidFill>
                <a:latin typeface="Calibri"/>
                <a:ea typeface="Calibri"/>
                <a:cs typeface="Calibri"/>
              </a:rPr>
              <a:t>C</a:t>
            </a:r>
            <a:r>
              <a:rPr lang="en-US" sz="1050" dirty="0">
                <a:solidFill>
                  <a:srgbClr val="E8E3DE"/>
                </a:solidFill>
                <a:latin typeface="Calibri"/>
                <a:ea typeface="Calibri"/>
                <a:cs typeface="Calibri"/>
              </a:rPr>
              <a:t>hampion.</a:t>
            </a:r>
            <a:endParaRPr lang="en-US" sz="1050" dirty="0">
              <a:latin typeface="Calibri"/>
              <a:ea typeface="Calibri"/>
              <a:cs typeface="Calibri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731520" y="241401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C67B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280160" y="2414016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Meevo’s enterprise weapons: Central Office, consolidated reporting, standardized processes, consolidated payroll, HIPAA, and API access.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731520" y="28529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C67B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280160" y="285292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discovery goes deeper: scale, data, ROI, and decision process. Every meeting should advance at least one MEDDIC letter.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731520" y="32918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C67B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1280160" y="32918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sales cycle has 6 stages. Know where you are, what happens next, and who needs to be in the room.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731520" y="373075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C67B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280160" y="373075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champion is everything. Without someone selling for you when you’re not in the room, enterprise deals die.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731520" y="416966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C67B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1280160" y="4169664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E3DE"/>
                </a:solidFill>
                <a:latin typeface="Calibri"/>
                <a:ea typeface="Calibri"/>
                <a:cs typeface="Calibri"/>
              </a:rPr>
              <a:t>Master enterprise and you’re building AE-level skills before you ever get the title. </a:t>
            </a:r>
            <a:r>
              <a:rPr lang="en-US" sz="1050" b="1" dirty="0">
                <a:solidFill>
                  <a:srgbClr val="E8E3DE"/>
                </a:solidFill>
                <a:latin typeface="Calibri"/>
                <a:ea typeface="Calibri"/>
                <a:cs typeface="Calibri"/>
              </a:rPr>
              <a:t>Every</a:t>
            </a:r>
            <a:r>
              <a:rPr lang="en-US" sz="1050" dirty="0">
                <a:solidFill>
                  <a:srgbClr val="E8E3DE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dirty="0" err="1">
                <a:solidFill>
                  <a:srgbClr val="E8E3DE"/>
                </a:solidFill>
                <a:latin typeface="Calibri"/>
                <a:ea typeface="Calibri"/>
                <a:cs typeface="Calibri"/>
              </a:rPr>
              <a:t>SDR</a:t>
            </a:r>
            <a:r>
              <a:rPr lang="en-US" sz="1050" dirty="0">
                <a:solidFill>
                  <a:srgbClr val="E8E3DE"/>
                </a:solidFill>
                <a:latin typeface="Calibri"/>
                <a:ea typeface="Calibri"/>
                <a:cs typeface="Calibri"/>
              </a:rPr>
              <a:t> is a future AE.</a:t>
            </a:r>
            <a:endParaRPr lang="en-US" sz="1050" dirty="0">
              <a:latin typeface="Calibri"/>
              <a:ea typeface="Calibri"/>
              <a:cs typeface="Calibri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731520" y="453129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to the process. Control the controllables.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A3C437B-EDEA-4080-92C5-1B79FD39AB33}">
  <we:reference id="f5f369e5-aa35-49d7-ad7b-638152ddb008" version="1.0.0.0" store="excatalog" storeType="excatalog"/>
  <we:alternateReferences>
    <we:reference id="WA200010001" version="1.0.0.0" store="en-us" storeType="omex"/>
  </we:alternateReferences>
  <we:properties>
    <we:property name="Office.AutoShowTaskpaneWithDocument" value="true"/>
  </we:properties>
  <we:bindings/>
  <we:snapshot xmlns:r="http://schemas.openxmlformats.org/officeDocument/2006/relationships"/>
  <we:extLst>
    <a:ext xmlns:a="http://schemas.openxmlformats.org/drawingml/2006/main" uri="{0858819E-0033-43BF-8937-05EC82904868}">
      <we:backgroundApp state="0" runtimeId="Taskpane.Url"/>
    </a:ext>
  </we:extLst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163</cp:revision>
  <dcterms:created xsi:type="dcterms:W3CDTF">2026-03-11T12:41:34Z</dcterms:created>
  <dcterms:modified xsi:type="dcterms:W3CDTF">2026-03-11T18:30:44Z</dcterms:modified>
</cp:coreProperties>
</file>