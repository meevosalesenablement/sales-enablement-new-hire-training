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5AAAA2-4C6B-40AB-8682-428A7E45242D}" v="1" dt="2026-02-20T14:29:43.1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very Baccala" userId="S::abaccala@meevo.com::056a603c-f75b-42ec-b626-cf96678e344e" providerId="AD" clId="Web-{AC5AAAA2-4C6B-40AB-8682-428A7E45242D}"/>
    <pc:docChg chg="modSld">
      <pc:chgData name="Avery Baccala" userId="S::abaccala@meevo.com::056a603c-f75b-42ec-b626-cf96678e344e" providerId="AD" clId="Web-{AC5AAAA2-4C6B-40AB-8682-428A7E45242D}" dt="2026-02-20T14:29:43.106" v="0" actId="1076"/>
      <pc:docMkLst>
        <pc:docMk/>
      </pc:docMkLst>
      <pc:sldChg chg="modSp">
        <pc:chgData name="Avery Baccala" userId="S::abaccala@meevo.com::056a603c-f75b-42ec-b626-cf96678e344e" providerId="AD" clId="Web-{AC5AAAA2-4C6B-40AB-8682-428A7E45242D}" dt="2026-02-20T14:29:43.106" v="0" actId="1076"/>
        <pc:sldMkLst>
          <pc:docMk/>
          <pc:sldMk cId="0" sldId="260"/>
        </pc:sldMkLst>
        <pc:spChg chg="mod">
          <ac:chgData name="Avery Baccala" userId="S::abaccala@meevo.com::056a603c-f75b-42ec-b626-cf96678e344e" providerId="AD" clId="Web-{AC5AAAA2-4C6B-40AB-8682-428A7E45242D}" dt="2026-02-20T14:29:43.106" v="0" actId="1076"/>
          <ac:spMkLst>
            <pc:docMk/>
            <pc:sldMk cId="0" sldId="260"/>
            <ac:spMk id="3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682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05840"/>
            <a:ext cx="3474720" cy="3474720"/>
          </a:xfrm>
          <a:prstGeom prst="ellipse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822960" y="3566160"/>
            <a:ext cx="2743200" cy="2743200"/>
          </a:xfrm>
          <a:prstGeom prst="ellipse">
            <a:avLst/>
          </a:prstGeom>
          <a:solidFill>
            <a:srgbClr val="000000">
              <a:alpha val="14000"/>
            </a:srgbClr>
          </a:solidFill>
          <a:ln w="12700">
            <a:solidFill>
              <a:srgbClr val="000000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1C2B35"/>
          </a:solidFill>
          <a:ln w="12700">
            <a:solidFill>
              <a:srgbClr val="1C2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SDR Guide:</a:t>
            </a:r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</a:t>
            </a:r>
            <a:endParaRPr lang="en-US" sz="5400"/>
          </a:p>
          <a:p>
            <a:pPr marL="0" indent="0">
              <a:buNone/>
            </a:pPr>
            <a:r>
              <a:rPr lang="en-US" sz="5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Multi-Threading</a:t>
            </a:r>
            <a:endParaRPr lang="en-US" sz="5400"/>
          </a:p>
        </p:txBody>
      </p:sp>
      <p:sp>
        <p:nvSpPr>
          <p:cNvPr id="7" name="Text 5"/>
          <p:cNvSpPr/>
          <p:nvPr/>
        </p:nvSpPr>
        <p:spPr>
          <a:xfrm>
            <a:off x="457200" y="29443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Multi-Location &amp; Corporate Accounts — Salons &amp; Med Spas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>
          <a:xfrm>
            <a:off x="457200" y="4498848"/>
            <a:ext cx="256032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44988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SDR Playbook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6217920" y="45262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7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Meevo  ·  Powered by Millennium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Multi-Threading?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85039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889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Multi-threading means identifying and engaging multiple decision-makers, influencers, and budget holders within the same organization — to secure alignment before handing off to the AE.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365760" y="21762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SDRs, this is critical because: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320040" y="2560320"/>
            <a:ext cx="1572768" cy="1783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889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265176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411480" y="3127248"/>
            <a:ext cx="1408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managers often</a:t>
            </a:r>
            <a:endParaRPr lang="en-US" sz="1250"/>
          </a:p>
          <a:p>
            <a:pPr marL="0" indent="0" algn="ctr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final authority</a:t>
            </a:r>
            <a:endParaRPr lang="en-US" sz="1250"/>
          </a:p>
        </p:txBody>
      </p:sp>
      <p:sp>
        <p:nvSpPr>
          <p:cNvPr id="10" name="Shape 8"/>
          <p:cNvSpPr/>
          <p:nvPr/>
        </p:nvSpPr>
        <p:spPr>
          <a:xfrm>
            <a:off x="2039112" y="2560320"/>
            <a:ext cx="1572768" cy="1783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889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039112" y="265176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2130552" y="3127248"/>
            <a:ext cx="1408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Spas may require</a:t>
            </a:r>
            <a:endParaRPr lang="en-US" sz="1250"/>
          </a:p>
          <a:p>
            <a:pPr marL="0" indent="0" algn="ctr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sign-off</a:t>
            </a:r>
            <a:endParaRPr lang="en-US" sz="1250"/>
          </a:p>
        </p:txBody>
      </p:sp>
      <p:sp>
        <p:nvSpPr>
          <p:cNvPr id="13" name="Shape 11"/>
          <p:cNvSpPr/>
          <p:nvPr/>
        </p:nvSpPr>
        <p:spPr>
          <a:xfrm>
            <a:off x="3758184" y="2560320"/>
            <a:ext cx="1572768" cy="1783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889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758184" y="265176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3849624" y="3127248"/>
            <a:ext cx="1408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may control</a:t>
            </a:r>
            <a:endParaRPr lang="en-US" sz="1250"/>
          </a:p>
          <a:p>
            <a:pPr marL="0" indent="0" algn="ctr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decisions</a:t>
            </a:r>
            <a:endParaRPr lang="en-US" sz="1250"/>
          </a:p>
        </p:txBody>
      </p:sp>
      <p:sp>
        <p:nvSpPr>
          <p:cNvPr id="16" name="Shape 14"/>
          <p:cNvSpPr/>
          <p:nvPr/>
        </p:nvSpPr>
        <p:spPr>
          <a:xfrm>
            <a:off x="5477256" y="2560320"/>
            <a:ext cx="1572768" cy="1783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889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77256" y="265176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5568696" y="3127248"/>
            <a:ext cx="1408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PE-backed brands prioritize</a:t>
            </a:r>
            <a:endParaRPr lang="en-US" sz="1250"/>
          </a:p>
          <a:p>
            <a:pPr marL="0" indent="0" algn="ctr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scalability</a:t>
            </a:r>
            <a:endParaRPr lang="en-US" sz="1250"/>
          </a:p>
        </p:txBody>
      </p:sp>
      <p:sp>
        <p:nvSpPr>
          <p:cNvPr id="19" name="Shape 17"/>
          <p:cNvSpPr/>
          <p:nvPr/>
        </p:nvSpPr>
        <p:spPr>
          <a:xfrm>
            <a:off x="7196328" y="2560320"/>
            <a:ext cx="1572768" cy="1783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889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96328" y="265176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7287768" y="3127248"/>
            <a:ext cx="1408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often controls</a:t>
            </a:r>
            <a:endParaRPr lang="en-US" sz="1250"/>
          </a:p>
          <a:p>
            <a:pPr marL="0" indent="0" algn="ctr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&amp; contracts</a:t>
            </a:r>
            <a:endParaRPr lang="en-US" sz="1250"/>
          </a:p>
        </p:txBody>
      </p:sp>
      <p:sp>
        <p:nvSpPr>
          <p:cNvPr id="22" name="Shape 20"/>
          <p:cNvSpPr/>
          <p:nvPr/>
        </p:nvSpPr>
        <p:spPr>
          <a:xfrm>
            <a:off x="320040" y="4462272"/>
            <a:ext cx="85039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1480" y="44622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If you book a meeting with only one thread, it can stall quickly.</a:t>
            </a:r>
            <a:endParaRPr lang="en-US"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Pre-Call Intel: Bob Steele Salon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6949440" y="109728"/>
            <a:ext cx="1920240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967728" y="128016"/>
            <a:ext cx="18836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Locations</a:t>
            </a:r>
            <a:endParaRPr lang="en-US" sz="1200"/>
          </a:p>
          <a:p>
            <a:pPr marL="0" indent="0" algn="ctr">
              <a:buNone/>
            </a:pPr>
            <a:r>
              <a:rPr lang="en-US" sz="120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Atlanta Area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438912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024128"/>
            <a:ext cx="438912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" y="102412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Know Before You Call</a:t>
            </a:r>
            <a:endParaRPr lang="en-US" sz="1500"/>
          </a:p>
        </p:txBody>
      </p:sp>
      <p:sp>
        <p:nvSpPr>
          <p:cNvPr id="9" name="Shape 7"/>
          <p:cNvSpPr/>
          <p:nvPr/>
        </p:nvSpPr>
        <p:spPr>
          <a:xfrm>
            <a:off x="438912" y="1572768"/>
            <a:ext cx="4133088" cy="54864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8912" y="1572768"/>
            <a:ext cx="100584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" y="157276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1508760" y="1609344"/>
            <a:ext cx="2999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Amanda Hair — CEO, So Chic Salon Brands (parent company). Owner-operator since 2009, acquired original brand from founder Bob Steele.</a:t>
            </a:r>
            <a:endParaRPr lang="en-US" sz="1050"/>
          </a:p>
        </p:txBody>
      </p:sp>
      <p:sp>
        <p:nvSpPr>
          <p:cNvPr id="13" name="Shape 11"/>
          <p:cNvSpPr/>
          <p:nvPr/>
        </p:nvSpPr>
        <p:spPr>
          <a:xfrm>
            <a:off x="438912" y="2167128"/>
            <a:ext cx="413308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38912" y="2167128"/>
            <a:ext cx="100584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" y="216712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1508760" y="2203704"/>
            <a:ext cx="2999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metro Atlanta locations: Buckhead, Alpharetta, East Cobb, West Cobb, Roswell, Newnan, Smyrna, Peachtree City.</a:t>
            </a:r>
            <a:endParaRPr lang="en-US" sz="1050"/>
          </a:p>
        </p:txBody>
      </p:sp>
      <p:sp>
        <p:nvSpPr>
          <p:cNvPr id="17" name="Shape 15"/>
          <p:cNvSpPr/>
          <p:nvPr/>
        </p:nvSpPr>
        <p:spPr>
          <a:xfrm>
            <a:off x="438912" y="2761488"/>
            <a:ext cx="4133088" cy="54864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38912" y="2761488"/>
            <a:ext cx="100584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" y="276148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>
          <a:xfrm>
            <a:off x="1508760" y="2798064"/>
            <a:ext cx="2999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GM (Jennifer Barber) runs all Atlanta-area locations. Staff of 150+ stylists. This is NOT a single-location operation.</a:t>
            </a:r>
            <a:endParaRPr lang="en-US" sz="1050"/>
          </a:p>
        </p:txBody>
      </p:sp>
      <p:sp>
        <p:nvSpPr>
          <p:cNvPr id="21" name="Shape 19"/>
          <p:cNvSpPr/>
          <p:nvPr/>
        </p:nvSpPr>
        <p:spPr>
          <a:xfrm>
            <a:off x="438912" y="3355848"/>
            <a:ext cx="413308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38912" y="3355848"/>
            <a:ext cx="100584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" y="335584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signals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1508760" y="3392424"/>
            <a:ext cx="2999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Community loyalty program, Salontourage (bridal/on-site), retail product lines (Oribe, Aveda), awards-driven brand.</a:t>
            </a:r>
            <a:endParaRPr lang="en-US" sz="1050"/>
          </a:p>
        </p:txBody>
      </p:sp>
      <p:sp>
        <p:nvSpPr>
          <p:cNvPr id="25" name="Shape 23"/>
          <p:cNvSpPr/>
          <p:nvPr/>
        </p:nvSpPr>
        <p:spPr>
          <a:xfrm>
            <a:off x="438912" y="3950208"/>
            <a:ext cx="4133088" cy="54864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38912" y="3950208"/>
            <a:ext cx="100584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" y="395020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posture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1508760" y="3986784"/>
            <a:ext cx="2999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online booking, multi-location scheduling, staff education programs — suggests openness to SaaS solutions.</a:t>
            </a:r>
            <a:endParaRPr lang="en-US" sz="1050"/>
          </a:p>
        </p:txBody>
      </p:sp>
      <p:sp>
        <p:nvSpPr>
          <p:cNvPr id="29" name="Shape 27"/>
          <p:cNvSpPr/>
          <p:nvPr/>
        </p:nvSpPr>
        <p:spPr>
          <a:xfrm>
            <a:off x="4983480" y="1024128"/>
            <a:ext cx="3840480" cy="3749040"/>
          </a:xfrm>
          <a:prstGeom prst="rect">
            <a:avLst/>
          </a:prstGeom>
          <a:solidFill>
            <a:srgbClr val="1C2B35"/>
          </a:solidFill>
          <a:ln/>
          <a:effectLst>
            <a:outerShdw blurRad="889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983480" y="1024128"/>
            <a:ext cx="384048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138928" y="10241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Thread Map — Who to Engage</a:t>
            </a:r>
            <a:endParaRPr lang="en-US" sz="1450"/>
          </a:p>
        </p:txBody>
      </p:sp>
      <p:sp>
        <p:nvSpPr>
          <p:cNvPr id="32" name="Shape 30"/>
          <p:cNvSpPr/>
          <p:nvPr/>
        </p:nvSpPr>
        <p:spPr>
          <a:xfrm>
            <a:off x="5102352" y="1572768"/>
            <a:ext cx="356616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193792" y="160934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Amanda Hair</a:t>
            </a:r>
            <a:endParaRPr lang="en-US" sz="1200"/>
          </a:p>
        </p:txBody>
      </p:sp>
      <p:sp>
        <p:nvSpPr>
          <p:cNvPr id="34" name="Text 32"/>
          <p:cNvSpPr/>
          <p:nvPr/>
        </p:nvSpPr>
        <p:spPr>
          <a:xfrm>
            <a:off x="5193792" y="19202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/ Owner · So Chic Salon Brands</a:t>
            </a:r>
            <a:endParaRPr lang="en-US" sz="950"/>
          </a:p>
        </p:txBody>
      </p:sp>
      <p:sp>
        <p:nvSpPr>
          <p:cNvPr id="35" name="Shape 33"/>
          <p:cNvSpPr/>
          <p:nvPr/>
        </p:nvSpPr>
        <p:spPr>
          <a:xfrm>
            <a:off x="7150608" y="1627632"/>
            <a:ext cx="1371600" cy="219456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150608" y="162763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Buyer</a:t>
            </a:r>
            <a:endParaRPr lang="en-US" sz="900"/>
          </a:p>
        </p:txBody>
      </p:sp>
      <p:sp>
        <p:nvSpPr>
          <p:cNvPr id="37" name="Text 35"/>
          <p:cNvSpPr/>
          <p:nvPr/>
        </p:nvSpPr>
        <p:spPr>
          <a:xfrm>
            <a:off x="5193792" y="207568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7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growth, brand consistency across all 8 locations</a:t>
            </a:r>
            <a:endParaRPr lang="en-US" sz="900"/>
          </a:p>
        </p:txBody>
      </p:sp>
      <p:sp>
        <p:nvSpPr>
          <p:cNvPr id="38" name="Shape 36"/>
          <p:cNvSpPr/>
          <p:nvPr/>
        </p:nvSpPr>
        <p:spPr>
          <a:xfrm>
            <a:off x="5102352" y="2377440"/>
            <a:ext cx="3566160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193792" y="241401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Jennifer Barber</a:t>
            </a:r>
            <a:endParaRPr lang="en-US" sz="1200"/>
          </a:p>
        </p:txBody>
      </p:sp>
      <p:sp>
        <p:nvSpPr>
          <p:cNvPr id="40" name="Text 38"/>
          <p:cNvSpPr/>
          <p:nvPr/>
        </p:nvSpPr>
        <p:spPr>
          <a:xfrm>
            <a:off x="5193791" y="2724912"/>
            <a:ext cx="224801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Manager · All Atlanta Locations</a:t>
            </a:r>
            <a:endParaRPr lang="en-US" sz="950"/>
          </a:p>
        </p:txBody>
      </p:sp>
      <p:sp>
        <p:nvSpPr>
          <p:cNvPr id="41" name="Shape 39"/>
          <p:cNvSpPr/>
          <p:nvPr/>
        </p:nvSpPr>
        <p:spPr>
          <a:xfrm>
            <a:off x="7150608" y="2432304"/>
            <a:ext cx="1371600" cy="219456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150608" y="243230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Owner</a:t>
            </a:r>
            <a:endParaRPr lang="en-US" sz="900"/>
          </a:p>
        </p:txBody>
      </p:sp>
      <p:sp>
        <p:nvSpPr>
          <p:cNvPr id="43" name="Text 41"/>
          <p:cNvSpPr/>
          <p:nvPr/>
        </p:nvSpPr>
        <p:spPr>
          <a:xfrm>
            <a:off x="5193792" y="288036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7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Scheduling, staff productivity, system consistency</a:t>
            </a:r>
            <a:endParaRPr lang="en-US" sz="900"/>
          </a:p>
        </p:txBody>
      </p:sp>
      <p:sp>
        <p:nvSpPr>
          <p:cNvPr id="44" name="Shape 42"/>
          <p:cNvSpPr/>
          <p:nvPr/>
        </p:nvSpPr>
        <p:spPr>
          <a:xfrm>
            <a:off x="5102352" y="3182112"/>
            <a:ext cx="3566160" cy="7132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193792" y="321868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Manager</a:t>
            </a:r>
            <a:endParaRPr lang="en-US" sz="1200"/>
          </a:p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(Julia Brasfield)</a:t>
            </a:r>
            <a:endParaRPr lang="en-US" sz="1200"/>
          </a:p>
        </p:txBody>
      </p:sp>
      <p:sp>
        <p:nvSpPr>
          <p:cNvPr id="46" name="Text 44"/>
          <p:cNvSpPr/>
          <p:nvPr/>
        </p:nvSpPr>
        <p:spPr>
          <a:xfrm>
            <a:off x="5193792" y="352958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Chic Salon Brands Corp</a:t>
            </a:r>
            <a:endParaRPr lang="en-US" sz="950"/>
          </a:p>
        </p:txBody>
      </p:sp>
      <p:sp>
        <p:nvSpPr>
          <p:cNvPr id="47" name="Shape 45"/>
          <p:cNvSpPr/>
          <p:nvPr/>
        </p:nvSpPr>
        <p:spPr>
          <a:xfrm>
            <a:off x="7150608" y="3236976"/>
            <a:ext cx="1371600" cy="219456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150608" y="323697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/ Ops</a:t>
            </a:r>
            <a:endParaRPr lang="en-US" sz="900"/>
          </a:p>
        </p:txBody>
      </p:sp>
      <p:sp>
        <p:nvSpPr>
          <p:cNvPr id="49" name="Text 47"/>
          <p:cNvSpPr/>
          <p:nvPr/>
        </p:nvSpPr>
        <p:spPr>
          <a:xfrm>
            <a:off x="5193792" y="368503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7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Payments, contracts, vendor approval process</a:t>
            </a:r>
            <a:endParaRPr lang="en-US" sz="900"/>
          </a:p>
        </p:txBody>
      </p:sp>
      <p:sp>
        <p:nvSpPr>
          <p:cNvPr id="50" name="Shape 48"/>
          <p:cNvSpPr/>
          <p:nvPr/>
        </p:nvSpPr>
        <p:spPr>
          <a:xfrm>
            <a:off x="5102352" y="3986784"/>
            <a:ext cx="3566160" cy="7132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193792" y="40233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Managers</a:t>
            </a:r>
            <a:endParaRPr lang="en-US" sz="1200"/>
          </a:p>
        </p:txBody>
      </p:sp>
      <p:sp>
        <p:nvSpPr>
          <p:cNvPr id="52" name="Text 50"/>
          <p:cNvSpPr/>
          <p:nvPr/>
        </p:nvSpPr>
        <p:spPr>
          <a:xfrm>
            <a:off x="5193792" y="433425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Per-site (e.g. Smyrna, Roswell)</a:t>
            </a:r>
            <a:endParaRPr lang="en-US" sz="950"/>
          </a:p>
        </p:txBody>
      </p:sp>
      <p:sp>
        <p:nvSpPr>
          <p:cNvPr id="53" name="Shape 51"/>
          <p:cNvSpPr/>
          <p:nvPr/>
        </p:nvSpPr>
        <p:spPr>
          <a:xfrm>
            <a:off x="7150608" y="4041648"/>
            <a:ext cx="1371600" cy="219456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150608" y="404164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</a:t>
            </a:r>
            <a:endParaRPr lang="en-US" sz="900"/>
          </a:p>
        </p:txBody>
      </p:sp>
      <p:sp>
        <p:nvSpPr>
          <p:cNvPr id="55" name="Text 53"/>
          <p:cNvSpPr/>
          <p:nvPr/>
        </p:nvSpPr>
        <p:spPr>
          <a:xfrm>
            <a:off x="5193792" y="448970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Day-to-day experience, front desk adoption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SDR Approach: Bob Steele Salon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signals does this account send?</a:t>
            </a:r>
            <a:endParaRPr lang="en-US" sz="1300"/>
          </a:p>
        </p:txBody>
      </p:sp>
      <p:sp>
        <p:nvSpPr>
          <p:cNvPr id="5" name="Shape 3"/>
          <p:cNvSpPr/>
          <p:nvPr/>
        </p:nvSpPr>
        <p:spPr>
          <a:xfrm>
            <a:off x="320040" y="1389888"/>
            <a:ext cx="1938528" cy="1234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889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435608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locations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411480" y="1810512"/>
            <a:ext cx="17739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Multi-threading MANDATORY. Never pitch a single location manager.</a:t>
            </a:r>
            <a:endParaRPr lang="en-US" sz="1150"/>
          </a:p>
        </p:txBody>
      </p:sp>
      <p:sp>
        <p:nvSpPr>
          <p:cNvPr id="8" name="Shape 6"/>
          <p:cNvSpPr/>
          <p:nvPr/>
        </p:nvSpPr>
        <p:spPr>
          <a:xfrm>
            <a:off x="2478024" y="1389888"/>
            <a:ext cx="1938528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889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9464" y="1435608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GM exists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2569464" y="1810512"/>
            <a:ext cx="17739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Jennifer Barber is your operational door — but not your economic buyer.</a:t>
            </a:r>
            <a:endParaRPr lang="en-US" sz="1150"/>
          </a:p>
        </p:txBody>
      </p:sp>
      <p:sp>
        <p:nvSpPr>
          <p:cNvPr id="11" name="Shape 9"/>
          <p:cNvSpPr/>
          <p:nvPr/>
        </p:nvSpPr>
        <p:spPr>
          <a:xfrm>
            <a:off x="4636008" y="1389888"/>
            <a:ext cx="1938528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889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27448" y="1435608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+ rewards program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4727448" y="1810512"/>
            <a:ext cx="17739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retention focus → Meevo membership &amp; marketing automation angle.</a:t>
            </a:r>
            <a:endParaRPr lang="en-US" sz="1150"/>
          </a:p>
        </p:txBody>
      </p:sp>
      <p:sp>
        <p:nvSpPr>
          <p:cNvPr id="14" name="Shape 12"/>
          <p:cNvSpPr/>
          <p:nvPr/>
        </p:nvSpPr>
        <p:spPr>
          <a:xfrm>
            <a:off x="6793992" y="1389888"/>
            <a:ext cx="1938528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889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85432" y="1435608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Bridal + Salontourage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6885432" y="1810512"/>
            <a:ext cx="17739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service differentiation → appointment routing, package tracking opportunity.</a:t>
            </a:r>
            <a:endParaRPr lang="en-US" sz="1150"/>
          </a:p>
        </p:txBody>
      </p:sp>
      <p:sp>
        <p:nvSpPr>
          <p:cNvPr id="17" name="Text 15"/>
          <p:cNvSpPr/>
          <p:nvPr/>
        </p:nvSpPr>
        <p:spPr>
          <a:xfrm>
            <a:off x="365760" y="276148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SDR Outreach Sequence — Bob Steele (8-Location Group):</a:t>
            </a:r>
            <a:endParaRPr lang="en-US" sz="1300"/>
          </a:p>
        </p:txBody>
      </p:sp>
      <p:sp>
        <p:nvSpPr>
          <p:cNvPr id="18" name="Shape 16"/>
          <p:cNvSpPr/>
          <p:nvPr/>
        </p:nvSpPr>
        <p:spPr>
          <a:xfrm>
            <a:off x="320040" y="3127248"/>
            <a:ext cx="850392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889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84048" y="3209544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4048" y="3209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777240" y="316382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/ Outbound to Location Manager or GM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3108960" y="316382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Confirm: "Are all 8 locations on one system, or does each manage independently?"</a:t>
            </a:r>
            <a:endParaRPr lang="en-US" sz="1050"/>
          </a:p>
        </p:txBody>
      </p:sp>
      <p:sp>
        <p:nvSpPr>
          <p:cNvPr id="23" name="Text 21"/>
          <p:cNvSpPr/>
          <p:nvPr/>
        </p:nvSpPr>
        <p:spPr>
          <a:xfrm>
            <a:off x="6812280" y="316382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Map the org — is this centrally controlled?</a:t>
            </a:r>
            <a:endParaRPr lang="en-US" sz="950"/>
          </a:p>
        </p:txBody>
      </p:sp>
      <p:sp>
        <p:nvSpPr>
          <p:cNvPr id="24" name="Shape 22"/>
          <p:cNvSpPr/>
          <p:nvPr/>
        </p:nvSpPr>
        <p:spPr>
          <a:xfrm>
            <a:off x="320040" y="3630168"/>
            <a:ext cx="85039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889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84048" y="3712464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84048" y="3712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777240" y="366674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GM Jennifer Barber directly</a:t>
            </a:r>
            <a:endParaRPr lang="en-US" sz="1100"/>
          </a:p>
        </p:txBody>
      </p:sp>
      <p:sp>
        <p:nvSpPr>
          <p:cNvPr id="28" name="Text 26"/>
          <p:cNvSpPr/>
          <p:nvPr/>
        </p:nvSpPr>
        <p:spPr>
          <a:xfrm>
            <a:off x="3108960" y="366674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"I know you're managing all Atlanta-area locations — who oversees vendor decisions for the full group?"</a:t>
            </a:r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6812280" y="366674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Route to Amanda Hair (CEO) for economic buy-in</a:t>
            </a:r>
            <a:endParaRPr lang="en-US" sz="950"/>
          </a:p>
        </p:txBody>
      </p:sp>
      <p:sp>
        <p:nvSpPr>
          <p:cNvPr id="30" name="Shape 28"/>
          <p:cNvSpPr/>
          <p:nvPr/>
        </p:nvSpPr>
        <p:spPr>
          <a:xfrm>
            <a:off x="320040" y="4133088"/>
            <a:ext cx="850392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889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84048" y="4215384"/>
            <a:ext cx="292608" cy="292608"/>
          </a:xfrm>
          <a:prstGeom prst="ellipse">
            <a:avLst/>
          </a:prstGeom>
          <a:solidFill>
            <a:srgbClr val="1C2B35"/>
          </a:solidFill>
          <a:ln w="12700">
            <a:solidFill>
              <a:srgbClr val="1C2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84048" y="4215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/>
          </a:p>
        </p:txBody>
      </p:sp>
      <p:sp>
        <p:nvSpPr>
          <p:cNvPr id="33" name="Text 31"/>
          <p:cNvSpPr/>
          <p:nvPr/>
        </p:nvSpPr>
        <p:spPr>
          <a:xfrm>
            <a:off x="777240" y="416966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outreach to Amanda Hair (CEO)</a:t>
            </a:r>
            <a:endParaRPr lang="en-US" sz="1100"/>
          </a:p>
        </p:txBody>
      </p:sp>
      <p:sp>
        <p:nvSpPr>
          <p:cNvPr id="34" name="Text 32"/>
          <p:cNvSpPr/>
          <p:nvPr/>
        </p:nvSpPr>
        <p:spPr>
          <a:xfrm>
            <a:off x="3108960" y="416966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"We work with 8+ location salon groups focused on membership growth, retention, and cross-location reporting..."</a:t>
            </a:r>
            <a:endParaRPr lang="en-US" sz="1050"/>
          </a:p>
        </p:txBody>
      </p:sp>
      <p:sp>
        <p:nvSpPr>
          <p:cNvPr id="35" name="Text 33"/>
          <p:cNvSpPr/>
          <p:nvPr/>
        </p:nvSpPr>
        <p:spPr>
          <a:xfrm>
            <a:off x="6812280" y="416966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Economic buyer engaged before AE demo</a:t>
            </a:r>
            <a:endParaRPr lang="en-US" sz="950"/>
          </a:p>
        </p:txBody>
      </p:sp>
      <p:sp>
        <p:nvSpPr>
          <p:cNvPr id="36" name="Shape 34"/>
          <p:cNvSpPr/>
          <p:nvPr/>
        </p:nvSpPr>
        <p:spPr>
          <a:xfrm>
            <a:off x="320040" y="4663440"/>
            <a:ext cx="8503920" cy="1645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11480" y="4663440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Never book a demo with just a location manager. The economic buyer is Amanda Hair (CEO) — thread to her before AE handoff.</a:t>
            </a:r>
            <a:endParaRPr lang="en-US" sz="9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Pre-Call Intel: American Haircuts Barbershop</a:t>
            </a:r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6995160" y="109728"/>
            <a:ext cx="182880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013448" y="128016"/>
            <a:ext cx="1792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Locations</a:t>
            </a:r>
            <a:endParaRPr lang="en-US" sz="1200"/>
          </a:p>
          <a:p>
            <a:pPr marL="0" indent="0" algn="ctr">
              <a:buNone/>
            </a:pPr>
            <a:r>
              <a:rPr lang="en-US" sz="120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Atlanta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438912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024128"/>
            <a:ext cx="4389120" cy="457200"/>
          </a:xfrm>
          <a:prstGeom prst="rect">
            <a:avLst/>
          </a:prstGeom>
          <a:solidFill>
            <a:srgbClr val="1C2B35"/>
          </a:solidFill>
          <a:ln w="12700">
            <a:solidFill>
              <a:srgbClr val="1C2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" y="102412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Know Before You Call</a:t>
            </a:r>
            <a:endParaRPr lang="en-US" sz="1500"/>
          </a:p>
        </p:txBody>
      </p:sp>
      <p:sp>
        <p:nvSpPr>
          <p:cNvPr id="9" name="Shape 7"/>
          <p:cNvSpPr/>
          <p:nvPr/>
        </p:nvSpPr>
        <p:spPr>
          <a:xfrm>
            <a:off x="438912" y="1572768"/>
            <a:ext cx="4133088" cy="54864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8912" y="1572768"/>
            <a:ext cx="1005840" cy="548640"/>
          </a:xfrm>
          <a:prstGeom prst="rect">
            <a:avLst/>
          </a:prstGeom>
          <a:solidFill>
            <a:srgbClr val="1C2B35"/>
          </a:solidFill>
          <a:ln w="12700">
            <a:solidFill>
              <a:srgbClr val="1C2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" y="157276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1508760" y="1609344"/>
            <a:ext cx="2999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Co-founded by David Alexander &amp; Greg Martin (barbers, 2005). David is still cutting hair at Brookhaven. Anti-corporate, owner-operator culture.</a:t>
            </a:r>
            <a:endParaRPr lang="en-US" sz="1050"/>
          </a:p>
        </p:txBody>
      </p:sp>
      <p:sp>
        <p:nvSpPr>
          <p:cNvPr id="13" name="Shape 11"/>
          <p:cNvSpPr/>
          <p:nvPr/>
        </p:nvSpPr>
        <p:spPr>
          <a:xfrm>
            <a:off x="438912" y="2167128"/>
            <a:ext cx="413308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38912" y="2167128"/>
            <a:ext cx="1005840" cy="548640"/>
          </a:xfrm>
          <a:prstGeom prst="rect">
            <a:avLst/>
          </a:prstGeom>
          <a:solidFill>
            <a:srgbClr val="1C2B35"/>
          </a:solidFill>
          <a:ln w="12700">
            <a:solidFill>
              <a:srgbClr val="1C2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" y="216712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1508760" y="2203704"/>
            <a:ext cx="2999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metro Atlanta locations: Midtown (flagship), Ansley Park (Atlanta), Roswell, Kennesaw. NOT a franchise.</a:t>
            </a:r>
            <a:endParaRPr lang="en-US" sz="1050"/>
          </a:p>
        </p:txBody>
      </p:sp>
      <p:sp>
        <p:nvSpPr>
          <p:cNvPr id="17" name="Shape 15"/>
          <p:cNvSpPr/>
          <p:nvPr/>
        </p:nvSpPr>
        <p:spPr>
          <a:xfrm>
            <a:off x="438912" y="2761488"/>
            <a:ext cx="4133088" cy="54864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38912" y="2761488"/>
            <a:ext cx="1005840" cy="548640"/>
          </a:xfrm>
          <a:prstGeom prst="rect">
            <a:avLst/>
          </a:prstGeom>
          <a:solidFill>
            <a:srgbClr val="1C2B35"/>
          </a:solidFill>
          <a:ln w="12700">
            <a:solidFill>
              <a:srgbClr val="1C2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" y="276148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>
          <a:xfrm>
            <a:off x="1508760" y="2798064"/>
            <a:ext cx="2999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management — each shop has a General Manager (e.g. Darlene in Roswell, Matt in Midtown). Regional Director of Personnel: </a:t>
            </a:r>
            <a:r>
              <a:rPr lang="en-US" sz="90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 (multi-location role).</a:t>
            </a:r>
            <a:endParaRPr lang="en-US" sz="900"/>
          </a:p>
        </p:txBody>
      </p:sp>
      <p:sp>
        <p:nvSpPr>
          <p:cNvPr id="21" name="Shape 19"/>
          <p:cNvSpPr/>
          <p:nvPr/>
        </p:nvSpPr>
        <p:spPr>
          <a:xfrm>
            <a:off x="438912" y="3355848"/>
            <a:ext cx="413308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38912" y="3355848"/>
            <a:ext cx="1005840" cy="548640"/>
          </a:xfrm>
          <a:prstGeom prst="rect">
            <a:avLst/>
          </a:prstGeom>
          <a:solidFill>
            <a:srgbClr val="1C2B35"/>
          </a:solidFill>
          <a:ln w="12700">
            <a:solidFill>
              <a:srgbClr val="1C2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" y="335584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signals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1508760" y="3392424"/>
            <a:ext cx="2999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booking system active, barber-level pricing tiers, men's grooming products. No formal membership/loyalty program yet.</a:t>
            </a:r>
            <a:endParaRPr lang="en-US" sz="1050"/>
          </a:p>
        </p:txBody>
      </p:sp>
      <p:sp>
        <p:nvSpPr>
          <p:cNvPr id="25" name="Shape 23"/>
          <p:cNvSpPr/>
          <p:nvPr/>
        </p:nvSpPr>
        <p:spPr>
          <a:xfrm>
            <a:off x="438912" y="3950208"/>
            <a:ext cx="4133088" cy="54864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38912" y="3950208"/>
            <a:ext cx="1005840" cy="548640"/>
          </a:xfrm>
          <a:prstGeom prst="rect">
            <a:avLst/>
          </a:prstGeom>
          <a:solidFill>
            <a:srgbClr val="1C2B35"/>
          </a:solidFill>
          <a:ln w="12700">
            <a:solidFill>
              <a:srgbClr val="1C2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" y="395020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signal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1508760" y="3986784"/>
            <a:ext cx="2999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"Corporate office is in the spare bedroom." Owners are skeptical of corporate solutions — lead with simplicity and value, not enterprise features.</a:t>
            </a:r>
            <a:endParaRPr lang="en-US" sz="1050"/>
          </a:p>
        </p:txBody>
      </p:sp>
      <p:sp>
        <p:nvSpPr>
          <p:cNvPr id="29" name="Shape 27"/>
          <p:cNvSpPr/>
          <p:nvPr/>
        </p:nvSpPr>
        <p:spPr>
          <a:xfrm>
            <a:off x="4983480" y="1024128"/>
            <a:ext cx="3840480" cy="3749040"/>
          </a:xfrm>
          <a:prstGeom prst="rect">
            <a:avLst/>
          </a:prstGeom>
          <a:solidFill>
            <a:srgbClr val="1C2B35"/>
          </a:solidFill>
          <a:ln/>
          <a:effectLst>
            <a:outerShdw blurRad="889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983480" y="1024128"/>
            <a:ext cx="384048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138928" y="10241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Thread Map — Who to Engage</a:t>
            </a:r>
            <a:endParaRPr lang="en-US" sz="1450"/>
          </a:p>
        </p:txBody>
      </p:sp>
      <p:sp>
        <p:nvSpPr>
          <p:cNvPr id="32" name="Shape 30"/>
          <p:cNvSpPr/>
          <p:nvPr/>
        </p:nvSpPr>
        <p:spPr>
          <a:xfrm>
            <a:off x="5102352" y="1572768"/>
            <a:ext cx="3566160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193792" y="160934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Alexander</a:t>
            </a:r>
            <a:endParaRPr lang="en-US" sz="1200"/>
          </a:p>
        </p:txBody>
      </p:sp>
      <p:sp>
        <p:nvSpPr>
          <p:cNvPr id="34" name="Text 32"/>
          <p:cNvSpPr/>
          <p:nvPr/>
        </p:nvSpPr>
        <p:spPr>
          <a:xfrm>
            <a:off x="5193792" y="19202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Co-Owner / Barber · Day-to-Day Operator</a:t>
            </a:r>
            <a:endParaRPr lang="en-US" sz="950"/>
          </a:p>
        </p:txBody>
      </p:sp>
      <p:sp>
        <p:nvSpPr>
          <p:cNvPr id="35" name="Shape 33"/>
          <p:cNvSpPr/>
          <p:nvPr/>
        </p:nvSpPr>
        <p:spPr>
          <a:xfrm>
            <a:off x="7150608" y="1627632"/>
            <a:ext cx="1371600" cy="219456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150608" y="162763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Buyer #1</a:t>
            </a:r>
            <a:endParaRPr lang="en-US" sz="900"/>
          </a:p>
        </p:txBody>
      </p:sp>
      <p:sp>
        <p:nvSpPr>
          <p:cNvPr id="37" name="Text 35"/>
          <p:cNvSpPr/>
          <p:nvPr/>
        </p:nvSpPr>
        <p:spPr>
          <a:xfrm>
            <a:off x="5772262" y="208265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ROI, simplicity, independence — NOT enterprise features</a:t>
            </a:r>
            <a:endParaRPr lang="en-US" sz="900"/>
          </a:p>
        </p:txBody>
      </p:sp>
      <p:sp>
        <p:nvSpPr>
          <p:cNvPr id="38" name="Shape 36"/>
          <p:cNvSpPr/>
          <p:nvPr/>
        </p:nvSpPr>
        <p:spPr>
          <a:xfrm>
            <a:off x="5102352" y="2377440"/>
            <a:ext cx="356616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193792" y="241401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Greg Martin</a:t>
            </a:r>
            <a:endParaRPr lang="en-US" sz="1200"/>
          </a:p>
        </p:txBody>
      </p:sp>
      <p:sp>
        <p:nvSpPr>
          <p:cNvPr id="40" name="Text 38"/>
          <p:cNvSpPr/>
          <p:nvPr/>
        </p:nvSpPr>
        <p:spPr>
          <a:xfrm>
            <a:off x="5193792" y="272491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Co-Owner · Operations &amp; Site Strategy</a:t>
            </a:r>
            <a:endParaRPr lang="en-US" sz="950"/>
          </a:p>
        </p:txBody>
      </p:sp>
      <p:sp>
        <p:nvSpPr>
          <p:cNvPr id="41" name="Shape 39"/>
          <p:cNvSpPr/>
          <p:nvPr/>
        </p:nvSpPr>
        <p:spPr>
          <a:xfrm>
            <a:off x="7150608" y="2432304"/>
            <a:ext cx="1371600" cy="219456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150608" y="243230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Buyer #2</a:t>
            </a:r>
            <a:endParaRPr lang="en-US" sz="900"/>
          </a:p>
        </p:txBody>
      </p:sp>
      <p:sp>
        <p:nvSpPr>
          <p:cNvPr id="43" name="Text 41"/>
          <p:cNvSpPr/>
          <p:nvPr/>
        </p:nvSpPr>
        <p:spPr>
          <a:xfrm>
            <a:off x="5193792" y="288036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7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Multi-location consistency, reporting across 4 shops</a:t>
            </a:r>
            <a:endParaRPr lang="en-US" sz="900"/>
          </a:p>
        </p:txBody>
      </p:sp>
      <p:sp>
        <p:nvSpPr>
          <p:cNvPr id="44" name="Shape 42"/>
          <p:cNvSpPr/>
          <p:nvPr/>
        </p:nvSpPr>
        <p:spPr>
          <a:xfrm>
            <a:off x="5102352" y="3182112"/>
            <a:ext cx="3566160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193792" y="321868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 (Rev Josh)</a:t>
            </a:r>
            <a:endParaRPr lang="en-US" sz="1200"/>
          </a:p>
        </p:txBody>
      </p:sp>
      <p:sp>
        <p:nvSpPr>
          <p:cNvPr id="46" name="Text 44"/>
          <p:cNvSpPr/>
          <p:nvPr/>
        </p:nvSpPr>
        <p:spPr>
          <a:xfrm>
            <a:off x="5193792" y="3529584"/>
            <a:ext cx="2441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Director of Personnel · All Locations</a:t>
            </a:r>
            <a:endParaRPr lang="en-US" sz="950"/>
          </a:p>
        </p:txBody>
      </p:sp>
      <p:sp>
        <p:nvSpPr>
          <p:cNvPr id="47" name="Shape 45"/>
          <p:cNvSpPr/>
          <p:nvPr/>
        </p:nvSpPr>
        <p:spPr>
          <a:xfrm>
            <a:off x="7150608" y="3236976"/>
            <a:ext cx="1371600" cy="219456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150608" y="323697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Lead</a:t>
            </a:r>
            <a:endParaRPr lang="en-US" sz="900"/>
          </a:p>
        </p:txBody>
      </p:sp>
      <p:sp>
        <p:nvSpPr>
          <p:cNvPr id="49" name="Text 47"/>
          <p:cNvSpPr/>
          <p:nvPr/>
        </p:nvSpPr>
        <p:spPr>
          <a:xfrm>
            <a:off x="5193792" y="368503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7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Staffing, scheduling, cross-location coverage — daily pain</a:t>
            </a:r>
            <a:endParaRPr lang="en-US" sz="900"/>
          </a:p>
        </p:txBody>
      </p:sp>
      <p:sp>
        <p:nvSpPr>
          <p:cNvPr id="50" name="Shape 48"/>
          <p:cNvSpPr/>
          <p:nvPr/>
        </p:nvSpPr>
        <p:spPr>
          <a:xfrm>
            <a:off x="5102352" y="3986784"/>
            <a:ext cx="3566160" cy="7132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193792" y="40233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GMs</a:t>
            </a:r>
            <a:endParaRPr lang="en-US" sz="1200"/>
          </a:p>
        </p:txBody>
      </p:sp>
      <p:sp>
        <p:nvSpPr>
          <p:cNvPr id="52" name="Text 50"/>
          <p:cNvSpPr/>
          <p:nvPr/>
        </p:nvSpPr>
        <p:spPr>
          <a:xfrm>
            <a:off x="5193791" y="4334256"/>
            <a:ext cx="31202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 (Midtown), Darlene (Roswell), Brooke (Kennesaw)</a:t>
            </a:r>
            <a:endParaRPr lang="en-US" sz="950"/>
          </a:p>
        </p:txBody>
      </p:sp>
      <p:sp>
        <p:nvSpPr>
          <p:cNvPr id="53" name="Shape 51"/>
          <p:cNvSpPr/>
          <p:nvPr/>
        </p:nvSpPr>
        <p:spPr>
          <a:xfrm>
            <a:off x="7150608" y="4041648"/>
            <a:ext cx="1371600" cy="219456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150608" y="404164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</a:t>
            </a:r>
            <a:endParaRPr lang="en-US" sz="900"/>
          </a:p>
        </p:txBody>
      </p:sp>
      <p:sp>
        <p:nvSpPr>
          <p:cNvPr id="55" name="Text 53"/>
          <p:cNvSpPr/>
          <p:nvPr/>
        </p:nvSpPr>
        <p:spPr>
          <a:xfrm>
            <a:off x="5193792" y="448970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desk experience, appointment management, daily flow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SDR Approach: American Haircuts Barbershop</a:t>
            </a:r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signals does this account send?</a:t>
            </a:r>
            <a:endParaRPr lang="en-US" sz="1300"/>
          </a:p>
        </p:txBody>
      </p:sp>
      <p:sp>
        <p:nvSpPr>
          <p:cNvPr id="5" name="Shape 3"/>
          <p:cNvSpPr/>
          <p:nvPr/>
        </p:nvSpPr>
        <p:spPr>
          <a:xfrm>
            <a:off x="320040" y="1389888"/>
            <a:ext cx="1938528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889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435608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locations, still scaling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411480" y="1810512"/>
            <a:ext cx="17739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Multi-threading needed, but lighter touch — 2 owners are directly reachable.</a:t>
            </a:r>
            <a:endParaRPr lang="en-US" sz="1150"/>
          </a:p>
        </p:txBody>
      </p:sp>
      <p:sp>
        <p:nvSpPr>
          <p:cNvPr id="8" name="Shape 6"/>
          <p:cNvSpPr/>
          <p:nvPr/>
        </p:nvSpPr>
        <p:spPr>
          <a:xfrm>
            <a:off x="2478024" y="1389888"/>
            <a:ext cx="1938528" cy="1234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889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9464" y="1435608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Anti-corporate culture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2569464" y="1810512"/>
            <a:ext cx="17739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lead with enterprise-speak. Lead with: "built for independent operators like you."</a:t>
            </a:r>
            <a:endParaRPr lang="en-US" sz="1150"/>
          </a:p>
        </p:txBody>
      </p:sp>
      <p:sp>
        <p:nvSpPr>
          <p:cNvPr id="11" name="Shape 9"/>
          <p:cNvSpPr/>
          <p:nvPr/>
        </p:nvSpPr>
        <p:spPr>
          <a:xfrm>
            <a:off x="4636008" y="1389888"/>
            <a:ext cx="1938528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889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27448" y="1435608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membership yet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4727448" y="1810512"/>
            <a:ext cx="17739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Meevo opportunity: recurring revenue, loyalty, rebooking automation.</a:t>
            </a:r>
            <a:endParaRPr lang="en-US" sz="1150"/>
          </a:p>
        </p:txBody>
      </p:sp>
      <p:sp>
        <p:nvSpPr>
          <p:cNvPr id="14" name="Shape 12"/>
          <p:cNvSpPr/>
          <p:nvPr/>
        </p:nvSpPr>
        <p:spPr>
          <a:xfrm>
            <a:off x="6793992" y="1389888"/>
            <a:ext cx="1938528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889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85432" y="1435608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Barber-run business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6885432" y="1810512"/>
            <a:ext cx="17739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still cut hair. They value simplicity, reliability &amp; not being sold something complicated.</a:t>
            </a:r>
            <a:endParaRPr lang="en-US" sz="1150"/>
          </a:p>
        </p:txBody>
      </p:sp>
      <p:sp>
        <p:nvSpPr>
          <p:cNvPr id="17" name="Text 15"/>
          <p:cNvSpPr/>
          <p:nvPr/>
        </p:nvSpPr>
        <p:spPr>
          <a:xfrm>
            <a:off x="365760" y="276148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SDR Outreach Sequence — American Haircuts (4-Location Owner-Operator):</a:t>
            </a:r>
            <a:endParaRPr lang="en-US" sz="1300"/>
          </a:p>
        </p:txBody>
      </p:sp>
      <p:sp>
        <p:nvSpPr>
          <p:cNvPr id="18" name="Shape 16"/>
          <p:cNvSpPr/>
          <p:nvPr/>
        </p:nvSpPr>
        <p:spPr>
          <a:xfrm>
            <a:off x="320040" y="3127248"/>
            <a:ext cx="850392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889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84048" y="3209544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4048" y="3209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777240" y="316382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GM or warm inbound contact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3108960" y="316382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"Are vendor or software decisions made by ownership or at each location level?"</a:t>
            </a:r>
            <a:endParaRPr lang="en-US" sz="1050"/>
          </a:p>
        </p:txBody>
      </p:sp>
      <p:sp>
        <p:nvSpPr>
          <p:cNvPr id="23" name="Text 21"/>
          <p:cNvSpPr/>
          <p:nvPr/>
        </p:nvSpPr>
        <p:spPr>
          <a:xfrm>
            <a:off x="6812280" y="316382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Confirm David/Greg own the decision — don't waste time at GM level alone</a:t>
            </a:r>
            <a:endParaRPr lang="en-US" sz="950"/>
          </a:p>
        </p:txBody>
      </p:sp>
      <p:sp>
        <p:nvSpPr>
          <p:cNvPr id="24" name="Shape 22"/>
          <p:cNvSpPr/>
          <p:nvPr/>
        </p:nvSpPr>
        <p:spPr>
          <a:xfrm>
            <a:off x="320040" y="3630168"/>
            <a:ext cx="85039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889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84048" y="3712464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84048" y="3712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777240" y="366674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David Alexander or Greg Martin directly</a:t>
            </a:r>
            <a:endParaRPr lang="en-US" sz="1100"/>
          </a:p>
        </p:txBody>
      </p:sp>
      <p:sp>
        <p:nvSpPr>
          <p:cNvPr id="28" name="Text 26"/>
          <p:cNvSpPr/>
          <p:nvPr/>
        </p:nvSpPr>
        <p:spPr>
          <a:xfrm>
            <a:off x="3108960" y="366674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"We support independent multi-location barbershops — not corporate chains. We're built for operators who run the shops themselves."</a:t>
            </a:r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6812280" y="366674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Speak their language: independence, simplicity, owner-control</a:t>
            </a:r>
            <a:endParaRPr lang="en-US" sz="950"/>
          </a:p>
        </p:txBody>
      </p:sp>
      <p:sp>
        <p:nvSpPr>
          <p:cNvPr id="30" name="Shape 28"/>
          <p:cNvSpPr/>
          <p:nvPr/>
        </p:nvSpPr>
        <p:spPr>
          <a:xfrm>
            <a:off x="320040" y="4133088"/>
            <a:ext cx="850392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889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84048" y="4215384"/>
            <a:ext cx="292608" cy="292608"/>
          </a:xfrm>
          <a:prstGeom prst="ellipse">
            <a:avLst/>
          </a:prstGeom>
          <a:solidFill>
            <a:srgbClr val="1C2B35"/>
          </a:solidFill>
          <a:ln w="12700">
            <a:solidFill>
              <a:srgbClr val="1C2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84048" y="4215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/>
          </a:p>
        </p:txBody>
      </p:sp>
      <p:sp>
        <p:nvSpPr>
          <p:cNvPr id="33" name="Text 31"/>
          <p:cNvSpPr/>
          <p:nvPr/>
        </p:nvSpPr>
        <p:spPr>
          <a:xfrm>
            <a:off x="777240" y="416966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outreach to Josh (Regional Dir.)</a:t>
            </a:r>
            <a:endParaRPr lang="en-US" sz="1100"/>
          </a:p>
        </p:txBody>
      </p:sp>
      <p:sp>
        <p:nvSpPr>
          <p:cNvPr id="34" name="Text 32"/>
          <p:cNvSpPr/>
          <p:nvPr/>
        </p:nvSpPr>
        <p:spPr>
          <a:xfrm>
            <a:off x="3108960" y="416966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"Who handles scheduling and staffing across your four shops? We'd love to understand your cross-location challenges."</a:t>
            </a:r>
            <a:endParaRPr lang="en-US" sz="1050"/>
          </a:p>
        </p:txBody>
      </p:sp>
      <p:sp>
        <p:nvSpPr>
          <p:cNvPr id="35" name="Text 33"/>
          <p:cNvSpPr/>
          <p:nvPr/>
        </p:nvSpPr>
        <p:spPr>
          <a:xfrm>
            <a:off x="6812280" y="416966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Operational thread secured — Josh surfaces daily pain for demo</a:t>
            </a:r>
            <a:endParaRPr lang="en-US" sz="950"/>
          </a:p>
        </p:txBody>
      </p:sp>
      <p:sp>
        <p:nvSpPr>
          <p:cNvPr id="36" name="Shape 34"/>
          <p:cNvSpPr/>
          <p:nvPr/>
        </p:nvSpPr>
        <p:spPr>
          <a:xfrm>
            <a:off x="320040" y="4663440"/>
            <a:ext cx="850392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11480" y="4663440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Never use enterprise language here. These owners built specifically to avoid corporate complexity — mirror their values.</a:t>
            </a:r>
            <a:endParaRPr lang="en-US" sz="9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Comparison: SDR Thread Strategy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286000" cy="347472"/>
          </a:xfrm>
          <a:prstGeom prst="rect">
            <a:avLst/>
          </a:prstGeom>
          <a:solidFill>
            <a:srgbClr val="E2ECF0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651760" y="1005840"/>
            <a:ext cx="306324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760720" y="1005840"/>
            <a:ext cx="306324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1005840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2724912" y="1005840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Steele Salon (8 Locations)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5833872" y="1005840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Haircuts (4 Locations)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320040" y="1389888"/>
            <a:ext cx="2286000" cy="448056"/>
          </a:xfrm>
          <a:prstGeom prst="rect">
            <a:avLst/>
          </a:prstGeom>
          <a:solidFill>
            <a:srgbClr val="F4F7FA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651760" y="1389888"/>
            <a:ext cx="3063240" cy="448056"/>
          </a:xfrm>
          <a:prstGeom prst="rect">
            <a:avLst/>
          </a:prstGeom>
          <a:solidFill>
            <a:srgbClr val="E8FAF5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760720" y="1389888"/>
            <a:ext cx="3063240" cy="448056"/>
          </a:xfrm>
          <a:prstGeom prst="rect">
            <a:avLst/>
          </a:prstGeom>
          <a:solidFill>
            <a:srgbClr val="FEF3CD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1417320"/>
            <a:ext cx="2103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2743200" y="1408176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locations, metro Atlanta</a:t>
            </a:r>
            <a:endParaRPr lang="en-US" sz="1050"/>
          </a:p>
        </p:txBody>
      </p:sp>
      <p:sp>
        <p:nvSpPr>
          <p:cNvPr id="15" name="Text 13"/>
          <p:cNvSpPr/>
          <p:nvPr/>
        </p:nvSpPr>
        <p:spPr>
          <a:xfrm>
            <a:off x="5852160" y="1408176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locations, metro Atlanta</a:t>
            </a:r>
            <a:endParaRPr lang="en-US" sz="1050"/>
          </a:p>
        </p:txBody>
      </p:sp>
      <p:sp>
        <p:nvSpPr>
          <p:cNvPr id="16" name="Shape 14"/>
          <p:cNvSpPr/>
          <p:nvPr/>
        </p:nvSpPr>
        <p:spPr>
          <a:xfrm>
            <a:off x="320040" y="1865376"/>
            <a:ext cx="228600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651760" y="1865376"/>
            <a:ext cx="306324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760720" y="1865376"/>
            <a:ext cx="306324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1892808"/>
            <a:ext cx="2103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Type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2743200" y="1883664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/ Corporate GM structure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 Chic Salon Brands)</a:t>
            </a:r>
            <a:endParaRPr lang="en-US" sz="1050"/>
          </a:p>
        </p:txBody>
      </p:sp>
      <p:sp>
        <p:nvSpPr>
          <p:cNvPr id="21" name="Text 19"/>
          <p:cNvSpPr/>
          <p:nvPr/>
        </p:nvSpPr>
        <p:spPr>
          <a:xfrm>
            <a:off x="5852160" y="1883664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Barber-owners still in the shop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(David Alexander &amp; Greg Martin)</a:t>
            </a:r>
            <a:endParaRPr lang="en-US" sz="1050"/>
          </a:p>
        </p:txBody>
      </p:sp>
      <p:sp>
        <p:nvSpPr>
          <p:cNvPr id="22" name="Shape 20"/>
          <p:cNvSpPr/>
          <p:nvPr/>
        </p:nvSpPr>
        <p:spPr>
          <a:xfrm>
            <a:off x="320040" y="2340864"/>
            <a:ext cx="2286000" cy="448056"/>
          </a:xfrm>
          <a:prstGeom prst="rect">
            <a:avLst/>
          </a:prstGeom>
          <a:solidFill>
            <a:srgbClr val="F4F7FA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651760" y="2340864"/>
            <a:ext cx="3063240" cy="448056"/>
          </a:xfrm>
          <a:prstGeom prst="rect">
            <a:avLst/>
          </a:prstGeom>
          <a:solidFill>
            <a:srgbClr val="E8FAF5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760720" y="2340864"/>
            <a:ext cx="3063240" cy="448056"/>
          </a:xfrm>
          <a:prstGeom prst="rect">
            <a:avLst/>
          </a:prstGeom>
          <a:solidFill>
            <a:srgbClr val="FEF3CD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1480" y="2368296"/>
            <a:ext cx="2103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Control</a:t>
            </a: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2743200" y="235915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Amanda Hair (CEO) is economic buyer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Jennifer Barber is GM gatekeeper</a:t>
            </a:r>
            <a:endParaRPr lang="en-US" sz="1050"/>
          </a:p>
        </p:txBody>
      </p:sp>
      <p:sp>
        <p:nvSpPr>
          <p:cNvPr id="27" name="Text 25"/>
          <p:cNvSpPr/>
          <p:nvPr/>
        </p:nvSpPr>
        <p:spPr>
          <a:xfrm>
            <a:off x="5852160" y="235915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David/Greg own all decisions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 (Regional Dir.) is ops thread</a:t>
            </a:r>
            <a:endParaRPr lang="en-US" sz="1050"/>
          </a:p>
        </p:txBody>
      </p:sp>
      <p:sp>
        <p:nvSpPr>
          <p:cNvPr id="28" name="Shape 26"/>
          <p:cNvSpPr/>
          <p:nvPr/>
        </p:nvSpPr>
        <p:spPr>
          <a:xfrm>
            <a:off x="320040" y="2816352"/>
            <a:ext cx="228600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651760" y="2816352"/>
            <a:ext cx="306324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760720" y="2816352"/>
            <a:ext cx="306324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11480" y="2843784"/>
            <a:ext cx="2103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Threading Depth</a:t>
            </a:r>
            <a:endParaRPr lang="en-US" sz="1100"/>
          </a:p>
        </p:txBody>
      </p:sp>
      <p:sp>
        <p:nvSpPr>
          <p:cNvPr id="32" name="Text 30"/>
          <p:cNvSpPr/>
          <p:nvPr/>
        </p:nvSpPr>
        <p:spPr>
          <a:xfrm>
            <a:off x="2743200" y="28346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threads required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+ GM + Finance/Office Mgr</a:t>
            </a:r>
            <a:endParaRPr lang="en-US" sz="1050"/>
          </a:p>
        </p:txBody>
      </p:sp>
      <p:sp>
        <p:nvSpPr>
          <p:cNvPr id="33" name="Text 31"/>
          <p:cNvSpPr/>
          <p:nvPr/>
        </p:nvSpPr>
        <p:spPr>
          <a:xfrm>
            <a:off x="5852160" y="28346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threads minimum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owners + Regional Dir.</a:t>
            </a:r>
            <a:endParaRPr lang="en-US" sz="1050"/>
          </a:p>
        </p:txBody>
      </p:sp>
      <p:sp>
        <p:nvSpPr>
          <p:cNvPr id="34" name="Shape 32"/>
          <p:cNvSpPr/>
          <p:nvPr/>
        </p:nvSpPr>
        <p:spPr>
          <a:xfrm>
            <a:off x="320040" y="3291840"/>
            <a:ext cx="2286000" cy="448056"/>
          </a:xfrm>
          <a:prstGeom prst="rect">
            <a:avLst/>
          </a:prstGeom>
          <a:solidFill>
            <a:srgbClr val="F4F7FA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651760" y="3291840"/>
            <a:ext cx="3063240" cy="448056"/>
          </a:xfrm>
          <a:prstGeom prst="rect">
            <a:avLst/>
          </a:prstGeom>
          <a:solidFill>
            <a:srgbClr val="E8FAF5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760720" y="3291840"/>
            <a:ext cx="3063240" cy="448056"/>
          </a:xfrm>
          <a:prstGeom prst="rect">
            <a:avLst/>
          </a:prstGeom>
          <a:solidFill>
            <a:srgbClr val="FEF3CD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11480" y="3319272"/>
            <a:ext cx="2103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 Angle</a:t>
            </a:r>
            <a:endParaRPr lang="en-US" sz="1100"/>
          </a:p>
        </p:txBody>
      </p:sp>
      <p:sp>
        <p:nvSpPr>
          <p:cNvPr id="38" name="Text 36"/>
          <p:cNvSpPr/>
          <p:nvPr/>
        </p:nvSpPr>
        <p:spPr>
          <a:xfrm>
            <a:off x="2743200" y="331012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Multi-location reporting, membership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growth, brand consistency at scale</a:t>
            </a:r>
            <a:endParaRPr lang="en-US" sz="1050"/>
          </a:p>
        </p:txBody>
      </p:sp>
      <p:sp>
        <p:nvSpPr>
          <p:cNvPr id="39" name="Text 37"/>
          <p:cNvSpPr/>
          <p:nvPr/>
        </p:nvSpPr>
        <p:spPr>
          <a:xfrm>
            <a:off x="5852160" y="331012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powerful, built for independent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— NOT enterprise tools</a:t>
            </a:r>
            <a:endParaRPr lang="en-US" sz="1050"/>
          </a:p>
        </p:txBody>
      </p:sp>
      <p:sp>
        <p:nvSpPr>
          <p:cNvPr id="40" name="Shape 38"/>
          <p:cNvSpPr/>
          <p:nvPr/>
        </p:nvSpPr>
        <p:spPr>
          <a:xfrm>
            <a:off x="320040" y="3767328"/>
            <a:ext cx="228600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651760" y="3767328"/>
            <a:ext cx="306324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760720" y="3767328"/>
            <a:ext cx="306324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11480" y="3794760"/>
            <a:ext cx="2103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Risk</a:t>
            </a:r>
            <a:endParaRPr lang="en-US" sz="1100"/>
          </a:p>
        </p:txBody>
      </p:sp>
      <p:sp>
        <p:nvSpPr>
          <p:cNvPr id="44" name="Text 42"/>
          <p:cNvSpPr/>
          <p:nvPr/>
        </p:nvSpPr>
        <p:spPr>
          <a:xfrm>
            <a:off x="2743200" y="3785616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Pitching only a location manager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single GM — stalls at GM level</a:t>
            </a:r>
            <a:endParaRPr lang="en-US" sz="1050"/>
          </a:p>
        </p:txBody>
      </p:sp>
      <p:sp>
        <p:nvSpPr>
          <p:cNvPr id="45" name="Text 43"/>
          <p:cNvSpPr/>
          <p:nvPr/>
        </p:nvSpPr>
        <p:spPr>
          <a:xfrm>
            <a:off x="5852160" y="3785616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corporate/enterprise language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will disengage immediately</a:t>
            </a:r>
            <a:endParaRPr lang="en-US" sz="1050"/>
          </a:p>
        </p:txBody>
      </p:sp>
      <p:sp>
        <p:nvSpPr>
          <p:cNvPr id="46" name="Shape 44"/>
          <p:cNvSpPr/>
          <p:nvPr/>
        </p:nvSpPr>
        <p:spPr>
          <a:xfrm>
            <a:off x="320040" y="4242816"/>
            <a:ext cx="2286000" cy="448056"/>
          </a:xfrm>
          <a:prstGeom prst="rect">
            <a:avLst/>
          </a:prstGeom>
          <a:solidFill>
            <a:srgbClr val="F4F7FA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2651760" y="4242816"/>
            <a:ext cx="3063240" cy="448056"/>
          </a:xfrm>
          <a:prstGeom prst="rect">
            <a:avLst/>
          </a:prstGeom>
          <a:solidFill>
            <a:srgbClr val="E8FAF5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5760720" y="4242816"/>
            <a:ext cx="3063240" cy="448056"/>
          </a:xfrm>
          <a:prstGeom prst="rect">
            <a:avLst/>
          </a:prstGeom>
          <a:solidFill>
            <a:srgbClr val="FEF3CD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11480" y="4270248"/>
            <a:ext cx="2103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Meevo Opportunity</a:t>
            </a:r>
            <a:endParaRPr lang="en-US" sz="1100"/>
          </a:p>
        </p:txBody>
      </p:sp>
      <p:sp>
        <p:nvSpPr>
          <p:cNvPr id="50" name="Text 48"/>
          <p:cNvSpPr/>
          <p:nvPr/>
        </p:nvSpPr>
        <p:spPr>
          <a:xfrm>
            <a:off x="2743200" y="4261104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program, marketing automation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reporting, Salontourage pkg</a:t>
            </a:r>
            <a:endParaRPr lang="en-US" sz="1050"/>
          </a:p>
        </p:txBody>
      </p:sp>
      <p:sp>
        <p:nvSpPr>
          <p:cNvPr id="51" name="Text 49"/>
          <p:cNvSpPr/>
          <p:nvPr/>
        </p:nvSpPr>
        <p:spPr>
          <a:xfrm>
            <a:off x="5852160" y="4261104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launch, online booking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cross-location scheduling</a:t>
            </a:r>
            <a:endParaRPr lang="en-US" sz="10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 Decision Structures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39776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397764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Location Salon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Maker: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361188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(often hands-on)</a:t>
            </a:r>
            <a:endParaRPr lang="en-US" sz="135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Influencers: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475488" y="2852928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798064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desk</a:t>
            </a:r>
            <a:endParaRPr lang="en-US" sz="1300"/>
          </a:p>
        </p:txBody>
      </p:sp>
      <p:sp>
        <p:nvSpPr>
          <p:cNvPr id="13" name="Shape 11"/>
          <p:cNvSpPr/>
          <p:nvPr/>
        </p:nvSpPr>
        <p:spPr>
          <a:xfrm>
            <a:off x="475488" y="3264408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3209544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stylist</a:t>
            </a:r>
            <a:endParaRPr lang="en-US" sz="1300"/>
          </a:p>
        </p:txBody>
      </p:sp>
      <p:sp>
        <p:nvSpPr>
          <p:cNvPr id="15" name="Shape 13"/>
          <p:cNvSpPr/>
          <p:nvPr/>
        </p:nvSpPr>
        <p:spPr>
          <a:xfrm>
            <a:off x="475488" y="3675888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3621024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300"/>
          </a:p>
        </p:txBody>
      </p:sp>
      <p:sp>
        <p:nvSpPr>
          <p:cNvPr id="17" name="Shape 15"/>
          <p:cNvSpPr/>
          <p:nvPr/>
        </p:nvSpPr>
        <p:spPr>
          <a:xfrm>
            <a:off x="457200" y="4160520"/>
            <a:ext cx="3611880" cy="457200"/>
          </a:xfrm>
          <a:prstGeom prst="rect">
            <a:avLst/>
          </a:prstGeom>
          <a:solidFill>
            <a:srgbClr val="E2ECF0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4187952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"Is anyone else involved in software decisions?"</a:t>
            </a:r>
            <a:endParaRPr lang="en-US" sz="1150"/>
          </a:p>
        </p:txBody>
      </p:sp>
      <p:sp>
        <p:nvSpPr>
          <p:cNvPr id="19" name="Shape 17"/>
          <p:cNvSpPr/>
          <p:nvPr/>
        </p:nvSpPr>
        <p:spPr>
          <a:xfrm>
            <a:off x="4572000" y="1024128"/>
            <a:ext cx="425196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0" y="1024128"/>
            <a:ext cx="42519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09160" y="1024128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Multi-Location Salon Group (3–20 Locations)</a:t>
            </a:r>
            <a:endParaRPr lang="en-US" sz="1400"/>
          </a:p>
        </p:txBody>
      </p:sp>
      <p:sp>
        <p:nvSpPr>
          <p:cNvPr id="22" name="Shape 20"/>
          <p:cNvSpPr/>
          <p:nvPr/>
        </p:nvSpPr>
        <p:spPr>
          <a:xfrm>
            <a:off x="4681728" y="1600200"/>
            <a:ext cx="4005072" cy="36576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0" y="1600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/ Founder</a:t>
            </a:r>
            <a:endParaRPr lang="en-US" sz="1150"/>
          </a:p>
        </p:txBody>
      </p:sp>
      <p:sp>
        <p:nvSpPr>
          <p:cNvPr id="24" name="Shape 22"/>
          <p:cNvSpPr/>
          <p:nvPr/>
        </p:nvSpPr>
        <p:spPr>
          <a:xfrm>
            <a:off x="6510528" y="1655064"/>
            <a:ext cx="658368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10528" y="165506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/>
          </a:p>
        </p:txBody>
      </p:sp>
      <p:sp>
        <p:nvSpPr>
          <p:cNvPr id="26" name="Text 24"/>
          <p:cNvSpPr/>
          <p:nvPr/>
        </p:nvSpPr>
        <p:spPr>
          <a:xfrm>
            <a:off x="7223760" y="1600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buyer</a:t>
            </a:r>
            <a:endParaRPr lang="en-US" sz="1050"/>
          </a:p>
        </p:txBody>
      </p:sp>
      <p:sp>
        <p:nvSpPr>
          <p:cNvPr id="27" name="Shape 25"/>
          <p:cNvSpPr/>
          <p:nvPr/>
        </p:nvSpPr>
        <p:spPr>
          <a:xfrm>
            <a:off x="4681728" y="2020824"/>
            <a:ext cx="400507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54880" y="202082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of Ops</a:t>
            </a:r>
            <a:endParaRPr lang="en-US" sz="1150"/>
          </a:p>
        </p:txBody>
      </p:sp>
      <p:sp>
        <p:nvSpPr>
          <p:cNvPr id="29" name="Shape 27"/>
          <p:cNvSpPr/>
          <p:nvPr/>
        </p:nvSpPr>
        <p:spPr>
          <a:xfrm>
            <a:off x="6510528" y="2075688"/>
            <a:ext cx="658368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510528" y="207568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/>
          </a:p>
        </p:txBody>
      </p:sp>
      <p:sp>
        <p:nvSpPr>
          <p:cNvPr id="31" name="Text 29"/>
          <p:cNvSpPr/>
          <p:nvPr/>
        </p:nvSpPr>
        <p:spPr>
          <a:xfrm>
            <a:off x="7223760" y="202082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decision maker</a:t>
            </a:r>
            <a:endParaRPr lang="en-US" sz="1050"/>
          </a:p>
        </p:txBody>
      </p:sp>
      <p:sp>
        <p:nvSpPr>
          <p:cNvPr id="32" name="Shape 30"/>
          <p:cNvSpPr/>
          <p:nvPr/>
        </p:nvSpPr>
        <p:spPr>
          <a:xfrm>
            <a:off x="4681728" y="2441448"/>
            <a:ext cx="4005072" cy="36576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54880" y="24414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Manager</a:t>
            </a:r>
            <a:endParaRPr lang="en-US" sz="1150"/>
          </a:p>
        </p:txBody>
      </p:sp>
      <p:sp>
        <p:nvSpPr>
          <p:cNvPr id="34" name="Shape 32"/>
          <p:cNvSpPr/>
          <p:nvPr/>
        </p:nvSpPr>
        <p:spPr>
          <a:xfrm>
            <a:off x="6510528" y="2496312"/>
            <a:ext cx="658368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510528" y="249631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/>
          </a:p>
        </p:txBody>
      </p:sp>
      <p:sp>
        <p:nvSpPr>
          <p:cNvPr id="36" name="Text 34"/>
          <p:cNvSpPr/>
          <p:nvPr/>
        </p:nvSpPr>
        <p:spPr>
          <a:xfrm>
            <a:off x="7223760" y="244144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</a:t>
            </a:r>
            <a:endParaRPr lang="en-US" sz="1050"/>
          </a:p>
        </p:txBody>
      </p:sp>
      <p:sp>
        <p:nvSpPr>
          <p:cNvPr id="37" name="Shape 35"/>
          <p:cNvSpPr/>
          <p:nvPr/>
        </p:nvSpPr>
        <p:spPr>
          <a:xfrm>
            <a:off x="4681728" y="2862072"/>
            <a:ext cx="400507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54880" y="28620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Manager</a:t>
            </a:r>
            <a:endParaRPr lang="en-US" sz="1150"/>
          </a:p>
        </p:txBody>
      </p:sp>
      <p:sp>
        <p:nvSpPr>
          <p:cNvPr id="39" name="Shape 37"/>
          <p:cNvSpPr/>
          <p:nvPr/>
        </p:nvSpPr>
        <p:spPr>
          <a:xfrm>
            <a:off x="6510528" y="2916936"/>
            <a:ext cx="658368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510528" y="291693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/>
          </a:p>
        </p:txBody>
      </p:sp>
      <p:sp>
        <p:nvSpPr>
          <p:cNvPr id="41" name="Text 39"/>
          <p:cNvSpPr/>
          <p:nvPr/>
        </p:nvSpPr>
        <p:spPr>
          <a:xfrm>
            <a:off x="7223760" y="28620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influencer</a:t>
            </a:r>
            <a:endParaRPr lang="en-US" sz="1050"/>
          </a:p>
        </p:txBody>
      </p:sp>
      <p:sp>
        <p:nvSpPr>
          <p:cNvPr id="42" name="Shape 40"/>
          <p:cNvSpPr/>
          <p:nvPr/>
        </p:nvSpPr>
        <p:spPr>
          <a:xfrm>
            <a:off x="4681728" y="3282696"/>
            <a:ext cx="4005072" cy="36576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754880" y="328269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/ Finance</a:t>
            </a:r>
            <a:endParaRPr lang="en-US" sz="1150"/>
          </a:p>
        </p:txBody>
      </p:sp>
      <p:sp>
        <p:nvSpPr>
          <p:cNvPr id="44" name="Shape 42"/>
          <p:cNvSpPr/>
          <p:nvPr/>
        </p:nvSpPr>
        <p:spPr>
          <a:xfrm>
            <a:off x="6510528" y="3337560"/>
            <a:ext cx="658368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510528" y="333756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/>
          </a:p>
        </p:txBody>
      </p:sp>
      <p:sp>
        <p:nvSpPr>
          <p:cNvPr id="46" name="Text 44"/>
          <p:cNvSpPr/>
          <p:nvPr/>
        </p:nvSpPr>
        <p:spPr>
          <a:xfrm>
            <a:off x="7223760" y="328269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approval</a:t>
            </a:r>
            <a:endParaRPr lang="en-US" sz="1050"/>
          </a:p>
        </p:txBody>
      </p:sp>
      <p:sp>
        <p:nvSpPr>
          <p:cNvPr id="47" name="Shape 45"/>
          <p:cNvSpPr/>
          <p:nvPr/>
        </p:nvSpPr>
        <p:spPr>
          <a:xfrm>
            <a:off x="4681728" y="3730752"/>
            <a:ext cx="4005072" cy="914400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800600" y="3767328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Multi-threading is essential here. Never rely on a single contact — engage ownership AND finance before AE handoff.</a:t>
            </a:r>
            <a:endParaRPr lang="en-US" sz="12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Spa Decision Structures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39776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397764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Spa — Single Location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457200" y="15819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spas are different from salons: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>
          <a:xfrm>
            <a:off x="438912" y="1965960"/>
            <a:ext cx="3703320" cy="347472"/>
          </a:xfrm>
          <a:prstGeom prst="rect">
            <a:avLst/>
          </a:prstGeom>
          <a:solidFill>
            <a:srgbClr val="F4F7FA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9659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(may be non-clinical)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2359152" y="2020824"/>
            <a:ext cx="804672" cy="23774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359152" y="202082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850"/>
          </a:p>
        </p:txBody>
      </p:sp>
      <p:sp>
        <p:nvSpPr>
          <p:cNvPr id="12" name="Text 10"/>
          <p:cNvSpPr/>
          <p:nvPr/>
        </p:nvSpPr>
        <p:spPr>
          <a:xfrm>
            <a:off x="3218688" y="196596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revenue-focused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438912" y="2350008"/>
            <a:ext cx="3703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3500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Director (MD)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2359152" y="2404872"/>
            <a:ext cx="804672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359152" y="240487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authority</a:t>
            </a:r>
            <a:endParaRPr lang="en-US" sz="850"/>
          </a:p>
        </p:txBody>
      </p:sp>
      <p:sp>
        <p:nvSpPr>
          <p:cNvPr id="17" name="Text 15"/>
          <p:cNvSpPr/>
          <p:nvPr/>
        </p:nvSpPr>
        <p:spPr>
          <a:xfrm>
            <a:off x="3218688" y="235000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Compliance-sensitive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438912" y="2734056"/>
            <a:ext cx="3703320" cy="347472"/>
          </a:xfrm>
          <a:prstGeom prst="rect">
            <a:avLst/>
          </a:prstGeom>
          <a:solidFill>
            <a:srgbClr val="F4F7FA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27340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Manager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2359152" y="2788920"/>
            <a:ext cx="804672" cy="2377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359152" y="278892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850"/>
          </a:p>
        </p:txBody>
      </p:sp>
      <p:sp>
        <p:nvSpPr>
          <p:cNvPr id="22" name="Text 20"/>
          <p:cNvSpPr/>
          <p:nvPr/>
        </p:nvSpPr>
        <p:spPr>
          <a:xfrm>
            <a:off x="3218688" y="273405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Day-to-day driver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38912" y="3118104"/>
            <a:ext cx="3703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" y="311810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Injector</a:t>
            </a:r>
            <a:endParaRPr lang="en-US" sz="1100"/>
          </a:p>
        </p:txBody>
      </p:sp>
      <p:sp>
        <p:nvSpPr>
          <p:cNvPr id="25" name="Shape 23"/>
          <p:cNvSpPr/>
          <p:nvPr/>
        </p:nvSpPr>
        <p:spPr>
          <a:xfrm>
            <a:off x="2359152" y="3172968"/>
            <a:ext cx="804672" cy="23774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359152" y="317296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</a:t>
            </a:r>
            <a:endParaRPr lang="en-US" sz="850"/>
          </a:p>
        </p:txBody>
      </p:sp>
      <p:sp>
        <p:nvSpPr>
          <p:cNvPr id="27" name="Text 25"/>
          <p:cNvSpPr/>
          <p:nvPr/>
        </p:nvSpPr>
        <p:spPr>
          <a:xfrm>
            <a:off x="3218688" y="311810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voice</a:t>
            </a:r>
            <a:endParaRPr lang="en-US" sz="1000"/>
          </a:p>
        </p:txBody>
      </p:sp>
      <p:sp>
        <p:nvSpPr>
          <p:cNvPr id="28" name="Shape 26"/>
          <p:cNvSpPr/>
          <p:nvPr/>
        </p:nvSpPr>
        <p:spPr>
          <a:xfrm>
            <a:off x="438912" y="3502152"/>
            <a:ext cx="3703320" cy="347472"/>
          </a:xfrm>
          <a:prstGeom prst="rect">
            <a:avLst/>
          </a:prstGeom>
          <a:solidFill>
            <a:srgbClr val="F4F7FA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920" y="35021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Manager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>
            <a:off x="2359152" y="3557016"/>
            <a:ext cx="804672" cy="23774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359152" y="355701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850"/>
          </a:p>
        </p:txBody>
      </p:sp>
      <p:sp>
        <p:nvSpPr>
          <p:cNvPr id="32" name="Text 30"/>
          <p:cNvSpPr/>
          <p:nvPr/>
        </p:nvSpPr>
        <p:spPr>
          <a:xfrm>
            <a:off x="3218688" y="350215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scheduling</a:t>
            </a:r>
            <a:endParaRPr lang="en-US" sz="1000"/>
          </a:p>
        </p:txBody>
      </p:sp>
      <p:sp>
        <p:nvSpPr>
          <p:cNvPr id="33" name="Shape 31"/>
          <p:cNvSpPr/>
          <p:nvPr/>
        </p:nvSpPr>
        <p:spPr>
          <a:xfrm>
            <a:off x="4572000" y="1024128"/>
            <a:ext cx="4251960" cy="3749040"/>
          </a:xfrm>
          <a:prstGeom prst="rect">
            <a:avLst/>
          </a:prstGeom>
          <a:solidFill>
            <a:srgbClr val="1C2B35"/>
          </a:solidFill>
          <a:ln/>
          <a:effectLst>
            <a:outerShdw blurRad="889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572000" y="1024128"/>
            <a:ext cx="425196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09160" y="1024128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Multi-Location Med Spa / MSO / PE-Backed</a:t>
            </a:r>
            <a:endParaRPr lang="en-US" sz="1350"/>
          </a:p>
        </p:txBody>
      </p:sp>
      <p:sp>
        <p:nvSpPr>
          <p:cNvPr id="36" name="Text 34"/>
          <p:cNvSpPr/>
          <p:nvPr/>
        </p:nvSpPr>
        <p:spPr>
          <a:xfrm>
            <a:off x="4736592" y="15819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7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Roles:</a:t>
            </a:r>
            <a:endParaRPr lang="en-US" sz="1150"/>
          </a:p>
        </p:txBody>
      </p:sp>
      <p:sp>
        <p:nvSpPr>
          <p:cNvPr id="37" name="Shape 35"/>
          <p:cNvSpPr/>
          <p:nvPr/>
        </p:nvSpPr>
        <p:spPr>
          <a:xfrm>
            <a:off x="4754880" y="1901952"/>
            <a:ext cx="146304" cy="14630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992624" y="1856232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/ Founder</a:t>
            </a:r>
            <a:endParaRPr lang="en-US" sz="1250"/>
          </a:p>
        </p:txBody>
      </p:sp>
      <p:sp>
        <p:nvSpPr>
          <p:cNvPr id="39" name="Shape 37"/>
          <p:cNvSpPr/>
          <p:nvPr/>
        </p:nvSpPr>
        <p:spPr>
          <a:xfrm>
            <a:off x="4754880" y="2212848"/>
            <a:ext cx="146304" cy="14630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992624" y="2167128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</a:t>
            </a:r>
            <a:endParaRPr lang="en-US" sz="1250"/>
          </a:p>
        </p:txBody>
      </p:sp>
      <p:sp>
        <p:nvSpPr>
          <p:cNvPr id="41" name="Shape 39"/>
          <p:cNvSpPr/>
          <p:nvPr/>
        </p:nvSpPr>
        <p:spPr>
          <a:xfrm>
            <a:off x="4754880" y="2523744"/>
            <a:ext cx="146304" cy="14630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992624" y="2478024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Operations</a:t>
            </a:r>
            <a:endParaRPr lang="en-US" sz="1250"/>
          </a:p>
        </p:txBody>
      </p:sp>
      <p:sp>
        <p:nvSpPr>
          <p:cNvPr id="43" name="Shape 41"/>
          <p:cNvSpPr/>
          <p:nvPr/>
        </p:nvSpPr>
        <p:spPr>
          <a:xfrm>
            <a:off x="4754880" y="2834640"/>
            <a:ext cx="146304" cy="14630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992624" y="2788920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Marketing</a:t>
            </a:r>
            <a:endParaRPr lang="en-US" sz="1250"/>
          </a:p>
        </p:txBody>
      </p:sp>
      <p:sp>
        <p:nvSpPr>
          <p:cNvPr id="45" name="Shape 43"/>
          <p:cNvSpPr/>
          <p:nvPr/>
        </p:nvSpPr>
        <p:spPr>
          <a:xfrm>
            <a:off x="4754880" y="3145536"/>
            <a:ext cx="146304" cy="14630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992624" y="3099816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Director</a:t>
            </a:r>
            <a:endParaRPr lang="en-US" sz="1250"/>
          </a:p>
        </p:txBody>
      </p:sp>
      <p:sp>
        <p:nvSpPr>
          <p:cNvPr id="47" name="Shape 45"/>
          <p:cNvSpPr/>
          <p:nvPr/>
        </p:nvSpPr>
        <p:spPr>
          <a:xfrm>
            <a:off x="4754880" y="3456432"/>
            <a:ext cx="146304" cy="14630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992624" y="3410712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/ Systems</a:t>
            </a:r>
            <a:endParaRPr lang="en-US" sz="1250"/>
          </a:p>
        </p:txBody>
      </p:sp>
      <p:sp>
        <p:nvSpPr>
          <p:cNvPr id="49" name="Shape 47"/>
          <p:cNvSpPr/>
          <p:nvPr/>
        </p:nvSpPr>
        <p:spPr>
          <a:xfrm>
            <a:off x="4754880" y="3767328"/>
            <a:ext cx="146304" cy="14630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992624" y="3721608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250"/>
          </a:p>
        </p:txBody>
      </p:sp>
      <p:sp>
        <p:nvSpPr>
          <p:cNvPr id="51" name="Text 49"/>
          <p:cNvSpPr/>
          <p:nvPr/>
        </p:nvSpPr>
        <p:spPr>
          <a:xfrm>
            <a:off x="4736592" y="4078224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7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deals are layered — you need:</a:t>
            </a:r>
            <a:endParaRPr lang="en-US" sz="1100"/>
          </a:p>
        </p:txBody>
      </p:sp>
      <p:sp>
        <p:nvSpPr>
          <p:cNvPr id="52" name="Shape 50"/>
          <p:cNvSpPr/>
          <p:nvPr/>
        </p:nvSpPr>
        <p:spPr>
          <a:xfrm>
            <a:off x="4736592" y="4389120"/>
            <a:ext cx="187452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736592" y="438912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alignment</a:t>
            </a:r>
            <a:endParaRPr lang="en-US" sz="950"/>
          </a:p>
        </p:txBody>
      </p:sp>
      <p:sp>
        <p:nvSpPr>
          <p:cNvPr id="54" name="Shape 52"/>
          <p:cNvSpPr/>
          <p:nvPr/>
        </p:nvSpPr>
        <p:spPr>
          <a:xfrm>
            <a:off x="6748272" y="4389120"/>
            <a:ext cx="187452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748272" y="438912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approval</a:t>
            </a:r>
            <a:endParaRPr lang="en-US" sz="950"/>
          </a:p>
        </p:txBody>
      </p:sp>
      <p:sp>
        <p:nvSpPr>
          <p:cNvPr id="56" name="Shape 54"/>
          <p:cNvSpPr/>
          <p:nvPr/>
        </p:nvSpPr>
        <p:spPr>
          <a:xfrm>
            <a:off x="4736592" y="4626864"/>
            <a:ext cx="187452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736592" y="462686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approval</a:t>
            </a:r>
            <a:endParaRPr lang="en-US" sz="950"/>
          </a:p>
        </p:txBody>
      </p:sp>
      <p:sp>
        <p:nvSpPr>
          <p:cNvPr id="58" name="Shape 56"/>
          <p:cNvSpPr/>
          <p:nvPr/>
        </p:nvSpPr>
        <p:spPr>
          <a:xfrm>
            <a:off x="6748272" y="4626864"/>
            <a:ext cx="187452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748272" y="462686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sign-off</a:t>
            </a:r>
            <a:endParaRPr lang="en-US" sz="9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SDR Multi-Threading Framework  ·  Steps 1 &amp; 2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39776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3977640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38912" y="1097280"/>
            <a:ext cx="457200" cy="457200"/>
          </a:xfrm>
          <a:prstGeom prst="ellipse">
            <a:avLst/>
          </a:prstGeom>
          <a:solidFill>
            <a:srgbClr val="1C2B35"/>
          </a:solidFill>
          <a:ln w="12700">
            <a:solidFill>
              <a:srgbClr val="1C2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/>
          </a:p>
        </p:txBody>
      </p:sp>
      <p:sp>
        <p:nvSpPr>
          <p:cNvPr id="8" name="Text 6"/>
          <p:cNvSpPr/>
          <p:nvPr/>
        </p:nvSpPr>
        <p:spPr>
          <a:xfrm>
            <a:off x="969264" y="10515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Location Structure</a:t>
            </a:r>
            <a:endParaRPr lang="en-US" sz="1400"/>
          </a:p>
          <a:p>
            <a:pPr marL="0" indent="0">
              <a:buNone/>
            </a:pPr>
            <a:r>
              <a:rPr lang="en-US" sz="140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475488" y="18013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in the call, ask: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475488" y="2148840"/>
            <a:ext cx="3657600" cy="566928"/>
          </a:xfrm>
          <a:prstGeom prst="rect">
            <a:avLst/>
          </a:prstGeom>
          <a:solidFill>
            <a:srgbClr val="F4F7FA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2176272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many locations are you currently operating?"</a:t>
            </a:r>
            <a:endParaRPr lang="en-US" sz="1250"/>
          </a:p>
        </p:txBody>
      </p:sp>
      <p:sp>
        <p:nvSpPr>
          <p:cNvPr id="12" name="Shape 10"/>
          <p:cNvSpPr/>
          <p:nvPr/>
        </p:nvSpPr>
        <p:spPr>
          <a:xfrm>
            <a:off x="475488" y="2788920"/>
            <a:ext cx="3657600" cy="566928"/>
          </a:xfrm>
          <a:prstGeom prst="rect">
            <a:avLst/>
          </a:prstGeom>
          <a:solidFill>
            <a:srgbClr val="F4F7FA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6928" y="2816352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"Are all locations on the same system?"</a:t>
            </a:r>
            <a:endParaRPr lang="en-US" sz="1250"/>
          </a:p>
        </p:txBody>
      </p:sp>
      <p:sp>
        <p:nvSpPr>
          <p:cNvPr id="14" name="Shape 12"/>
          <p:cNvSpPr/>
          <p:nvPr/>
        </p:nvSpPr>
        <p:spPr>
          <a:xfrm>
            <a:off x="475488" y="3429000"/>
            <a:ext cx="3657600" cy="566928"/>
          </a:xfrm>
          <a:prstGeom prst="rect">
            <a:avLst/>
          </a:prstGeom>
          <a:solidFill>
            <a:srgbClr val="F4F7FA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6928" y="3456432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"Are vendor decisions made locally or centrally?"</a:t>
            </a:r>
            <a:endParaRPr lang="en-US" sz="1250"/>
          </a:p>
        </p:txBody>
      </p:sp>
      <p:sp>
        <p:nvSpPr>
          <p:cNvPr id="16" name="Shape 14"/>
          <p:cNvSpPr/>
          <p:nvPr/>
        </p:nvSpPr>
        <p:spPr>
          <a:xfrm>
            <a:off x="475488" y="4224528"/>
            <a:ext cx="365760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66928" y="422452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multiple locations → move to stakeholder mapping</a:t>
            </a:r>
            <a:endParaRPr lang="en-US" sz="1200"/>
          </a:p>
        </p:txBody>
      </p:sp>
      <p:sp>
        <p:nvSpPr>
          <p:cNvPr id="18" name="Shape 16"/>
          <p:cNvSpPr/>
          <p:nvPr/>
        </p:nvSpPr>
        <p:spPr>
          <a:xfrm>
            <a:off x="4572000" y="1024128"/>
            <a:ext cx="425196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0" y="1024128"/>
            <a:ext cx="425196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90872" y="109728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90872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/>
          </a:p>
        </p:txBody>
      </p:sp>
      <p:sp>
        <p:nvSpPr>
          <p:cNvPr id="22" name="Text 20"/>
          <p:cNvSpPr/>
          <p:nvPr/>
        </p:nvSpPr>
        <p:spPr>
          <a:xfrm>
            <a:off x="5221224" y="1115568"/>
            <a:ext cx="3493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Power Type</a:t>
            </a:r>
            <a:endParaRPr lang="en-US" sz="1600"/>
          </a:p>
        </p:txBody>
      </p:sp>
      <p:sp>
        <p:nvSpPr>
          <p:cNvPr id="23" name="Shape 21"/>
          <p:cNvSpPr/>
          <p:nvPr/>
        </p:nvSpPr>
        <p:spPr>
          <a:xfrm>
            <a:off x="4681728" y="1810512"/>
            <a:ext cx="4005072" cy="42062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36592" y="1892808"/>
            <a:ext cx="256032" cy="25603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36592" y="1892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/>
          </a:p>
        </p:txBody>
      </p:sp>
      <p:sp>
        <p:nvSpPr>
          <p:cNvPr id="26" name="Text 24"/>
          <p:cNvSpPr/>
          <p:nvPr/>
        </p:nvSpPr>
        <p:spPr>
          <a:xfrm>
            <a:off x="5065776" y="18288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Buyer</a:t>
            </a:r>
            <a:endParaRPr lang="en-US" sz="1250"/>
          </a:p>
        </p:txBody>
      </p:sp>
      <p:sp>
        <p:nvSpPr>
          <p:cNvPr id="27" name="Text 25"/>
          <p:cNvSpPr/>
          <p:nvPr/>
        </p:nvSpPr>
        <p:spPr>
          <a:xfrm>
            <a:off x="5065776" y="204825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budget</a:t>
            </a:r>
            <a:endParaRPr lang="en-US" sz="1000"/>
          </a:p>
        </p:txBody>
      </p:sp>
      <p:sp>
        <p:nvSpPr>
          <p:cNvPr id="28" name="Shape 26"/>
          <p:cNvSpPr/>
          <p:nvPr/>
        </p:nvSpPr>
        <p:spPr>
          <a:xfrm>
            <a:off x="4681728" y="2286000"/>
            <a:ext cx="4005072" cy="42062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36592" y="2368296"/>
            <a:ext cx="256032" cy="25603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36592" y="23682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/>
          </a:p>
        </p:txBody>
      </p:sp>
      <p:sp>
        <p:nvSpPr>
          <p:cNvPr id="31" name="Text 29"/>
          <p:cNvSpPr/>
          <p:nvPr/>
        </p:nvSpPr>
        <p:spPr>
          <a:xfrm>
            <a:off x="5065776" y="23042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Owner</a:t>
            </a:r>
            <a:endParaRPr lang="en-US" sz="1250"/>
          </a:p>
        </p:txBody>
      </p:sp>
      <p:sp>
        <p:nvSpPr>
          <p:cNvPr id="32" name="Text 30"/>
          <p:cNvSpPr/>
          <p:nvPr/>
        </p:nvSpPr>
        <p:spPr>
          <a:xfrm>
            <a:off x="5065776" y="252374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daily operations</a:t>
            </a:r>
            <a:endParaRPr lang="en-US" sz="1000"/>
          </a:p>
        </p:txBody>
      </p:sp>
      <p:sp>
        <p:nvSpPr>
          <p:cNvPr id="33" name="Shape 31"/>
          <p:cNvSpPr/>
          <p:nvPr/>
        </p:nvSpPr>
        <p:spPr>
          <a:xfrm>
            <a:off x="4681728" y="2761488"/>
            <a:ext cx="4005072" cy="4206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736592" y="2843784"/>
            <a:ext cx="256032" cy="25603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36592" y="2843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/>
          </a:p>
        </p:txBody>
      </p:sp>
      <p:sp>
        <p:nvSpPr>
          <p:cNvPr id="36" name="Text 34"/>
          <p:cNvSpPr/>
          <p:nvPr/>
        </p:nvSpPr>
        <p:spPr>
          <a:xfrm>
            <a:off x="5065776" y="27797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Authority</a:t>
            </a:r>
            <a:endParaRPr lang="en-US" sz="1250"/>
          </a:p>
        </p:txBody>
      </p:sp>
      <p:sp>
        <p:nvSpPr>
          <p:cNvPr id="37" name="Text 35"/>
          <p:cNvSpPr/>
          <p:nvPr/>
        </p:nvSpPr>
        <p:spPr>
          <a:xfrm>
            <a:off x="5065776" y="299923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Spa only</a:t>
            </a:r>
            <a:endParaRPr lang="en-US" sz="1000"/>
          </a:p>
        </p:txBody>
      </p:sp>
      <p:sp>
        <p:nvSpPr>
          <p:cNvPr id="38" name="Shape 36"/>
          <p:cNvSpPr/>
          <p:nvPr/>
        </p:nvSpPr>
        <p:spPr>
          <a:xfrm>
            <a:off x="4681728" y="3236976"/>
            <a:ext cx="4005072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736592" y="3319272"/>
            <a:ext cx="256032" cy="25603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736592" y="33192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/>
          </a:p>
        </p:txBody>
      </p:sp>
      <p:sp>
        <p:nvSpPr>
          <p:cNvPr id="41" name="Text 39"/>
          <p:cNvSpPr/>
          <p:nvPr/>
        </p:nvSpPr>
        <p:spPr>
          <a:xfrm>
            <a:off x="5065776" y="32552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</a:t>
            </a:r>
            <a:endParaRPr lang="en-US" sz="1250"/>
          </a:p>
        </p:txBody>
      </p:sp>
      <p:sp>
        <p:nvSpPr>
          <p:cNvPr id="42" name="Text 40"/>
          <p:cNvSpPr/>
          <p:nvPr/>
        </p:nvSpPr>
        <p:spPr>
          <a:xfrm>
            <a:off x="5065776" y="34747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system daily</a:t>
            </a:r>
            <a:endParaRPr lang="en-US" sz="1000"/>
          </a:p>
        </p:txBody>
      </p:sp>
      <p:sp>
        <p:nvSpPr>
          <p:cNvPr id="43" name="Text 41"/>
          <p:cNvSpPr/>
          <p:nvPr/>
        </p:nvSpPr>
        <p:spPr>
          <a:xfrm>
            <a:off x="4681728" y="3785616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Qualifying questions:</a:t>
            </a:r>
            <a:endParaRPr lang="en-US" sz="1150"/>
          </a:p>
        </p:txBody>
      </p:sp>
      <p:sp>
        <p:nvSpPr>
          <p:cNvPr id="44" name="Shape 42"/>
          <p:cNvSpPr/>
          <p:nvPr/>
        </p:nvSpPr>
        <p:spPr>
          <a:xfrm>
            <a:off x="4681728" y="4078224"/>
            <a:ext cx="4005072" cy="347472"/>
          </a:xfrm>
          <a:prstGeom prst="rect">
            <a:avLst/>
          </a:prstGeom>
          <a:solidFill>
            <a:srgbClr val="F4F7FA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773168" y="4096512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"Who would ultimately approve a system change?"</a:t>
            </a:r>
            <a:endParaRPr lang="en-US" sz="1100"/>
          </a:p>
        </p:txBody>
      </p:sp>
      <p:sp>
        <p:nvSpPr>
          <p:cNvPr id="46" name="Shape 44"/>
          <p:cNvSpPr/>
          <p:nvPr/>
        </p:nvSpPr>
        <p:spPr>
          <a:xfrm>
            <a:off x="4681728" y="4462272"/>
            <a:ext cx="4005072" cy="347472"/>
          </a:xfrm>
          <a:prstGeom prst="rect">
            <a:avLst/>
          </a:prstGeom>
          <a:solidFill>
            <a:srgbClr val="F4F7FA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773168" y="4480560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"Does this require sign-off from ownership or a medical director?"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SDR Multi-Threading Framework  ·  Step 3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850392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889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/>
          </a:p>
        </p:txBody>
      </p:sp>
      <p:sp>
        <p:nvSpPr>
          <p:cNvPr id="7" name="Text 5"/>
          <p:cNvSpPr/>
          <p:nvPr/>
        </p:nvSpPr>
        <p:spPr>
          <a:xfrm>
            <a:off x="1005840" y="107899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Additional Stakeholders Before Booking</a:t>
            </a:r>
            <a:endParaRPr lang="en-US" sz="1800"/>
          </a:p>
        </p:txBody>
      </p:sp>
      <p:sp>
        <p:nvSpPr>
          <p:cNvPr id="8" name="Shape 6"/>
          <p:cNvSpPr/>
          <p:nvPr/>
        </p:nvSpPr>
        <p:spPr>
          <a:xfrm>
            <a:off x="320040" y="1810512"/>
            <a:ext cx="397764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810512"/>
            <a:ext cx="397764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8105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Instead of saying: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457200" y="2231136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"I'll send you a calendar invite."</a:t>
            </a:r>
            <a:endParaRPr lang="en-US" sz="1500"/>
          </a:p>
        </p:txBody>
      </p:sp>
      <p:sp>
        <p:nvSpPr>
          <p:cNvPr id="12" name="Shape 10"/>
          <p:cNvSpPr/>
          <p:nvPr/>
        </p:nvSpPr>
        <p:spPr>
          <a:xfrm>
            <a:off x="4572000" y="1810512"/>
            <a:ext cx="425196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0" y="1810512"/>
            <a:ext cx="425196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09160" y="1810512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Say instead: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4709160" y="2231136"/>
            <a:ext cx="4005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make this valuable for your team, who else should be part of evaluating something across all locations?"</a:t>
            </a:r>
            <a:endParaRPr lang="en-US" sz="1350"/>
          </a:p>
        </p:txBody>
      </p:sp>
      <p:sp>
        <p:nvSpPr>
          <p:cNvPr id="16" name="Text 14"/>
          <p:cNvSpPr/>
          <p:nvPr/>
        </p:nvSpPr>
        <p:spPr>
          <a:xfrm>
            <a:off x="365760" y="32461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Real-Account Scripts:</a:t>
            </a:r>
            <a:endParaRPr lang="en-US" sz="1300"/>
          </a:p>
        </p:txBody>
      </p:sp>
      <p:sp>
        <p:nvSpPr>
          <p:cNvPr id="17" name="Shape 15"/>
          <p:cNvSpPr/>
          <p:nvPr/>
        </p:nvSpPr>
        <p:spPr>
          <a:xfrm>
            <a:off x="320040" y="3611880"/>
            <a:ext cx="26060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3611880"/>
            <a:ext cx="2606040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29768" y="3611880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Steele</a:t>
            </a:r>
            <a:endParaRPr lang="en-US" sz="1200"/>
          </a:p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(GM answered)</a:t>
            </a:r>
            <a:endParaRPr lang="en-US" sz="1200"/>
          </a:p>
        </p:txBody>
      </p:sp>
      <p:sp>
        <p:nvSpPr>
          <p:cNvPr id="20" name="Shape 18"/>
          <p:cNvSpPr/>
          <p:nvPr/>
        </p:nvSpPr>
        <p:spPr>
          <a:xfrm>
            <a:off x="429768" y="4078224"/>
            <a:ext cx="2404872" cy="969264"/>
          </a:xfrm>
          <a:prstGeom prst="rect">
            <a:avLst/>
          </a:prstGeom>
          <a:solidFill>
            <a:srgbClr val="F4F7FA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4105656"/>
            <a:ext cx="22585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"Given that Amanda Hair runs all 8 locations under So Chic Salon Brands, would she typically be part of a conversation about a platform that affects the whole group?"</a:t>
            </a:r>
            <a:endParaRPr lang="en-US" sz="1150"/>
          </a:p>
        </p:txBody>
      </p:sp>
      <p:sp>
        <p:nvSpPr>
          <p:cNvPr id="22" name="Shape 20"/>
          <p:cNvSpPr/>
          <p:nvPr/>
        </p:nvSpPr>
        <p:spPr>
          <a:xfrm>
            <a:off x="3131820" y="3611880"/>
            <a:ext cx="26060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131820" y="3611880"/>
            <a:ext cx="2606040" cy="402336"/>
          </a:xfrm>
          <a:prstGeom prst="rect">
            <a:avLst/>
          </a:prstGeom>
          <a:solidFill>
            <a:srgbClr val="1C2B35"/>
          </a:solidFill>
          <a:ln w="12700">
            <a:solidFill>
              <a:srgbClr val="1C2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41548" y="3611880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Haircuts</a:t>
            </a:r>
            <a:endParaRPr lang="en-US" sz="1200"/>
          </a:p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(location staff)</a:t>
            </a:r>
            <a:endParaRPr lang="en-US" sz="1200"/>
          </a:p>
        </p:txBody>
      </p:sp>
      <p:sp>
        <p:nvSpPr>
          <p:cNvPr id="25" name="Shape 23"/>
          <p:cNvSpPr/>
          <p:nvPr/>
        </p:nvSpPr>
        <p:spPr>
          <a:xfrm>
            <a:off x="3241548" y="4078224"/>
            <a:ext cx="2404872" cy="969264"/>
          </a:xfrm>
          <a:prstGeom prst="rect">
            <a:avLst/>
          </a:prstGeom>
          <a:solidFill>
            <a:srgbClr val="F4F7FA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14700" y="4105656"/>
            <a:ext cx="22585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"Since David and Greg are the owners and still involved day-to-day, would it make sense to loop them in — I'd love to speak to the people who built the business."</a:t>
            </a:r>
            <a:endParaRPr lang="en-US" sz="1150"/>
          </a:p>
        </p:txBody>
      </p:sp>
      <p:sp>
        <p:nvSpPr>
          <p:cNvPr id="27" name="Shape 25"/>
          <p:cNvSpPr/>
          <p:nvPr/>
        </p:nvSpPr>
        <p:spPr>
          <a:xfrm>
            <a:off x="5943600" y="3611880"/>
            <a:ext cx="26060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943600" y="3611880"/>
            <a:ext cx="2606040" cy="40233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053328" y="3611880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Spa</a:t>
            </a:r>
            <a:endParaRPr lang="en-US" sz="1200"/>
          </a:p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(Practice Mgr)</a:t>
            </a:r>
            <a:endParaRPr lang="en-US" sz="1200"/>
          </a:p>
        </p:txBody>
      </p:sp>
      <p:sp>
        <p:nvSpPr>
          <p:cNvPr id="30" name="Shape 28"/>
          <p:cNvSpPr/>
          <p:nvPr/>
        </p:nvSpPr>
        <p:spPr>
          <a:xfrm>
            <a:off x="6053328" y="4078224"/>
            <a:ext cx="2404872" cy="969264"/>
          </a:xfrm>
          <a:prstGeom prst="rect">
            <a:avLst/>
          </a:prstGeom>
          <a:solidFill>
            <a:srgbClr val="F4F7FA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126480" y="4105656"/>
            <a:ext cx="22585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"Would your Medical Director typically be involved in reviewing systems that impact charting or compliance? I want to make sure we cover both sides."</a:t>
            </a:r>
            <a:endParaRPr lang="en-US" sz="11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Persona-Based Messaging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196596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196596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060704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 or Med Spa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411480" y="1828800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 about: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411480" y="2103120"/>
            <a:ext cx="180136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</a:t>
            </a:r>
            <a:endParaRPr lang="en-US" sz="125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margins</a:t>
            </a:r>
            <a:endParaRPr lang="en-US" sz="125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penetration</a:t>
            </a:r>
            <a:endParaRPr lang="en-US" sz="125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attachment</a:t>
            </a:r>
            <a:endParaRPr lang="en-US" sz="125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50"/>
          </a:p>
        </p:txBody>
      </p:sp>
      <p:sp>
        <p:nvSpPr>
          <p:cNvPr id="10" name="Shape 8"/>
          <p:cNvSpPr/>
          <p:nvPr/>
        </p:nvSpPr>
        <p:spPr>
          <a:xfrm>
            <a:off x="411480" y="3995928"/>
            <a:ext cx="1801368" cy="0"/>
          </a:xfrm>
          <a:prstGeom prst="line">
            <a:avLst/>
          </a:prstGeom>
          <a:noFill/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4087368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with: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411480" y="4334256"/>
            <a:ext cx="1801368" cy="68580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" y="4370832"/>
            <a:ext cx="16550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are you currently tracking performance across all providers?"</a:t>
            </a:r>
            <a:endParaRPr lang="en-US" sz="1150"/>
          </a:p>
        </p:txBody>
      </p:sp>
      <p:sp>
        <p:nvSpPr>
          <p:cNvPr id="14" name="Shape 12"/>
          <p:cNvSpPr/>
          <p:nvPr/>
        </p:nvSpPr>
        <p:spPr>
          <a:xfrm>
            <a:off x="2514600" y="1024128"/>
            <a:ext cx="196596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514600" y="1024128"/>
            <a:ext cx="196596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606040" y="1060704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of Operations</a:t>
            </a:r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2606040" y="1463040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Multi-Location Groups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2606040" y="1828800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 about: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2606040" y="2103120"/>
            <a:ext cx="180136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across locations</a:t>
            </a:r>
            <a:endParaRPr lang="en-US" sz="125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 efficiency</a:t>
            </a:r>
            <a:endParaRPr lang="en-US" sz="125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</a:t>
            </a:r>
            <a:endParaRPr lang="en-US" sz="125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visibility</a:t>
            </a:r>
            <a:endParaRPr lang="en-US" sz="1250"/>
          </a:p>
        </p:txBody>
      </p:sp>
      <p:sp>
        <p:nvSpPr>
          <p:cNvPr id="20" name="Shape 18"/>
          <p:cNvSpPr/>
          <p:nvPr/>
        </p:nvSpPr>
        <p:spPr>
          <a:xfrm>
            <a:off x="2606040" y="3995928"/>
            <a:ext cx="1801368" cy="0"/>
          </a:xfrm>
          <a:prstGeom prst="line">
            <a:avLst/>
          </a:prstGeom>
          <a:noFill/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606040" y="4087368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with:</a:t>
            </a:r>
            <a:endParaRPr lang="en-US" sz="1050"/>
          </a:p>
        </p:txBody>
      </p:sp>
      <p:sp>
        <p:nvSpPr>
          <p:cNvPr id="22" name="Shape 20"/>
          <p:cNvSpPr/>
          <p:nvPr/>
        </p:nvSpPr>
        <p:spPr>
          <a:xfrm>
            <a:off x="2606040" y="4334256"/>
            <a:ext cx="1801368" cy="68580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679192" y="4370832"/>
            <a:ext cx="16550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 you maintain operational consistency across sites?"</a:t>
            </a:r>
            <a:endParaRPr lang="en-US" sz="1150"/>
          </a:p>
        </p:txBody>
      </p:sp>
      <p:sp>
        <p:nvSpPr>
          <p:cNvPr id="24" name="Shape 22"/>
          <p:cNvSpPr/>
          <p:nvPr/>
        </p:nvSpPr>
        <p:spPr>
          <a:xfrm>
            <a:off x="4709160" y="1024128"/>
            <a:ext cx="196596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09160" y="1024128"/>
            <a:ext cx="1965960" cy="685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00600" y="1060704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Director</a:t>
            </a:r>
            <a:endParaRPr lang="en-US" sz="1400"/>
          </a:p>
        </p:txBody>
      </p:sp>
      <p:sp>
        <p:nvSpPr>
          <p:cNvPr id="27" name="Text 25"/>
          <p:cNvSpPr/>
          <p:nvPr/>
        </p:nvSpPr>
        <p:spPr>
          <a:xfrm>
            <a:off x="4800600" y="1463040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Spa Only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4800600" y="1828800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 about:</a:t>
            </a:r>
            <a:endParaRPr lang="en-US" sz="1100"/>
          </a:p>
        </p:txBody>
      </p:sp>
      <p:sp>
        <p:nvSpPr>
          <p:cNvPr id="29" name="Text 27"/>
          <p:cNvSpPr/>
          <p:nvPr/>
        </p:nvSpPr>
        <p:spPr>
          <a:xfrm>
            <a:off x="4800600" y="2103120"/>
            <a:ext cx="180136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25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25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oversight</a:t>
            </a:r>
            <a:endParaRPr lang="en-US" sz="125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1250"/>
          </a:p>
        </p:txBody>
      </p:sp>
      <p:sp>
        <p:nvSpPr>
          <p:cNvPr id="30" name="Shape 28"/>
          <p:cNvSpPr/>
          <p:nvPr/>
        </p:nvSpPr>
        <p:spPr>
          <a:xfrm>
            <a:off x="4800600" y="3995928"/>
            <a:ext cx="1801368" cy="0"/>
          </a:xfrm>
          <a:prstGeom prst="line">
            <a:avLst/>
          </a:prstGeom>
          <a:noFill/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00600" y="4087368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with:</a:t>
            </a:r>
            <a:endParaRPr lang="en-US" sz="1050"/>
          </a:p>
        </p:txBody>
      </p:sp>
      <p:sp>
        <p:nvSpPr>
          <p:cNvPr id="32" name="Shape 30"/>
          <p:cNvSpPr/>
          <p:nvPr/>
        </p:nvSpPr>
        <p:spPr>
          <a:xfrm>
            <a:off x="4800600" y="4334256"/>
            <a:ext cx="1801368" cy="68580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73752" y="4370832"/>
            <a:ext cx="16550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are you currently handling provider documentation and oversight?"</a:t>
            </a:r>
            <a:endParaRPr lang="en-US" sz="1150"/>
          </a:p>
        </p:txBody>
      </p:sp>
      <p:sp>
        <p:nvSpPr>
          <p:cNvPr id="34" name="Shape 32"/>
          <p:cNvSpPr/>
          <p:nvPr/>
        </p:nvSpPr>
        <p:spPr>
          <a:xfrm>
            <a:off x="6903720" y="1024128"/>
            <a:ext cx="196596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903720" y="1024128"/>
            <a:ext cx="196596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995160" y="1060704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/ CFO</a:t>
            </a:r>
            <a:endParaRPr lang="en-US" sz="1400"/>
          </a:p>
        </p:txBody>
      </p:sp>
      <p:sp>
        <p:nvSpPr>
          <p:cNvPr id="37" name="Text 35"/>
          <p:cNvSpPr/>
          <p:nvPr/>
        </p:nvSpPr>
        <p:spPr>
          <a:xfrm>
            <a:off x="6995160" y="1463040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Multi-Location or Corporate</a:t>
            </a:r>
            <a:endParaRPr lang="en-US" sz="1000"/>
          </a:p>
        </p:txBody>
      </p:sp>
      <p:sp>
        <p:nvSpPr>
          <p:cNvPr id="38" name="Text 36"/>
          <p:cNvSpPr/>
          <p:nvPr/>
        </p:nvSpPr>
        <p:spPr>
          <a:xfrm>
            <a:off x="6995160" y="1828800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 about:</a:t>
            </a:r>
            <a:endParaRPr lang="en-US" sz="1100"/>
          </a:p>
        </p:txBody>
      </p:sp>
      <p:sp>
        <p:nvSpPr>
          <p:cNvPr id="39" name="Text 37"/>
          <p:cNvSpPr/>
          <p:nvPr/>
        </p:nvSpPr>
        <p:spPr>
          <a:xfrm>
            <a:off x="6995160" y="2103120"/>
            <a:ext cx="180136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&amp; fees</a:t>
            </a:r>
            <a:endParaRPr lang="en-US" sz="125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accuracy</a:t>
            </a:r>
            <a:endParaRPr lang="en-US" sz="125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visibility</a:t>
            </a:r>
            <a:endParaRPr lang="en-US" sz="125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terms</a:t>
            </a:r>
            <a:endParaRPr lang="en-US" sz="1250"/>
          </a:p>
        </p:txBody>
      </p:sp>
      <p:sp>
        <p:nvSpPr>
          <p:cNvPr id="40" name="Shape 38"/>
          <p:cNvSpPr/>
          <p:nvPr/>
        </p:nvSpPr>
        <p:spPr>
          <a:xfrm>
            <a:off x="6995160" y="3995928"/>
            <a:ext cx="1801368" cy="0"/>
          </a:xfrm>
          <a:prstGeom prst="line">
            <a:avLst/>
          </a:prstGeom>
          <a:noFill/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995160" y="4087368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A0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with:</a:t>
            </a:r>
            <a:endParaRPr lang="en-US" sz="1050"/>
          </a:p>
        </p:txBody>
      </p:sp>
      <p:sp>
        <p:nvSpPr>
          <p:cNvPr id="42" name="Shape 40"/>
          <p:cNvSpPr/>
          <p:nvPr/>
        </p:nvSpPr>
        <p:spPr>
          <a:xfrm>
            <a:off x="6995160" y="4334256"/>
            <a:ext cx="1801368" cy="68580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068312" y="4370832"/>
            <a:ext cx="16550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are you consolidating financial reporting across all locations today?"</a:t>
            </a:r>
            <a:endParaRPr lang="en-US" sz="11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Multi-Thread  &amp;  Common Mistakes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39776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397764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10241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Always Multi-Thread If:</a:t>
            </a:r>
            <a:endParaRPr lang="en-US" sz="145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657600" cy="420624"/>
          </a:xfrm>
          <a:prstGeom prst="rect">
            <a:avLst/>
          </a:prstGeom>
          <a:solidFill>
            <a:srgbClr val="F4F7FA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30352" y="1719072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04672" y="1600200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locations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457200" y="2075688"/>
            <a:ext cx="3657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30352" y="219456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04672" y="2075688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titles present (VP, COO, CEO)</a:t>
            </a:r>
            <a:endParaRPr lang="en-US" sz="1300"/>
          </a:p>
        </p:txBody>
      </p:sp>
      <p:sp>
        <p:nvSpPr>
          <p:cNvPr id="13" name="Shape 11"/>
          <p:cNvSpPr/>
          <p:nvPr/>
        </p:nvSpPr>
        <p:spPr>
          <a:xfrm>
            <a:off x="457200" y="2551176"/>
            <a:ext cx="3657600" cy="420624"/>
          </a:xfrm>
          <a:prstGeom prst="rect">
            <a:avLst/>
          </a:prstGeom>
          <a:solidFill>
            <a:srgbClr val="F4F7FA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30352" y="2670048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04672" y="2551176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Spa structure</a:t>
            </a:r>
            <a:endParaRPr lang="en-US" sz="1300"/>
          </a:p>
        </p:txBody>
      </p:sp>
      <p:sp>
        <p:nvSpPr>
          <p:cNvPr id="16" name="Shape 14"/>
          <p:cNvSpPr/>
          <p:nvPr/>
        </p:nvSpPr>
        <p:spPr>
          <a:xfrm>
            <a:off x="457200" y="3026664"/>
            <a:ext cx="3657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30352" y="3145536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04672" y="3026664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 model</a:t>
            </a:r>
            <a:endParaRPr lang="en-US" sz="1300"/>
          </a:p>
        </p:txBody>
      </p:sp>
      <p:sp>
        <p:nvSpPr>
          <p:cNvPr id="19" name="Shape 17"/>
          <p:cNvSpPr/>
          <p:nvPr/>
        </p:nvSpPr>
        <p:spPr>
          <a:xfrm>
            <a:off x="457200" y="3502152"/>
            <a:ext cx="3657600" cy="420624"/>
          </a:xfrm>
          <a:prstGeom prst="rect">
            <a:avLst/>
          </a:prstGeom>
          <a:solidFill>
            <a:srgbClr val="F4F7FA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30352" y="3621024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04672" y="3502152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PE-backed or investor language</a:t>
            </a:r>
            <a:endParaRPr lang="en-US" sz="1300"/>
          </a:p>
        </p:txBody>
      </p:sp>
      <p:sp>
        <p:nvSpPr>
          <p:cNvPr id="22" name="Shape 20"/>
          <p:cNvSpPr/>
          <p:nvPr/>
        </p:nvSpPr>
        <p:spPr>
          <a:xfrm>
            <a:off x="457200" y="3977640"/>
            <a:ext cx="3657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30352" y="4096512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04672" y="3977640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marketing or finance</a:t>
            </a:r>
            <a:endParaRPr lang="en-US" sz="1300"/>
          </a:p>
        </p:txBody>
      </p:sp>
      <p:sp>
        <p:nvSpPr>
          <p:cNvPr id="25" name="Shape 23"/>
          <p:cNvSpPr/>
          <p:nvPr/>
        </p:nvSpPr>
        <p:spPr>
          <a:xfrm>
            <a:off x="320040" y="4480560"/>
            <a:ext cx="397764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38912" y="44805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If it's not a single-location owner-operator → multi-thread.</a:t>
            </a:r>
            <a:endParaRPr lang="en-US" sz="1150"/>
          </a:p>
        </p:txBody>
      </p:sp>
      <p:sp>
        <p:nvSpPr>
          <p:cNvPr id="27" name="Shape 25"/>
          <p:cNvSpPr/>
          <p:nvPr/>
        </p:nvSpPr>
        <p:spPr>
          <a:xfrm>
            <a:off x="4572000" y="1024128"/>
            <a:ext cx="425196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572000" y="1024128"/>
            <a:ext cx="425196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09160" y="1024128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Common Industry Mistakes</a:t>
            </a:r>
            <a:endParaRPr lang="en-US" sz="1450"/>
          </a:p>
        </p:txBody>
      </p:sp>
      <p:sp>
        <p:nvSpPr>
          <p:cNvPr id="30" name="Shape 28"/>
          <p:cNvSpPr/>
          <p:nvPr/>
        </p:nvSpPr>
        <p:spPr>
          <a:xfrm>
            <a:off x="4681728" y="1600200"/>
            <a:ext cx="4005072" cy="512064"/>
          </a:xfrm>
          <a:prstGeom prst="rect">
            <a:avLst/>
          </a:prstGeom>
          <a:solidFill>
            <a:srgbClr val="F4F7FA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81728" y="1600200"/>
            <a:ext cx="54864" cy="5120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09744" y="16184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with Jennifer Barber (GM) only at Bob Steele</a:t>
            </a:r>
            <a:endParaRPr lang="en-US" sz="1200"/>
          </a:p>
        </p:txBody>
      </p:sp>
      <p:sp>
        <p:nvSpPr>
          <p:cNvPr id="33" name="Text 31"/>
          <p:cNvSpPr/>
          <p:nvPr/>
        </p:nvSpPr>
        <p:spPr>
          <a:xfrm>
            <a:off x="4809744" y="18745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Amanda Hair is the economic buyer — GM is a gatekeeper</a:t>
            </a:r>
            <a:endParaRPr lang="en-US" sz="1100"/>
          </a:p>
        </p:txBody>
      </p:sp>
      <p:sp>
        <p:nvSpPr>
          <p:cNvPr id="34" name="Shape 32"/>
          <p:cNvSpPr/>
          <p:nvPr/>
        </p:nvSpPr>
        <p:spPr>
          <a:xfrm>
            <a:off x="4681728" y="2167128"/>
            <a:ext cx="4005072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681728" y="2167128"/>
            <a:ext cx="54864" cy="5120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09744" y="21854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American Haircuts like a big enterprise</a:t>
            </a:r>
            <a:endParaRPr lang="en-US" sz="1200"/>
          </a:p>
        </p:txBody>
      </p:sp>
      <p:sp>
        <p:nvSpPr>
          <p:cNvPr id="37" name="Text 35"/>
          <p:cNvSpPr/>
          <p:nvPr/>
        </p:nvSpPr>
        <p:spPr>
          <a:xfrm>
            <a:off x="4809744" y="24414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anti-corporate language — they built specifically to stay independent</a:t>
            </a:r>
            <a:endParaRPr lang="en-US" sz="1100"/>
          </a:p>
        </p:txBody>
      </p:sp>
      <p:sp>
        <p:nvSpPr>
          <p:cNvPr id="38" name="Shape 36"/>
          <p:cNvSpPr/>
          <p:nvPr/>
        </p:nvSpPr>
        <p:spPr>
          <a:xfrm>
            <a:off x="4681728" y="2734056"/>
            <a:ext cx="4005072" cy="512064"/>
          </a:xfrm>
          <a:prstGeom prst="rect">
            <a:avLst/>
          </a:prstGeom>
          <a:solidFill>
            <a:srgbClr val="F4F7FA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681728" y="2734056"/>
            <a:ext cx="54864" cy="5120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809744" y="27523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Assuming Regional Mgr controls budget</a:t>
            </a:r>
            <a:endParaRPr lang="en-US" sz="1200"/>
          </a:p>
        </p:txBody>
      </p:sp>
      <p:sp>
        <p:nvSpPr>
          <p:cNvPr id="41" name="Text 39"/>
          <p:cNvSpPr/>
          <p:nvPr/>
        </p:nvSpPr>
        <p:spPr>
          <a:xfrm>
            <a:off x="4809744" y="300837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holds approval — always thread up</a:t>
            </a:r>
            <a:endParaRPr lang="en-US" sz="1100"/>
          </a:p>
        </p:txBody>
      </p:sp>
      <p:sp>
        <p:nvSpPr>
          <p:cNvPr id="42" name="Shape 40"/>
          <p:cNvSpPr/>
          <p:nvPr/>
        </p:nvSpPr>
        <p:spPr>
          <a:xfrm>
            <a:off x="4681728" y="3300984"/>
            <a:ext cx="4005072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681728" y="3300984"/>
            <a:ext cx="54864" cy="5120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809744" y="33192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Avoiding outreach to owners David/Greg at Am. Haircuts</a:t>
            </a:r>
            <a:endParaRPr lang="en-US" sz="1200"/>
          </a:p>
        </p:txBody>
      </p:sp>
      <p:sp>
        <p:nvSpPr>
          <p:cNvPr id="45" name="Text 43"/>
          <p:cNvSpPr/>
          <p:nvPr/>
        </p:nvSpPr>
        <p:spPr>
          <a:xfrm>
            <a:off x="4809744" y="35753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They're reachable &amp; make all decisions</a:t>
            </a:r>
            <a:endParaRPr lang="en-US" sz="1100"/>
          </a:p>
        </p:txBody>
      </p:sp>
      <p:sp>
        <p:nvSpPr>
          <p:cNvPr id="46" name="Shape 44"/>
          <p:cNvSpPr/>
          <p:nvPr/>
        </p:nvSpPr>
        <p:spPr>
          <a:xfrm>
            <a:off x="4681728" y="3867912"/>
            <a:ext cx="4005072" cy="512064"/>
          </a:xfrm>
          <a:prstGeom prst="rect">
            <a:avLst/>
          </a:prstGeom>
          <a:solidFill>
            <a:srgbClr val="F4F7FA"/>
          </a:solidFill>
          <a:ln w="12700">
            <a:solidFill>
              <a:srgbClr val="E2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681728" y="3867912"/>
            <a:ext cx="54864" cy="5120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809744" y="38862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8-location group (Bob Steele) like a single salon</a:t>
            </a:r>
            <a:endParaRPr lang="en-US" sz="1200"/>
          </a:p>
        </p:txBody>
      </p:sp>
      <p:sp>
        <p:nvSpPr>
          <p:cNvPr id="49" name="Text 47"/>
          <p:cNvSpPr/>
          <p:nvPr/>
        </p:nvSpPr>
        <p:spPr>
          <a:xfrm>
            <a:off x="4809744" y="41422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level — must engage CEO + GM + Office Mgr</a:t>
            </a:r>
            <a:endParaRPr lang="en-US" sz="1100"/>
          </a:p>
        </p:txBody>
      </p:sp>
      <p:sp>
        <p:nvSpPr>
          <p:cNvPr id="50" name="Shape 48"/>
          <p:cNvSpPr/>
          <p:nvPr/>
        </p:nvSpPr>
        <p:spPr>
          <a:xfrm>
            <a:off x="4681728" y="4480560"/>
            <a:ext cx="4005072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773168" y="4480560"/>
            <a:ext cx="3822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mistake = single-threaded deal = higher stall risk.</a:t>
            </a:r>
            <a:endParaRPr lang="en-US" sz="11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SDR Checklist  &amp;  Manager Metrics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39776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397764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10241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Booking — Checklist</a:t>
            </a:r>
            <a:endParaRPr lang="en-US" sz="1450"/>
          </a:p>
        </p:txBody>
      </p:sp>
      <p:sp>
        <p:nvSpPr>
          <p:cNvPr id="7" name="Shape 5"/>
          <p:cNvSpPr/>
          <p:nvPr/>
        </p:nvSpPr>
        <p:spPr>
          <a:xfrm>
            <a:off x="475488" y="1609344"/>
            <a:ext cx="34747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60934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number of locations</a:t>
            </a:r>
            <a:endParaRPr lang="en-US" sz="1300"/>
          </a:p>
        </p:txBody>
      </p:sp>
      <p:sp>
        <p:nvSpPr>
          <p:cNvPr id="9" name="Shape 7"/>
          <p:cNvSpPr/>
          <p:nvPr/>
        </p:nvSpPr>
        <p:spPr>
          <a:xfrm>
            <a:off x="475488" y="2084832"/>
            <a:ext cx="34747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208483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economic buyer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475488" y="2560320"/>
            <a:ext cx="34747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256032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operational lead</a:t>
            </a:r>
            <a:endParaRPr lang="en-US" sz="1300"/>
          </a:p>
        </p:txBody>
      </p:sp>
      <p:sp>
        <p:nvSpPr>
          <p:cNvPr id="13" name="Shape 11"/>
          <p:cNvSpPr/>
          <p:nvPr/>
        </p:nvSpPr>
        <p:spPr>
          <a:xfrm>
            <a:off x="475488" y="3035808"/>
            <a:ext cx="34747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303580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clinical authority (Med Spa only)</a:t>
            </a:r>
            <a:endParaRPr lang="en-US" sz="1300"/>
          </a:p>
        </p:txBody>
      </p:sp>
      <p:sp>
        <p:nvSpPr>
          <p:cNvPr id="15" name="Shape 13"/>
          <p:cNvSpPr/>
          <p:nvPr/>
        </p:nvSpPr>
        <p:spPr>
          <a:xfrm>
            <a:off x="475488" y="3511296"/>
            <a:ext cx="34747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351129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who else should attend</a:t>
            </a:r>
            <a:endParaRPr lang="en-US" sz="1300"/>
          </a:p>
        </p:txBody>
      </p:sp>
      <p:sp>
        <p:nvSpPr>
          <p:cNvPr id="17" name="Shape 15"/>
          <p:cNvSpPr/>
          <p:nvPr/>
        </p:nvSpPr>
        <p:spPr>
          <a:xfrm>
            <a:off x="475488" y="3986784"/>
            <a:ext cx="34747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4400" y="398678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at least one additional thread</a:t>
            </a:r>
            <a:endParaRPr lang="en-US" sz="1300"/>
          </a:p>
        </p:txBody>
      </p:sp>
      <p:sp>
        <p:nvSpPr>
          <p:cNvPr id="19" name="Shape 17"/>
          <p:cNvSpPr/>
          <p:nvPr/>
        </p:nvSpPr>
        <p:spPr>
          <a:xfrm>
            <a:off x="475488" y="4462272"/>
            <a:ext cx="3657600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66928" y="44622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locations: Build a simple account map — Economic, Operational, Influencer, Blocker</a:t>
            </a:r>
            <a:endParaRPr lang="en-US" sz="800"/>
          </a:p>
        </p:txBody>
      </p:sp>
      <p:sp>
        <p:nvSpPr>
          <p:cNvPr id="21" name="Shape 19"/>
          <p:cNvSpPr/>
          <p:nvPr/>
        </p:nvSpPr>
        <p:spPr>
          <a:xfrm>
            <a:off x="4572000" y="1024128"/>
            <a:ext cx="425196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0" y="1024128"/>
            <a:ext cx="42519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09160" y="1024128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Playbook — Track:</a:t>
            </a:r>
            <a:endParaRPr lang="en-US" sz="1450"/>
          </a:p>
        </p:txBody>
      </p:sp>
      <p:sp>
        <p:nvSpPr>
          <p:cNvPr id="24" name="Shape 22"/>
          <p:cNvSpPr/>
          <p:nvPr/>
        </p:nvSpPr>
        <p:spPr>
          <a:xfrm>
            <a:off x="4681728" y="1600200"/>
            <a:ext cx="193852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54880" y="1645920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multi-location accounts with 2+ stakeholders engaged</a:t>
            </a:r>
            <a:endParaRPr lang="en-US" sz="1050"/>
          </a:p>
        </p:txBody>
      </p:sp>
      <p:sp>
        <p:nvSpPr>
          <p:cNvPr id="26" name="Shape 24"/>
          <p:cNvSpPr/>
          <p:nvPr/>
        </p:nvSpPr>
        <p:spPr>
          <a:xfrm>
            <a:off x="6748272" y="1600200"/>
            <a:ext cx="1938528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21424" y="1645920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rate when 2+ stakeholders attend</a:t>
            </a:r>
            <a:endParaRPr lang="en-US" sz="1050"/>
          </a:p>
        </p:txBody>
      </p:sp>
      <p:sp>
        <p:nvSpPr>
          <p:cNvPr id="28" name="Shape 26"/>
          <p:cNvSpPr/>
          <p:nvPr/>
        </p:nvSpPr>
        <p:spPr>
          <a:xfrm>
            <a:off x="4681728" y="2167128"/>
            <a:ext cx="1938528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54880" y="2212848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 SQL acceptance rate</a:t>
            </a:r>
            <a:endParaRPr lang="en-US" sz="1050"/>
          </a:p>
        </p:txBody>
      </p:sp>
      <p:sp>
        <p:nvSpPr>
          <p:cNvPr id="30" name="Shape 28"/>
          <p:cNvSpPr/>
          <p:nvPr/>
        </p:nvSpPr>
        <p:spPr>
          <a:xfrm>
            <a:off x="6748272" y="2167128"/>
            <a:ext cx="1938528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821424" y="2212848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pipeline created</a:t>
            </a:r>
            <a:endParaRPr lang="en-US" sz="1050"/>
          </a:p>
        </p:txBody>
      </p:sp>
      <p:sp>
        <p:nvSpPr>
          <p:cNvPr id="32" name="Shape 30"/>
          <p:cNvSpPr/>
          <p:nvPr/>
        </p:nvSpPr>
        <p:spPr>
          <a:xfrm>
            <a:off x="4572000" y="3246120"/>
            <a:ext cx="4251960" cy="1527048"/>
          </a:xfrm>
          <a:prstGeom prst="rect">
            <a:avLst/>
          </a:prstGeom>
          <a:solidFill>
            <a:srgbClr val="1C2B35"/>
          </a:solidFill>
          <a:ln/>
          <a:effectLst>
            <a:outerShdw blurRad="889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572000" y="3246120"/>
            <a:ext cx="425196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09160" y="3246120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Enterprise Account Map (10+ Locations)</a:t>
            </a:r>
            <a:endParaRPr lang="en-US" sz="1300"/>
          </a:p>
        </p:txBody>
      </p:sp>
      <p:sp>
        <p:nvSpPr>
          <p:cNvPr id="35" name="Shape 33"/>
          <p:cNvSpPr/>
          <p:nvPr/>
        </p:nvSpPr>
        <p:spPr>
          <a:xfrm>
            <a:off x="4681728" y="3703320"/>
            <a:ext cx="932688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681728" y="3730752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800"/>
          </a:p>
        </p:txBody>
      </p:sp>
      <p:sp>
        <p:nvSpPr>
          <p:cNvPr id="37" name="Text 35"/>
          <p:cNvSpPr/>
          <p:nvPr/>
        </p:nvSpPr>
        <p:spPr>
          <a:xfrm>
            <a:off x="4681728" y="4078224"/>
            <a:ext cx="93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Buyer</a:t>
            </a:r>
            <a:endParaRPr lang="en-US" sz="950"/>
          </a:p>
        </p:txBody>
      </p:sp>
      <p:sp>
        <p:nvSpPr>
          <p:cNvPr id="38" name="Shape 36"/>
          <p:cNvSpPr/>
          <p:nvPr/>
        </p:nvSpPr>
        <p:spPr>
          <a:xfrm>
            <a:off x="5669280" y="3703320"/>
            <a:ext cx="932688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669280" y="3730752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800"/>
          </a:p>
        </p:txBody>
      </p:sp>
      <p:sp>
        <p:nvSpPr>
          <p:cNvPr id="40" name="Text 38"/>
          <p:cNvSpPr/>
          <p:nvPr/>
        </p:nvSpPr>
        <p:spPr>
          <a:xfrm>
            <a:off x="5669280" y="4078224"/>
            <a:ext cx="93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Owner</a:t>
            </a:r>
            <a:endParaRPr lang="en-US" sz="950"/>
          </a:p>
        </p:txBody>
      </p:sp>
      <p:sp>
        <p:nvSpPr>
          <p:cNvPr id="41" name="Shape 39"/>
          <p:cNvSpPr/>
          <p:nvPr/>
        </p:nvSpPr>
        <p:spPr>
          <a:xfrm>
            <a:off x="6656832" y="3703320"/>
            <a:ext cx="932688" cy="8686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656832" y="3730752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1800"/>
          </a:p>
        </p:txBody>
      </p:sp>
      <p:sp>
        <p:nvSpPr>
          <p:cNvPr id="43" name="Text 41"/>
          <p:cNvSpPr/>
          <p:nvPr/>
        </p:nvSpPr>
        <p:spPr>
          <a:xfrm>
            <a:off x="6656832" y="4078224"/>
            <a:ext cx="93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</a:t>
            </a:r>
            <a:endParaRPr lang="en-US" sz="950"/>
          </a:p>
        </p:txBody>
      </p:sp>
      <p:sp>
        <p:nvSpPr>
          <p:cNvPr id="44" name="Shape 42"/>
          <p:cNvSpPr/>
          <p:nvPr/>
        </p:nvSpPr>
        <p:spPr>
          <a:xfrm>
            <a:off x="7644384" y="3703320"/>
            <a:ext cx="93268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644384" y="3730752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</a:t>
            </a:r>
            <a:endParaRPr lang="en-US" sz="1800"/>
          </a:p>
        </p:txBody>
      </p:sp>
      <p:sp>
        <p:nvSpPr>
          <p:cNvPr id="46" name="Text 44"/>
          <p:cNvSpPr/>
          <p:nvPr/>
        </p:nvSpPr>
        <p:spPr>
          <a:xfrm>
            <a:off x="7644384" y="4078224"/>
            <a:ext cx="93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</a:t>
            </a:r>
            <a:endParaRPr lang="en-US" sz="9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3200400" cy="3200400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822960" y="3291840"/>
            <a:ext cx="2743200" cy="2743200"/>
          </a:xfrm>
          <a:prstGeom prst="ellipse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Multi-Threading Rule</a:t>
            </a:r>
            <a:endParaRPr lang="en-US" sz="360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1463040" cy="1234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30759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/>
          </a:p>
        </p:txBody>
      </p:sp>
      <p:sp>
        <p:nvSpPr>
          <p:cNvPr id="7" name="Text 5"/>
          <p:cNvSpPr/>
          <p:nvPr/>
        </p:nvSpPr>
        <p:spPr>
          <a:xfrm>
            <a:off x="320040" y="18288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150"/>
          </a:p>
          <a:p>
            <a:pPr marL="0" indent="0" algn="ctr">
              <a:buNone/>
            </a:pPr>
            <a:r>
              <a:rPr lang="en-US" sz="115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150"/>
          </a:p>
        </p:txBody>
      </p:sp>
      <p:sp>
        <p:nvSpPr>
          <p:cNvPr id="8" name="Text 6"/>
          <p:cNvSpPr/>
          <p:nvPr/>
        </p:nvSpPr>
        <p:spPr>
          <a:xfrm>
            <a:off x="1792224" y="1627632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7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/>
          </a:p>
        </p:txBody>
      </p:sp>
      <p:sp>
        <p:nvSpPr>
          <p:cNvPr id="9" name="Shape 7"/>
          <p:cNvSpPr/>
          <p:nvPr/>
        </p:nvSpPr>
        <p:spPr>
          <a:xfrm>
            <a:off x="1915668" y="1261872"/>
            <a:ext cx="1463040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915668" y="130759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/>
          </a:p>
        </p:txBody>
      </p:sp>
      <p:sp>
        <p:nvSpPr>
          <p:cNvPr id="11" name="Text 9"/>
          <p:cNvSpPr/>
          <p:nvPr/>
        </p:nvSpPr>
        <p:spPr>
          <a:xfrm>
            <a:off x="1915668" y="18288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150"/>
          </a:p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1150"/>
          </a:p>
        </p:txBody>
      </p:sp>
      <p:sp>
        <p:nvSpPr>
          <p:cNvPr id="12" name="Text 10"/>
          <p:cNvSpPr/>
          <p:nvPr/>
        </p:nvSpPr>
        <p:spPr>
          <a:xfrm>
            <a:off x="3387852" y="1627632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7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/>
          </a:p>
        </p:txBody>
      </p:sp>
      <p:sp>
        <p:nvSpPr>
          <p:cNvPr id="13" name="Shape 11"/>
          <p:cNvSpPr/>
          <p:nvPr/>
        </p:nvSpPr>
        <p:spPr>
          <a:xfrm>
            <a:off x="3511296" y="1261872"/>
            <a:ext cx="1463040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511296" y="130759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/>
          </a:p>
        </p:txBody>
      </p:sp>
      <p:sp>
        <p:nvSpPr>
          <p:cNvPr id="15" name="Text 13"/>
          <p:cNvSpPr/>
          <p:nvPr/>
        </p:nvSpPr>
        <p:spPr>
          <a:xfrm>
            <a:off x="3511296" y="18288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150"/>
          </a:p>
          <a:p>
            <a:pPr marL="0" indent="0" algn="ctr">
              <a:buNone/>
            </a:pPr>
            <a:r>
              <a:rPr lang="en-US" sz="115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</a:t>
            </a:r>
            <a:endParaRPr lang="en-US" sz="1150"/>
          </a:p>
        </p:txBody>
      </p:sp>
      <p:sp>
        <p:nvSpPr>
          <p:cNvPr id="16" name="Text 14"/>
          <p:cNvSpPr/>
          <p:nvPr/>
        </p:nvSpPr>
        <p:spPr>
          <a:xfrm>
            <a:off x="4983480" y="1627632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7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/>
          </a:p>
        </p:txBody>
      </p:sp>
      <p:sp>
        <p:nvSpPr>
          <p:cNvPr id="17" name="Shape 15"/>
          <p:cNvSpPr/>
          <p:nvPr/>
        </p:nvSpPr>
        <p:spPr>
          <a:xfrm>
            <a:off x="5106924" y="1261872"/>
            <a:ext cx="1463040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106924" y="130759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/>
          </a:p>
        </p:txBody>
      </p:sp>
      <p:sp>
        <p:nvSpPr>
          <p:cNvPr id="19" name="Text 17"/>
          <p:cNvSpPr/>
          <p:nvPr/>
        </p:nvSpPr>
        <p:spPr>
          <a:xfrm>
            <a:off x="5106924" y="18288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Multi-</a:t>
            </a:r>
            <a:endParaRPr lang="en-US" sz="1150"/>
          </a:p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</a:t>
            </a:r>
            <a:endParaRPr lang="en-US" sz="1150"/>
          </a:p>
        </p:txBody>
      </p:sp>
      <p:sp>
        <p:nvSpPr>
          <p:cNvPr id="20" name="Text 18"/>
          <p:cNvSpPr/>
          <p:nvPr/>
        </p:nvSpPr>
        <p:spPr>
          <a:xfrm>
            <a:off x="6579108" y="1627632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7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/>
          </a:p>
        </p:txBody>
      </p:sp>
      <p:sp>
        <p:nvSpPr>
          <p:cNvPr id="21" name="Shape 19"/>
          <p:cNvSpPr/>
          <p:nvPr/>
        </p:nvSpPr>
        <p:spPr>
          <a:xfrm>
            <a:off x="6702552" y="1261872"/>
            <a:ext cx="1463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02552" y="130759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/>
          </a:p>
        </p:txBody>
      </p:sp>
      <p:sp>
        <p:nvSpPr>
          <p:cNvPr id="23" name="Text 21"/>
          <p:cNvSpPr/>
          <p:nvPr/>
        </p:nvSpPr>
        <p:spPr>
          <a:xfrm>
            <a:off x="6702552" y="18288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 Handoff</a:t>
            </a:r>
            <a:endParaRPr lang="en-US" sz="1150"/>
          </a:p>
          <a:p>
            <a:pPr marL="0" indent="0" algn="ctr">
              <a:buNone/>
            </a:pPr>
            <a:r>
              <a:rPr lang="en-US" sz="11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150"/>
          </a:p>
        </p:txBody>
      </p:sp>
      <p:sp>
        <p:nvSpPr>
          <p:cNvPr id="24" name="Shape 22"/>
          <p:cNvSpPr/>
          <p:nvPr/>
        </p:nvSpPr>
        <p:spPr>
          <a:xfrm>
            <a:off x="320040" y="2743200"/>
            <a:ext cx="2606040" cy="1828800"/>
          </a:xfrm>
          <a:prstGeom prst="rect">
            <a:avLst/>
          </a:prstGeom>
          <a:solidFill>
            <a:srgbClr val="028090"/>
          </a:solidFill>
          <a:ln/>
          <a:effectLst>
            <a:outerShdw blurRad="889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2834640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Steele Salon (8 locations)</a:t>
            </a:r>
            <a:endParaRPr lang="en-US" sz="1300"/>
          </a:p>
        </p:txBody>
      </p:sp>
      <p:sp>
        <p:nvSpPr>
          <p:cNvPr id="26" name="Text 24"/>
          <p:cNvSpPr/>
          <p:nvPr/>
        </p:nvSpPr>
        <p:spPr>
          <a:xfrm>
            <a:off x="457200" y="3310128"/>
            <a:ext cx="23500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to CEO Amanda Hair. Jennifer Barber is GM — not economic buyer. Also engage Office Mgr for finance.</a:t>
            </a:r>
            <a:endParaRPr lang="en-US" sz="1250"/>
          </a:p>
        </p:txBody>
      </p:sp>
      <p:sp>
        <p:nvSpPr>
          <p:cNvPr id="27" name="Shape 25"/>
          <p:cNvSpPr/>
          <p:nvPr/>
        </p:nvSpPr>
        <p:spPr>
          <a:xfrm>
            <a:off x="3131820" y="2743200"/>
            <a:ext cx="2606040" cy="1828800"/>
          </a:xfrm>
          <a:prstGeom prst="rect">
            <a:avLst/>
          </a:prstGeom>
          <a:solidFill>
            <a:srgbClr val="F59E0B"/>
          </a:solidFill>
          <a:ln/>
          <a:effectLst>
            <a:outerShdw blurRad="889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68980" y="2834640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Haircuts (4 locations)</a:t>
            </a:r>
            <a:endParaRPr lang="en-US" sz="1300"/>
          </a:p>
        </p:txBody>
      </p:sp>
      <p:sp>
        <p:nvSpPr>
          <p:cNvPr id="29" name="Text 27"/>
          <p:cNvSpPr/>
          <p:nvPr/>
        </p:nvSpPr>
        <p:spPr>
          <a:xfrm>
            <a:off x="3268980" y="3310128"/>
            <a:ext cx="23500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David &amp; Greg are both reachable &amp; make all calls. Lead with independence, not enterprise. Josh = ops thread.</a:t>
            </a:r>
            <a:endParaRPr lang="en-US" sz="1250"/>
          </a:p>
        </p:txBody>
      </p:sp>
      <p:sp>
        <p:nvSpPr>
          <p:cNvPr id="30" name="Shape 28"/>
          <p:cNvSpPr/>
          <p:nvPr/>
        </p:nvSpPr>
        <p:spPr>
          <a:xfrm>
            <a:off x="5943600" y="2743200"/>
            <a:ext cx="2606040" cy="1828800"/>
          </a:xfrm>
          <a:prstGeom prst="rect">
            <a:avLst/>
          </a:prstGeom>
          <a:solidFill>
            <a:srgbClr val="C0392B"/>
          </a:solidFill>
          <a:ln/>
          <a:effectLst>
            <a:outerShdw blurRad="889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080760" y="2834640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or PE-backed?</a:t>
            </a:r>
            <a:endParaRPr lang="en-US" sz="1300"/>
          </a:p>
        </p:txBody>
      </p:sp>
      <p:sp>
        <p:nvSpPr>
          <p:cNvPr id="32" name="Text 30"/>
          <p:cNvSpPr/>
          <p:nvPr/>
        </p:nvSpPr>
        <p:spPr>
          <a:xfrm>
            <a:off x="6080760" y="3310128"/>
            <a:ext cx="23500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full account map. Engage C-suite and finance before AE handoff. Multi-threading is mandatory.</a:t>
            </a:r>
            <a:endParaRPr lang="en-US" sz="1250"/>
          </a:p>
        </p:txBody>
      </p:sp>
      <p:sp>
        <p:nvSpPr>
          <p:cNvPr id="33" name="Text 31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7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Meevo  ·  SDR Training  ·  Multi-Threading Playbook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15</Slides>
  <Notes>15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SDR Multi-Threading Guide</dc:title>
  <dc:subject>PptxGenJS Presentation</dc:subject>
  <dc:creator>PptxGenJS</dc:creator>
  <cp:revision>1</cp:revision>
  <dcterms:created xsi:type="dcterms:W3CDTF">2026-02-19T21:28:33Z</dcterms:created>
  <dcterms:modified xsi:type="dcterms:W3CDTF">2026-02-20T14:29:43Z</dcterms:modified>
</cp:coreProperties>
</file>