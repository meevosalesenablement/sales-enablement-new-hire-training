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6"/>
    <p:sldId id="262" r:id="rId7"/>
    <p:sldId id="263" r:id="rId8"/>
    <p:sldId id="265"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369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4A5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txBody>
          <a:bodyPr/>
          <a:lstStyle/>
          <a:p>
            <a:endParaRPr lang="en-US"/>
          </a:p>
        </p:txBody>
      </p:sp>
      <p:sp>
        <p:nvSpPr>
          <p:cNvPr id="3" name="Shape 1"/>
          <p:cNvSpPr/>
          <p:nvPr/>
        </p:nvSpPr>
        <p:spPr>
          <a:xfrm>
            <a:off x="3886200" y="457200"/>
            <a:ext cx="1371600" cy="1371600"/>
          </a:xfrm>
          <a:prstGeom prst="ellipse">
            <a:avLst/>
          </a:prstGeom>
          <a:solidFill>
            <a:srgbClr val="3A6B7A"/>
          </a:solidFill>
          <a:ln/>
          <a:effectLst>
            <a:outerShdw blurRad="76200" dist="25400" dir="8100000" algn="bl" rotWithShape="0">
              <a:srgbClr val="000000">
                <a:alpha val="1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4160520" y="731520"/>
            <a:ext cx="822960" cy="822960"/>
          </a:xfrm>
          <a:prstGeom prst="rect">
            <a:avLst/>
          </a:prstGeom>
        </p:spPr>
      </p:pic>
      <p:sp>
        <p:nvSpPr>
          <p:cNvPr id="5" name="Text 2"/>
          <p:cNvSpPr/>
          <p:nvPr/>
        </p:nvSpPr>
        <p:spPr>
          <a:xfrm>
            <a:off x="457200" y="1920240"/>
            <a:ext cx="8229600" cy="1097280"/>
          </a:xfrm>
          <a:prstGeom prst="rect">
            <a:avLst/>
          </a:prstGeom>
          <a:noFill/>
          <a:ln/>
        </p:spPr>
        <p:txBody>
          <a:bodyPr wrap="square" lIns="0" tIns="0" rIns="0" bIns="0"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Objection Handling</a:t>
            </a:r>
            <a:endParaRPr lang="en-US" sz="4200" dirty="0"/>
          </a:p>
          <a:p>
            <a:pPr marL="0" indent="0" algn="ctr">
              <a:buNone/>
            </a:pPr>
            <a:r>
              <a:rPr lang="en-US" sz="4200" b="1" dirty="0">
                <a:solidFill>
                  <a:srgbClr val="FFFFFF"/>
                </a:solidFill>
                <a:latin typeface="Georgia" pitchFamily="34" charset="0"/>
                <a:ea typeface="Georgia" pitchFamily="34" charset="-122"/>
                <a:cs typeface="Georgia" pitchFamily="34" charset="-120"/>
              </a:rPr>
              <a:t>Mastery</a:t>
            </a:r>
            <a:endParaRPr lang="en-US" sz="4200" dirty="0"/>
          </a:p>
        </p:txBody>
      </p:sp>
      <p:sp>
        <p:nvSpPr>
          <p:cNvPr id="6" name="Text 3"/>
          <p:cNvSpPr/>
          <p:nvPr/>
        </p:nvSpPr>
        <p:spPr>
          <a:xfrm>
            <a:off x="457200" y="3017520"/>
            <a:ext cx="8229600" cy="411480"/>
          </a:xfrm>
          <a:prstGeom prst="rect">
            <a:avLst/>
          </a:prstGeom>
          <a:noFill/>
          <a:ln/>
        </p:spPr>
        <p:txBody>
          <a:bodyPr wrap="square" lIns="0" tIns="0" rIns="0" bIns="0" rtlCol="0" anchor="ctr"/>
          <a:lstStyle/>
          <a:p>
            <a:pPr marL="0" indent="0" algn="ctr">
              <a:buNone/>
            </a:pPr>
            <a:r>
              <a:rPr lang="en-US" sz="1600" dirty="0">
                <a:solidFill>
                  <a:srgbClr val="C9A84C"/>
                </a:solidFill>
                <a:latin typeface="Calibri" pitchFamily="34" charset="0"/>
                <a:ea typeface="Calibri" pitchFamily="34" charset="-122"/>
                <a:cs typeface="Calibri" pitchFamily="34" charset="-120"/>
              </a:rPr>
              <a:t>Proven Techniques to Turn No Into Next Steps</a:t>
            </a:r>
            <a:endParaRPr lang="en-US" sz="1600" dirty="0"/>
          </a:p>
        </p:txBody>
      </p:sp>
      <p:sp>
        <p:nvSpPr>
          <p:cNvPr id="7" name="Text 4"/>
          <p:cNvSpPr/>
          <p:nvPr/>
        </p:nvSpPr>
        <p:spPr>
          <a:xfrm>
            <a:off x="457200" y="3657600"/>
            <a:ext cx="8229600" cy="365760"/>
          </a:xfrm>
          <a:prstGeom prst="rect">
            <a:avLst/>
          </a:prstGeom>
          <a:noFill/>
          <a:ln/>
        </p:spPr>
        <p:txBody>
          <a:bodyPr wrap="square" lIns="0" tIns="0" rIns="0" bIns="0" rtlCol="0" anchor="ctr"/>
          <a:lstStyle/>
          <a:p>
            <a:pPr marL="0" indent="0" algn="ctr">
              <a:buNone/>
            </a:pPr>
            <a:r>
              <a:rPr lang="en-US" sz="1100" dirty="0">
                <a:solidFill>
                  <a:srgbClr val="E8ECEE"/>
                </a:solidFill>
                <a:latin typeface="Calibri" pitchFamily="34" charset="0"/>
                <a:ea typeface="Calibri" pitchFamily="34" charset="-122"/>
                <a:cs typeface="Calibri" pitchFamily="34" charset="-120"/>
              </a:rPr>
              <a:t>Feel-Felt-Found  •  3-Step Framework  •  Acknowledge-Pivot-Prove  •  Boomerang  •  Isolation  •  Reframe  •  Test Drive</a:t>
            </a:r>
            <a:endParaRPr lang="en-US" sz="1100" dirty="0"/>
          </a:p>
        </p:txBody>
      </p:sp>
      <p:sp>
        <p:nvSpPr>
          <p:cNvPr id="8" name="Shape 5"/>
          <p:cNvSpPr/>
          <p:nvPr/>
        </p:nvSpPr>
        <p:spPr>
          <a:xfrm>
            <a:off x="0" y="4800600"/>
            <a:ext cx="9144000" cy="342900"/>
          </a:xfrm>
          <a:prstGeom prst="rect">
            <a:avLst/>
          </a:prstGeom>
          <a:solidFill>
            <a:srgbClr val="1C3039"/>
          </a:solidFill>
          <a:ln/>
        </p:spPr>
        <p:txBody>
          <a:bodyPr/>
          <a:lstStyle/>
          <a:p>
            <a:endParaRPr lang="en-US"/>
          </a:p>
        </p:txBody>
      </p:sp>
      <p:sp>
        <p:nvSpPr>
          <p:cNvPr id="9" name="Text 6"/>
          <p:cNvSpPr/>
          <p:nvPr/>
        </p:nvSpPr>
        <p:spPr>
          <a:xfrm>
            <a:off x="457200" y="4800600"/>
            <a:ext cx="8229600" cy="342900"/>
          </a:xfrm>
          <a:prstGeom prst="rect">
            <a:avLst/>
          </a:prstGeom>
          <a:noFill/>
          <a:ln/>
        </p:spPr>
        <p:txBody>
          <a:bodyPr wrap="square" lIns="0" tIns="0" rIns="0" bIns="0" rtlCol="0" anchor="ctr"/>
          <a:lstStyle/>
          <a:p>
            <a:pPr marL="0" indent="0" algn="ctr">
              <a:buNone/>
            </a:pPr>
            <a:r>
              <a:rPr lang="en-US" sz="1000" dirty="0">
                <a:solidFill>
                  <a:srgbClr val="E8ECEE"/>
                </a:solidFill>
                <a:latin typeface="Calibri" pitchFamily="34" charset="0"/>
                <a:ea typeface="Calibri" pitchFamily="34" charset="-122"/>
                <a:cs typeface="Calibri" pitchFamily="34" charset="-120"/>
              </a:rPr>
              <a:t>Meevo Sales Enablement  |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4A53"/>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20040" y="155448"/>
            <a:ext cx="384048" cy="384048"/>
          </a:xfrm>
          <a:prstGeom prst="rect">
            <a:avLst/>
          </a:prstGeom>
        </p:spPr>
      </p:pic>
      <p:sp>
        <p:nvSpPr>
          <p:cNvPr id="4" name="Text 1"/>
          <p:cNvSpPr/>
          <p:nvPr/>
        </p:nvSpPr>
        <p:spPr>
          <a:xfrm>
            <a:off x="822960" y="0"/>
            <a:ext cx="7863840" cy="7772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                 THE OBJECTION HANDLING MINDSET</a:t>
            </a:r>
            <a:endParaRPr lang="en-US" sz="2000" dirty="0"/>
          </a:p>
        </p:txBody>
      </p:sp>
      <p:sp>
        <p:nvSpPr>
          <p:cNvPr id="5" name="Shape 2"/>
          <p:cNvSpPr/>
          <p:nvPr/>
        </p:nvSpPr>
        <p:spPr>
          <a:xfrm>
            <a:off x="457200" y="914400"/>
            <a:ext cx="8229600" cy="594360"/>
          </a:xfrm>
          <a:prstGeom prst="rect">
            <a:avLst/>
          </a:prstGeom>
          <a:solidFill>
            <a:srgbClr val="2D4A53"/>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640080" y="914400"/>
            <a:ext cx="7863840" cy="5943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An objection is NOT a rejection. It's a request for more information — or a sign you haven't earned enough trust yet.</a:t>
            </a:r>
            <a:endParaRPr lang="en-US" sz="1300" dirty="0"/>
          </a:p>
        </p:txBody>
      </p:sp>
      <p:sp>
        <p:nvSpPr>
          <p:cNvPr id="7" name="Shape 4"/>
          <p:cNvSpPr/>
          <p:nvPr/>
        </p:nvSpPr>
        <p:spPr>
          <a:xfrm>
            <a:off x="457200" y="1737360"/>
            <a:ext cx="3200400" cy="594360"/>
          </a:xfrm>
          <a:prstGeom prst="rect">
            <a:avLst/>
          </a:prstGeom>
          <a:solidFill>
            <a:srgbClr val="FEF2F2"/>
          </a:solidFill>
          <a:ln/>
          <a:effectLst>
            <a:outerShdw blurRad="50800" dist="12700" dir="8100000" algn="bl" rotWithShape="0">
              <a:srgbClr val="000000">
                <a:alpha val="8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594360" y="1874520"/>
            <a:ext cx="228600" cy="228600"/>
          </a:xfrm>
          <a:prstGeom prst="rect">
            <a:avLst/>
          </a:prstGeom>
        </p:spPr>
      </p:pic>
      <p:sp>
        <p:nvSpPr>
          <p:cNvPr id="9" name="Text 5"/>
          <p:cNvSpPr/>
          <p:nvPr/>
        </p:nvSpPr>
        <p:spPr>
          <a:xfrm>
            <a:off x="914400" y="1737360"/>
            <a:ext cx="2560320" cy="594360"/>
          </a:xfrm>
          <a:prstGeom prst="rect">
            <a:avLst/>
          </a:prstGeom>
          <a:noFill/>
          <a:ln/>
        </p:spPr>
        <p:txBody>
          <a:bodyPr wrap="square" lIns="0" tIns="0" rIns="0" bIns="0" rtlCol="0" anchor="ctr"/>
          <a:lstStyle/>
          <a:p>
            <a:pPr marL="0" indent="0">
              <a:buNone/>
            </a:pPr>
            <a:r>
              <a:rPr lang="en-US" sz="1200" b="1" dirty="0">
                <a:solidFill>
                  <a:srgbClr val="DE350B"/>
                </a:solidFill>
                <a:latin typeface="Calibri" pitchFamily="34" charset="0"/>
                <a:ea typeface="Calibri" pitchFamily="34" charset="-122"/>
                <a:cs typeface="Calibri" pitchFamily="34" charset="-120"/>
              </a:rPr>
              <a:t>They said no</a:t>
            </a:r>
            <a:endParaRPr lang="en-US" sz="1200" dirty="0"/>
          </a:p>
        </p:txBody>
      </p:sp>
      <p:pic>
        <p:nvPicPr>
          <p:cNvPr id="10" name="Image 2" descr="preencoded.png"/>
          <p:cNvPicPr>
            <a:picLocks noChangeAspect="1"/>
          </p:cNvPicPr>
          <p:nvPr/>
        </p:nvPicPr>
        <p:blipFill>
          <a:blip r:embed="rId5"/>
          <a:stretch>
            <a:fillRect/>
          </a:stretch>
        </p:blipFill>
        <p:spPr>
          <a:xfrm>
            <a:off x="3794760" y="1901952"/>
            <a:ext cx="228600" cy="228600"/>
          </a:xfrm>
          <a:prstGeom prst="rect">
            <a:avLst/>
          </a:prstGeom>
        </p:spPr>
      </p:pic>
      <p:sp>
        <p:nvSpPr>
          <p:cNvPr id="11" name="Shape 6"/>
          <p:cNvSpPr/>
          <p:nvPr/>
        </p:nvSpPr>
        <p:spPr>
          <a:xfrm>
            <a:off x="4206240" y="1737360"/>
            <a:ext cx="4480560" cy="594360"/>
          </a:xfrm>
          <a:prstGeom prst="rect">
            <a:avLst/>
          </a:prstGeom>
          <a:solidFill>
            <a:srgbClr val="F0FDF4"/>
          </a:solidFill>
          <a:ln/>
          <a:effectLst>
            <a:outerShdw blurRad="50800" dist="12700" dir="8100000" algn="bl" rotWithShape="0">
              <a:srgbClr val="000000">
                <a:alpha val="8000"/>
              </a:srgbClr>
            </a:outerShdw>
          </a:effectLst>
        </p:spPr>
        <p:txBody>
          <a:bodyPr/>
          <a:lstStyle/>
          <a:p>
            <a:endParaRPr lang="en-US"/>
          </a:p>
        </p:txBody>
      </p:sp>
      <p:pic>
        <p:nvPicPr>
          <p:cNvPr id="12" name="Image 3" descr="preencoded.png"/>
          <p:cNvPicPr>
            <a:picLocks noChangeAspect="1"/>
          </p:cNvPicPr>
          <p:nvPr/>
        </p:nvPicPr>
        <p:blipFill>
          <a:blip r:embed="rId6"/>
          <a:stretch>
            <a:fillRect/>
          </a:stretch>
        </p:blipFill>
        <p:spPr>
          <a:xfrm>
            <a:off x="4343400" y="1874520"/>
            <a:ext cx="228600" cy="228600"/>
          </a:xfrm>
          <a:prstGeom prst="rect">
            <a:avLst/>
          </a:prstGeom>
        </p:spPr>
      </p:pic>
      <p:sp>
        <p:nvSpPr>
          <p:cNvPr id="13" name="Text 7"/>
          <p:cNvSpPr/>
          <p:nvPr/>
        </p:nvSpPr>
        <p:spPr>
          <a:xfrm>
            <a:off x="4663440" y="1737360"/>
            <a:ext cx="3840480" cy="594360"/>
          </a:xfrm>
          <a:prstGeom prst="rect">
            <a:avLst/>
          </a:prstGeom>
          <a:noFill/>
          <a:ln/>
        </p:spPr>
        <p:txBody>
          <a:bodyPr wrap="square" lIns="0" tIns="0" rIns="0" bIns="0" rtlCol="0" anchor="ctr"/>
          <a:lstStyle/>
          <a:p>
            <a:pPr marL="0" indent="0">
              <a:buNone/>
            </a:pPr>
            <a:r>
              <a:rPr lang="en-US" sz="1200" b="1" dirty="0">
                <a:solidFill>
                  <a:srgbClr val="22A06B"/>
                </a:solidFill>
                <a:latin typeface="Calibri" pitchFamily="34" charset="0"/>
                <a:ea typeface="Calibri" pitchFamily="34" charset="-122"/>
                <a:cs typeface="Calibri" pitchFamily="34" charset="-120"/>
              </a:rPr>
              <a:t>They need more info</a:t>
            </a:r>
            <a:endParaRPr lang="en-US" sz="1200" dirty="0"/>
          </a:p>
        </p:txBody>
      </p:sp>
      <p:sp>
        <p:nvSpPr>
          <p:cNvPr id="14" name="Shape 8"/>
          <p:cNvSpPr/>
          <p:nvPr/>
        </p:nvSpPr>
        <p:spPr>
          <a:xfrm>
            <a:off x="457200" y="2514600"/>
            <a:ext cx="3200400" cy="594360"/>
          </a:xfrm>
          <a:prstGeom prst="rect">
            <a:avLst/>
          </a:prstGeom>
          <a:solidFill>
            <a:srgbClr val="FEF2F2"/>
          </a:solidFill>
          <a:ln/>
          <a:effectLst>
            <a:outerShdw blurRad="50800" dist="12700" dir="8100000" algn="bl" rotWithShape="0">
              <a:srgbClr val="000000">
                <a:alpha val="8000"/>
              </a:srgbClr>
            </a:outerShdw>
          </a:effectLst>
        </p:spPr>
        <p:txBody>
          <a:bodyPr/>
          <a:lstStyle/>
          <a:p>
            <a:endParaRPr lang="en-US"/>
          </a:p>
        </p:txBody>
      </p:sp>
      <p:pic>
        <p:nvPicPr>
          <p:cNvPr id="15" name="Image 4" descr="preencoded.png"/>
          <p:cNvPicPr>
            <a:picLocks noChangeAspect="1"/>
          </p:cNvPicPr>
          <p:nvPr/>
        </p:nvPicPr>
        <p:blipFill>
          <a:blip r:embed="rId4"/>
          <a:stretch>
            <a:fillRect/>
          </a:stretch>
        </p:blipFill>
        <p:spPr>
          <a:xfrm>
            <a:off x="594360" y="2651760"/>
            <a:ext cx="228600" cy="228600"/>
          </a:xfrm>
          <a:prstGeom prst="rect">
            <a:avLst/>
          </a:prstGeom>
        </p:spPr>
      </p:pic>
      <p:sp>
        <p:nvSpPr>
          <p:cNvPr id="16" name="Text 9"/>
          <p:cNvSpPr/>
          <p:nvPr/>
        </p:nvSpPr>
        <p:spPr>
          <a:xfrm>
            <a:off x="914400" y="2514600"/>
            <a:ext cx="2560320" cy="594360"/>
          </a:xfrm>
          <a:prstGeom prst="rect">
            <a:avLst/>
          </a:prstGeom>
          <a:noFill/>
          <a:ln/>
        </p:spPr>
        <p:txBody>
          <a:bodyPr wrap="square" lIns="0" tIns="0" rIns="0" bIns="0" rtlCol="0" anchor="ctr"/>
          <a:lstStyle/>
          <a:p>
            <a:pPr marL="0" indent="0">
              <a:buNone/>
            </a:pPr>
            <a:r>
              <a:rPr lang="en-US" sz="1200" b="1" dirty="0">
                <a:solidFill>
                  <a:srgbClr val="DE350B"/>
                </a:solidFill>
                <a:latin typeface="Calibri" pitchFamily="34" charset="0"/>
                <a:ea typeface="Calibri" pitchFamily="34" charset="-122"/>
                <a:cs typeface="Calibri" pitchFamily="34" charset="-120"/>
              </a:rPr>
              <a:t>I need to convince them</a:t>
            </a:r>
            <a:endParaRPr lang="en-US" sz="1200" dirty="0"/>
          </a:p>
        </p:txBody>
      </p:sp>
      <p:pic>
        <p:nvPicPr>
          <p:cNvPr id="17" name="Image 5" descr="preencoded.png"/>
          <p:cNvPicPr>
            <a:picLocks noChangeAspect="1"/>
          </p:cNvPicPr>
          <p:nvPr/>
        </p:nvPicPr>
        <p:blipFill>
          <a:blip r:embed="rId5"/>
          <a:stretch>
            <a:fillRect/>
          </a:stretch>
        </p:blipFill>
        <p:spPr>
          <a:xfrm>
            <a:off x="3794760" y="2679192"/>
            <a:ext cx="228600" cy="228600"/>
          </a:xfrm>
          <a:prstGeom prst="rect">
            <a:avLst/>
          </a:prstGeom>
        </p:spPr>
      </p:pic>
      <p:sp>
        <p:nvSpPr>
          <p:cNvPr id="18" name="Shape 10"/>
          <p:cNvSpPr/>
          <p:nvPr/>
        </p:nvSpPr>
        <p:spPr>
          <a:xfrm>
            <a:off x="4206240" y="2514600"/>
            <a:ext cx="4480560" cy="594360"/>
          </a:xfrm>
          <a:prstGeom prst="rect">
            <a:avLst/>
          </a:prstGeom>
          <a:solidFill>
            <a:srgbClr val="F0FDF4"/>
          </a:solidFill>
          <a:ln/>
          <a:effectLst>
            <a:outerShdw blurRad="50800" dist="12700" dir="8100000" algn="bl" rotWithShape="0">
              <a:srgbClr val="000000">
                <a:alpha val="8000"/>
              </a:srgbClr>
            </a:outerShdw>
          </a:effectLst>
        </p:spPr>
        <p:txBody>
          <a:bodyPr/>
          <a:lstStyle/>
          <a:p>
            <a:endParaRPr lang="en-US"/>
          </a:p>
        </p:txBody>
      </p:sp>
      <p:pic>
        <p:nvPicPr>
          <p:cNvPr id="19" name="Image 6" descr="preencoded.png"/>
          <p:cNvPicPr>
            <a:picLocks noChangeAspect="1"/>
          </p:cNvPicPr>
          <p:nvPr/>
        </p:nvPicPr>
        <p:blipFill>
          <a:blip r:embed="rId6"/>
          <a:stretch>
            <a:fillRect/>
          </a:stretch>
        </p:blipFill>
        <p:spPr>
          <a:xfrm>
            <a:off x="4343400" y="2651760"/>
            <a:ext cx="228600" cy="228600"/>
          </a:xfrm>
          <a:prstGeom prst="rect">
            <a:avLst/>
          </a:prstGeom>
        </p:spPr>
      </p:pic>
      <p:sp>
        <p:nvSpPr>
          <p:cNvPr id="20" name="Text 11"/>
          <p:cNvSpPr/>
          <p:nvPr/>
        </p:nvSpPr>
        <p:spPr>
          <a:xfrm>
            <a:off x="4663440" y="2514600"/>
            <a:ext cx="3840480" cy="594360"/>
          </a:xfrm>
          <a:prstGeom prst="rect">
            <a:avLst/>
          </a:prstGeom>
          <a:noFill/>
          <a:ln/>
        </p:spPr>
        <p:txBody>
          <a:bodyPr wrap="square" lIns="0" tIns="0" rIns="0" bIns="0" rtlCol="0" anchor="ctr"/>
          <a:lstStyle/>
          <a:p>
            <a:pPr marL="0" indent="0">
              <a:buNone/>
            </a:pPr>
            <a:r>
              <a:rPr lang="en-US" sz="1200" b="1" dirty="0">
                <a:solidFill>
                  <a:srgbClr val="22A06B"/>
                </a:solidFill>
                <a:latin typeface="Calibri" pitchFamily="34" charset="0"/>
                <a:ea typeface="Calibri" pitchFamily="34" charset="-122"/>
                <a:cs typeface="Calibri" pitchFamily="34" charset="-120"/>
              </a:rPr>
              <a:t>I need to understand them</a:t>
            </a:r>
            <a:endParaRPr lang="en-US" sz="1200" dirty="0"/>
          </a:p>
        </p:txBody>
      </p:sp>
      <p:sp>
        <p:nvSpPr>
          <p:cNvPr id="21" name="Shape 12"/>
          <p:cNvSpPr/>
          <p:nvPr/>
        </p:nvSpPr>
        <p:spPr>
          <a:xfrm>
            <a:off x="457200" y="3291840"/>
            <a:ext cx="3200400" cy="594360"/>
          </a:xfrm>
          <a:prstGeom prst="rect">
            <a:avLst/>
          </a:prstGeom>
          <a:solidFill>
            <a:srgbClr val="FEF2F2"/>
          </a:solidFill>
          <a:ln/>
          <a:effectLst>
            <a:outerShdw blurRad="50800" dist="12700" dir="8100000" algn="bl" rotWithShape="0">
              <a:srgbClr val="000000">
                <a:alpha val="8000"/>
              </a:srgbClr>
            </a:outerShdw>
          </a:effectLst>
        </p:spPr>
        <p:txBody>
          <a:bodyPr/>
          <a:lstStyle/>
          <a:p>
            <a:endParaRPr lang="en-US"/>
          </a:p>
        </p:txBody>
      </p:sp>
      <p:pic>
        <p:nvPicPr>
          <p:cNvPr id="22" name="Image 7" descr="preencoded.png"/>
          <p:cNvPicPr>
            <a:picLocks noChangeAspect="1"/>
          </p:cNvPicPr>
          <p:nvPr/>
        </p:nvPicPr>
        <p:blipFill>
          <a:blip r:embed="rId4"/>
          <a:stretch>
            <a:fillRect/>
          </a:stretch>
        </p:blipFill>
        <p:spPr>
          <a:xfrm>
            <a:off x="594360" y="3429000"/>
            <a:ext cx="228600" cy="228600"/>
          </a:xfrm>
          <a:prstGeom prst="rect">
            <a:avLst/>
          </a:prstGeom>
        </p:spPr>
      </p:pic>
      <p:sp>
        <p:nvSpPr>
          <p:cNvPr id="23" name="Text 13"/>
          <p:cNvSpPr/>
          <p:nvPr/>
        </p:nvSpPr>
        <p:spPr>
          <a:xfrm>
            <a:off x="914400" y="3291840"/>
            <a:ext cx="2560320" cy="594360"/>
          </a:xfrm>
          <a:prstGeom prst="rect">
            <a:avLst/>
          </a:prstGeom>
          <a:noFill/>
          <a:ln/>
        </p:spPr>
        <p:txBody>
          <a:bodyPr wrap="square" lIns="0" tIns="0" rIns="0" bIns="0" rtlCol="0" anchor="ctr"/>
          <a:lstStyle/>
          <a:p>
            <a:pPr marL="0" indent="0">
              <a:buNone/>
            </a:pPr>
            <a:r>
              <a:rPr lang="en-US" sz="1200" b="1" dirty="0">
                <a:solidFill>
                  <a:srgbClr val="DE350B"/>
                </a:solidFill>
                <a:latin typeface="Calibri" pitchFamily="34" charset="0"/>
                <a:ea typeface="Calibri" pitchFamily="34" charset="-122"/>
                <a:cs typeface="Calibri" pitchFamily="34" charset="-120"/>
              </a:rPr>
              <a:t>Objections = failure</a:t>
            </a:r>
            <a:endParaRPr lang="en-US" sz="1200" dirty="0"/>
          </a:p>
        </p:txBody>
      </p:sp>
      <p:pic>
        <p:nvPicPr>
          <p:cNvPr id="24" name="Image 8" descr="preencoded.png"/>
          <p:cNvPicPr>
            <a:picLocks noChangeAspect="1"/>
          </p:cNvPicPr>
          <p:nvPr/>
        </p:nvPicPr>
        <p:blipFill>
          <a:blip r:embed="rId5"/>
          <a:stretch>
            <a:fillRect/>
          </a:stretch>
        </p:blipFill>
        <p:spPr>
          <a:xfrm>
            <a:off x="3794760" y="3456432"/>
            <a:ext cx="228600" cy="228600"/>
          </a:xfrm>
          <a:prstGeom prst="rect">
            <a:avLst/>
          </a:prstGeom>
        </p:spPr>
      </p:pic>
      <p:sp>
        <p:nvSpPr>
          <p:cNvPr id="25" name="Shape 14"/>
          <p:cNvSpPr/>
          <p:nvPr/>
        </p:nvSpPr>
        <p:spPr>
          <a:xfrm>
            <a:off x="4206240" y="3291840"/>
            <a:ext cx="4480560" cy="594360"/>
          </a:xfrm>
          <a:prstGeom prst="rect">
            <a:avLst/>
          </a:prstGeom>
          <a:solidFill>
            <a:srgbClr val="F0FDF4"/>
          </a:solidFill>
          <a:ln/>
          <a:effectLst>
            <a:outerShdw blurRad="50800" dist="12700" dir="8100000" algn="bl" rotWithShape="0">
              <a:srgbClr val="000000">
                <a:alpha val="8000"/>
              </a:srgbClr>
            </a:outerShdw>
          </a:effectLst>
        </p:spPr>
        <p:txBody>
          <a:bodyPr/>
          <a:lstStyle/>
          <a:p>
            <a:endParaRPr lang="en-US"/>
          </a:p>
        </p:txBody>
      </p:sp>
      <p:pic>
        <p:nvPicPr>
          <p:cNvPr id="26" name="Image 9" descr="preencoded.png"/>
          <p:cNvPicPr>
            <a:picLocks noChangeAspect="1"/>
          </p:cNvPicPr>
          <p:nvPr/>
        </p:nvPicPr>
        <p:blipFill>
          <a:blip r:embed="rId6"/>
          <a:stretch>
            <a:fillRect/>
          </a:stretch>
        </p:blipFill>
        <p:spPr>
          <a:xfrm>
            <a:off x="4343400" y="3429000"/>
            <a:ext cx="228600" cy="228600"/>
          </a:xfrm>
          <a:prstGeom prst="rect">
            <a:avLst/>
          </a:prstGeom>
        </p:spPr>
      </p:pic>
      <p:sp>
        <p:nvSpPr>
          <p:cNvPr id="27" name="Text 15"/>
          <p:cNvSpPr/>
          <p:nvPr/>
        </p:nvSpPr>
        <p:spPr>
          <a:xfrm>
            <a:off x="4663440" y="3291840"/>
            <a:ext cx="3840480" cy="594360"/>
          </a:xfrm>
          <a:prstGeom prst="rect">
            <a:avLst/>
          </a:prstGeom>
          <a:noFill/>
          <a:ln/>
        </p:spPr>
        <p:txBody>
          <a:bodyPr wrap="square" lIns="0" tIns="0" rIns="0" bIns="0" rtlCol="0" anchor="ctr"/>
          <a:lstStyle/>
          <a:p>
            <a:pPr marL="0" indent="0">
              <a:buNone/>
            </a:pPr>
            <a:r>
              <a:rPr lang="en-US" sz="1200" b="1" dirty="0">
                <a:solidFill>
                  <a:srgbClr val="22A06B"/>
                </a:solidFill>
                <a:latin typeface="Calibri" pitchFamily="34" charset="0"/>
                <a:ea typeface="Calibri" pitchFamily="34" charset="-122"/>
                <a:cs typeface="Calibri" pitchFamily="34" charset="-120"/>
              </a:rPr>
              <a:t>Objections = engagement</a:t>
            </a:r>
            <a:endParaRPr lang="en-US" sz="1200" dirty="0"/>
          </a:p>
        </p:txBody>
      </p:sp>
      <p:sp>
        <p:nvSpPr>
          <p:cNvPr id="28" name="Shape 16"/>
          <p:cNvSpPr/>
          <p:nvPr/>
        </p:nvSpPr>
        <p:spPr>
          <a:xfrm>
            <a:off x="457200" y="4160520"/>
            <a:ext cx="8229600" cy="502920"/>
          </a:xfrm>
          <a:prstGeom prst="rect">
            <a:avLst/>
          </a:prstGeom>
          <a:solidFill>
            <a:srgbClr val="1C3039"/>
          </a:solidFill>
          <a:ln/>
        </p:spPr>
        <p:txBody>
          <a:bodyPr/>
          <a:lstStyle/>
          <a:p>
            <a:endParaRPr lang="en-US"/>
          </a:p>
        </p:txBody>
      </p:sp>
      <p:sp>
        <p:nvSpPr>
          <p:cNvPr id="29" name="Text 17"/>
          <p:cNvSpPr/>
          <p:nvPr/>
        </p:nvSpPr>
        <p:spPr>
          <a:xfrm>
            <a:off x="1167618" y="4160520"/>
            <a:ext cx="7863840" cy="502920"/>
          </a:xfrm>
          <a:prstGeom prst="rect">
            <a:avLst/>
          </a:prstGeom>
          <a:noFill/>
          <a:ln/>
        </p:spPr>
        <p:txBody>
          <a:bodyPr wrap="square" lIns="0" tIns="0" rIns="0" bIns="0" rtlCol="0" anchor="ctr"/>
          <a:lstStyle/>
          <a:p>
            <a:pPr marL="0" indent="0">
              <a:buNone/>
            </a:pPr>
            <a:r>
              <a:rPr lang="en-US" sz="1100" b="1" dirty="0">
                <a:solidFill>
                  <a:schemeClr val="bg1"/>
                </a:solidFill>
                <a:latin typeface="Calibri" pitchFamily="34" charset="0"/>
                <a:ea typeface="Calibri" pitchFamily="34" charset="-122"/>
                <a:cs typeface="Calibri" pitchFamily="34" charset="-120"/>
              </a:rPr>
              <a:t>Golden Rule: The longer you keep them talking, the higher your success rate. Every objection is a door — walk through it.</a:t>
            </a:r>
            <a:endParaRPr lang="en-US" sz="1100" dirty="0">
              <a:solidFill>
                <a:schemeClr val="bg1"/>
              </a:solidFill>
            </a:endParaRPr>
          </a:p>
        </p:txBody>
      </p:sp>
      <p:sp>
        <p:nvSpPr>
          <p:cNvPr id="30" name="Text 18"/>
          <p:cNvSpPr/>
          <p:nvPr/>
        </p:nvSpPr>
        <p:spPr>
          <a:xfrm>
            <a:off x="0" y="4800600"/>
            <a:ext cx="7315200" cy="34290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PROPRIETARY AND CONFIDENTIAL</a:t>
            </a:r>
            <a:endParaRPr lang="en-US" sz="800" dirty="0"/>
          </a:p>
        </p:txBody>
      </p:sp>
      <p:sp>
        <p:nvSpPr>
          <p:cNvPr id="31" name="Shape 19"/>
          <p:cNvSpPr/>
          <p:nvPr/>
        </p:nvSpPr>
        <p:spPr>
          <a:xfrm>
            <a:off x="8503920" y="4800600"/>
            <a:ext cx="457200" cy="342900"/>
          </a:xfrm>
          <a:prstGeom prst="rect">
            <a:avLst/>
          </a:prstGeom>
          <a:solidFill>
            <a:srgbClr val="2D4A53"/>
          </a:solidFill>
          <a:ln/>
        </p:spPr>
        <p:txBody>
          <a:bodyPr/>
          <a:lstStyle/>
          <a:p>
            <a:endParaRPr lang="en-US"/>
          </a:p>
        </p:txBody>
      </p:sp>
      <p:sp>
        <p:nvSpPr>
          <p:cNvPr id="32" name="Text 20"/>
          <p:cNvSpPr/>
          <p:nvPr/>
        </p:nvSpPr>
        <p:spPr>
          <a:xfrm>
            <a:off x="8503920" y="4800600"/>
            <a:ext cx="45720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4A53"/>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20040" y="155448"/>
            <a:ext cx="384048" cy="384048"/>
          </a:xfrm>
          <a:prstGeom prst="rect">
            <a:avLst/>
          </a:prstGeom>
        </p:spPr>
      </p:pic>
      <p:sp>
        <p:nvSpPr>
          <p:cNvPr id="4" name="Text 1"/>
          <p:cNvSpPr/>
          <p:nvPr/>
        </p:nvSpPr>
        <p:spPr>
          <a:xfrm>
            <a:off x="822960" y="0"/>
            <a:ext cx="7863840" cy="7772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    KNOW YOUR ENEMY — THREE TYPES OF OBJECTIONS</a:t>
            </a:r>
            <a:endParaRPr lang="en-US" sz="2000" dirty="0"/>
          </a:p>
        </p:txBody>
      </p:sp>
      <p:sp>
        <p:nvSpPr>
          <p:cNvPr id="5" name="Shape 2"/>
          <p:cNvSpPr/>
          <p:nvPr/>
        </p:nvSpPr>
        <p:spPr>
          <a:xfrm>
            <a:off x="320040" y="960120"/>
            <a:ext cx="2743200" cy="3703320"/>
          </a:xfrm>
          <a:prstGeom prst="rect">
            <a:avLst/>
          </a:prstGeom>
          <a:solidFill>
            <a:srgbClr val="FEF2F2"/>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320040" y="960120"/>
            <a:ext cx="2743200" cy="548640"/>
          </a:xfrm>
          <a:prstGeom prst="rect">
            <a:avLst/>
          </a:prstGeom>
          <a:solidFill>
            <a:srgbClr val="DE350B"/>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457200" y="1051560"/>
            <a:ext cx="274320" cy="274320"/>
          </a:xfrm>
          <a:prstGeom prst="rect">
            <a:avLst/>
          </a:prstGeom>
        </p:spPr>
      </p:pic>
      <p:sp>
        <p:nvSpPr>
          <p:cNvPr id="8" name="Text 4"/>
          <p:cNvSpPr/>
          <p:nvPr/>
        </p:nvSpPr>
        <p:spPr>
          <a:xfrm>
            <a:off x="777240" y="960120"/>
            <a:ext cx="2103120" cy="5486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Dismissive</a:t>
            </a:r>
            <a:endParaRPr lang="en-US" sz="1500" dirty="0"/>
          </a:p>
        </p:txBody>
      </p:sp>
      <p:sp>
        <p:nvSpPr>
          <p:cNvPr id="9" name="Text 5"/>
          <p:cNvSpPr/>
          <p:nvPr/>
        </p:nvSpPr>
        <p:spPr>
          <a:xfrm>
            <a:off x="457200" y="1645920"/>
            <a:ext cx="2468880" cy="228600"/>
          </a:xfrm>
          <a:prstGeom prst="rect">
            <a:avLst/>
          </a:prstGeom>
          <a:noFill/>
          <a:ln/>
        </p:spPr>
        <p:txBody>
          <a:bodyPr wrap="square" lIns="0" tIns="0" rIns="0" bIns="0" rtlCol="0" anchor="ctr"/>
          <a:lstStyle/>
          <a:p>
            <a:pPr marL="0" indent="0">
              <a:buNone/>
            </a:pPr>
            <a:r>
              <a:rPr lang="en-US" sz="900" b="1" dirty="0">
                <a:solidFill>
                  <a:srgbClr val="5C6B73"/>
                </a:solidFill>
                <a:latin typeface="Calibri" pitchFamily="34" charset="0"/>
                <a:ea typeface="Calibri" pitchFamily="34" charset="-122"/>
                <a:cs typeface="Calibri" pitchFamily="34" charset="-120"/>
              </a:rPr>
              <a:t>Common Examples:</a:t>
            </a:r>
            <a:endParaRPr lang="en-US" sz="900" dirty="0"/>
          </a:p>
        </p:txBody>
      </p:sp>
      <p:sp>
        <p:nvSpPr>
          <p:cNvPr id="10" name="Text 6"/>
          <p:cNvSpPr/>
          <p:nvPr/>
        </p:nvSpPr>
        <p:spPr>
          <a:xfrm>
            <a:off x="457200" y="1874520"/>
            <a:ext cx="2468880" cy="109728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How did you get my number?</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Not interested</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Just email me</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We're all set</a:t>
            </a:r>
            <a:endParaRPr lang="en-US" sz="1000" dirty="0"/>
          </a:p>
        </p:txBody>
      </p:sp>
      <p:sp>
        <p:nvSpPr>
          <p:cNvPr id="11" name="Shape 7"/>
          <p:cNvSpPr/>
          <p:nvPr/>
        </p:nvSpPr>
        <p:spPr>
          <a:xfrm>
            <a:off x="411480" y="3108960"/>
            <a:ext cx="2560320" cy="54864"/>
          </a:xfrm>
          <a:prstGeom prst="rect">
            <a:avLst/>
          </a:prstGeom>
          <a:solidFill>
            <a:srgbClr val="DE350B"/>
          </a:solidFill>
          <a:ln/>
        </p:spPr>
        <p:txBody>
          <a:bodyPr/>
          <a:lstStyle/>
          <a:p>
            <a:endParaRPr lang="en-US"/>
          </a:p>
        </p:txBody>
      </p:sp>
      <p:sp>
        <p:nvSpPr>
          <p:cNvPr id="12" name="Text 8"/>
          <p:cNvSpPr/>
          <p:nvPr/>
        </p:nvSpPr>
        <p:spPr>
          <a:xfrm>
            <a:off x="457200" y="3246120"/>
            <a:ext cx="2468880" cy="228600"/>
          </a:xfrm>
          <a:prstGeom prst="rect">
            <a:avLst/>
          </a:prstGeom>
          <a:noFill/>
          <a:ln/>
        </p:spPr>
        <p:txBody>
          <a:bodyPr wrap="square" lIns="0" tIns="0" rIns="0" bIns="0" rtlCol="0" anchor="ctr"/>
          <a:lstStyle/>
          <a:p>
            <a:pPr marL="0" indent="0">
              <a:buNone/>
            </a:pPr>
            <a:r>
              <a:rPr lang="en-US" sz="900" b="1" dirty="0">
                <a:solidFill>
                  <a:srgbClr val="DE350B"/>
                </a:solidFill>
                <a:latin typeface="Calibri" pitchFamily="34" charset="0"/>
                <a:ea typeface="Calibri" pitchFamily="34" charset="-122"/>
                <a:cs typeface="Calibri" pitchFamily="34" charset="-120"/>
              </a:rPr>
              <a:t>Your Approach:</a:t>
            </a:r>
            <a:endParaRPr lang="en-US" sz="900" dirty="0"/>
          </a:p>
        </p:txBody>
      </p:sp>
      <p:sp>
        <p:nvSpPr>
          <p:cNvPr id="13" name="Text 9"/>
          <p:cNvSpPr/>
          <p:nvPr/>
        </p:nvSpPr>
        <p:spPr>
          <a:xfrm>
            <a:off x="457200" y="3474720"/>
            <a:ext cx="2468880" cy="822960"/>
          </a:xfrm>
          <a:prstGeom prst="rect">
            <a:avLst/>
          </a:prstGeom>
          <a:noFill/>
          <a:ln/>
        </p:spPr>
        <p:txBody>
          <a:bodyPr wrap="square" lIns="0" tIns="0" rIns="0" bIns="0" rtlCol="0" anchor="ctr"/>
          <a:lstStyle/>
          <a:p>
            <a:pPr marL="0" indent="0">
              <a:buNone/>
            </a:pPr>
            <a:r>
              <a:rPr lang="en-US" sz="1000" i="1" dirty="0">
                <a:solidFill>
                  <a:srgbClr val="5C6B73"/>
                </a:solidFill>
                <a:latin typeface="Calibri" pitchFamily="34" charset="0"/>
                <a:ea typeface="Calibri" pitchFamily="34" charset="-122"/>
                <a:cs typeface="Calibri" pitchFamily="34" charset="-120"/>
              </a:rPr>
              <a:t>Don't fight it. Agree, then redirect with curiosity.</a:t>
            </a:r>
            <a:endParaRPr lang="en-US" sz="1000" dirty="0"/>
          </a:p>
        </p:txBody>
      </p:sp>
      <p:sp>
        <p:nvSpPr>
          <p:cNvPr id="14" name="Shape 10"/>
          <p:cNvSpPr/>
          <p:nvPr/>
        </p:nvSpPr>
        <p:spPr>
          <a:xfrm>
            <a:off x="3246120" y="960120"/>
            <a:ext cx="2743200" cy="3703320"/>
          </a:xfrm>
          <a:prstGeom prst="rect">
            <a:avLst/>
          </a:prstGeom>
          <a:solidFill>
            <a:srgbClr val="FFFBEB"/>
          </a:solidFill>
          <a:ln/>
          <a:effectLst>
            <a:outerShdw blurRad="50800" dist="12700" dir="8100000" algn="bl" rotWithShape="0">
              <a:srgbClr val="000000">
                <a:alpha val="8000"/>
              </a:srgbClr>
            </a:outerShdw>
          </a:effectLst>
        </p:spPr>
        <p:txBody>
          <a:bodyPr/>
          <a:lstStyle/>
          <a:p>
            <a:endParaRPr lang="en-US"/>
          </a:p>
        </p:txBody>
      </p:sp>
      <p:sp>
        <p:nvSpPr>
          <p:cNvPr id="15" name="Shape 11"/>
          <p:cNvSpPr/>
          <p:nvPr/>
        </p:nvSpPr>
        <p:spPr>
          <a:xfrm>
            <a:off x="3246120" y="960120"/>
            <a:ext cx="2743200" cy="548640"/>
          </a:xfrm>
          <a:prstGeom prst="rect">
            <a:avLst/>
          </a:prstGeom>
          <a:solidFill>
            <a:srgbClr val="FF991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3383280" y="1051560"/>
            <a:ext cx="274320" cy="274320"/>
          </a:xfrm>
          <a:prstGeom prst="rect">
            <a:avLst/>
          </a:prstGeom>
        </p:spPr>
      </p:pic>
      <p:sp>
        <p:nvSpPr>
          <p:cNvPr id="17" name="Text 12"/>
          <p:cNvSpPr/>
          <p:nvPr/>
        </p:nvSpPr>
        <p:spPr>
          <a:xfrm>
            <a:off x="3703320" y="960120"/>
            <a:ext cx="2103120" cy="5486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Situational</a:t>
            </a:r>
            <a:endParaRPr lang="en-US" sz="1500" dirty="0"/>
          </a:p>
        </p:txBody>
      </p:sp>
      <p:sp>
        <p:nvSpPr>
          <p:cNvPr id="18" name="Text 13"/>
          <p:cNvSpPr/>
          <p:nvPr/>
        </p:nvSpPr>
        <p:spPr>
          <a:xfrm>
            <a:off x="3383280" y="1645920"/>
            <a:ext cx="2468880" cy="228600"/>
          </a:xfrm>
          <a:prstGeom prst="rect">
            <a:avLst/>
          </a:prstGeom>
          <a:noFill/>
          <a:ln/>
        </p:spPr>
        <p:txBody>
          <a:bodyPr wrap="square" lIns="0" tIns="0" rIns="0" bIns="0" rtlCol="0" anchor="ctr"/>
          <a:lstStyle/>
          <a:p>
            <a:pPr marL="0" indent="0">
              <a:buNone/>
            </a:pPr>
            <a:r>
              <a:rPr lang="en-US" sz="900" b="1" dirty="0">
                <a:solidFill>
                  <a:srgbClr val="5C6B73"/>
                </a:solidFill>
                <a:latin typeface="Calibri" pitchFamily="34" charset="0"/>
                <a:ea typeface="Calibri" pitchFamily="34" charset="-122"/>
                <a:cs typeface="Calibri" pitchFamily="34" charset="-120"/>
              </a:rPr>
              <a:t>Common Examples:</a:t>
            </a:r>
            <a:endParaRPr lang="en-US" sz="900" dirty="0"/>
          </a:p>
        </p:txBody>
      </p:sp>
      <p:sp>
        <p:nvSpPr>
          <p:cNvPr id="19" name="Text 14"/>
          <p:cNvSpPr/>
          <p:nvPr/>
        </p:nvSpPr>
        <p:spPr>
          <a:xfrm>
            <a:off x="3383280" y="1874520"/>
            <a:ext cx="2468880" cy="109728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Too expensive</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No resources to change</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Busy season</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Bad timing</a:t>
            </a:r>
            <a:endParaRPr lang="en-US" sz="1000" dirty="0"/>
          </a:p>
        </p:txBody>
      </p:sp>
      <p:sp>
        <p:nvSpPr>
          <p:cNvPr id="20" name="Shape 15"/>
          <p:cNvSpPr/>
          <p:nvPr/>
        </p:nvSpPr>
        <p:spPr>
          <a:xfrm>
            <a:off x="3337560" y="3108960"/>
            <a:ext cx="2560320" cy="54864"/>
          </a:xfrm>
          <a:prstGeom prst="rect">
            <a:avLst/>
          </a:prstGeom>
          <a:solidFill>
            <a:srgbClr val="FF991F"/>
          </a:solidFill>
          <a:ln/>
        </p:spPr>
        <p:txBody>
          <a:bodyPr/>
          <a:lstStyle/>
          <a:p>
            <a:endParaRPr lang="en-US"/>
          </a:p>
        </p:txBody>
      </p:sp>
      <p:sp>
        <p:nvSpPr>
          <p:cNvPr id="21" name="Text 16"/>
          <p:cNvSpPr/>
          <p:nvPr/>
        </p:nvSpPr>
        <p:spPr>
          <a:xfrm>
            <a:off x="3383280" y="3246120"/>
            <a:ext cx="2468880" cy="228600"/>
          </a:xfrm>
          <a:prstGeom prst="rect">
            <a:avLst/>
          </a:prstGeom>
          <a:noFill/>
          <a:ln/>
        </p:spPr>
        <p:txBody>
          <a:bodyPr wrap="square" lIns="0" tIns="0" rIns="0" bIns="0" rtlCol="0" anchor="ctr"/>
          <a:lstStyle/>
          <a:p>
            <a:pPr marL="0" indent="0">
              <a:buNone/>
            </a:pPr>
            <a:r>
              <a:rPr lang="en-US" sz="900" b="1" dirty="0">
                <a:solidFill>
                  <a:srgbClr val="FF991F"/>
                </a:solidFill>
                <a:latin typeface="Calibri" pitchFamily="34" charset="0"/>
                <a:ea typeface="Calibri" pitchFamily="34" charset="-122"/>
                <a:cs typeface="Calibri" pitchFamily="34" charset="-120"/>
              </a:rPr>
              <a:t>Your Approach:</a:t>
            </a:r>
            <a:endParaRPr lang="en-US" sz="900" dirty="0"/>
          </a:p>
        </p:txBody>
      </p:sp>
      <p:sp>
        <p:nvSpPr>
          <p:cNvPr id="22" name="Text 17"/>
          <p:cNvSpPr/>
          <p:nvPr/>
        </p:nvSpPr>
        <p:spPr>
          <a:xfrm>
            <a:off x="3383280" y="3474720"/>
            <a:ext cx="2468880" cy="822960"/>
          </a:xfrm>
          <a:prstGeom prst="rect">
            <a:avLst/>
          </a:prstGeom>
          <a:noFill/>
          <a:ln/>
        </p:spPr>
        <p:txBody>
          <a:bodyPr wrap="square" lIns="0" tIns="0" rIns="0" bIns="0" rtlCol="0" anchor="ctr"/>
          <a:lstStyle/>
          <a:p>
            <a:pPr marL="0" indent="0">
              <a:buNone/>
            </a:pPr>
            <a:r>
              <a:rPr lang="en-US" sz="1000" i="1" dirty="0">
                <a:solidFill>
                  <a:srgbClr val="5C6B73"/>
                </a:solidFill>
                <a:latin typeface="Calibri" pitchFamily="34" charset="0"/>
                <a:ea typeface="Calibri" pitchFamily="34" charset="-122"/>
                <a:cs typeface="Calibri" pitchFamily="34" charset="-120"/>
              </a:rPr>
              <a:t>Acknowledge the reality, then pivot to value/ROI.</a:t>
            </a:r>
            <a:endParaRPr lang="en-US" sz="1000" dirty="0"/>
          </a:p>
        </p:txBody>
      </p:sp>
      <p:sp>
        <p:nvSpPr>
          <p:cNvPr id="23" name="Shape 18"/>
          <p:cNvSpPr/>
          <p:nvPr/>
        </p:nvSpPr>
        <p:spPr>
          <a:xfrm>
            <a:off x="6172200" y="960120"/>
            <a:ext cx="2743200" cy="3703320"/>
          </a:xfrm>
          <a:prstGeom prst="rect">
            <a:avLst/>
          </a:prstGeom>
          <a:solidFill>
            <a:srgbClr val="EFF6FF"/>
          </a:solidFill>
          <a:ln/>
          <a:effectLst>
            <a:outerShdw blurRad="50800" dist="12700" dir="8100000" algn="bl" rotWithShape="0">
              <a:srgbClr val="000000">
                <a:alpha val="8000"/>
              </a:srgbClr>
            </a:outerShdw>
          </a:effectLst>
        </p:spPr>
        <p:txBody>
          <a:bodyPr/>
          <a:lstStyle/>
          <a:p>
            <a:endParaRPr lang="en-US"/>
          </a:p>
        </p:txBody>
      </p:sp>
      <p:sp>
        <p:nvSpPr>
          <p:cNvPr id="24" name="Shape 19"/>
          <p:cNvSpPr/>
          <p:nvPr/>
        </p:nvSpPr>
        <p:spPr>
          <a:xfrm>
            <a:off x="6172200" y="960120"/>
            <a:ext cx="2743200" cy="548640"/>
          </a:xfrm>
          <a:prstGeom prst="rect">
            <a:avLst/>
          </a:prstGeom>
          <a:solidFill>
            <a:srgbClr val="2D4A53"/>
          </a:solidFill>
          <a:ln/>
        </p:spPr>
        <p:txBody>
          <a:bodyPr/>
          <a:lstStyle/>
          <a:p>
            <a:endParaRPr lang="en-US"/>
          </a:p>
        </p:txBody>
      </p:sp>
      <p:pic>
        <p:nvPicPr>
          <p:cNvPr id="25" name="Image 3" descr="preencoded.png"/>
          <p:cNvPicPr>
            <a:picLocks noChangeAspect="1"/>
          </p:cNvPicPr>
          <p:nvPr/>
        </p:nvPicPr>
        <p:blipFill>
          <a:blip r:embed="rId3"/>
          <a:stretch>
            <a:fillRect/>
          </a:stretch>
        </p:blipFill>
        <p:spPr>
          <a:xfrm>
            <a:off x="6309360" y="1051560"/>
            <a:ext cx="274320" cy="274320"/>
          </a:xfrm>
          <a:prstGeom prst="rect">
            <a:avLst/>
          </a:prstGeom>
        </p:spPr>
      </p:pic>
      <p:sp>
        <p:nvSpPr>
          <p:cNvPr id="26" name="Text 20"/>
          <p:cNvSpPr/>
          <p:nvPr/>
        </p:nvSpPr>
        <p:spPr>
          <a:xfrm>
            <a:off x="6629400" y="960120"/>
            <a:ext cx="2103120" cy="5486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Existing Solution</a:t>
            </a:r>
            <a:endParaRPr lang="en-US" sz="1500" dirty="0"/>
          </a:p>
        </p:txBody>
      </p:sp>
      <p:sp>
        <p:nvSpPr>
          <p:cNvPr id="27" name="Text 21"/>
          <p:cNvSpPr/>
          <p:nvPr/>
        </p:nvSpPr>
        <p:spPr>
          <a:xfrm>
            <a:off x="6309360" y="1645920"/>
            <a:ext cx="2468880" cy="228600"/>
          </a:xfrm>
          <a:prstGeom prst="rect">
            <a:avLst/>
          </a:prstGeom>
          <a:noFill/>
          <a:ln/>
        </p:spPr>
        <p:txBody>
          <a:bodyPr wrap="square" lIns="0" tIns="0" rIns="0" bIns="0" rtlCol="0" anchor="ctr"/>
          <a:lstStyle/>
          <a:p>
            <a:pPr marL="0" indent="0">
              <a:buNone/>
            </a:pPr>
            <a:r>
              <a:rPr lang="en-US" sz="900" b="1" dirty="0">
                <a:solidFill>
                  <a:srgbClr val="5C6B73"/>
                </a:solidFill>
                <a:latin typeface="Calibri" pitchFamily="34" charset="0"/>
                <a:ea typeface="Calibri" pitchFamily="34" charset="-122"/>
                <a:cs typeface="Calibri" pitchFamily="34" charset="-120"/>
              </a:rPr>
              <a:t>Common Examples:</a:t>
            </a:r>
            <a:endParaRPr lang="en-US" sz="900" dirty="0"/>
          </a:p>
        </p:txBody>
      </p:sp>
      <p:sp>
        <p:nvSpPr>
          <p:cNvPr id="28" name="Text 22"/>
          <p:cNvSpPr/>
          <p:nvPr/>
        </p:nvSpPr>
        <p:spPr>
          <a:xfrm>
            <a:off x="6309360" y="1874520"/>
            <a:ext cx="2468880" cy="109728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Happy with current software</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Just switched providers</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Used same system 10+ years</a:t>
            </a:r>
            <a:endParaRPr lang="en-US" sz="1000" dirty="0"/>
          </a:p>
          <a:p>
            <a:pPr marL="342900" indent="-342900">
              <a:spcAft>
                <a:spcPts val="200"/>
              </a:spcAft>
              <a:buSzPct val="100000"/>
              <a:buChar char="•"/>
            </a:pPr>
            <a:r>
              <a:rPr lang="en-US" sz="1000" dirty="0">
                <a:solidFill>
                  <a:srgbClr val="1A1A2E"/>
                </a:solidFill>
                <a:latin typeface="Calibri" pitchFamily="34" charset="0"/>
                <a:ea typeface="Calibri" pitchFamily="34" charset="-122"/>
                <a:cs typeface="Calibri" pitchFamily="34" charset="-120"/>
              </a:rPr>
              <a:t>Under contract</a:t>
            </a:r>
            <a:endParaRPr lang="en-US" sz="1000" dirty="0"/>
          </a:p>
        </p:txBody>
      </p:sp>
      <p:sp>
        <p:nvSpPr>
          <p:cNvPr id="29" name="Shape 23"/>
          <p:cNvSpPr/>
          <p:nvPr/>
        </p:nvSpPr>
        <p:spPr>
          <a:xfrm>
            <a:off x="6263640" y="3108960"/>
            <a:ext cx="2560320" cy="54864"/>
          </a:xfrm>
          <a:prstGeom prst="rect">
            <a:avLst/>
          </a:prstGeom>
          <a:solidFill>
            <a:srgbClr val="2D4A53"/>
          </a:solidFill>
          <a:ln/>
        </p:spPr>
        <p:txBody>
          <a:bodyPr/>
          <a:lstStyle/>
          <a:p>
            <a:endParaRPr lang="en-US"/>
          </a:p>
        </p:txBody>
      </p:sp>
      <p:sp>
        <p:nvSpPr>
          <p:cNvPr id="30" name="Text 24"/>
          <p:cNvSpPr/>
          <p:nvPr/>
        </p:nvSpPr>
        <p:spPr>
          <a:xfrm>
            <a:off x="6309360" y="3246120"/>
            <a:ext cx="2468880" cy="228600"/>
          </a:xfrm>
          <a:prstGeom prst="rect">
            <a:avLst/>
          </a:prstGeom>
          <a:noFill/>
          <a:ln/>
        </p:spPr>
        <p:txBody>
          <a:bodyPr wrap="square" lIns="0" tIns="0" rIns="0" bIns="0" rtlCol="0" anchor="ctr"/>
          <a:lstStyle/>
          <a:p>
            <a:pPr marL="0" indent="0">
              <a:buNone/>
            </a:pPr>
            <a:r>
              <a:rPr lang="en-US" sz="900" b="1" dirty="0">
                <a:solidFill>
                  <a:srgbClr val="2D4A53"/>
                </a:solidFill>
                <a:latin typeface="Calibri" pitchFamily="34" charset="0"/>
                <a:ea typeface="Calibri" pitchFamily="34" charset="-122"/>
                <a:cs typeface="Calibri" pitchFamily="34" charset="-120"/>
              </a:rPr>
              <a:t>Your Approach:</a:t>
            </a:r>
            <a:endParaRPr lang="en-US" sz="900" dirty="0"/>
          </a:p>
        </p:txBody>
      </p:sp>
      <p:sp>
        <p:nvSpPr>
          <p:cNvPr id="31" name="Text 25"/>
          <p:cNvSpPr/>
          <p:nvPr/>
        </p:nvSpPr>
        <p:spPr>
          <a:xfrm>
            <a:off x="6309360" y="3474720"/>
            <a:ext cx="2468880" cy="822960"/>
          </a:xfrm>
          <a:prstGeom prst="rect">
            <a:avLst/>
          </a:prstGeom>
          <a:noFill/>
          <a:ln/>
        </p:spPr>
        <p:txBody>
          <a:bodyPr wrap="square" lIns="0" tIns="0" rIns="0" bIns="0" rtlCol="0" anchor="ctr"/>
          <a:lstStyle/>
          <a:p>
            <a:pPr marL="0" indent="0">
              <a:buNone/>
            </a:pPr>
            <a:r>
              <a:rPr lang="en-US" sz="1000" i="1" dirty="0">
                <a:solidFill>
                  <a:srgbClr val="5C6B73"/>
                </a:solidFill>
                <a:latin typeface="Calibri" pitchFamily="34" charset="0"/>
                <a:ea typeface="Calibri" pitchFamily="34" charset="-122"/>
                <a:cs typeface="Calibri" pitchFamily="34" charset="-120"/>
              </a:rPr>
              <a:t>Respect loyalty, find the crack, plant seeds for the future.</a:t>
            </a:r>
            <a:endParaRPr lang="en-US" sz="1000" dirty="0"/>
          </a:p>
        </p:txBody>
      </p:sp>
      <p:sp>
        <p:nvSpPr>
          <p:cNvPr id="32" name="Text 26"/>
          <p:cNvSpPr/>
          <p:nvPr/>
        </p:nvSpPr>
        <p:spPr>
          <a:xfrm>
            <a:off x="0" y="4800600"/>
            <a:ext cx="7315200" cy="34290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PROPRIETARY AND CONFIDENTIAL</a:t>
            </a:r>
            <a:endParaRPr lang="en-US" sz="800" dirty="0"/>
          </a:p>
        </p:txBody>
      </p:sp>
      <p:sp>
        <p:nvSpPr>
          <p:cNvPr id="33" name="Shape 27"/>
          <p:cNvSpPr/>
          <p:nvPr/>
        </p:nvSpPr>
        <p:spPr>
          <a:xfrm>
            <a:off x="8503920" y="4800600"/>
            <a:ext cx="457200" cy="342900"/>
          </a:xfrm>
          <a:prstGeom prst="rect">
            <a:avLst/>
          </a:prstGeom>
          <a:solidFill>
            <a:srgbClr val="2D4A53"/>
          </a:solidFill>
          <a:ln/>
        </p:spPr>
        <p:txBody>
          <a:bodyPr/>
          <a:lstStyle/>
          <a:p>
            <a:endParaRPr lang="en-US"/>
          </a:p>
        </p:txBody>
      </p:sp>
      <p:sp>
        <p:nvSpPr>
          <p:cNvPr id="34" name="Text 28"/>
          <p:cNvSpPr/>
          <p:nvPr/>
        </p:nvSpPr>
        <p:spPr>
          <a:xfrm>
            <a:off x="8503920" y="4800600"/>
            <a:ext cx="45720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4A53"/>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20040" y="155448"/>
            <a:ext cx="384048" cy="384048"/>
          </a:xfrm>
          <a:prstGeom prst="rect">
            <a:avLst/>
          </a:prstGeom>
        </p:spPr>
      </p:pic>
      <p:sp>
        <p:nvSpPr>
          <p:cNvPr id="4" name="Text 1"/>
          <p:cNvSpPr/>
          <p:nvPr/>
        </p:nvSpPr>
        <p:spPr>
          <a:xfrm>
            <a:off x="822960" y="0"/>
            <a:ext cx="7863840" cy="7772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TECHNIQUE 1: FEEL, FELT, FOUND</a:t>
            </a:r>
            <a:endParaRPr lang="en-US" sz="2000" dirty="0"/>
          </a:p>
        </p:txBody>
      </p:sp>
      <p:sp>
        <p:nvSpPr>
          <p:cNvPr id="5" name="Shape 2"/>
          <p:cNvSpPr/>
          <p:nvPr/>
        </p:nvSpPr>
        <p:spPr>
          <a:xfrm>
            <a:off x="320040" y="960120"/>
            <a:ext cx="2743200" cy="1691640"/>
          </a:xfrm>
          <a:prstGeom prst="rect">
            <a:avLst/>
          </a:prstGeom>
          <a:solidFill>
            <a:srgbClr val="FEF2F2"/>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320040" y="960120"/>
            <a:ext cx="2743200" cy="502920"/>
          </a:xfrm>
          <a:prstGeom prst="rect">
            <a:avLst/>
          </a:prstGeom>
          <a:solidFill>
            <a:srgbClr val="DE350B"/>
          </a:solidFill>
          <a:ln/>
        </p:spPr>
        <p:txBody>
          <a:bodyPr/>
          <a:lstStyle/>
          <a:p>
            <a:endParaRPr lang="en-US"/>
          </a:p>
        </p:txBody>
      </p:sp>
      <p:sp>
        <p:nvSpPr>
          <p:cNvPr id="7" name="Text 4"/>
          <p:cNvSpPr/>
          <p:nvPr/>
        </p:nvSpPr>
        <p:spPr>
          <a:xfrm>
            <a:off x="320040" y="960120"/>
            <a:ext cx="27432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FEEL</a:t>
            </a:r>
            <a:endParaRPr lang="en-US" sz="2000" dirty="0"/>
          </a:p>
        </p:txBody>
      </p:sp>
      <p:sp>
        <p:nvSpPr>
          <p:cNvPr id="8" name="Text 5"/>
          <p:cNvSpPr/>
          <p:nvPr/>
        </p:nvSpPr>
        <p:spPr>
          <a:xfrm>
            <a:off x="457200" y="1554480"/>
            <a:ext cx="2468880" cy="32004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Validate their emotion. Show empathy.</a:t>
            </a:r>
            <a:endParaRPr lang="en-US" sz="1100" dirty="0"/>
          </a:p>
        </p:txBody>
      </p:sp>
      <p:sp>
        <p:nvSpPr>
          <p:cNvPr id="9" name="Text 6"/>
          <p:cNvSpPr/>
          <p:nvPr/>
        </p:nvSpPr>
        <p:spPr>
          <a:xfrm>
            <a:off x="457200" y="1920240"/>
            <a:ext cx="2468880" cy="594360"/>
          </a:xfrm>
          <a:prstGeom prst="rect">
            <a:avLst/>
          </a:prstGeom>
          <a:noFill/>
          <a:ln/>
        </p:spPr>
        <p:txBody>
          <a:bodyPr wrap="square" lIns="0" tIns="0" rIns="0" bIns="0" rtlCol="0" anchor="ctr"/>
          <a:lstStyle/>
          <a:p>
            <a:pPr marL="0" indent="0">
              <a:buNone/>
            </a:pPr>
            <a:r>
              <a:rPr lang="en-US" sz="1000" i="1" dirty="0">
                <a:solidFill>
                  <a:srgbClr val="5C6B73"/>
                </a:solidFill>
                <a:latin typeface="Calibri" pitchFamily="34" charset="0"/>
                <a:ea typeface="Calibri" pitchFamily="34" charset="-122"/>
                <a:cs typeface="Calibri" pitchFamily="34" charset="-120"/>
              </a:rPr>
              <a:t>"I completely understand how you feel..."</a:t>
            </a:r>
            <a:endParaRPr lang="en-US" sz="1000" dirty="0"/>
          </a:p>
        </p:txBody>
      </p:sp>
      <p:pic>
        <p:nvPicPr>
          <p:cNvPr id="10" name="Image 1" descr="preencoded.png"/>
          <p:cNvPicPr>
            <a:picLocks noChangeAspect="1"/>
          </p:cNvPicPr>
          <p:nvPr/>
        </p:nvPicPr>
        <p:blipFill>
          <a:blip r:embed="rId4"/>
          <a:stretch>
            <a:fillRect/>
          </a:stretch>
        </p:blipFill>
        <p:spPr>
          <a:xfrm>
            <a:off x="3063240" y="1508760"/>
            <a:ext cx="182880" cy="182880"/>
          </a:xfrm>
          <a:prstGeom prst="rect">
            <a:avLst/>
          </a:prstGeom>
        </p:spPr>
      </p:pic>
      <p:sp>
        <p:nvSpPr>
          <p:cNvPr id="11" name="Shape 7"/>
          <p:cNvSpPr/>
          <p:nvPr/>
        </p:nvSpPr>
        <p:spPr>
          <a:xfrm>
            <a:off x="3246120" y="960120"/>
            <a:ext cx="2743200" cy="1691640"/>
          </a:xfrm>
          <a:prstGeom prst="rect">
            <a:avLst/>
          </a:prstGeom>
          <a:solidFill>
            <a:srgbClr val="FFFBEB"/>
          </a:solidFill>
          <a:ln/>
          <a:effectLst>
            <a:outerShdw blurRad="50800" dist="12700" dir="8100000" algn="bl" rotWithShape="0">
              <a:srgbClr val="000000">
                <a:alpha val="8000"/>
              </a:srgbClr>
            </a:outerShdw>
          </a:effectLst>
        </p:spPr>
        <p:txBody>
          <a:bodyPr/>
          <a:lstStyle/>
          <a:p>
            <a:endParaRPr lang="en-US"/>
          </a:p>
        </p:txBody>
      </p:sp>
      <p:sp>
        <p:nvSpPr>
          <p:cNvPr id="12" name="Shape 8"/>
          <p:cNvSpPr/>
          <p:nvPr/>
        </p:nvSpPr>
        <p:spPr>
          <a:xfrm>
            <a:off x="3246120" y="960120"/>
            <a:ext cx="2743200" cy="502920"/>
          </a:xfrm>
          <a:prstGeom prst="rect">
            <a:avLst/>
          </a:prstGeom>
          <a:solidFill>
            <a:srgbClr val="FF991F"/>
          </a:solidFill>
          <a:ln/>
        </p:spPr>
        <p:txBody>
          <a:bodyPr/>
          <a:lstStyle/>
          <a:p>
            <a:endParaRPr lang="en-US"/>
          </a:p>
        </p:txBody>
      </p:sp>
      <p:sp>
        <p:nvSpPr>
          <p:cNvPr id="13" name="Text 9"/>
          <p:cNvSpPr/>
          <p:nvPr/>
        </p:nvSpPr>
        <p:spPr>
          <a:xfrm>
            <a:off x="3246120" y="960120"/>
            <a:ext cx="27432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FELT</a:t>
            </a:r>
            <a:endParaRPr lang="en-US" sz="2000" dirty="0"/>
          </a:p>
        </p:txBody>
      </p:sp>
      <p:sp>
        <p:nvSpPr>
          <p:cNvPr id="14" name="Text 10"/>
          <p:cNvSpPr/>
          <p:nvPr/>
        </p:nvSpPr>
        <p:spPr>
          <a:xfrm>
            <a:off x="3383280" y="1554480"/>
            <a:ext cx="2468880" cy="32004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Normalize it. Others felt the same way.</a:t>
            </a:r>
            <a:endParaRPr lang="en-US" sz="1100" dirty="0"/>
          </a:p>
        </p:txBody>
      </p:sp>
      <p:sp>
        <p:nvSpPr>
          <p:cNvPr id="15" name="Text 11"/>
          <p:cNvSpPr/>
          <p:nvPr/>
        </p:nvSpPr>
        <p:spPr>
          <a:xfrm>
            <a:off x="3383280" y="1920240"/>
            <a:ext cx="2468880" cy="594360"/>
          </a:xfrm>
          <a:prstGeom prst="rect">
            <a:avLst/>
          </a:prstGeom>
          <a:noFill/>
          <a:ln/>
        </p:spPr>
        <p:txBody>
          <a:bodyPr wrap="square" lIns="0" tIns="0" rIns="0" bIns="0" rtlCol="0" anchor="ctr"/>
          <a:lstStyle/>
          <a:p>
            <a:pPr marL="0" indent="0">
              <a:buNone/>
            </a:pPr>
            <a:r>
              <a:rPr lang="en-US" sz="1000" i="1" dirty="0">
                <a:solidFill>
                  <a:srgbClr val="5C6B73"/>
                </a:solidFill>
                <a:latin typeface="Calibri" pitchFamily="34" charset="0"/>
                <a:ea typeface="Calibri" pitchFamily="34" charset="-122"/>
                <a:cs typeface="Calibri" pitchFamily="34" charset="-120"/>
              </a:rPr>
              <a:t>"Many salon owners we work with felt the exact same way..."</a:t>
            </a:r>
            <a:endParaRPr lang="en-US" sz="1000" dirty="0"/>
          </a:p>
        </p:txBody>
      </p:sp>
      <p:pic>
        <p:nvPicPr>
          <p:cNvPr id="16" name="Image 2" descr="preencoded.png"/>
          <p:cNvPicPr>
            <a:picLocks noChangeAspect="1"/>
          </p:cNvPicPr>
          <p:nvPr/>
        </p:nvPicPr>
        <p:blipFill>
          <a:blip r:embed="rId4"/>
          <a:stretch>
            <a:fillRect/>
          </a:stretch>
        </p:blipFill>
        <p:spPr>
          <a:xfrm>
            <a:off x="5989320" y="1508760"/>
            <a:ext cx="182880" cy="182880"/>
          </a:xfrm>
          <a:prstGeom prst="rect">
            <a:avLst/>
          </a:prstGeom>
        </p:spPr>
      </p:pic>
      <p:sp>
        <p:nvSpPr>
          <p:cNvPr id="17" name="Shape 12"/>
          <p:cNvSpPr/>
          <p:nvPr/>
        </p:nvSpPr>
        <p:spPr>
          <a:xfrm>
            <a:off x="6172200" y="960120"/>
            <a:ext cx="2743200" cy="1691640"/>
          </a:xfrm>
          <a:prstGeom prst="rect">
            <a:avLst/>
          </a:prstGeom>
          <a:solidFill>
            <a:srgbClr val="F0FDF4"/>
          </a:solidFill>
          <a:ln/>
          <a:effectLst>
            <a:outerShdw blurRad="50800" dist="12700" dir="8100000" algn="bl" rotWithShape="0">
              <a:srgbClr val="000000">
                <a:alpha val="8000"/>
              </a:srgbClr>
            </a:outerShdw>
          </a:effectLst>
        </p:spPr>
        <p:txBody>
          <a:bodyPr/>
          <a:lstStyle/>
          <a:p>
            <a:endParaRPr lang="en-US"/>
          </a:p>
        </p:txBody>
      </p:sp>
      <p:sp>
        <p:nvSpPr>
          <p:cNvPr id="18" name="Shape 13"/>
          <p:cNvSpPr/>
          <p:nvPr/>
        </p:nvSpPr>
        <p:spPr>
          <a:xfrm>
            <a:off x="6172200" y="960120"/>
            <a:ext cx="2743200" cy="502920"/>
          </a:xfrm>
          <a:prstGeom prst="rect">
            <a:avLst/>
          </a:prstGeom>
          <a:solidFill>
            <a:srgbClr val="22A06B"/>
          </a:solidFill>
          <a:ln/>
        </p:spPr>
        <p:txBody>
          <a:bodyPr/>
          <a:lstStyle/>
          <a:p>
            <a:endParaRPr lang="en-US"/>
          </a:p>
        </p:txBody>
      </p:sp>
      <p:sp>
        <p:nvSpPr>
          <p:cNvPr id="19" name="Text 14"/>
          <p:cNvSpPr/>
          <p:nvPr/>
        </p:nvSpPr>
        <p:spPr>
          <a:xfrm>
            <a:off x="6172200" y="960120"/>
            <a:ext cx="27432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FOUND</a:t>
            </a:r>
            <a:endParaRPr lang="en-US" sz="2000" dirty="0"/>
          </a:p>
        </p:txBody>
      </p:sp>
      <p:sp>
        <p:nvSpPr>
          <p:cNvPr id="20" name="Text 15"/>
          <p:cNvSpPr/>
          <p:nvPr/>
        </p:nvSpPr>
        <p:spPr>
          <a:xfrm>
            <a:off x="6309360" y="1554480"/>
            <a:ext cx="2468880" cy="32004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Share the outcome. What they discovered.</a:t>
            </a:r>
            <a:endParaRPr lang="en-US" sz="1100" dirty="0"/>
          </a:p>
        </p:txBody>
      </p:sp>
      <p:sp>
        <p:nvSpPr>
          <p:cNvPr id="21" name="Text 16"/>
          <p:cNvSpPr/>
          <p:nvPr/>
        </p:nvSpPr>
        <p:spPr>
          <a:xfrm>
            <a:off x="6309360" y="1920240"/>
            <a:ext cx="2468880" cy="594360"/>
          </a:xfrm>
          <a:prstGeom prst="rect">
            <a:avLst/>
          </a:prstGeom>
          <a:noFill/>
          <a:ln/>
        </p:spPr>
        <p:txBody>
          <a:bodyPr wrap="square" lIns="0" tIns="0" rIns="0" bIns="0" rtlCol="0" anchor="ctr"/>
          <a:lstStyle/>
          <a:p>
            <a:pPr marL="0" indent="0">
              <a:buNone/>
            </a:pPr>
            <a:r>
              <a:rPr lang="en-US" sz="1000" i="1" dirty="0">
                <a:solidFill>
                  <a:srgbClr val="5C6B73"/>
                </a:solidFill>
                <a:latin typeface="Calibri" pitchFamily="34" charset="0"/>
                <a:ea typeface="Calibri" pitchFamily="34" charset="-122"/>
                <a:cs typeface="Calibri" pitchFamily="34" charset="-120"/>
              </a:rPr>
              <a:t>"What they found was that Meevo actually..."</a:t>
            </a:r>
            <a:endParaRPr lang="en-US" sz="1000" dirty="0"/>
          </a:p>
        </p:txBody>
      </p:sp>
      <p:sp>
        <p:nvSpPr>
          <p:cNvPr id="22" name="Shape 17"/>
          <p:cNvSpPr/>
          <p:nvPr/>
        </p:nvSpPr>
        <p:spPr>
          <a:xfrm>
            <a:off x="457200" y="2834640"/>
            <a:ext cx="8229600" cy="320040"/>
          </a:xfrm>
          <a:prstGeom prst="rect">
            <a:avLst/>
          </a:prstGeom>
          <a:solidFill>
            <a:srgbClr val="2D4A53"/>
          </a:solidFill>
          <a:ln/>
        </p:spPr>
        <p:txBody>
          <a:bodyPr/>
          <a:lstStyle/>
          <a:p>
            <a:endParaRPr lang="en-US"/>
          </a:p>
        </p:txBody>
      </p:sp>
      <p:sp>
        <p:nvSpPr>
          <p:cNvPr id="23" name="Text 18"/>
          <p:cNvSpPr/>
          <p:nvPr/>
        </p:nvSpPr>
        <p:spPr>
          <a:xfrm>
            <a:off x="640080" y="2834640"/>
            <a:ext cx="78638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MEEVO-SPECIFIC EXAMPLES</a:t>
            </a:r>
            <a:endParaRPr lang="en-US" sz="1100" dirty="0"/>
          </a:p>
        </p:txBody>
      </p:sp>
      <p:sp>
        <p:nvSpPr>
          <p:cNvPr id="24" name="Shape 19"/>
          <p:cNvSpPr/>
          <p:nvPr/>
        </p:nvSpPr>
        <p:spPr>
          <a:xfrm>
            <a:off x="457200" y="3246120"/>
            <a:ext cx="8229600" cy="71323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5" name="Shape 20"/>
          <p:cNvSpPr/>
          <p:nvPr/>
        </p:nvSpPr>
        <p:spPr>
          <a:xfrm>
            <a:off x="457200" y="3246120"/>
            <a:ext cx="54864" cy="713232"/>
          </a:xfrm>
          <a:prstGeom prst="rect">
            <a:avLst/>
          </a:prstGeom>
          <a:solidFill>
            <a:srgbClr val="C9A84C"/>
          </a:solidFill>
          <a:ln/>
        </p:spPr>
        <p:txBody>
          <a:bodyPr/>
          <a:lstStyle/>
          <a:p>
            <a:endParaRPr lang="en-US"/>
          </a:p>
        </p:txBody>
      </p:sp>
      <p:sp>
        <p:nvSpPr>
          <p:cNvPr id="26" name="Text 21"/>
          <p:cNvSpPr/>
          <p:nvPr/>
        </p:nvSpPr>
        <p:spPr>
          <a:xfrm>
            <a:off x="640080" y="3273552"/>
            <a:ext cx="7863840" cy="201168"/>
          </a:xfrm>
          <a:prstGeom prst="rect">
            <a:avLst/>
          </a:prstGeom>
          <a:noFill/>
          <a:ln/>
        </p:spPr>
        <p:txBody>
          <a:bodyPr wrap="square" lIns="0" tIns="0" rIns="0" bIns="0" rtlCol="0" anchor="ctr"/>
          <a:lstStyle/>
          <a:p>
            <a:pPr marL="0" indent="0">
              <a:buNone/>
            </a:pPr>
            <a:r>
              <a:rPr lang="en-US" sz="1000" b="1" dirty="0">
                <a:solidFill>
                  <a:srgbClr val="DE350B"/>
                </a:solidFill>
                <a:latin typeface="Calibri" pitchFamily="34" charset="0"/>
                <a:ea typeface="Calibri" pitchFamily="34" charset="-122"/>
                <a:cs typeface="Calibri" pitchFamily="34" charset="-120"/>
              </a:rPr>
              <a:t>"We're happy with our software"</a:t>
            </a:r>
            <a:endParaRPr lang="en-US" sz="1000" dirty="0"/>
          </a:p>
        </p:txBody>
      </p:sp>
      <p:sp>
        <p:nvSpPr>
          <p:cNvPr id="27" name="Text 22"/>
          <p:cNvSpPr/>
          <p:nvPr/>
        </p:nvSpPr>
        <p:spPr>
          <a:xfrm>
            <a:off x="640080" y="3474720"/>
            <a:ext cx="7863840" cy="457200"/>
          </a:xfrm>
          <a:prstGeom prst="rect">
            <a:avLst/>
          </a:prstGeom>
          <a:noFill/>
          <a:ln/>
        </p:spPr>
        <p:txBody>
          <a:bodyPr wrap="square" lIns="0" tIns="0" rIns="0" bIns="0"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"I understand how you feel — your current system is familiar and it works. Many of the salon owners we work with felt the same way. What they found after seeing Meevo was that they were leaving money on the table — things like goal dashboards, automated marketing, and frequency-of-visit tracking that their old software simply didn't offer."</a:t>
            </a:r>
            <a:endParaRPr lang="en-US" sz="900" dirty="0"/>
          </a:p>
        </p:txBody>
      </p:sp>
      <p:sp>
        <p:nvSpPr>
          <p:cNvPr id="28" name="Shape 23"/>
          <p:cNvSpPr/>
          <p:nvPr/>
        </p:nvSpPr>
        <p:spPr>
          <a:xfrm>
            <a:off x="457200" y="4050792"/>
            <a:ext cx="8229600" cy="71323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9" name="Shape 24"/>
          <p:cNvSpPr/>
          <p:nvPr/>
        </p:nvSpPr>
        <p:spPr>
          <a:xfrm>
            <a:off x="457200" y="4050792"/>
            <a:ext cx="54864" cy="713232"/>
          </a:xfrm>
          <a:prstGeom prst="rect">
            <a:avLst/>
          </a:prstGeom>
          <a:solidFill>
            <a:srgbClr val="C9A84C"/>
          </a:solidFill>
          <a:ln/>
        </p:spPr>
        <p:txBody>
          <a:bodyPr/>
          <a:lstStyle/>
          <a:p>
            <a:endParaRPr lang="en-US"/>
          </a:p>
        </p:txBody>
      </p:sp>
      <p:sp>
        <p:nvSpPr>
          <p:cNvPr id="30" name="Text 25"/>
          <p:cNvSpPr/>
          <p:nvPr/>
        </p:nvSpPr>
        <p:spPr>
          <a:xfrm>
            <a:off x="640080" y="4078224"/>
            <a:ext cx="7863840" cy="201168"/>
          </a:xfrm>
          <a:prstGeom prst="rect">
            <a:avLst/>
          </a:prstGeom>
          <a:noFill/>
          <a:ln/>
        </p:spPr>
        <p:txBody>
          <a:bodyPr wrap="square" lIns="0" tIns="0" rIns="0" bIns="0" rtlCol="0" anchor="ctr"/>
          <a:lstStyle/>
          <a:p>
            <a:pPr marL="0" indent="0">
              <a:buNone/>
            </a:pPr>
            <a:r>
              <a:rPr lang="en-US" sz="1000" b="1" dirty="0">
                <a:solidFill>
                  <a:srgbClr val="DE350B"/>
                </a:solidFill>
                <a:latin typeface="Calibri" pitchFamily="34" charset="0"/>
                <a:ea typeface="Calibri" pitchFamily="34" charset="-122"/>
                <a:cs typeface="Calibri" pitchFamily="34" charset="-120"/>
              </a:rPr>
              <a:t>"It's too expensive"</a:t>
            </a:r>
            <a:endParaRPr lang="en-US" sz="1000" dirty="0"/>
          </a:p>
        </p:txBody>
      </p:sp>
      <p:sp>
        <p:nvSpPr>
          <p:cNvPr id="31" name="Text 26"/>
          <p:cNvSpPr/>
          <p:nvPr/>
        </p:nvSpPr>
        <p:spPr>
          <a:xfrm>
            <a:off x="640080" y="4279392"/>
            <a:ext cx="7863840" cy="457200"/>
          </a:xfrm>
          <a:prstGeom prst="rect">
            <a:avLst/>
          </a:prstGeom>
          <a:noFill/>
          <a:ln/>
        </p:spPr>
        <p:txBody>
          <a:bodyPr wrap="square" lIns="0" tIns="0" rIns="0" bIns="0"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"I get how you feel — budget is always top of mind. A lot of owners we've spoken to felt the same way when they first saw our pricing. What they found was that once they factored in booking fees, transaction rates, and add-on charges from their current provider, Meevo actually cost the same or less — with a lot more included."</a:t>
            </a:r>
            <a:endParaRPr lang="en-US" sz="900" dirty="0"/>
          </a:p>
        </p:txBody>
      </p:sp>
      <p:sp>
        <p:nvSpPr>
          <p:cNvPr id="32" name="Text 27"/>
          <p:cNvSpPr/>
          <p:nvPr/>
        </p:nvSpPr>
        <p:spPr>
          <a:xfrm>
            <a:off x="0" y="4800600"/>
            <a:ext cx="7315200" cy="34290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PROPRIETARY AND CONFIDENTIAL</a:t>
            </a:r>
            <a:endParaRPr lang="en-US" sz="800" dirty="0"/>
          </a:p>
        </p:txBody>
      </p:sp>
      <p:sp>
        <p:nvSpPr>
          <p:cNvPr id="33" name="Shape 28"/>
          <p:cNvSpPr/>
          <p:nvPr/>
        </p:nvSpPr>
        <p:spPr>
          <a:xfrm>
            <a:off x="8503920" y="4800600"/>
            <a:ext cx="457200" cy="342900"/>
          </a:xfrm>
          <a:prstGeom prst="rect">
            <a:avLst/>
          </a:prstGeom>
          <a:solidFill>
            <a:srgbClr val="2D4A53"/>
          </a:solidFill>
          <a:ln/>
        </p:spPr>
        <p:txBody>
          <a:bodyPr/>
          <a:lstStyle/>
          <a:p>
            <a:endParaRPr lang="en-US"/>
          </a:p>
        </p:txBody>
      </p:sp>
      <p:sp>
        <p:nvSpPr>
          <p:cNvPr id="34" name="Text 29"/>
          <p:cNvSpPr/>
          <p:nvPr/>
        </p:nvSpPr>
        <p:spPr>
          <a:xfrm>
            <a:off x="8503920" y="4800600"/>
            <a:ext cx="45720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4A53"/>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20040" y="155448"/>
            <a:ext cx="384048" cy="384048"/>
          </a:xfrm>
          <a:prstGeom prst="rect">
            <a:avLst/>
          </a:prstGeom>
        </p:spPr>
      </p:pic>
      <p:sp>
        <p:nvSpPr>
          <p:cNvPr id="4" name="Text 1"/>
          <p:cNvSpPr/>
          <p:nvPr/>
        </p:nvSpPr>
        <p:spPr>
          <a:xfrm>
            <a:off x="822960" y="0"/>
            <a:ext cx="7863840" cy="7772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                 ACKNOWLEDGE → PIVOT → PROVE</a:t>
            </a:r>
            <a:endParaRPr lang="en-US" sz="2000" dirty="0"/>
          </a:p>
        </p:txBody>
      </p:sp>
      <p:sp>
        <p:nvSpPr>
          <p:cNvPr id="5" name="Shape 2"/>
          <p:cNvSpPr/>
          <p:nvPr/>
        </p:nvSpPr>
        <p:spPr>
          <a:xfrm>
            <a:off x="320040" y="960120"/>
            <a:ext cx="2743200" cy="20116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320040" y="960120"/>
            <a:ext cx="2743200" cy="502920"/>
          </a:xfrm>
          <a:prstGeom prst="rect">
            <a:avLst/>
          </a:prstGeom>
          <a:solidFill>
            <a:srgbClr val="2D4A53"/>
          </a:solidFill>
          <a:ln/>
        </p:spPr>
        <p:txBody>
          <a:bodyPr/>
          <a:lstStyle/>
          <a:p>
            <a:endParaRPr lang="en-US"/>
          </a:p>
        </p:txBody>
      </p:sp>
      <p:sp>
        <p:nvSpPr>
          <p:cNvPr id="7" name="Text 4"/>
          <p:cNvSpPr/>
          <p:nvPr/>
        </p:nvSpPr>
        <p:spPr>
          <a:xfrm>
            <a:off x="320040" y="960120"/>
            <a:ext cx="27432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ACKNOWLEDGE</a:t>
            </a:r>
            <a:endParaRPr lang="en-US" sz="1600" dirty="0"/>
          </a:p>
        </p:txBody>
      </p:sp>
      <p:sp>
        <p:nvSpPr>
          <p:cNvPr id="8" name="Text 5"/>
          <p:cNvSpPr/>
          <p:nvPr/>
        </p:nvSpPr>
        <p:spPr>
          <a:xfrm>
            <a:off x="457200" y="1554480"/>
            <a:ext cx="2468880" cy="45720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Validate without agreeing. Show you heard them.</a:t>
            </a:r>
            <a:endParaRPr lang="en-US" sz="1100" dirty="0"/>
          </a:p>
        </p:txBody>
      </p:sp>
      <p:sp>
        <p:nvSpPr>
          <p:cNvPr id="9" name="Text 6"/>
          <p:cNvSpPr/>
          <p:nvPr/>
        </p:nvSpPr>
        <p:spPr>
          <a:xfrm>
            <a:off x="457200" y="2011680"/>
            <a:ext cx="2468880" cy="777240"/>
          </a:xfrm>
          <a:prstGeom prst="rect">
            <a:avLst/>
          </a:prstGeom>
          <a:noFill/>
          <a:ln/>
        </p:spPr>
        <p:txBody>
          <a:bodyPr wrap="square" lIns="0" tIns="0" rIns="0" bIns="0" rtlCol="0" anchor="ctr"/>
          <a:lstStyle/>
          <a:p>
            <a:pPr marL="0" indent="0">
              <a:buNone/>
            </a:pPr>
            <a:r>
              <a:rPr lang="en-US" sz="950" i="1" dirty="0">
                <a:solidFill>
                  <a:srgbClr val="5C6B73"/>
                </a:solidFill>
                <a:latin typeface="Calibri" pitchFamily="34" charset="0"/>
                <a:ea typeface="Calibri" pitchFamily="34" charset="-122"/>
                <a:cs typeface="Calibri" pitchFamily="34" charset="-120"/>
              </a:rPr>
              <a:t>"Totally get that — figured that might be the case..."</a:t>
            </a:r>
            <a:endParaRPr lang="en-US" sz="950" dirty="0"/>
          </a:p>
        </p:txBody>
      </p:sp>
      <p:pic>
        <p:nvPicPr>
          <p:cNvPr id="10" name="Image 1" descr="preencoded.png"/>
          <p:cNvPicPr>
            <a:picLocks noChangeAspect="1"/>
          </p:cNvPicPr>
          <p:nvPr/>
        </p:nvPicPr>
        <p:blipFill>
          <a:blip r:embed="rId4"/>
          <a:stretch>
            <a:fillRect/>
          </a:stretch>
        </p:blipFill>
        <p:spPr>
          <a:xfrm>
            <a:off x="3063240" y="1691640"/>
            <a:ext cx="182880" cy="182880"/>
          </a:xfrm>
          <a:prstGeom prst="rect">
            <a:avLst/>
          </a:prstGeom>
        </p:spPr>
      </p:pic>
      <p:sp>
        <p:nvSpPr>
          <p:cNvPr id="11" name="Shape 7"/>
          <p:cNvSpPr/>
          <p:nvPr/>
        </p:nvSpPr>
        <p:spPr>
          <a:xfrm>
            <a:off x="3246120" y="960120"/>
            <a:ext cx="2743200" cy="20116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8"/>
          <p:cNvSpPr/>
          <p:nvPr/>
        </p:nvSpPr>
        <p:spPr>
          <a:xfrm>
            <a:off x="3246120" y="960120"/>
            <a:ext cx="2743200" cy="502920"/>
          </a:xfrm>
          <a:prstGeom prst="rect">
            <a:avLst/>
          </a:prstGeom>
          <a:solidFill>
            <a:srgbClr val="C9A84C"/>
          </a:solidFill>
          <a:ln/>
        </p:spPr>
        <p:txBody>
          <a:bodyPr/>
          <a:lstStyle/>
          <a:p>
            <a:endParaRPr lang="en-US"/>
          </a:p>
        </p:txBody>
      </p:sp>
      <p:sp>
        <p:nvSpPr>
          <p:cNvPr id="13" name="Text 9"/>
          <p:cNvSpPr/>
          <p:nvPr/>
        </p:nvSpPr>
        <p:spPr>
          <a:xfrm>
            <a:off x="3246120" y="960120"/>
            <a:ext cx="27432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PIVOT</a:t>
            </a:r>
            <a:endParaRPr lang="en-US" sz="1600" dirty="0"/>
          </a:p>
        </p:txBody>
      </p:sp>
      <p:sp>
        <p:nvSpPr>
          <p:cNvPr id="14" name="Text 10"/>
          <p:cNvSpPr/>
          <p:nvPr/>
        </p:nvSpPr>
        <p:spPr>
          <a:xfrm>
            <a:off x="3383280" y="1554480"/>
            <a:ext cx="2468880" cy="45720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Redirect to a value angle they haven't considered.</a:t>
            </a:r>
            <a:endParaRPr lang="en-US" sz="1100" dirty="0"/>
          </a:p>
        </p:txBody>
      </p:sp>
      <p:sp>
        <p:nvSpPr>
          <p:cNvPr id="15" name="Text 11"/>
          <p:cNvSpPr/>
          <p:nvPr/>
        </p:nvSpPr>
        <p:spPr>
          <a:xfrm>
            <a:off x="3383280" y="2011680"/>
            <a:ext cx="2468880" cy="777240"/>
          </a:xfrm>
          <a:prstGeom prst="rect">
            <a:avLst/>
          </a:prstGeom>
          <a:noFill/>
          <a:ln/>
        </p:spPr>
        <p:txBody>
          <a:bodyPr wrap="square" lIns="0" tIns="0" rIns="0" bIns="0" rtlCol="0" anchor="ctr"/>
          <a:lstStyle/>
          <a:p>
            <a:pPr marL="0" indent="0">
              <a:buNone/>
            </a:pPr>
            <a:r>
              <a:rPr lang="en-US" sz="950" i="1" dirty="0">
                <a:solidFill>
                  <a:srgbClr val="5C6B73"/>
                </a:solidFill>
                <a:latin typeface="Calibri" pitchFamily="34" charset="0"/>
                <a:ea typeface="Calibri" pitchFamily="34" charset="-122"/>
                <a:cs typeface="Calibri" pitchFamily="34" charset="-120"/>
              </a:rPr>
              <a:t>"What I AM here to do is make sure your hard-earned dollars go to the best fit..."</a:t>
            </a:r>
            <a:endParaRPr lang="en-US" sz="950" dirty="0"/>
          </a:p>
        </p:txBody>
      </p:sp>
      <p:pic>
        <p:nvPicPr>
          <p:cNvPr id="16" name="Image 2" descr="preencoded.png"/>
          <p:cNvPicPr>
            <a:picLocks noChangeAspect="1"/>
          </p:cNvPicPr>
          <p:nvPr/>
        </p:nvPicPr>
        <p:blipFill>
          <a:blip r:embed="rId4"/>
          <a:stretch>
            <a:fillRect/>
          </a:stretch>
        </p:blipFill>
        <p:spPr>
          <a:xfrm>
            <a:off x="5989320" y="1691640"/>
            <a:ext cx="182880" cy="182880"/>
          </a:xfrm>
          <a:prstGeom prst="rect">
            <a:avLst/>
          </a:prstGeom>
        </p:spPr>
      </p:pic>
      <p:sp>
        <p:nvSpPr>
          <p:cNvPr id="17" name="Shape 12"/>
          <p:cNvSpPr/>
          <p:nvPr/>
        </p:nvSpPr>
        <p:spPr>
          <a:xfrm>
            <a:off x="6172200" y="960120"/>
            <a:ext cx="2743200" cy="20116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8" name="Shape 13"/>
          <p:cNvSpPr/>
          <p:nvPr/>
        </p:nvSpPr>
        <p:spPr>
          <a:xfrm>
            <a:off x="6172200" y="960120"/>
            <a:ext cx="2743200" cy="502920"/>
          </a:xfrm>
          <a:prstGeom prst="rect">
            <a:avLst/>
          </a:prstGeom>
          <a:solidFill>
            <a:srgbClr val="22A06B"/>
          </a:solidFill>
          <a:ln/>
        </p:spPr>
        <p:txBody>
          <a:bodyPr/>
          <a:lstStyle/>
          <a:p>
            <a:endParaRPr lang="en-US"/>
          </a:p>
        </p:txBody>
      </p:sp>
      <p:sp>
        <p:nvSpPr>
          <p:cNvPr id="19" name="Text 14"/>
          <p:cNvSpPr/>
          <p:nvPr/>
        </p:nvSpPr>
        <p:spPr>
          <a:xfrm>
            <a:off x="6172200" y="960120"/>
            <a:ext cx="27432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PROVE</a:t>
            </a:r>
            <a:endParaRPr lang="en-US" sz="1600" dirty="0"/>
          </a:p>
        </p:txBody>
      </p:sp>
      <p:sp>
        <p:nvSpPr>
          <p:cNvPr id="20" name="Text 15"/>
          <p:cNvSpPr/>
          <p:nvPr/>
        </p:nvSpPr>
        <p:spPr>
          <a:xfrm>
            <a:off x="6309360" y="1554480"/>
            <a:ext cx="2468880" cy="45720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Back it up with social proof, data, or specific features.</a:t>
            </a:r>
            <a:endParaRPr lang="en-US" sz="1100" dirty="0"/>
          </a:p>
        </p:txBody>
      </p:sp>
      <p:sp>
        <p:nvSpPr>
          <p:cNvPr id="21" name="Text 16"/>
          <p:cNvSpPr/>
          <p:nvPr/>
        </p:nvSpPr>
        <p:spPr>
          <a:xfrm>
            <a:off x="6309360" y="2011680"/>
            <a:ext cx="2468880" cy="777240"/>
          </a:xfrm>
          <a:prstGeom prst="rect">
            <a:avLst/>
          </a:prstGeom>
          <a:noFill/>
          <a:ln/>
        </p:spPr>
        <p:txBody>
          <a:bodyPr wrap="square" lIns="0" tIns="0" rIns="0" bIns="0" rtlCol="0" anchor="ctr"/>
          <a:lstStyle/>
          <a:p>
            <a:pPr marL="0" indent="0">
              <a:buNone/>
            </a:pPr>
            <a:r>
              <a:rPr lang="en-US" sz="950" i="1" dirty="0">
                <a:solidFill>
                  <a:srgbClr val="5C6B73"/>
                </a:solidFill>
                <a:latin typeface="Calibri" pitchFamily="34" charset="0"/>
                <a:ea typeface="Calibri" pitchFamily="34" charset="-122"/>
                <a:cs typeface="Calibri" pitchFamily="34" charset="-120"/>
              </a:rPr>
              <a:t>"We see folks switch for things like custom dashboards, goal reporting, and US-based phone support."</a:t>
            </a:r>
            <a:endParaRPr lang="en-US" sz="950" dirty="0"/>
          </a:p>
        </p:txBody>
      </p:sp>
      <p:sp>
        <p:nvSpPr>
          <p:cNvPr id="22" name="Shape 17"/>
          <p:cNvSpPr/>
          <p:nvPr/>
        </p:nvSpPr>
        <p:spPr>
          <a:xfrm>
            <a:off x="457200" y="3154680"/>
            <a:ext cx="822960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3" name="Shape 18"/>
          <p:cNvSpPr/>
          <p:nvPr/>
        </p:nvSpPr>
        <p:spPr>
          <a:xfrm>
            <a:off x="457200" y="3154680"/>
            <a:ext cx="54864" cy="1417320"/>
          </a:xfrm>
          <a:prstGeom prst="rect">
            <a:avLst/>
          </a:prstGeom>
          <a:solidFill>
            <a:srgbClr val="C9A84C"/>
          </a:solidFill>
          <a:ln/>
        </p:spPr>
        <p:txBody>
          <a:bodyPr/>
          <a:lstStyle/>
          <a:p>
            <a:endParaRPr lang="en-US"/>
          </a:p>
        </p:txBody>
      </p:sp>
      <p:sp>
        <p:nvSpPr>
          <p:cNvPr id="24" name="Text 19"/>
          <p:cNvSpPr/>
          <p:nvPr/>
        </p:nvSpPr>
        <p:spPr>
          <a:xfrm>
            <a:off x="685800" y="3200400"/>
            <a:ext cx="7772400" cy="274320"/>
          </a:xfrm>
          <a:prstGeom prst="rect">
            <a:avLst/>
          </a:prstGeom>
          <a:noFill/>
          <a:ln/>
        </p:spPr>
        <p:txBody>
          <a:bodyPr wrap="square" lIns="0" tIns="0" rIns="0" bIns="0" rtlCol="0" anchor="ctr"/>
          <a:lstStyle/>
          <a:p>
            <a:pPr marL="0" indent="0">
              <a:buNone/>
            </a:pPr>
            <a:r>
              <a:rPr lang="en-US" sz="1200" b="1" dirty="0">
                <a:solidFill>
                  <a:srgbClr val="DE350B"/>
                </a:solidFill>
                <a:latin typeface="Calibri" pitchFamily="34" charset="0"/>
                <a:ea typeface="Calibri" pitchFamily="34" charset="-122"/>
                <a:cs typeface="Calibri" pitchFamily="34" charset="-120"/>
              </a:rPr>
              <a:t>"We're happy with our current software"</a:t>
            </a:r>
            <a:endParaRPr lang="en-US" sz="1200" dirty="0"/>
          </a:p>
        </p:txBody>
      </p:sp>
      <p:sp>
        <p:nvSpPr>
          <p:cNvPr id="25" name="Text 20"/>
          <p:cNvSpPr/>
          <p:nvPr/>
        </p:nvSpPr>
        <p:spPr>
          <a:xfrm>
            <a:off x="685800" y="3520440"/>
            <a:ext cx="7772400" cy="960120"/>
          </a:xfrm>
          <a:prstGeom prst="rect">
            <a:avLst/>
          </a:prstGeom>
          <a:noFill/>
          <a:ln/>
        </p:spPr>
        <p:txBody>
          <a:bodyPr wrap="square" lIns="0" tIns="0" rIns="0" bIns="0" rtlCol="0" anchor="ctr"/>
          <a:lstStyle/>
          <a:p>
            <a:pPr marL="0" indent="0">
              <a:buNone/>
            </a:pPr>
            <a:r>
              <a:rPr lang="en-US" sz="1050" i="1" dirty="0">
                <a:solidFill>
                  <a:srgbClr val="5C6B73"/>
                </a:solidFill>
                <a:latin typeface="Calibri" pitchFamily="34" charset="0"/>
                <a:ea typeface="Calibri" pitchFamily="34" charset="-122"/>
                <a:cs typeface="Calibri" pitchFamily="34" charset="-120"/>
              </a:rPr>
              <a:t>"Totally get that — not here to disrupt a good relationship. But what I AM here to do is make sure your hard-earned dollars go to the best possible fit. We see folks switch from [Competitor] to Meevo for things like custom dashboards, goal reporting, automated inventory, and US-based phone support. Do any of those stand out as areas of interest?"</a:t>
            </a:r>
            <a:endParaRPr lang="en-US" sz="1050" dirty="0"/>
          </a:p>
        </p:txBody>
      </p:sp>
      <p:sp>
        <p:nvSpPr>
          <p:cNvPr id="26" name="Text 21"/>
          <p:cNvSpPr/>
          <p:nvPr/>
        </p:nvSpPr>
        <p:spPr>
          <a:xfrm>
            <a:off x="0" y="4800600"/>
            <a:ext cx="7315200" cy="34290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PROPRIETARY AND CONFIDENTIAL</a:t>
            </a:r>
            <a:endParaRPr lang="en-US" sz="800" dirty="0"/>
          </a:p>
        </p:txBody>
      </p:sp>
      <p:sp>
        <p:nvSpPr>
          <p:cNvPr id="27" name="Shape 22"/>
          <p:cNvSpPr/>
          <p:nvPr/>
        </p:nvSpPr>
        <p:spPr>
          <a:xfrm>
            <a:off x="8503920" y="4800600"/>
            <a:ext cx="457200" cy="342900"/>
          </a:xfrm>
          <a:prstGeom prst="rect">
            <a:avLst/>
          </a:prstGeom>
          <a:solidFill>
            <a:srgbClr val="2D4A53"/>
          </a:solidFill>
          <a:ln/>
        </p:spPr>
        <p:txBody>
          <a:bodyPr/>
          <a:lstStyle/>
          <a:p>
            <a:endParaRPr lang="en-US"/>
          </a:p>
        </p:txBody>
      </p:sp>
      <p:sp>
        <p:nvSpPr>
          <p:cNvPr id="28" name="Text 23"/>
          <p:cNvSpPr/>
          <p:nvPr/>
        </p:nvSpPr>
        <p:spPr>
          <a:xfrm>
            <a:off x="8503920" y="4800600"/>
            <a:ext cx="45720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4A53"/>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20040" y="155448"/>
            <a:ext cx="384048" cy="384048"/>
          </a:xfrm>
          <a:prstGeom prst="rect">
            <a:avLst/>
          </a:prstGeom>
        </p:spPr>
      </p:pic>
      <p:sp>
        <p:nvSpPr>
          <p:cNvPr id="4" name="Text 1"/>
          <p:cNvSpPr/>
          <p:nvPr/>
        </p:nvSpPr>
        <p:spPr>
          <a:xfrm>
            <a:off x="822960" y="0"/>
            <a:ext cx="7863840" cy="7772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               TECHNIQUES: ADVANCED METHODS</a:t>
            </a:r>
            <a:endParaRPr lang="en-US" sz="2000" dirty="0"/>
          </a:p>
        </p:txBody>
      </p:sp>
      <p:pic>
        <p:nvPicPr>
          <p:cNvPr id="7" name="Image 1" descr="preencoded.png"/>
          <p:cNvPicPr>
            <a:picLocks noChangeAspect="1"/>
          </p:cNvPicPr>
          <p:nvPr/>
        </p:nvPicPr>
        <p:blipFill>
          <a:blip r:embed="rId4"/>
          <a:stretch>
            <a:fillRect/>
          </a:stretch>
        </p:blipFill>
        <p:spPr>
          <a:xfrm>
            <a:off x="1776750" y="1351905"/>
            <a:ext cx="994586" cy="994586"/>
          </a:xfrm>
          <a:prstGeom prst="rect">
            <a:avLst/>
          </a:prstGeom>
        </p:spPr>
      </p:pic>
      <p:sp>
        <p:nvSpPr>
          <p:cNvPr id="12" name="Shape 8"/>
          <p:cNvSpPr/>
          <p:nvPr/>
        </p:nvSpPr>
        <p:spPr>
          <a:xfrm>
            <a:off x="4709160" y="960120"/>
            <a:ext cx="4069080" cy="1783080"/>
          </a:xfrm>
          <a:prstGeom prst="rect">
            <a:avLst/>
          </a:prstGeom>
          <a:solidFill>
            <a:srgbClr val="F3F0FF"/>
          </a:solidFill>
          <a:ln/>
          <a:effectLst>
            <a:outerShdw blurRad="50800" dist="12700" dir="8100000" algn="bl" rotWithShape="0">
              <a:srgbClr val="000000">
                <a:alpha val="8000"/>
              </a:srgbClr>
            </a:outerShdw>
          </a:effectLst>
        </p:spPr>
        <p:txBody>
          <a:bodyPr/>
          <a:lstStyle/>
          <a:p>
            <a:endParaRPr lang="en-US"/>
          </a:p>
        </p:txBody>
      </p:sp>
      <p:sp>
        <p:nvSpPr>
          <p:cNvPr id="13" name="Shape 9"/>
          <p:cNvSpPr/>
          <p:nvPr/>
        </p:nvSpPr>
        <p:spPr>
          <a:xfrm>
            <a:off x="4709160" y="960120"/>
            <a:ext cx="4069080" cy="457200"/>
          </a:xfrm>
          <a:prstGeom prst="rect">
            <a:avLst/>
          </a:prstGeom>
          <a:solidFill>
            <a:srgbClr val="6554C0"/>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4818888" y="1033272"/>
            <a:ext cx="256032" cy="256032"/>
          </a:xfrm>
          <a:prstGeom prst="rect">
            <a:avLst/>
          </a:prstGeom>
        </p:spPr>
      </p:pic>
      <p:sp>
        <p:nvSpPr>
          <p:cNvPr id="15" name="Text 10"/>
          <p:cNvSpPr/>
          <p:nvPr/>
        </p:nvSpPr>
        <p:spPr>
          <a:xfrm>
            <a:off x="5120640" y="960120"/>
            <a:ext cx="34747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TECHNIQUE: The Isolation</a:t>
            </a:r>
            <a:endParaRPr lang="en-US" sz="1200" dirty="0"/>
          </a:p>
        </p:txBody>
      </p:sp>
      <p:sp>
        <p:nvSpPr>
          <p:cNvPr id="16" name="Text 11"/>
          <p:cNvSpPr/>
          <p:nvPr/>
        </p:nvSpPr>
        <p:spPr>
          <a:xfrm>
            <a:off x="4846320" y="1463040"/>
            <a:ext cx="3794760" cy="27432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Isolate the real objection from the smokescreen.</a:t>
            </a:r>
            <a:endParaRPr lang="en-US" sz="900" dirty="0"/>
          </a:p>
        </p:txBody>
      </p:sp>
      <p:sp>
        <p:nvSpPr>
          <p:cNvPr id="17" name="Text 12"/>
          <p:cNvSpPr/>
          <p:nvPr/>
        </p:nvSpPr>
        <p:spPr>
          <a:xfrm>
            <a:off x="4846320" y="1764792"/>
            <a:ext cx="3794760" cy="201168"/>
          </a:xfrm>
          <a:prstGeom prst="rect">
            <a:avLst/>
          </a:prstGeom>
          <a:noFill/>
          <a:ln/>
        </p:spPr>
        <p:txBody>
          <a:bodyPr wrap="square" lIns="0" tIns="0" rIns="0" bIns="0" rtlCol="0" anchor="ctr"/>
          <a:lstStyle/>
          <a:p>
            <a:pPr marL="0" indent="0">
              <a:buNone/>
            </a:pPr>
            <a:r>
              <a:rPr lang="en-US" sz="900" b="1" dirty="0">
                <a:solidFill>
                  <a:srgbClr val="6554C0"/>
                </a:solidFill>
                <a:latin typeface="Calibri" pitchFamily="34" charset="0"/>
                <a:ea typeface="Calibri" pitchFamily="34" charset="-122"/>
                <a:cs typeface="Calibri" pitchFamily="34" charset="-120"/>
              </a:rPr>
              <a:t>"My manager said they're not interested"</a:t>
            </a:r>
            <a:endParaRPr lang="en-US" sz="900" dirty="0"/>
          </a:p>
        </p:txBody>
      </p:sp>
      <p:sp>
        <p:nvSpPr>
          <p:cNvPr id="18" name="Text 13"/>
          <p:cNvSpPr/>
          <p:nvPr/>
        </p:nvSpPr>
        <p:spPr>
          <a:xfrm>
            <a:off x="4846320" y="1965960"/>
            <a:ext cx="3794760" cy="731520"/>
          </a:xfrm>
          <a:prstGeom prst="rect">
            <a:avLst/>
          </a:prstGeom>
          <a:noFill/>
          <a:ln/>
        </p:spPr>
        <p:txBody>
          <a:bodyPr wrap="square" lIns="0" tIns="0" rIns="0" bIns="0" rtlCol="0" anchor="ctr"/>
          <a:lstStyle/>
          <a:p>
            <a:pPr marL="0" indent="0">
              <a:buNone/>
            </a:pPr>
            <a:r>
              <a:rPr lang="en-US" sz="850" i="1" dirty="0">
                <a:solidFill>
                  <a:srgbClr val="5C6B73"/>
                </a:solidFill>
                <a:latin typeface="Calibri" pitchFamily="34" charset="0"/>
                <a:ea typeface="Calibri" pitchFamily="34" charset="-122"/>
                <a:cs typeface="Calibri" pitchFamily="34" charset="-120"/>
              </a:rPr>
              <a:t>"Got it — do you know if they had a chance to see what we do, or was it more of a general no? Just want to make sure the right info was shared. Is there a better time to loop back with them directly?"</a:t>
            </a:r>
            <a:endParaRPr lang="en-US" sz="850" dirty="0"/>
          </a:p>
        </p:txBody>
      </p:sp>
      <p:sp>
        <p:nvSpPr>
          <p:cNvPr id="19" name="Shape 14"/>
          <p:cNvSpPr/>
          <p:nvPr/>
        </p:nvSpPr>
        <p:spPr>
          <a:xfrm>
            <a:off x="365760" y="2880360"/>
            <a:ext cx="4069080" cy="1783080"/>
          </a:xfrm>
          <a:prstGeom prst="rect">
            <a:avLst/>
          </a:prstGeom>
          <a:solidFill>
            <a:srgbClr val="EFF6FF"/>
          </a:solidFill>
          <a:ln/>
          <a:effectLst>
            <a:outerShdw blurRad="50800" dist="12700" dir="8100000" algn="bl" rotWithShape="0">
              <a:srgbClr val="000000">
                <a:alpha val="8000"/>
              </a:srgbClr>
            </a:outerShdw>
          </a:effectLst>
        </p:spPr>
        <p:txBody>
          <a:bodyPr/>
          <a:lstStyle/>
          <a:p>
            <a:endParaRPr lang="en-US"/>
          </a:p>
        </p:txBody>
      </p:sp>
      <p:sp>
        <p:nvSpPr>
          <p:cNvPr id="20" name="Shape 15"/>
          <p:cNvSpPr/>
          <p:nvPr/>
        </p:nvSpPr>
        <p:spPr>
          <a:xfrm>
            <a:off x="365760" y="2880360"/>
            <a:ext cx="4069080" cy="457200"/>
          </a:xfrm>
          <a:prstGeom prst="rect">
            <a:avLst/>
          </a:prstGeom>
          <a:solidFill>
            <a:srgbClr val="2D4A5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475488" y="2953512"/>
            <a:ext cx="256032" cy="256032"/>
          </a:xfrm>
          <a:prstGeom prst="rect">
            <a:avLst/>
          </a:prstGeom>
        </p:spPr>
      </p:pic>
      <p:sp>
        <p:nvSpPr>
          <p:cNvPr id="22" name="Text 16"/>
          <p:cNvSpPr/>
          <p:nvPr/>
        </p:nvSpPr>
        <p:spPr>
          <a:xfrm>
            <a:off x="777240" y="2880360"/>
            <a:ext cx="34747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TECHNIQUE: The Reframe</a:t>
            </a:r>
            <a:endParaRPr lang="en-US" sz="1200" dirty="0"/>
          </a:p>
        </p:txBody>
      </p:sp>
      <p:sp>
        <p:nvSpPr>
          <p:cNvPr id="23" name="Text 17"/>
          <p:cNvSpPr/>
          <p:nvPr/>
        </p:nvSpPr>
        <p:spPr>
          <a:xfrm>
            <a:off x="502920" y="3383280"/>
            <a:ext cx="3794760" cy="27432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Change the lens they're evaluating through.</a:t>
            </a:r>
            <a:endParaRPr lang="en-US" sz="900" dirty="0"/>
          </a:p>
        </p:txBody>
      </p:sp>
      <p:sp>
        <p:nvSpPr>
          <p:cNvPr id="24" name="Text 18"/>
          <p:cNvSpPr/>
          <p:nvPr/>
        </p:nvSpPr>
        <p:spPr>
          <a:xfrm>
            <a:off x="502920" y="3685032"/>
            <a:ext cx="3794760" cy="201168"/>
          </a:xfrm>
          <a:prstGeom prst="rect">
            <a:avLst/>
          </a:prstGeom>
          <a:noFill/>
          <a:ln/>
        </p:spPr>
        <p:txBody>
          <a:bodyPr wrap="square" lIns="0" tIns="0" rIns="0" bIns="0" rtlCol="0" anchor="ctr"/>
          <a:lstStyle/>
          <a:p>
            <a:pPr marL="0" indent="0">
              <a:buNone/>
            </a:pPr>
            <a:r>
              <a:rPr lang="en-US" sz="900" b="1" dirty="0">
                <a:solidFill>
                  <a:srgbClr val="2D4A53"/>
                </a:solidFill>
                <a:latin typeface="Calibri" pitchFamily="34" charset="0"/>
                <a:ea typeface="Calibri" pitchFamily="34" charset="-122"/>
                <a:cs typeface="Calibri" pitchFamily="34" charset="-120"/>
              </a:rPr>
              <a:t>"We've used the same software for 10+ years"</a:t>
            </a:r>
            <a:endParaRPr lang="en-US" sz="900" dirty="0"/>
          </a:p>
        </p:txBody>
      </p:sp>
      <p:sp>
        <p:nvSpPr>
          <p:cNvPr id="25" name="Text 19"/>
          <p:cNvSpPr/>
          <p:nvPr/>
        </p:nvSpPr>
        <p:spPr>
          <a:xfrm>
            <a:off x="502920" y="3886200"/>
            <a:ext cx="3794760" cy="731520"/>
          </a:xfrm>
          <a:prstGeom prst="rect">
            <a:avLst/>
          </a:prstGeom>
          <a:noFill/>
          <a:ln/>
        </p:spPr>
        <p:txBody>
          <a:bodyPr wrap="square" lIns="0" tIns="0" rIns="0" bIns="0" rtlCol="0" anchor="ctr"/>
          <a:lstStyle/>
          <a:p>
            <a:pPr marL="0" indent="0">
              <a:buNone/>
            </a:pPr>
            <a:r>
              <a:rPr lang="en-US" sz="850" i="1" dirty="0">
                <a:solidFill>
                  <a:srgbClr val="5C6B73"/>
                </a:solidFill>
                <a:latin typeface="Calibri" pitchFamily="34" charset="0"/>
                <a:ea typeface="Calibri" pitchFamily="34" charset="-122"/>
                <a:cs typeface="Calibri" pitchFamily="34" charset="-120"/>
              </a:rPr>
              <a:t>"That kind of loyalty is impressive. Curious — what's kept you with them so long? Any areas on your wish list they haven't solved yet?" [Find a crack, pivot to reporting, dashboards, US support]</a:t>
            </a:r>
            <a:endParaRPr lang="en-US" sz="850" dirty="0"/>
          </a:p>
        </p:txBody>
      </p:sp>
      <p:sp>
        <p:nvSpPr>
          <p:cNvPr id="26" name="Shape 20"/>
          <p:cNvSpPr/>
          <p:nvPr/>
        </p:nvSpPr>
        <p:spPr>
          <a:xfrm>
            <a:off x="4709160" y="2880360"/>
            <a:ext cx="4069080" cy="1783080"/>
          </a:xfrm>
          <a:prstGeom prst="rect">
            <a:avLst/>
          </a:prstGeom>
          <a:solidFill>
            <a:srgbClr val="FFFBEB"/>
          </a:solidFill>
          <a:ln/>
          <a:effectLst>
            <a:outerShdw blurRad="50800" dist="12700" dir="8100000" algn="bl" rotWithShape="0">
              <a:srgbClr val="000000">
                <a:alpha val="8000"/>
              </a:srgbClr>
            </a:outerShdw>
          </a:effectLst>
        </p:spPr>
        <p:txBody>
          <a:bodyPr/>
          <a:lstStyle/>
          <a:p>
            <a:endParaRPr lang="en-US"/>
          </a:p>
        </p:txBody>
      </p:sp>
      <p:sp>
        <p:nvSpPr>
          <p:cNvPr id="27" name="Shape 21"/>
          <p:cNvSpPr/>
          <p:nvPr/>
        </p:nvSpPr>
        <p:spPr>
          <a:xfrm>
            <a:off x="4709160" y="2880360"/>
            <a:ext cx="4069080" cy="457200"/>
          </a:xfrm>
          <a:prstGeom prst="rect">
            <a:avLst/>
          </a:prstGeom>
          <a:solidFill>
            <a:srgbClr val="C9A84C"/>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4818888" y="2953512"/>
            <a:ext cx="256032" cy="256032"/>
          </a:xfrm>
          <a:prstGeom prst="rect">
            <a:avLst/>
          </a:prstGeom>
        </p:spPr>
      </p:pic>
      <p:sp>
        <p:nvSpPr>
          <p:cNvPr id="29" name="Text 22"/>
          <p:cNvSpPr/>
          <p:nvPr/>
        </p:nvSpPr>
        <p:spPr>
          <a:xfrm>
            <a:off x="5120640" y="2880360"/>
            <a:ext cx="34747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TECHNIQUE: The Curiosity Hook</a:t>
            </a:r>
            <a:endParaRPr lang="en-US" sz="1200" dirty="0"/>
          </a:p>
        </p:txBody>
      </p:sp>
      <p:sp>
        <p:nvSpPr>
          <p:cNvPr id="30" name="Text 23"/>
          <p:cNvSpPr/>
          <p:nvPr/>
        </p:nvSpPr>
        <p:spPr>
          <a:xfrm>
            <a:off x="4846320" y="3383280"/>
            <a:ext cx="3794760" cy="27432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Ask a question that makes them think instead of defend.</a:t>
            </a:r>
            <a:endParaRPr lang="en-US" sz="900" dirty="0"/>
          </a:p>
        </p:txBody>
      </p:sp>
      <p:sp>
        <p:nvSpPr>
          <p:cNvPr id="31" name="Text 24"/>
          <p:cNvSpPr/>
          <p:nvPr/>
        </p:nvSpPr>
        <p:spPr>
          <a:xfrm>
            <a:off x="4846320" y="3685032"/>
            <a:ext cx="3794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"Price is too high"</a:t>
            </a:r>
            <a:endParaRPr lang="en-US" sz="900" dirty="0"/>
          </a:p>
        </p:txBody>
      </p:sp>
      <p:sp>
        <p:nvSpPr>
          <p:cNvPr id="32" name="Text 25"/>
          <p:cNvSpPr/>
          <p:nvPr/>
        </p:nvSpPr>
        <p:spPr>
          <a:xfrm>
            <a:off x="4846320" y="3886200"/>
            <a:ext cx="3794760" cy="731520"/>
          </a:xfrm>
          <a:prstGeom prst="rect">
            <a:avLst/>
          </a:prstGeom>
          <a:noFill/>
          <a:ln/>
        </p:spPr>
        <p:txBody>
          <a:bodyPr wrap="square" lIns="0" tIns="0" rIns="0" bIns="0" rtlCol="0" anchor="ctr"/>
          <a:lstStyle/>
          <a:p>
            <a:pPr marL="0" indent="0">
              <a:buNone/>
            </a:pPr>
            <a:r>
              <a:rPr lang="en-US" sz="850" i="1" dirty="0">
                <a:solidFill>
                  <a:srgbClr val="5C6B73"/>
                </a:solidFill>
                <a:latin typeface="Calibri" pitchFamily="34" charset="0"/>
                <a:ea typeface="Calibri" pitchFamily="34" charset="-122"/>
                <a:cs typeface="Calibri" pitchFamily="34" charset="-120"/>
              </a:rPr>
              <a:t>"Interesting — when you say too high, are you comparing base subscription, or total cost including booking fees, transaction rates, and add-ons? Because what we often find is Meevo evens out or costs less once those are factored in."</a:t>
            </a:r>
            <a:endParaRPr lang="en-US" sz="850" dirty="0"/>
          </a:p>
        </p:txBody>
      </p:sp>
      <p:sp>
        <p:nvSpPr>
          <p:cNvPr id="33" name="Text 26"/>
          <p:cNvSpPr/>
          <p:nvPr/>
        </p:nvSpPr>
        <p:spPr>
          <a:xfrm>
            <a:off x="0" y="4800600"/>
            <a:ext cx="7315200" cy="34290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PROPRIETARY AND CONFIDENTIAL</a:t>
            </a:r>
            <a:endParaRPr lang="en-US" sz="800" dirty="0"/>
          </a:p>
        </p:txBody>
      </p:sp>
      <p:sp>
        <p:nvSpPr>
          <p:cNvPr id="34" name="Shape 27"/>
          <p:cNvSpPr/>
          <p:nvPr/>
        </p:nvSpPr>
        <p:spPr>
          <a:xfrm>
            <a:off x="8503920" y="4800600"/>
            <a:ext cx="457200" cy="342900"/>
          </a:xfrm>
          <a:prstGeom prst="rect">
            <a:avLst/>
          </a:prstGeom>
          <a:solidFill>
            <a:srgbClr val="2D4A53"/>
          </a:solidFill>
          <a:ln/>
        </p:spPr>
        <p:txBody>
          <a:bodyPr/>
          <a:lstStyle/>
          <a:p>
            <a:endParaRPr lang="en-US"/>
          </a:p>
        </p:txBody>
      </p:sp>
      <p:sp>
        <p:nvSpPr>
          <p:cNvPr id="35" name="Text 28"/>
          <p:cNvSpPr/>
          <p:nvPr/>
        </p:nvSpPr>
        <p:spPr>
          <a:xfrm>
            <a:off x="8503920" y="4800600"/>
            <a:ext cx="45720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4A53"/>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20040" y="155448"/>
            <a:ext cx="384048" cy="384048"/>
          </a:xfrm>
          <a:prstGeom prst="rect">
            <a:avLst/>
          </a:prstGeom>
        </p:spPr>
      </p:pic>
      <p:sp>
        <p:nvSpPr>
          <p:cNvPr id="4" name="Text 1"/>
          <p:cNvSpPr/>
          <p:nvPr/>
        </p:nvSpPr>
        <p:spPr>
          <a:xfrm>
            <a:off x="822960" y="0"/>
            <a:ext cx="7863840" cy="7772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        MEEVO OBJECTIONS — BATTLE CARDS</a:t>
            </a:r>
            <a:endParaRPr lang="en-US" sz="2000" dirty="0"/>
          </a:p>
        </p:txBody>
      </p:sp>
      <p:sp>
        <p:nvSpPr>
          <p:cNvPr id="5" name="Shape 2"/>
          <p:cNvSpPr/>
          <p:nvPr/>
        </p:nvSpPr>
        <p:spPr>
          <a:xfrm>
            <a:off x="365760" y="960120"/>
            <a:ext cx="406908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365760" y="960120"/>
            <a:ext cx="54864" cy="1097280"/>
          </a:xfrm>
          <a:prstGeom prst="rect">
            <a:avLst/>
          </a:prstGeom>
          <a:solidFill>
            <a:srgbClr val="C9A84C"/>
          </a:solidFill>
          <a:ln/>
        </p:spPr>
        <p:txBody>
          <a:bodyPr/>
          <a:lstStyle/>
          <a:p>
            <a:endParaRPr lang="en-US"/>
          </a:p>
        </p:txBody>
      </p:sp>
      <p:sp>
        <p:nvSpPr>
          <p:cNvPr id="7" name="Text 4"/>
          <p:cNvSpPr/>
          <p:nvPr/>
        </p:nvSpPr>
        <p:spPr>
          <a:xfrm>
            <a:off x="548640" y="987552"/>
            <a:ext cx="3703320" cy="256032"/>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We're happy with our software</a:t>
            </a:r>
            <a:endParaRPr lang="en-US" sz="1050" dirty="0"/>
          </a:p>
        </p:txBody>
      </p:sp>
      <p:sp>
        <p:nvSpPr>
          <p:cNvPr id="8" name="Shape 5"/>
          <p:cNvSpPr/>
          <p:nvPr/>
        </p:nvSpPr>
        <p:spPr>
          <a:xfrm>
            <a:off x="548640" y="1261872"/>
            <a:ext cx="2011680" cy="201168"/>
          </a:xfrm>
          <a:prstGeom prst="rect">
            <a:avLst/>
          </a:prstGeom>
          <a:solidFill>
            <a:srgbClr val="2D4A53"/>
          </a:solidFill>
          <a:ln/>
        </p:spPr>
        <p:txBody>
          <a:bodyPr/>
          <a:lstStyle/>
          <a:p>
            <a:endParaRPr lang="en-US"/>
          </a:p>
        </p:txBody>
      </p:sp>
      <p:sp>
        <p:nvSpPr>
          <p:cNvPr id="9" name="Text 6"/>
          <p:cNvSpPr/>
          <p:nvPr/>
        </p:nvSpPr>
        <p:spPr>
          <a:xfrm>
            <a:off x="548640" y="1261872"/>
            <a:ext cx="2011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Feel-Felt-Found + Curiosity Hook</a:t>
            </a:r>
            <a:endParaRPr lang="en-US" sz="750" dirty="0"/>
          </a:p>
        </p:txBody>
      </p:sp>
      <p:sp>
        <p:nvSpPr>
          <p:cNvPr id="10" name="Text 7"/>
          <p:cNvSpPr/>
          <p:nvPr/>
        </p:nvSpPr>
        <p:spPr>
          <a:xfrm>
            <a:off x="548640" y="1527048"/>
            <a:ext cx="3703320" cy="457200"/>
          </a:xfrm>
          <a:prstGeom prst="rect">
            <a:avLst/>
          </a:prstGeom>
          <a:noFill/>
          <a:ln/>
        </p:spPr>
        <p:txBody>
          <a:bodyPr wrap="square" lIns="0" tIns="0" rIns="0" bIns="0" rtlCol="0" anchor="ctr"/>
          <a:lstStyle/>
          <a:p>
            <a:pPr marL="0" indent="0">
              <a:buNone/>
            </a:pPr>
            <a:r>
              <a:rPr lang="en-US" sz="950" dirty="0">
                <a:solidFill>
                  <a:srgbClr val="5C6B73"/>
                </a:solidFill>
                <a:latin typeface="Calibri" pitchFamily="34" charset="0"/>
                <a:ea typeface="Calibri" pitchFamily="34" charset="-122"/>
                <a:cs typeface="Calibri" pitchFamily="34" charset="-120"/>
              </a:rPr>
              <a:t>Validate → Ask what's on their wish list → Pivot to reporting, dashboards, support</a:t>
            </a:r>
            <a:endParaRPr lang="en-US" sz="950" dirty="0"/>
          </a:p>
        </p:txBody>
      </p:sp>
      <p:sp>
        <p:nvSpPr>
          <p:cNvPr id="15" name="Text 12"/>
          <p:cNvSpPr/>
          <p:nvPr/>
        </p:nvSpPr>
        <p:spPr>
          <a:xfrm>
            <a:off x="4892040" y="1261872"/>
            <a:ext cx="2011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Curiosity Hook</a:t>
            </a:r>
            <a:endParaRPr lang="en-US" sz="750" dirty="0"/>
          </a:p>
        </p:txBody>
      </p:sp>
      <p:sp>
        <p:nvSpPr>
          <p:cNvPr id="17" name="Shape 14"/>
          <p:cNvSpPr/>
          <p:nvPr/>
        </p:nvSpPr>
        <p:spPr>
          <a:xfrm>
            <a:off x="365760" y="2194560"/>
            <a:ext cx="406908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8" name="Shape 15"/>
          <p:cNvSpPr/>
          <p:nvPr/>
        </p:nvSpPr>
        <p:spPr>
          <a:xfrm>
            <a:off x="365760" y="2194560"/>
            <a:ext cx="54864" cy="1097280"/>
          </a:xfrm>
          <a:prstGeom prst="rect">
            <a:avLst/>
          </a:prstGeom>
          <a:solidFill>
            <a:srgbClr val="C9A84C"/>
          </a:solidFill>
          <a:ln/>
        </p:spPr>
        <p:txBody>
          <a:bodyPr/>
          <a:lstStyle/>
          <a:p>
            <a:endParaRPr lang="en-US"/>
          </a:p>
        </p:txBody>
      </p:sp>
      <p:sp>
        <p:nvSpPr>
          <p:cNvPr id="19" name="Text 16"/>
          <p:cNvSpPr/>
          <p:nvPr/>
        </p:nvSpPr>
        <p:spPr>
          <a:xfrm>
            <a:off x="548640" y="2221992"/>
            <a:ext cx="3703320" cy="256032"/>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Too expensive / price too high</a:t>
            </a:r>
            <a:endParaRPr lang="en-US" sz="1050" dirty="0"/>
          </a:p>
        </p:txBody>
      </p:sp>
      <p:sp>
        <p:nvSpPr>
          <p:cNvPr id="20" name="Shape 17"/>
          <p:cNvSpPr/>
          <p:nvPr/>
        </p:nvSpPr>
        <p:spPr>
          <a:xfrm>
            <a:off x="548640" y="2496312"/>
            <a:ext cx="2011680" cy="201168"/>
          </a:xfrm>
          <a:prstGeom prst="rect">
            <a:avLst/>
          </a:prstGeom>
          <a:solidFill>
            <a:srgbClr val="2D4A53"/>
          </a:solidFill>
          <a:ln/>
        </p:spPr>
        <p:txBody>
          <a:bodyPr/>
          <a:lstStyle/>
          <a:p>
            <a:endParaRPr lang="en-US"/>
          </a:p>
        </p:txBody>
      </p:sp>
      <p:sp>
        <p:nvSpPr>
          <p:cNvPr id="21" name="Text 18"/>
          <p:cNvSpPr/>
          <p:nvPr/>
        </p:nvSpPr>
        <p:spPr>
          <a:xfrm>
            <a:off x="548640" y="2496312"/>
            <a:ext cx="2011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Reframe + Feel-Felt-Found</a:t>
            </a:r>
            <a:endParaRPr lang="en-US" sz="750" dirty="0"/>
          </a:p>
        </p:txBody>
      </p:sp>
      <p:sp>
        <p:nvSpPr>
          <p:cNvPr id="22" name="Text 19"/>
          <p:cNvSpPr/>
          <p:nvPr/>
        </p:nvSpPr>
        <p:spPr>
          <a:xfrm>
            <a:off x="548640" y="2761488"/>
            <a:ext cx="3703320" cy="457200"/>
          </a:xfrm>
          <a:prstGeom prst="rect">
            <a:avLst/>
          </a:prstGeom>
          <a:noFill/>
          <a:ln/>
        </p:spPr>
        <p:txBody>
          <a:bodyPr wrap="square" lIns="0" tIns="0" rIns="0" bIns="0" rtlCol="0" anchor="ctr"/>
          <a:lstStyle/>
          <a:p>
            <a:pPr marL="0" indent="0">
              <a:buNone/>
            </a:pPr>
            <a:r>
              <a:rPr lang="en-US" sz="950" dirty="0">
                <a:solidFill>
                  <a:srgbClr val="5C6B73"/>
                </a:solidFill>
                <a:latin typeface="Calibri" pitchFamily="34" charset="0"/>
                <a:ea typeface="Calibri" pitchFamily="34" charset="-122"/>
                <a:cs typeface="Calibri" pitchFamily="34" charset="-120"/>
              </a:rPr>
              <a:t>Reframe to total cost (fees, rates, add-ons) → Meevo often evens out or costs less</a:t>
            </a:r>
            <a:endParaRPr lang="en-US" sz="950" dirty="0"/>
          </a:p>
        </p:txBody>
      </p:sp>
      <p:sp>
        <p:nvSpPr>
          <p:cNvPr id="23" name="Shape 20"/>
          <p:cNvSpPr/>
          <p:nvPr/>
        </p:nvSpPr>
        <p:spPr>
          <a:xfrm>
            <a:off x="4709160" y="2194560"/>
            <a:ext cx="406908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4709160" y="2194560"/>
            <a:ext cx="54864" cy="1097280"/>
          </a:xfrm>
          <a:prstGeom prst="rect">
            <a:avLst/>
          </a:prstGeom>
          <a:solidFill>
            <a:srgbClr val="C9A84C"/>
          </a:solidFill>
          <a:ln/>
        </p:spPr>
        <p:txBody>
          <a:bodyPr/>
          <a:lstStyle/>
          <a:p>
            <a:endParaRPr lang="en-US"/>
          </a:p>
        </p:txBody>
      </p:sp>
      <p:sp>
        <p:nvSpPr>
          <p:cNvPr id="25" name="Text 22"/>
          <p:cNvSpPr/>
          <p:nvPr/>
        </p:nvSpPr>
        <p:spPr>
          <a:xfrm>
            <a:off x="4892040" y="2221992"/>
            <a:ext cx="3703320" cy="256032"/>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Used same software 10+ years</a:t>
            </a:r>
            <a:endParaRPr lang="en-US" sz="1050" dirty="0"/>
          </a:p>
        </p:txBody>
      </p:sp>
      <p:sp>
        <p:nvSpPr>
          <p:cNvPr id="26" name="Shape 23"/>
          <p:cNvSpPr/>
          <p:nvPr/>
        </p:nvSpPr>
        <p:spPr>
          <a:xfrm>
            <a:off x="4892040" y="2496312"/>
            <a:ext cx="2011680" cy="201168"/>
          </a:xfrm>
          <a:prstGeom prst="rect">
            <a:avLst/>
          </a:prstGeom>
          <a:solidFill>
            <a:srgbClr val="2D4A53"/>
          </a:solidFill>
          <a:ln/>
        </p:spPr>
        <p:txBody>
          <a:bodyPr/>
          <a:lstStyle/>
          <a:p>
            <a:endParaRPr lang="en-US"/>
          </a:p>
        </p:txBody>
      </p:sp>
      <p:sp>
        <p:nvSpPr>
          <p:cNvPr id="27" name="Text 24"/>
          <p:cNvSpPr/>
          <p:nvPr/>
        </p:nvSpPr>
        <p:spPr>
          <a:xfrm>
            <a:off x="4892040" y="2496312"/>
            <a:ext cx="2011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Reframe + Isolation</a:t>
            </a:r>
            <a:endParaRPr lang="en-US" sz="750" dirty="0"/>
          </a:p>
        </p:txBody>
      </p:sp>
      <p:sp>
        <p:nvSpPr>
          <p:cNvPr id="28" name="Text 25"/>
          <p:cNvSpPr/>
          <p:nvPr/>
        </p:nvSpPr>
        <p:spPr>
          <a:xfrm>
            <a:off x="4892040" y="2761488"/>
            <a:ext cx="3703320" cy="457200"/>
          </a:xfrm>
          <a:prstGeom prst="rect">
            <a:avLst/>
          </a:prstGeom>
          <a:noFill/>
          <a:ln/>
        </p:spPr>
        <p:txBody>
          <a:bodyPr wrap="square" lIns="0" tIns="0" rIns="0" bIns="0" rtlCol="0" anchor="ctr"/>
          <a:lstStyle/>
          <a:p>
            <a:pPr marL="0" indent="0">
              <a:buNone/>
            </a:pPr>
            <a:r>
              <a:rPr lang="en-US" sz="950" dirty="0">
                <a:solidFill>
                  <a:srgbClr val="5C6B73"/>
                </a:solidFill>
                <a:latin typeface="Calibri" pitchFamily="34" charset="0"/>
                <a:ea typeface="Calibri" pitchFamily="34" charset="-122"/>
                <a:cs typeface="Calibri" pitchFamily="34" charset="-120"/>
              </a:rPr>
              <a:t>Respect loyalty → Ask what's on the wish list → Find the crack → Pivot to strengths</a:t>
            </a:r>
            <a:endParaRPr lang="en-US" sz="950" dirty="0"/>
          </a:p>
        </p:txBody>
      </p:sp>
      <p:sp>
        <p:nvSpPr>
          <p:cNvPr id="30" name="Shape 27"/>
          <p:cNvSpPr/>
          <p:nvPr/>
        </p:nvSpPr>
        <p:spPr>
          <a:xfrm>
            <a:off x="365760" y="3429000"/>
            <a:ext cx="54864" cy="1097280"/>
          </a:xfrm>
          <a:prstGeom prst="rect">
            <a:avLst/>
          </a:prstGeom>
          <a:solidFill>
            <a:srgbClr val="C9A84C"/>
          </a:solidFill>
          <a:ln/>
        </p:spPr>
        <p:txBody>
          <a:bodyPr/>
          <a:lstStyle/>
          <a:p>
            <a:endParaRPr lang="en-US"/>
          </a:p>
        </p:txBody>
      </p:sp>
      <p:sp>
        <p:nvSpPr>
          <p:cNvPr id="33" name="Text 30"/>
          <p:cNvSpPr/>
          <p:nvPr/>
        </p:nvSpPr>
        <p:spPr>
          <a:xfrm>
            <a:off x="548640" y="3730752"/>
            <a:ext cx="2011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Boomerang</a:t>
            </a:r>
            <a:endParaRPr lang="en-US" sz="750" dirty="0"/>
          </a:p>
        </p:txBody>
      </p:sp>
      <p:sp>
        <p:nvSpPr>
          <p:cNvPr id="35" name="Shape 32"/>
          <p:cNvSpPr/>
          <p:nvPr/>
        </p:nvSpPr>
        <p:spPr>
          <a:xfrm>
            <a:off x="4709160" y="3429000"/>
            <a:ext cx="406908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36" name="Shape 33"/>
          <p:cNvSpPr/>
          <p:nvPr/>
        </p:nvSpPr>
        <p:spPr>
          <a:xfrm>
            <a:off x="4709160" y="3429000"/>
            <a:ext cx="54864" cy="1097280"/>
          </a:xfrm>
          <a:prstGeom prst="rect">
            <a:avLst/>
          </a:prstGeom>
          <a:solidFill>
            <a:srgbClr val="C9A84C"/>
          </a:solidFill>
          <a:ln/>
        </p:spPr>
        <p:txBody>
          <a:bodyPr/>
          <a:lstStyle/>
          <a:p>
            <a:endParaRPr lang="en-US"/>
          </a:p>
        </p:txBody>
      </p:sp>
      <p:sp>
        <p:nvSpPr>
          <p:cNvPr id="37" name="Text 34"/>
          <p:cNvSpPr/>
          <p:nvPr/>
        </p:nvSpPr>
        <p:spPr>
          <a:xfrm>
            <a:off x="4892040" y="3456432"/>
            <a:ext cx="3703320" cy="256032"/>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Manager said not interested</a:t>
            </a:r>
            <a:endParaRPr lang="en-US" sz="1050" dirty="0"/>
          </a:p>
        </p:txBody>
      </p:sp>
      <p:sp>
        <p:nvSpPr>
          <p:cNvPr id="38" name="Shape 35"/>
          <p:cNvSpPr/>
          <p:nvPr/>
        </p:nvSpPr>
        <p:spPr>
          <a:xfrm>
            <a:off x="4892040" y="3730752"/>
            <a:ext cx="2011680" cy="201168"/>
          </a:xfrm>
          <a:prstGeom prst="rect">
            <a:avLst/>
          </a:prstGeom>
          <a:solidFill>
            <a:srgbClr val="2D4A53"/>
          </a:solidFill>
          <a:ln/>
        </p:spPr>
        <p:txBody>
          <a:bodyPr/>
          <a:lstStyle/>
          <a:p>
            <a:endParaRPr lang="en-US"/>
          </a:p>
        </p:txBody>
      </p:sp>
      <p:sp>
        <p:nvSpPr>
          <p:cNvPr id="39" name="Text 36"/>
          <p:cNvSpPr/>
          <p:nvPr/>
        </p:nvSpPr>
        <p:spPr>
          <a:xfrm>
            <a:off x="4892040" y="3730752"/>
            <a:ext cx="20116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Isolation</a:t>
            </a:r>
            <a:endParaRPr lang="en-US" sz="750" dirty="0"/>
          </a:p>
        </p:txBody>
      </p:sp>
      <p:sp>
        <p:nvSpPr>
          <p:cNvPr id="40" name="Text 37"/>
          <p:cNvSpPr/>
          <p:nvPr/>
        </p:nvSpPr>
        <p:spPr>
          <a:xfrm>
            <a:off x="4892040" y="3995928"/>
            <a:ext cx="3703320" cy="457200"/>
          </a:xfrm>
          <a:prstGeom prst="rect">
            <a:avLst/>
          </a:prstGeom>
          <a:noFill/>
          <a:ln/>
        </p:spPr>
        <p:txBody>
          <a:bodyPr wrap="square" lIns="0" tIns="0" rIns="0" bIns="0" rtlCol="0" anchor="ctr"/>
          <a:lstStyle/>
          <a:p>
            <a:pPr marL="0" indent="0">
              <a:buNone/>
            </a:pPr>
            <a:r>
              <a:rPr lang="en-US" sz="950" dirty="0">
                <a:solidFill>
                  <a:srgbClr val="5C6B73"/>
                </a:solidFill>
                <a:latin typeface="Calibri" pitchFamily="34" charset="0"/>
                <a:ea typeface="Calibri" pitchFamily="34" charset="-122"/>
                <a:cs typeface="Calibri" pitchFamily="34" charset="-120"/>
              </a:rPr>
              <a:t>Isolate → Did they see a demo or general no? → Get direct access to DM</a:t>
            </a:r>
            <a:endParaRPr lang="en-US" sz="950" dirty="0"/>
          </a:p>
        </p:txBody>
      </p:sp>
      <p:sp>
        <p:nvSpPr>
          <p:cNvPr id="41" name="Text 38"/>
          <p:cNvSpPr/>
          <p:nvPr/>
        </p:nvSpPr>
        <p:spPr>
          <a:xfrm>
            <a:off x="0" y="4800600"/>
            <a:ext cx="7315200" cy="34290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PROPRIETARY AND CONFIDENTIAL</a:t>
            </a:r>
            <a:endParaRPr lang="en-US" sz="800" dirty="0"/>
          </a:p>
        </p:txBody>
      </p:sp>
      <p:sp>
        <p:nvSpPr>
          <p:cNvPr id="42" name="Shape 39"/>
          <p:cNvSpPr/>
          <p:nvPr/>
        </p:nvSpPr>
        <p:spPr>
          <a:xfrm>
            <a:off x="8503920" y="4800600"/>
            <a:ext cx="457200" cy="342900"/>
          </a:xfrm>
          <a:prstGeom prst="rect">
            <a:avLst/>
          </a:prstGeom>
          <a:solidFill>
            <a:srgbClr val="2D4A53"/>
          </a:solidFill>
          <a:ln/>
        </p:spPr>
        <p:txBody>
          <a:bodyPr/>
          <a:lstStyle/>
          <a:p>
            <a:endParaRPr lang="en-US"/>
          </a:p>
        </p:txBody>
      </p:sp>
      <p:sp>
        <p:nvSpPr>
          <p:cNvPr id="43" name="Text 40"/>
          <p:cNvSpPr/>
          <p:nvPr/>
        </p:nvSpPr>
        <p:spPr>
          <a:xfrm>
            <a:off x="8503920" y="4800600"/>
            <a:ext cx="45720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2D4A5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txBody>
          <a:bodyPr/>
          <a:lstStyle/>
          <a:p>
            <a:endParaRPr lang="en-US"/>
          </a:p>
        </p:txBody>
      </p:sp>
      <p:sp>
        <p:nvSpPr>
          <p:cNvPr id="3" name="Shape 1"/>
          <p:cNvSpPr/>
          <p:nvPr/>
        </p:nvSpPr>
        <p:spPr>
          <a:xfrm>
            <a:off x="3886200" y="457200"/>
            <a:ext cx="1371600" cy="1371600"/>
          </a:xfrm>
          <a:prstGeom prst="ellipse">
            <a:avLst/>
          </a:prstGeom>
          <a:solidFill>
            <a:srgbClr val="3A6B7A"/>
          </a:solidFill>
          <a:ln/>
          <a:effectLst>
            <a:outerShdw blurRad="76200" dist="25400" dir="8100000" algn="bl" rotWithShape="0">
              <a:srgbClr val="000000">
                <a:alpha val="1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4160520" y="731520"/>
            <a:ext cx="822960" cy="822960"/>
          </a:xfrm>
          <a:prstGeom prst="rect">
            <a:avLst/>
          </a:prstGeom>
        </p:spPr>
      </p:pic>
      <p:sp>
        <p:nvSpPr>
          <p:cNvPr id="5" name="Text 2"/>
          <p:cNvSpPr/>
          <p:nvPr/>
        </p:nvSpPr>
        <p:spPr>
          <a:xfrm>
            <a:off x="457200" y="2011680"/>
            <a:ext cx="822960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Q&amp;A + Practice</a:t>
            </a:r>
            <a:endParaRPr lang="en-US" sz="3600" dirty="0"/>
          </a:p>
        </p:txBody>
      </p:sp>
      <p:sp>
        <p:nvSpPr>
          <p:cNvPr id="6" name="Shape 3"/>
          <p:cNvSpPr/>
          <p:nvPr/>
        </p:nvSpPr>
        <p:spPr>
          <a:xfrm>
            <a:off x="1097280" y="2788920"/>
            <a:ext cx="6949440" cy="1645920"/>
          </a:xfrm>
          <a:prstGeom prst="rect">
            <a:avLst/>
          </a:prstGeom>
          <a:solidFill>
            <a:srgbClr val="1C3039"/>
          </a:solidFill>
          <a:ln/>
          <a:effectLst>
            <a:outerShdw blurRad="76200" dist="25400" dir="8100000" algn="bl" rotWithShape="0">
              <a:srgbClr val="000000">
                <a:alpha val="12000"/>
              </a:srgbClr>
            </a:outerShdw>
          </a:effectLst>
        </p:spPr>
        <p:txBody>
          <a:bodyPr/>
          <a:lstStyle/>
          <a:p>
            <a:endParaRPr lang="en-US"/>
          </a:p>
        </p:txBody>
      </p:sp>
      <p:pic>
        <p:nvPicPr>
          <p:cNvPr id="7" name="Image 1" descr="preencoded.png"/>
          <p:cNvPicPr>
            <a:picLocks noChangeAspect="1"/>
          </p:cNvPicPr>
          <p:nvPr/>
        </p:nvPicPr>
        <p:blipFill>
          <a:blip r:embed="rId4"/>
          <a:stretch>
            <a:fillRect/>
          </a:stretch>
        </p:blipFill>
        <p:spPr>
          <a:xfrm>
            <a:off x="1371600" y="2926080"/>
            <a:ext cx="365760" cy="365760"/>
          </a:xfrm>
          <a:prstGeom prst="rect">
            <a:avLst/>
          </a:prstGeom>
        </p:spPr>
      </p:pic>
      <p:sp>
        <p:nvSpPr>
          <p:cNvPr id="8" name="Text 4"/>
          <p:cNvSpPr/>
          <p:nvPr/>
        </p:nvSpPr>
        <p:spPr>
          <a:xfrm>
            <a:off x="1828800" y="2880360"/>
            <a:ext cx="4572000" cy="411480"/>
          </a:xfrm>
          <a:prstGeom prst="rect">
            <a:avLst/>
          </a:prstGeom>
          <a:noFill/>
          <a:ln/>
        </p:spPr>
        <p:txBody>
          <a:bodyPr wrap="square" lIns="0" tIns="0" rIns="0" bIns="0" rtlCol="0" anchor="ctr"/>
          <a:lstStyle/>
          <a:p>
            <a:pPr marL="0" indent="0">
              <a:buNone/>
            </a:pPr>
            <a:r>
              <a:rPr lang="en-US" sz="1600" b="1" dirty="0">
                <a:solidFill>
                  <a:srgbClr val="C9A84C"/>
                </a:solidFill>
                <a:latin typeface="Calibri" pitchFamily="34" charset="0"/>
                <a:ea typeface="Calibri" pitchFamily="34" charset="-122"/>
                <a:cs typeface="Calibri" pitchFamily="34" charset="-120"/>
              </a:rPr>
              <a:t>Your Homework</a:t>
            </a:r>
            <a:endParaRPr lang="en-US" sz="1600" dirty="0"/>
          </a:p>
        </p:txBody>
      </p:sp>
      <p:sp>
        <p:nvSpPr>
          <p:cNvPr id="9" name="Text 5"/>
          <p:cNvSpPr/>
          <p:nvPr/>
        </p:nvSpPr>
        <p:spPr>
          <a:xfrm>
            <a:off x="1554480" y="3337560"/>
            <a:ext cx="6217920" cy="1051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Write out your Feel-Felt-Found scripts for the top 3 objections you hear most</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Identify which technique fits YOUR natural style and double down on it</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Role-play: Partner throws objections, you pick the right technique in real time</a:t>
            </a:r>
            <a:endParaRPr lang="en-US" sz="1100" dirty="0"/>
          </a:p>
          <a:p>
            <a:pPr marL="342900" indent="-342900">
              <a:buSzPct val="100000"/>
              <a:buChar char="•"/>
            </a:pPr>
            <a:r>
              <a:rPr lang="en-US" sz="1100" b="1" dirty="0">
                <a:solidFill>
                  <a:srgbClr val="C9A84C"/>
                </a:solidFill>
                <a:latin typeface="Calibri" pitchFamily="34" charset="0"/>
                <a:ea typeface="Calibri" pitchFamily="34" charset="-122"/>
                <a:cs typeface="Calibri" pitchFamily="34" charset="-120"/>
              </a:rPr>
              <a:t>Remember: Objections = engagement. Every "no" is one step closer to "yes"</a:t>
            </a:r>
            <a:endParaRPr lang="en-US" sz="1100" dirty="0"/>
          </a:p>
        </p:txBody>
      </p:sp>
      <p:sp>
        <p:nvSpPr>
          <p:cNvPr id="10" name="Shape 6"/>
          <p:cNvSpPr/>
          <p:nvPr/>
        </p:nvSpPr>
        <p:spPr>
          <a:xfrm>
            <a:off x="0" y="4800600"/>
            <a:ext cx="9144000" cy="342900"/>
          </a:xfrm>
          <a:prstGeom prst="rect">
            <a:avLst/>
          </a:prstGeom>
          <a:solidFill>
            <a:srgbClr val="1C3039"/>
          </a:solidFill>
          <a:ln/>
        </p:spPr>
        <p:txBody>
          <a:bodyPr/>
          <a:lstStyle/>
          <a:p>
            <a:endParaRPr lang="en-US"/>
          </a:p>
        </p:txBody>
      </p:sp>
      <p:sp>
        <p:nvSpPr>
          <p:cNvPr id="11" name="Text 7"/>
          <p:cNvSpPr/>
          <p:nvPr/>
        </p:nvSpPr>
        <p:spPr>
          <a:xfrm>
            <a:off x="457200" y="4800600"/>
            <a:ext cx="8229600" cy="342900"/>
          </a:xfrm>
          <a:prstGeom prst="rect">
            <a:avLst/>
          </a:prstGeom>
          <a:noFill/>
          <a:ln/>
        </p:spPr>
        <p:txBody>
          <a:bodyPr wrap="square" lIns="0" tIns="0" rIns="0" bIns="0" rtlCol="0" anchor="ctr"/>
          <a:lstStyle/>
          <a:p>
            <a:pPr marL="0" indent="0" algn="ctr">
              <a:buNone/>
            </a:pPr>
            <a:r>
              <a:rPr lang="en-US" sz="1000" dirty="0">
                <a:solidFill>
                  <a:srgbClr val="E8ECEE"/>
                </a:solidFill>
                <a:latin typeface="Calibri" pitchFamily="34" charset="0"/>
                <a:ea typeface="Calibri" pitchFamily="34" charset="-122"/>
                <a:cs typeface="Calibri" pitchFamily="34" charset="-120"/>
              </a:rPr>
              <a:t>Meevo Sales Enablement  |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TotalTime>
  <Words>1015</Words>
  <Application>Microsoft Office PowerPoint</Application>
  <PresentationFormat>On-screen Show (16:9)</PresentationFormat>
  <Paragraphs>121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Objection Handling Mastery</dc:title>
  <dc:subject>PptxGenJS Presentation</dc:subject>
  <dc:creator>PptxGenJS</dc:creator>
  <cp:lastModifiedBy>Terry Moorehead</cp:lastModifiedBy>
  <cp:revision>4</cp:revision>
  <dcterms:created xsi:type="dcterms:W3CDTF">2026-03-02T21:41:04Z</dcterms:created>
  <dcterms:modified xsi:type="dcterms:W3CDTF">2026-03-05T14:26:48Z</dcterms:modified>
</cp:coreProperties>
</file>